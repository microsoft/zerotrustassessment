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2.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229" r:id="rId4"/>
    <p:sldMasterId id="2147490452" r:id="rId5"/>
    <p:sldMasterId id="2147490458" r:id="rId6"/>
  </p:sldMasterIdLst>
  <p:notesMasterIdLst>
    <p:notesMasterId r:id="rId33"/>
  </p:notesMasterIdLst>
  <p:handoutMasterIdLst>
    <p:handoutMasterId r:id="rId34"/>
  </p:handoutMasterIdLst>
  <p:sldIdLst>
    <p:sldId id="2147483550" r:id="rId7"/>
    <p:sldId id="2147483551" r:id="rId8"/>
    <p:sldId id="300" r:id="rId9"/>
    <p:sldId id="2147483593" r:id="rId10"/>
    <p:sldId id="301" r:id="rId11"/>
    <p:sldId id="2147483641" r:id="rId12"/>
    <p:sldId id="312" r:id="rId13"/>
    <p:sldId id="262" r:id="rId14"/>
    <p:sldId id="2076137326" r:id="rId15"/>
    <p:sldId id="327" r:id="rId16"/>
    <p:sldId id="264" r:id="rId17"/>
    <p:sldId id="2147483553" r:id="rId18"/>
    <p:sldId id="270" r:id="rId19"/>
    <p:sldId id="2147483644" r:id="rId20"/>
    <p:sldId id="258" r:id="rId21"/>
    <p:sldId id="2147483588" r:id="rId22"/>
    <p:sldId id="2147483642" r:id="rId23"/>
    <p:sldId id="2147483586" r:id="rId24"/>
    <p:sldId id="2147483589" r:id="rId25"/>
    <p:sldId id="2147483590" r:id="rId26"/>
    <p:sldId id="2147483592" r:id="rId27"/>
    <p:sldId id="263" r:id="rId28"/>
    <p:sldId id="2147482551" r:id="rId29"/>
    <p:sldId id="2147483591" r:id="rId30"/>
    <p:sldId id="269" r:id="rId31"/>
    <p:sldId id="260" r:id="rId3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C430193-D5E9-46B3-BF6C-1F1E7F0AD226}">
          <p14:sldIdLst>
            <p14:sldId id="2147483550"/>
            <p14:sldId id="2147483551"/>
            <p14:sldId id="300"/>
            <p14:sldId id="2147483593"/>
            <p14:sldId id="301"/>
            <p14:sldId id="2147483641"/>
          </p14:sldIdLst>
        </p14:section>
        <p14:section name="The importnace of ZT" id="{D87B9244-ACE8-44AD-B1E1-06959E01A7BE}">
          <p14:sldIdLst>
            <p14:sldId id="312"/>
            <p14:sldId id="262"/>
            <p14:sldId id="2076137326"/>
            <p14:sldId id="327"/>
            <p14:sldId id="264"/>
          </p14:sldIdLst>
        </p14:section>
        <p14:section name="Intro ZT Workshops" id="{D8BABB51-EE7E-4BD5-8A6E-FD5D5DD2D4DA}">
          <p14:sldIdLst>
            <p14:sldId id="2147483553"/>
            <p14:sldId id="270"/>
            <p14:sldId id="2147483644"/>
            <p14:sldId id="258"/>
            <p14:sldId id="2147483588"/>
            <p14:sldId id="2147483642"/>
            <p14:sldId id="2147483586"/>
            <p14:sldId id="2147483589"/>
            <p14:sldId id="2147483590"/>
            <p14:sldId id="2147483592"/>
            <p14:sldId id="263"/>
            <p14:sldId id="2147482551"/>
          </p14:sldIdLst>
        </p14:section>
        <p14:section name="Appendix" id="{DC8B440C-BFB1-4200-B304-E5BB5D16A34F}">
          <p14:sldIdLst>
            <p14:sldId id="2147483591"/>
            <p14:sldId id="269"/>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D20301-4287-9041-12C5-ED81E193C2E0}" name="Richard Diver (HE/HIM)" initials="R(" userId="S::ridive@microsoft.com::1d7465a4-5cd3-4dc8-8db9-565c720ebd9c" providerId="AD"/>
  <p188:author id="{A8D5610A-DBA6-31DC-8F38-50D83605434D}" name="Tarek Dawoud" initials="TD" userId="S::tarekd@microsoft.com::0be475db-7c28-45a9-afde-b39a913309d4" providerId="AD"/>
  <p188:author id="{83AE860C-582D-E1C8-AD0E-6DF1EFDE7FBB}" name="Mikiehl Kofoed" initials="MK" userId="S::mkofoed@invisocorp.com::c895e388-6419-4145-bf48-1254094983c4" providerId="AD"/>
  <p188:author id="{165F2E10-2319-13C8-DFF1-AFD21B034CCA}" name="Gloria Lee (ID CxE)" initials="GC" userId="S::gllee@microsoft.com::91bc6196-4e45-441b-a6cf-fa7422ad7bff" providerId="AD"/>
  <p188:author id="{91015F1F-E06D-7AF8-3263-F42876B2AEBB}" name="Michael Madrigal" initials="MM" userId="S::mmadrigal@microsoft.com::584cc6b9-daaa-4152-bd82-bc180bff1fc2" providerId="AD"/>
  <p188:author id="{E21F5922-4330-98A4-FE8D-EF82A4F7F01F}" name="Clay Taylor" initials="CT" userId="S::claytay@microsoft.com::9be47136-8a1b-449d-bda7-50f4fb3584de" providerId="AD"/>
  <p188:author id="{0F725534-91DD-B81D-69ED-8A3066D956BF}" name="Jon Callahan" initials="JC" userId="S::jocallah@microsoft.com::4880f4f1-8cee-404e-9e67-7b8d4c900a49" providerId="AD"/>
  <p188:author id="{7C5E973E-FC7B-91D2-FD57-DC941017DD43}" name="Tyler Sanz" initials="TS" userId="S::tsanz@invisocorp.com::ac02439e-2574-484a-9b9b-44a66d898e13" providerId="AD"/>
  <p188:author id="{79E2DA43-7181-F03A-7CFB-3F5054CCA6F0}" name="Santosh Panchapakesan" initials="SP" userId="S::sapanch@microsoft.com::ddba67a5-37e3-42a3-88bf-b9bfe64caa2b" providerId="AD"/>
  <p188:author id="{F434DC46-FEC6-DEDD-95AE-D6E58AB60939}" name="Nitika Gupta" initials="" userId="S::nigu@microsoft.com::3064794e-bef1-4a56-b64c-4d4e24442177" providerId="AD"/>
  <p188:author id="{59BCB353-82A0-D61A-1783-88F36F876D76}" name="Ehud Itshaki" initials="" userId="S::ehudi@microsoft.com::b84c3f37-887f-4539-8d72-58ab222f1045" providerId="AD"/>
  <p188:author id="{4932D856-8DB8-B285-F65E-9E1569E952AA}" name="Hammad Rajjoub" initials="HR" userId="S::hamadr@microsoft.com::b4b8fe11-b554-4da9-82d3-8d8e609970ba" providerId="AD"/>
  <p188:author id="{50074E63-81C6-F32D-D98E-953CA323091D}" name="Ashley Chon" initials="AC" userId="S::ashleychon@microsoft.com::aeb3c5d8-e7c7-4a0d-be91-3265699fa7f7" providerId="AD"/>
  <p188:author id="{26376064-C33D-7607-B4E5-50FD7C421019}" name="Yaniv Shasha" initials="YS" userId="S::yanivsh@microsoft.com::e6b6e92d-8fef-4931-957a-03f9f23b11ce" providerId="AD"/>
  <p188:author id="{276CE364-7CF5-4245-3BB6-3F3A0F09D898}" name="Ravi Kalwani" initials="RK" userId="S::rakalwan@microsoft.com::8f04c7a4-75fb-4cbc-bde7-24e329552917" providerId="AD"/>
  <p188:author id="{83D36667-3973-A77D-6FAA-FD9382C9945D}" name="Linh Hoang" initials="LH" userId="S::linhhoang@microsoft.com::2ddac36d-e924-4ca0-bab8-d450ac1f9a94" providerId="AD"/>
  <p188:author id="{42EDBD77-FB25-7F0E-2ABB-E8DE3542DC08}" name="Ashish Jain" initials="" userId="S::ashishj@microsoft.com::70d2a3ac-6983-49f1-adc4-42b8ae46cd2d" providerId="AD"/>
  <p188:author id="{726B498F-8AC1-6B23-17FE-54271755DE7A}" name="Shiv Patel" initials="SP" userId="S::shivanpatel@microsoft.com::2a7fdf5d-bf72-4905-86aa-66d978f215b9" providerId="AD"/>
  <p188:author id="{EE98099B-8C5F-9BF6-1567-CE2C7F2F8CBD}" name="Rashi Kukke" initials="RK" userId="S::rashikukke@microsoft.com::036696f5-d76a-4bb6-b149-abae0d4063d2" providerId="AD"/>
  <p188:author id="{029BBA9C-7C8E-D4FC-419B-D07A082BA1CE}" name="Tina Ying" initials="TY" userId="S::juying@microsoft.com::1da9fe39-9117-4426-a723-84e692e91d64" providerId="AD"/>
  <p188:author id="{EC5BCF9D-D3BA-871A-1ED0-ADC22B7F2024}" name="Brenda Carter" initials="BC" userId="S::bcarter@microsoft.com::843d5ff0-59aa-47df-baec-276f0d24b96a" providerId="AD"/>
  <p188:author id="{DCF1E4A1-3703-E08D-E140-8BA81494F74E}" name="Marcus Hass" initials="MH" userId="S::mhass@microsoft.com::1a89a6ce-2979-4724-904e-17fbadfa7b8b" providerId="AD"/>
  <p188:author id="{6424FEA4-1A94-3481-E6A8-3737F072448D}" name="Lexi Falcone Lederman" initials="LF" userId="S::lefalcon@microsoft.com::38850f77-59a5-423f-93f4-776947ce38ad" providerId="AD"/>
  <p188:author id="{39126CA5-3EDD-E39B-F4C5-19A224CD1EB7}" name="Todd Arbuckle (CADENCE 3 LLC)" initials="TA" userId="S::v-tarbuckle@microsoft.com::744e58c9-3de4-43a4-9362-efb204fc79bf" providerId="AD"/>
  <p188:author id="{426CA4AC-4BE4-C1BB-4107-8AC6B3EEDD57}" name="Dmitry Kulko" initials="DK" userId="S::dmkulko@microsoft.com::13f01a67-f474-4424-b944-0397a4271300" providerId="AD"/>
  <p188:author id="{875B2AAD-D7CA-3597-C0E7-6EBF074A8011}" name="Nichole Peterson (she/her)" initials="NP" userId="S::nicholepet@microsoft.com::3c735ba6-a182-4153-8147-e65064b94a7d" providerId="AD"/>
  <p188:author id="{62C59EAD-690E-D385-35EA-D979B697BD2E}" name="Jared Ross" initials="JR" userId="S::jaredro@microsoft.com::87846218-eb4a-468b-aa9f-b5380db36d0c" providerId="AD"/>
  <p188:author id="{48542AAF-69C3-AC7B-77EB-C026F155ED25}" name="Kaycee Porter" initials="KP" userId="S::kporter@invisocorp.com::c0a5dd54-e98d-4166-a6ee-382f88d3c09f" providerId="AD"/>
  <p188:author id="{F8C5DCB0-2904-1FBA-D6AF-DF5FBB3120B5}" name="Abdi Saeedabadi" initials="AS" userId="S::asaeedabadi@microsoft.com::2bd170f1-5302-444b-b773-bbd345007d8f" providerId="AD"/>
  <p188:author id="{85685FB4-8598-D469-5B8E-89AB1F5EF9E2}" name="Lindsey Griffin (Waggener Edstrom Worldwide Inc)" initials="LG" userId="S::v-ligriffin@microsoft.com::e57caef7-cd2c-4d22-beb4-bb76a09472f1" providerId="AD"/>
  <p188:author id="{5ABFD5BE-ED97-E61D-2444-063D99FB8055}" name="Jim Naroski (OLIVE AND GOOSE LLC)" initials="JN" userId="S::v-jnaroski@microsoft.com::09247c22-6be2-45e3-8385-a892c7d937dc" providerId="AD"/>
  <p188:author id="{B2ED05C1-21B2-8E40-61EB-03D43EEACB73}" name="Neta Haiby" initials="NH" userId="S::netahw@microsoft.com::540ef928-82f8-4aa6-804b-1f6e44502b9c" providerId="AD"/>
  <p188:author id="{F915B6CE-5304-35A3-B486-FC79671AD4E5}" name="Dilip Radhakrishnan" initials="DR" userId="S::diliprad@ntdev.microsoft.com::d27e6f9f-ee4b-4408-8703-52cb7b688ee9" providerId="AD"/>
  <p188:author id="{523B49D1-D748-DF9A-E18F-4591AA14587D}" name="Ameya Naik" initials="AN" userId="S::ameyanaik@microsoft.com::e9dd8b60-f445-470b-b7be-e9352fa91847" providerId="AD"/>
  <p188:author id="{E1C374DE-24C4-6C10-5D06-09F9BF9E524A}" name="Namrata Puri" initials="NP" userId="S::napuri@microsoft.com::7775d943-d627-408e-84ca-4a14b01d4cea" providerId="AD"/>
  <p188:author id="{185177DF-EE74-3AA8-2D3D-0DD7C92377B4}" name="Tyler Chan" initials="TC" userId="S::tylerchan@microsoft.com::4c727abb-0b53-4e0f-8926-f0b09c529cc9" providerId="AD"/>
  <p188:author id="{10F0F8E0-4D04-EDCB-DE77-07794676770C}" name="Brooke Robertson" initials="BR" userId="S::brobertson@microsoft.com::8455b2f5-a038-4dac-ac23-edb147b7e54f" providerId="AD"/>
  <p188:author id="{80FCE5E1-CEFF-9131-5405-758E0534EFF5}" name="Margarita R. Calvillo" initials="MC" userId="S::marcalvi@microsoft.com::70733976-bf56-450f-9e87-9f7bde4980ca" providerId="AD"/>
  <p188:author id="{004EEEE1-0597-9287-BAC6-ED88ACE42BB6}" name="Tom Hughes" initials="TH" userId="S::thhughe@microsoft.com::f4f6176b-c813-4d9e-a357-8884da1092fb" providerId="AD"/>
  <p188:author id="{BF0480E2-07FD-A91B-F932-B79EA882C1F9}" name="Charis Bobkov" initials="CB" userId="S::chbobkov@microsoft.com::a085e210-a381-46c6-ba7b-a6d714823cba" providerId="AD"/>
  <p188:author id="{158821E5-F9D7-5113-D3D7-3A7F07155EAD}" name="Gaurav Malhotra" initials="GM" userId="S::gamal@microsoft.com::b91d8edf-771c-48b3-bedc-ed5616c6214f" providerId="AD"/>
  <p188:author id="{A0D1F8EE-03D0-0CA5-78E0-929939EC2460}" name="Dave Chomas" initials="DC" userId="S::dchomas@microsoft.com::303e77e0-54fd-42a4-8024-4d16054cb88c" providerId="AD"/>
  <p188:author id="{AF0206F0-DE0B-6795-82C6-5D07FA7696A2}" name="Mark Simos" initials="MS" userId="S::mas@microsoft.com::c67dffaa-54a4-4aef-b866-523fd9eef58d" providerId="AD"/>
  <p188:author id="{218586F0-DF97-5417-0C02-41BD87CC8E8E}" name="Gideon Bibliowicz" initials="GB" userId="S::gideonbi@microsoft.com::db982731-64b5-4a50-952d-6e3530c00e81" providerId="AD"/>
  <p188:author id="{C057F2F0-8A53-F6EC-EA6C-4884CC218086}" name="Ramiro Calderon" initials="RC" userId="S::ramical@ntdev.microsoft.com::beb35d85-c9f9-4a8c-83a2-cce77f8fefff" providerId="AD"/>
  <p188:author id="{7507D1F1-7295-A99D-0023-119DD4AB2AE1}" name="Kari Day" initials="KD" userId="S::kaday@microsoft.com::90df4652-f5fd-4d52-be55-4176e8f1d7d4" providerId="AD"/>
  <p188:author id="{C71DE9F4-D50D-33F8-834A-794BB9BA1DA3}" name="Antonio Magallanes" initials="AM" userId="S::amagallanes@microsoft.com::c31ad2cd-63ac-4e00-9079-807d4925e894" providerId="AD"/>
  <p188:author id="{6BDC2AF7-D1FC-3AA5-6094-9CA752A5262A}" name="Kelly Miller" initials="KM" userId="S::Kellym@simple-concepts.com::f9edb626-4fca-42ef-acd6-388cba861aa0" providerId="AD"/>
  <p188:author id="{0E96D3F8-999A-36F9-9616-6E51908CC356}" name="Lou Adesida" initials="LA" userId="S::louadesida@microsoft.com::8587a8d6-e353-4c48-833f-5cf2cf5cc93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David Griffith" initials="DG" lastIdx="3" clrIdx="5">
    <p:extLst>
      <p:ext uri="{19B8F6BF-5375-455C-9EA6-DF929625EA0E}">
        <p15:presenceInfo xmlns:p15="http://schemas.microsoft.com/office/powerpoint/2012/main" userId="David Griffit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446F"/>
    <a:srgbClr val="0078D4"/>
    <a:srgbClr val="C03BC4"/>
    <a:srgbClr val="8DC8E8"/>
    <a:srgbClr val="F3E1B1"/>
    <a:srgbClr val="83ECB4"/>
    <a:srgbClr val="B1F4C1"/>
    <a:srgbClr val="054B16"/>
    <a:srgbClr val="243A5E"/>
    <a:srgbClr val="107C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04D5F2-A94A-D19A-80E0-FFBC39057189}" v="1" dt="2026-09-15T18:24:5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8" d="100"/>
          <a:sy n="148" d="100"/>
        </p:scale>
        <p:origin x="108" y="120"/>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21" Type="http://schemas.openxmlformats.org/officeDocument/2006/relationships/slide" Target="slides/slide15.xml"/><Relationship Id="rId34" Type="http://schemas.openxmlformats.org/officeDocument/2006/relationships/handoutMaster" Target="handoutMasters/handoutMaster1.xml"/><Relationship Id="rId42"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commentAuthors" Target="commen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Chan" userId="S::tylerchan@microsoft.com::4c727abb-0b53-4e0f-8926-f0b09c529cc9" providerId="AD" clId="Web-{B104D5F2-A94A-D19A-80E0-FFBC39057189}"/>
    <pc:docChg chg="sldOrd">
      <pc:chgData name="Tyler Chan" userId="S::tylerchan@microsoft.com::4c727abb-0b53-4e0f-8926-f0b09c529cc9" providerId="AD" clId="Web-{B104D5F2-A94A-D19A-80E0-FFBC39057189}" dt="2026-09-15T18:24:50.357" v="0"/>
      <pc:docMkLst>
        <pc:docMk/>
      </pc:docMkLst>
      <pc:sldChg chg="ord">
        <pc:chgData name="Tyler Chan" userId="S::tylerchan@microsoft.com::4c727abb-0b53-4e0f-8926-f0b09c529cc9" providerId="AD" clId="Web-{B104D5F2-A94A-D19A-80E0-FFBC39057189}" dt="2026-09-15T18:24:50.357" v="0"/>
        <pc:sldMkLst>
          <pc:docMk/>
          <pc:sldMk cId="296382291" sldId="214748359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9/15/2026 11:28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9/15/2026 11:28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zerotrust.microsoft.com/"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aka.ms/MCRA"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aka.ms/markslis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9/15/2026 11:28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416701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882" b="1" kern="1200">
                <a:solidFill>
                  <a:schemeClr val="tx1"/>
                </a:solidFill>
                <a:effectLst/>
                <a:latin typeface="Segoe UI" panose="020B0502040204020203" pitchFamily="34" charset="0"/>
                <a:ea typeface="+mn-ea"/>
                <a:cs typeface="+mn-cs"/>
              </a:rPr>
              <a:t>AI is defining our work relation</a:t>
            </a:r>
            <a:br>
              <a:rPr lang="en-US" sz="882" b="1" kern="1200">
                <a:solidFill>
                  <a:schemeClr val="tx1"/>
                </a:solidFill>
                <a:effectLst/>
                <a:latin typeface="Segoe UI" panose="020B0502040204020203" pitchFamily="34" charset="0"/>
                <a:ea typeface="+mn-ea"/>
                <a:cs typeface="+mn-cs"/>
              </a:rPr>
            </a:br>
            <a:endParaRPr lang="en-US" sz="882" kern="1200">
              <a:solidFill>
                <a:schemeClr val="tx1"/>
              </a:solidFill>
              <a:effectLst/>
              <a:latin typeface="Segoe UI" panose="020B0502040204020203" pitchFamily="34" charset="0"/>
              <a:ea typeface="+mn-ea"/>
              <a:cs typeface="+mn-cs"/>
            </a:endParaRPr>
          </a:p>
          <a:p>
            <a:pPr lvl="0"/>
            <a:r>
              <a:rPr lang="en-US" sz="882" kern="1200">
                <a:solidFill>
                  <a:schemeClr val="tx1"/>
                </a:solidFill>
                <a:effectLst/>
                <a:latin typeface="Segoe UI" panose="020B0502040204020203" pitchFamily="34" charset="0"/>
                <a:ea typeface="+mn-ea"/>
                <a:cs typeface="+mn-cs"/>
              </a:rPr>
              <a:t>AI is moving fast — faster than anything we’ve seen. Every industry is feeling the shift, and it’s opening new possibilities overnight.</a:t>
            </a:r>
          </a:p>
          <a:p>
            <a:pPr lvl="0"/>
            <a:r>
              <a:rPr lang="en-US" sz="882" kern="1200">
                <a:solidFill>
                  <a:schemeClr val="tx1"/>
                </a:solidFill>
                <a:effectLst/>
                <a:latin typeface="Segoe UI" panose="020B0502040204020203" pitchFamily="34" charset="0"/>
                <a:ea typeface="+mn-ea"/>
                <a:cs typeface="+mn-cs"/>
              </a:rPr>
              <a:t>This moment is giving rise to what we call the </a:t>
            </a:r>
            <a:r>
              <a:rPr lang="en-US" sz="882" i="1" kern="1200">
                <a:solidFill>
                  <a:schemeClr val="tx1"/>
                </a:solidFill>
                <a:effectLst/>
                <a:latin typeface="Segoe UI" panose="020B0502040204020203" pitchFamily="34" charset="0"/>
                <a:ea typeface="+mn-ea"/>
                <a:cs typeface="+mn-cs"/>
              </a:rPr>
              <a:t>frontier firm</a:t>
            </a:r>
            <a:r>
              <a:rPr lang="en-US" sz="882" kern="1200">
                <a:solidFill>
                  <a:schemeClr val="tx1"/>
                </a:solidFill>
                <a:effectLst/>
                <a:latin typeface="Segoe UI" panose="020B0502040204020203" pitchFamily="34" charset="0"/>
                <a:ea typeface="+mn-ea"/>
                <a:cs typeface="+mn-cs"/>
              </a:rPr>
              <a:t>: where human ambition and intelligent agents come together to help people do things they simply couldn’t do before.</a:t>
            </a:r>
          </a:p>
          <a:p>
            <a:pPr lvl="0"/>
            <a:r>
              <a:rPr lang="en-US" sz="882" kern="1200">
                <a:solidFill>
                  <a:schemeClr val="tx1"/>
                </a:solidFill>
                <a:effectLst/>
                <a:latin typeface="Segoe UI" panose="020B0502040204020203" pitchFamily="34" charset="0"/>
                <a:ea typeface="+mn-ea"/>
                <a:cs typeface="+mn-cs"/>
              </a:rPr>
              <a:t>And that’s the real opportunity — using AI not just to work faster, but to unlock new potential.</a:t>
            </a:r>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Every customer we talk to is on that path, and we’re excited to help you get there, responsibly and securely.</a:t>
            </a:r>
          </a:p>
          <a:p>
            <a:r>
              <a:rPr lang="en-US" sz="882" kern="1200">
                <a:solidFill>
                  <a:schemeClr val="tx1"/>
                </a:solidFill>
                <a:effectLst/>
                <a:latin typeface="Segoe UI" panose="020B0502040204020203" pitchFamily="34" charset="0"/>
                <a:ea typeface="+mn-ea"/>
                <a:cs typeface="+mn-cs"/>
              </a:rPr>
              <a: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BF1AF6-D9F1-40CB-A795-7B765503913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7315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34BB6-BE3B-E77A-87F3-FD39E063E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0C359-983C-69E4-8034-17CFA2F083A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94E5D5-EA44-A803-ABBF-0D47827C5DE4}"/>
              </a:ext>
            </a:extLst>
          </p:cNvPr>
          <p:cNvSpPr>
            <a:spLocks noGrp="1"/>
          </p:cNvSpPr>
          <p:nvPr>
            <p:ph type="body" idx="1"/>
          </p:nvPr>
        </p:nvSpPr>
        <p:spPr/>
        <p:txBody>
          <a:bodyPr/>
          <a:lstStyle/>
          <a:p>
            <a:r>
              <a:rPr lang="en-US" sz="882" b="1" kern="1200">
                <a:solidFill>
                  <a:schemeClr val="tx1"/>
                </a:solidFill>
                <a:effectLst/>
                <a:latin typeface="Segoe UI" panose="020B0502040204020203" pitchFamily="34" charset="0"/>
                <a:ea typeface="+mn-ea"/>
                <a:cs typeface="+mn-cs"/>
              </a:rPr>
              <a:t>Show the industry use of agents – </a:t>
            </a:r>
            <a:br>
              <a:rPr lang="en-US" sz="882" b="1" kern="1200">
                <a:solidFill>
                  <a:schemeClr val="tx1"/>
                </a:solidFill>
                <a:effectLst/>
                <a:latin typeface="Segoe UI" panose="020B0502040204020203" pitchFamily="34" charset="0"/>
                <a:ea typeface="+mn-ea"/>
                <a:cs typeface="+mn-cs"/>
              </a:rPr>
            </a:br>
            <a:r>
              <a:rPr lang="en-US" sz="882" b="1" kern="1200">
                <a:solidFill>
                  <a:schemeClr val="tx1"/>
                </a:solidFill>
                <a:effectLst/>
                <a:latin typeface="Segoe UI" panose="020B0502040204020203" pitchFamily="34" charset="0"/>
                <a:ea typeface="+mn-ea"/>
                <a:cs typeface="+mn-cs"/>
              </a:rPr>
              <a:t>Establishes how influential AI/Agent are becoming standard in business</a:t>
            </a:r>
            <a:br>
              <a:rPr lang="en-US" sz="882" b="1" kern="1200">
                <a:solidFill>
                  <a:schemeClr val="tx1"/>
                </a:solidFill>
                <a:effectLst/>
                <a:latin typeface="Segoe UI" panose="020B0502040204020203" pitchFamily="34" charset="0"/>
                <a:ea typeface="+mn-ea"/>
                <a:cs typeface="+mn-cs"/>
              </a:rPr>
            </a:br>
            <a:br>
              <a:rPr lang="en-US" sz="882" b="1"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More than </a:t>
            </a:r>
            <a:r>
              <a:rPr lang="en-US" sz="882" b="1" kern="1200">
                <a:solidFill>
                  <a:schemeClr val="tx1"/>
                </a:solidFill>
                <a:effectLst/>
                <a:latin typeface="Segoe UI" panose="020B0502040204020203" pitchFamily="34" charset="0"/>
                <a:ea typeface="+mn-ea"/>
                <a:cs typeface="+mn-cs"/>
              </a:rPr>
              <a:t>80% of leaders</a:t>
            </a:r>
            <a:r>
              <a:rPr lang="en-US" sz="882" kern="1200">
                <a:solidFill>
                  <a:schemeClr val="tx1"/>
                </a:solidFill>
                <a:effectLst/>
                <a:latin typeface="Segoe UI" panose="020B0502040204020203" pitchFamily="34" charset="0"/>
                <a:ea typeface="+mn-ea"/>
                <a:cs typeface="+mn-cs"/>
              </a:rPr>
              <a:t> say they’re already using agents — or will within the next year. The next time we meet, you may have a whole agentic team working alongside you.</a:t>
            </a:r>
            <a:br>
              <a:rPr lang="en-US" sz="882" kern="1200">
                <a:solidFill>
                  <a:schemeClr val="tx1"/>
                </a:solidFill>
                <a:effectLst/>
                <a:latin typeface="Segoe UI" panose="020B0502040204020203" pitchFamily="34" charset="0"/>
                <a:ea typeface="+mn-ea"/>
                <a:cs typeface="+mn-cs"/>
              </a:rPr>
            </a:b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And this isn’t a minor shift. IDC projects </a:t>
            </a:r>
            <a:r>
              <a:rPr lang="en-US" sz="882" b="1" kern="1200">
                <a:solidFill>
                  <a:schemeClr val="tx1"/>
                </a:solidFill>
                <a:effectLst/>
                <a:latin typeface="Segoe UI" panose="020B0502040204020203" pitchFamily="34" charset="0"/>
                <a:ea typeface="+mn-ea"/>
                <a:cs typeface="+mn-cs"/>
              </a:rPr>
              <a:t>1.3 billion agents by 2028</a:t>
            </a:r>
            <a:r>
              <a:rPr lang="en-US" sz="882" kern="1200">
                <a:solidFill>
                  <a:schemeClr val="tx1"/>
                </a:solidFill>
                <a:effectLst/>
                <a:latin typeface="Segoe UI" panose="020B0502040204020203" pitchFamily="34" charset="0"/>
                <a:ea typeface="+mn-ea"/>
                <a:cs typeface="+mn-cs"/>
              </a:rPr>
              <a:t> — roughly the population of India.</a:t>
            </a:r>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For every human, there will be multiple agents.</a:t>
            </a:r>
          </a:p>
          <a:p>
            <a:r>
              <a:rPr lang="en-US" sz="882" kern="1200">
                <a:solidFill>
                  <a:schemeClr val="tx1"/>
                </a:solidFill>
                <a:effectLst/>
                <a:latin typeface="Segoe UI" panose="020B0502040204020203" pitchFamily="34" charset="0"/>
                <a:ea typeface="+mn-ea"/>
                <a:cs typeface="+mn-cs"/>
              </a:rPr>
              <a:t>That scale changes everything: how we work, how we secure, and how we build for the future.</a:t>
            </a:r>
          </a:p>
          <a:p>
            <a:pPr marL="0" marR="0" lvl="0" indent="0" algn="l" defTabSz="914367" rtl="0" eaLnBrk="1" fontAlgn="t" latinLnBrk="0" hangingPunct="1">
              <a:lnSpc>
                <a:spcPct val="90000"/>
              </a:lnSpc>
              <a:spcBef>
                <a:spcPts val="0"/>
              </a:spcBef>
              <a:spcAft>
                <a:spcPts val="333"/>
              </a:spcAft>
              <a:buClrTx/>
              <a:buSzTx/>
              <a:buFontTx/>
              <a:buNone/>
              <a:tabLst/>
              <a:defRP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F95491C-6A50-1957-1DBD-26CC47A46A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731C9-6710-4C1F-B61A-5577E2E504D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73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64438-EE03-4250-FFD3-AA898CC32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97222-F890-F944-41AF-54F782A8F7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5E3A01-BCF9-9659-F2B3-743E9BCDC46F}"/>
              </a:ext>
            </a:extLst>
          </p:cNvPr>
          <p:cNvSpPr>
            <a:spLocks noGrp="1"/>
          </p:cNvSpPr>
          <p:nvPr>
            <p:ph type="body" idx="1"/>
          </p:nvPr>
        </p:nvSpPr>
        <p:spPr/>
        <p:txBody>
          <a:bodyPr/>
          <a:lstStyle/>
          <a:p>
            <a:r>
              <a:rPr lang="en-US" sz="882" b="1" kern="1200">
                <a:solidFill>
                  <a:schemeClr val="tx1"/>
                </a:solidFill>
                <a:effectLst/>
                <a:latin typeface="Segoe UI" panose="020B0502040204020203" pitchFamily="34" charset="0"/>
                <a:ea typeface="+mn-ea"/>
                <a:cs typeface="+mn-cs"/>
              </a:rPr>
              <a:t>Slide purpose: Show the industry use of agents – </a:t>
            </a:r>
            <a:br>
              <a:rPr lang="en-US" sz="882" b="1" kern="1200">
                <a:solidFill>
                  <a:schemeClr val="tx1"/>
                </a:solidFill>
                <a:effectLst/>
                <a:latin typeface="Segoe UI" panose="020B0502040204020203" pitchFamily="34" charset="0"/>
                <a:ea typeface="+mn-ea"/>
                <a:cs typeface="+mn-cs"/>
              </a:rPr>
            </a:br>
            <a:r>
              <a:rPr lang="en-US" sz="882" b="1" kern="1200">
                <a:solidFill>
                  <a:schemeClr val="tx1"/>
                </a:solidFill>
                <a:effectLst/>
                <a:latin typeface="Segoe UI" panose="020B0502040204020203" pitchFamily="34" charset="0"/>
                <a:ea typeface="+mn-ea"/>
                <a:cs typeface="+mn-cs"/>
              </a:rPr>
              <a:t>Establishes how influential AI/Agent are becoming standard in business</a:t>
            </a:r>
            <a:br>
              <a:rPr lang="en-US" sz="882" b="1" kern="1200">
                <a:solidFill>
                  <a:schemeClr val="tx1"/>
                </a:solidFill>
                <a:effectLst/>
                <a:latin typeface="Segoe UI" panose="020B0502040204020203" pitchFamily="34" charset="0"/>
                <a:ea typeface="+mn-ea"/>
                <a:cs typeface="+mn-cs"/>
              </a:rPr>
            </a:br>
            <a:br>
              <a:rPr lang="en-US" sz="882" b="1"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The rise of the Frontier Firm is unlocking incredible potential — but it’s being driven by a profound technology transformation led by AI and now intelligent agents.</a:t>
            </a:r>
          </a:p>
          <a:p>
            <a:r>
              <a:rPr lang="en-US" sz="882" kern="1200">
                <a:solidFill>
                  <a:schemeClr val="tx1"/>
                </a:solidFill>
                <a:effectLst/>
                <a:latin typeface="Segoe UI" panose="020B0502040204020203" pitchFamily="34" charset="0"/>
                <a:ea typeface="+mn-ea"/>
                <a:cs typeface="+mn-cs"/>
              </a:rPr>
              <a:t>And that transformation is reshaping the security landscape in ways we’ve never seen before.</a:t>
            </a:r>
          </a:p>
          <a:p>
            <a:r>
              <a:rPr lang="en-US" sz="882" kern="1200">
                <a:solidFill>
                  <a:schemeClr val="tx1"/>
                </a:solidFill>
                <a:effectLst/>
                <a:latin typeface="Segoe UI" panose="020B0502040204020203" pitchFamily="34" charset="0"/>
                <a:ea typeface="+mn-ea"/>
                <a:cs typeface="+mn-cs"/>
              </a:rPr>
              <a:t> </a:t>
            </a:r>
          </a:p>
          <a:p>
            <a:r>
              <a:rPr lang="en-US" sz="882" kern="1200">
                <a:solidFill>
                  <a:schemeClr val="tx1"/>
                </a:solidFill>
                <a:effectLst/>
                <a:latin typeface="Segoe UI" panose="020B0502040204020203" pitchFamily="34" charset="0"/>
                <a:ea typeface="+mn-ea"/>
                <a:cs typeface="+mn-cs"/>
              </a:rPr>
              <a:t>AI isn’t just helping defenders move faster — it’s helping attackers do the same. Our latest Digital Defense Report shows AI‑automated phishing is now </a:t>
            </a:r>
            <a:r>
              <a:rPr lang="en-US" sz="882" b="1" kern="1200">
                <a:solidFill>
                  <a:schemeClr val="tx1"/>
                </a:solidFill>
                <a:effectLst/>
                <a:latin typeface="Segoe UI" panose="020B0502040204020203" pitchFamily="34" charset="0"/>
                <a:ea typeface="+mn-ea"/>
                <a:cs typeface="+mn-cs"/>
              </a:rPr>
              <a:t>4.5× more effective</a:t>
            </a:r>
            <a:r>
              <a:rPr lang="en-US" sz="882" kern="1200">
                <a:solidFill>
                  <a:schemeClr val="tx1"/>
                </a:solidFill>
                <a:effectLst/>
                <a:latin typeface="Segoe UI" panose="020B0502040204020203" pitchFamily="34" charset="0"/>
                <a:ea typeface="+mn-ea"/>
                <a:cs typeface="+mn-cs"/>
              </a:rPr>
              <a:t>, and </a:t>
            </a:r>
            <a:r>
              <a:rPr lang="en-US" sz="882" b="1" kern="1200">
                <a:solidFill>
                  <a:schemeClr val="tx1"/>
                </a:solidFill>
                <a:effectLst/>
                <a:latin typeface="Segoe UI" panose="020B0502040204020203" pitchFamily="34" charset="0"/>
                <a:ea typeface="+mn-ea"/>
                <a:cs typeface="+mn-cs"/>
              </a:rPr>
              <a:t>80% of leaders</a:t>
            </a:r>
            <a:r>
              <a:rPr lang="en-US" sz="882" kern="1200">
                <a:solidFill>
                  <a:schemeClr val="tx1"/>
                </a:solidFill>
                <a:effectLst/>
                <a:latin typeface="Segoe UI" panose="020B0502040204020203" pitchFamily="34" charset="0"/>
                <a:ea typeface="+mn-ea"/>
                <a:cs typeface="+mn-cs"/>
              </a:rPr>
              <a:t> say their top concern with generative AI is sensitive data leakage.</a:t>
            </a:r>
          </a:p>
          <a:p>
            <a:r>
              <a:rPr lang="en-US" sz="882" kern="1200">
                <a:solidFill>
                  <a:schemeClr val="tx1"/>
                </a:solidFill>
                <a:effectLst/>
                <a:latin typeface="Segoe UI" panose="020B0502040204020203" pitchFamily="34" charset="0"/>
                <a:ea typeface="+mn-ea"/>
                <a:cs typeface="+mn-cs"/>
              </a:rPr>
              <a:t> </a:t>
            </a:r>
          </a:p>
          <a:p>
            <a:r>
              <a:rPr lang="en-US" sz="882" kern="1200">
                <a:solidFill>
                  <a:schemeClr val="tx1"/>
                </a:solidFill>
                <a:effectLst/>
                <a:latin typeface="Segoe UI" panose="020B0502040204020203" pitchFamily="34" charset="0"/>
                <a:ea typeface="+mn-ea"/>
                <a:cs typeface="+mn-cs"/>
              </a:rPr>
              <a:t>At the same time, most security environments are already strained under extreme complexity. Many organizations are running </a:t>
            </a:r>
            <a:r>
              <a:rPr lang="en-US" sz="882" b="1" kern="1200">
                <a:solidFill>
                  <a:schemeClr val="tx1"/>
                </a:solidFill>
                <a:effectLst/>
                <a:latin typeface="Segoe UI" panose="020B0502040204020203" pitchFamily="34" charset="0"/>
                <a:ea typeface="+mn-ea"/>
                <a:cs typeface="+mn-cs"/>
              </a:rPr>
              <a:t>40, 60, even 80 security tools</a:t>
            </a:r>
            <a:r>
              <a:rPr lang="en-US" sz="882" kern="1200">
                <a:solidFill>
                  <a:schemeClr val="tx1"/>
                </a:solidFill>
                <a:effectLst/>
                <a:latin typeface="Segoe UI" panose="020B0502040204020203" pitchFamily="34" charset="0"/>
                <a:ea typeface="+mn-ea"/>
                <a:cs typeface="+mn-cs"/>
              </a:rPr>
              <a:t> — disconnected systems that create blind spots and slow response. IDC found more than a quarter of companies use </a:t>
            </a:r>
            <a:r>
              <a:rPr lang="en-US" sz="882" b="1" kern="1200">
                <a:solidFill>
                  <a:schemeClr val="tx1"/>
                </a:solidFill>
                <a:effectLst/>
                <a:latin typeface="Segoe UI" panose="020B0502040204020203" pitchFamily="34" charset="0"/>
                <a:ea typeface="+mn-ea"/>
                <a:cs typeface="+mn-cs"/>
              </a:rPr>
              <a:t>41–60 tools</a:t>
            </a:r>
            <a:r>
              <a:rPr lang="en-US" sz="882" kern="1200">
                <a:solidFill>
                  <a:schemeClr val="tx1"/>
                </a:solidFill>
                <a:effectLst/>
                <a:latin typeface="Segoe UI" panose="020B0502040204020203" pitchFamily="34" charset="0"/>
                <a:ea typeface="+mn-ea"/>
                <a:cs typeface="+mn-cs"/>
              </a:rPr>
              <a:t>, and about one in five use </a:t>
            </a:r>
            <a:r>
              <a:rPr lang="en-US" sz="882" b="1" kern="1200">
                <a:solidFill>
                  <a:schemeClr val="tx1"/>
                </a:solidFill>
                <a:effectLst/>
                <a:latin typeface="Segoe UI" panose="020B0502040204020203" pitchFamily="34" charset="0"/>
                <a:ea typeface="+mn-ea"/>
                <a:cs typeface="+mn-cs"/>
              </a:rPr>
              <a:t>61–80</a:t>
            </a:r>
            <a:r>
              <a:rPr lang="en-US" sz="882" kern="1200">
                <a:solidFill>
                  <a:schemeClr val="tx1"/>
                </a:solidFill>
                <a:effectLst/>
                <a:latin typeface="Segoe UI" panose="020B0502040204020203" pitchFamily="34" charset="0"/>
                <a:ea typeface="+mn-ea"/>
                <a:cs typeface="+mn-cs"/>
              </a:rPr>
              <a:t>.</a:t>
            </a:r>
          </a:p>
          <a:p>
            <a:pPr marL="0" marR="0" lvl="0" indent="0" algn="l" defTabSz="914367" rtl="0" eaLnBrk="1" fontAlgn="t" latinLnBrk="0" hangingPunct="1">
              <a:lnSpc>
                <a:spcPct val="90000"/>
              </a:lnSpc>
              <a:spcBef>
                <a:spcPts val="0"/>
              </a:spcBef>
              <a:spcAft>
                <a:spcPts val="333"/>
              </a:spcAft>
              <a:buClrTx/>
              <a:buSzTx/>
              <a:buFontTx/>
              <a:buNone/>
              <a:tabLst/>
              <a:defRP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EED1506-6D97-7EE9-E600-222D7311A6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731C9-6710-4C1F-B61A-5577E2E504D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64126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882" b="1" kern="1200">
                <a:solidFill>
                  <a:schemeClr val="tx1"/>
                </a:solidFill>
                <a:effectLst/>
                <a:latin typeface="Segoe UI" panose="020B0502040204020203" pitchFamily="34" charset="0"/>
                <a:ea typeface="+mn-ea"/>
                <a:cs typeface="+mn-cs"/>
              </a:rPr>
              <a:t>Defining specific complex challenges and new attack surfaces</a:t>
            </a: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In addition to the unprecedented challenges organizations are already facing across identity, cloud, endpoints, and data, AI adds entirely new pressure onto the existing threat landscape.</a:t>
            </a:r>
          </a:p>
          <a:p>
            <a:r>
              <a:rPr lang="en-US" sz="882" kern="1200">
                <a:solidFill>
                  <a:schemeClr val="tx1"/>
                </a:solidFill>
                <a:effectLst/>
                <a:latin typeface="Segoe UI" panose="020B0502040204020203" pitchFamily="34" charset="0"/>
                <a:ea typeface="+mn-ea"/>
                <a:cs typeface="+mn-cs"/>
              </a:rPr>
              <a:t> </a:t>
            </a:r>
          </a:p>
          <a:p>
            <a:r>
              <a:rPr lang="en-US" sz="882" kern="1200">
                <a:solidFill>
                  <a:schemeClr val="tx1"/>
                </a:solidFill>
                <a:effectLst/>
                <a:latin typeface="Segoe UI" panose="020B0502040204020203" pitchFamily="34" charset="0"/>
                <a:ea typeface="+mn-ea"/>
                <a:cs typeface="+mn-cs"/>
              </a:rPr>
              <a:t>Defenders aren’t starting from zero — they’re already operating in a complex, high‑risk environment. AI accelerates that reality by increasing scale, speed, and automation for both legitimate users and attackers.</a:t>
            </a:r>
          </a:p>
          <a:p>
            <a:r>
              <a:rPr lang="en-US" sz="882" kern="1200">
                <a:solidFill>
                  <a:schemeClr val="tx1"/>
                </a:solidFill>
                <a:effectLst/>
                <a:latin typeface="Segoe UI" panose="020B0502040204020203" pitchFamily="34" charset="0"/>
                <a:ea typeface="+mn-ea"/>
                <a:cs typeface="+mn-cs"/>
              </a:rPr>
              <a:t>But AI doesn’t just intensify traditional threats</a:t>
            </a:r>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 — </a:t>
            </a:r>
            <a:r>
              <a:rPr lang="en-US" sz="882" b="1" kern="1200">
                <a:solidFill>
                  <a:schemeClr val="tx1"/>
                </a:solidFill>
                <a:effectLst/>
                <a:latin typeface="Segoe UI" panose="020B0502040204020203" pitchFamily="34" charset="0"/>
                <a:ea typeface="+mn-ea"/>
                <a:cs typeface="+mn-cs"/>
              </a:rPr>
              <a:t>it introduces new ones</a:t>
            </a:r>
            <a:r>
              <a:rPr lang="en-US" sz="882" kern="1200">
                <a:solidFill>
                  <a:schemeClr val="tx1"/>
                </a:solidFill>
                <a:effectLst/>
                <a:latin typeface="Segoe UI" panose="020B0502040204020203" pitchFamily="34" charset="0"/>
                <a:ea typeface="+mn-ea"/>
                <a:cs typeface="+mn-cs"/>
              </a:rPr>
              <a:t>.</a:t>
            </a:r>
          </a:p>
          <a:p>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We now have to secure things that simply didn’t exist before: prompts and responses that can be manipulated, data pipelines that fuel models and agents, plugins and integrations that expand attack paths, and autonomous agents that can take action at machine speed. Each of these becomes a new surface attackers can probe, exploit, or poison.</a:t>
            </a:r>
          </a:p>
          <a:p>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That’s why this moment is different.</a:t>
            </a:r>
          </a:p>
          <a:p>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The security approaches that worked before aren’t enough on their own in an AI‑ and agent‑driven world.</a:t>
            </a:r>
          </a:p>
          <a:p>
            <a:pPr marL="0" marR="0" lvl="0" indent="0" algn="l" defTabSz="914367" rtl="0" eaLnBrk="1" fontAlgn="t" latinLnBrk="0" hangingPunct="1">
              <a:lnSpc>
                <a:spcPct val="90000"/>
              </a:lnSpc>
              <a:spcBef>
                <a:spcPts val="0"/>
              </a:spcBef>
              <a:spcAft>
                <a:spcPts val="333"/>
              </a:spcAft>
              <a:buClrTx/>
              <a:buSzTx/>
              <a:buFontTx/>
              <a:buNone/>
              <a:tabLst/>
              <a:defRPr/>
            </a:pP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DD9B25-2FD5-471D-995E-76931ED4A4D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94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882" b="1" kern="1200">
                <a:solidFill>
                  <a:schemeClr val="tx1"/>
                </a:solidFill>
                <a:effectLst/>
                <a:latin typeface="Segoe UI" panose="020B0502040204020203" pitchFamily="34" charset="0"/>
                <a:ea typeface="+mn-ea"/>
                <a:cs typeface="+mn-cs"/>
              </a:rPr>
              <a:t>Introduction to ZT – 4 core principles</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 </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Enable the business </a:t>
            </a:r>
            <a:r>
              <a:rPr lang="en-US" sz="882" kern="1200">
                <a:solidFill>
                  <a:schemeClr val="tx1"/>
                </a:solidFill>
                <a:effectLst/>
                <a:latin typeface="Segoe UI" panose="020B0502040204020203" pitchFamily="34" charset="0"/>
                <a:ea typeface="+mn-ea"/>
                <a:cs typeface="+mn-cs"/>
              </a:rPr>
              <a:t>to adopt AI and innovation securely</a:t>
            </a:r>
          </a:p>
          <a:p>
            <a:r>
              <a:rPr lang="en-US" sz="882" b="1" kern="1200">
                <a:solidFill>
                  <a:schemeClr val="tx1"/>
                </a:solidFill>
                <a:effectLst/>
                <a:latin typeface="Segoe UI" panose="020B0502040204020203" pitchFamily="34" charset="0"/>
                <a:ea typeface="+mn-ea"/>
                <a:cs typeface="+mn-cs"/>
              </a:rPr>
              <a:t>Verify explicitly </a:t>
            </a:r>
            <a:r>
              <a:rPr lang="en-US" sz="882" kern="1200">
                <a:solidFill>
                  <a:schemeClr val="tx1"/>
                </a:solidFill>
                <a:effectLst/>
                <a:latin typeface="Segoe UI" panose="020B0502040204020203" pitchFamily="34" charset="0"/>
                <a:ea typeface="+mn-ea"/>
                <a:cs typeface="+mn-cs"/>
              </a:rPr>
              <a:t>every request</a:t>
            </a:r>
          </a:p>
          <a:p>
            <a:r>
              <a:rPr lang="en-US" sz="882" b="1" kern="1200">
                <a:solidFill>
                  <a:schemeClr val="tx1"/>
                </a:solidFill>
                <a:effectLst/>
                <a:latin typeface="Segoe UI" panose="020B0502040204020203" pitchFamily="34" charset="0"/>
                <a:ea typeface="+mn-ea"/>
                <a:cs typeface="+mn-cs"/>
              </a:rPr>
              <a:t>Apply least privilege </a:t>
            </a:r>
            <a:r>
              <a:rPr lang="en-US" sz="882" kern="1200">
                <a:solidFill>
                  <a:schemeClr val="tx1"/>
                </a:solidFill>
                <a:effectLst/>
                <a:latin typeface="Segoe UI" panose="020B0502040204020203" pitchFamily="34" charset="0"/>
                <a:ea typeface="+mn-ea"/>
                <a:cs typeface="+mn-cs"/>
              </a:rPr>
              <a:t>everywhere</a:t>
            </a:r>
          </a:p>
          <a:p>
            <a:r>
              <a:rPr lang="en-US" sz="882" b="1" kern="1200">
                <a:solidFill>
                  <a:schemeClr val="tx1"/>
                </a:solidFill>
                <a:effectLst/>
                <a:latin typeface="Segoe UI" panose="020B0502040204020203" pitchFamily="34" charset="0"/>
                <a:ea typeface="+mn-ea"/>
                <a:cs typeface="+mn-cs"/>
              </a:rPr>
              <a:t>Assume breach </a:t>
            </a:r>
            <a:r>
              <a:rPr lang="en-US" sz="882" kern="1200">
                <a:solidFill>
                  <a:schemeClr val="tx1"/>
                </a:solidFill>
                <a:effectLst/>
                <a:latin typeface="Segoe UI" panose="020B0502040204020203" pitchFamily="34" charset="0"/>
                <a:ea typeface="+mn-ea"/>
                <a:cs typeface="+mn-cs"/>
              </a:rPr>
              <a:t>and design for resilience</a:t>
            </a:r>
          </a:p>
          <a:p>
            <a:r>
              <a:rPr lang="en-US" sz="882" kern="1200">
                <a:solidFill>
                  <a:schemeClr val="tx1"/>
                </a:solidFill>
                <a:effectLst/>
                <a:latin typeface="Segoe UI" panose="020B0502040204020203" pitchFamily="34" charset="0"/>
                <a:ea typeface="+mn-ea"/>
                <a:cs typeface="+mn-cs"/>
              </a:rPr>
              <a:t> </a:t>
            </a:r>
          </a:p>
          <a:p>
            <a:r>
              <a:rPr lang="en-US" sz="882" kern="1200">
                <a:solidFill>
                  <a:schemeClr val="tx1"/>
                </a:solidFill>
                <a:effectLst/>
                <a:latin typeface="Segoe UI" panose="020B0502040204020203" pitchFamily="34" charset="0"/>
                <a:ea typeface="+mn-ea"/>
                <a:cs typeface="+mn-cs"/>
              </a:rPr>
              <a:t>The challenges of our AI‑ and agent‑driven world necessitate security across your entire digital estate.</a:t>
            </a:r>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Microsoft adopted a Zero Trust organizational strategy to reduce vulnerabilities through authorized, encrypted policies.</a:t>
            </a:r>
            <a:br>
              <a:rPr lang="en-US" sz="882" kern="1200">
                <a:solidFill>
                  <a:schemeClr val="tx1"/>
                </a:solidFill>
                <a:effectLst/>
                <a:latin typeface="Segoe UI" panose="020B0502040204020203" pitchFamily="34" charset="0"/>
                <a:ea typeface="+mn-ea"/>
                <a:cs typeface="+mn-cs"/>
              </a:rPr>
            </a:br>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(need to tell the audience the purpose of the deck here – we describe ZT – then present steps so they can achieve)</a:t>
            </a:r>
            <a:br>
              <a:rPr lang="en-US" sz="882" kern="1200">
                <a:solidFill>
                  <a:schemeClr val="tx1"/>
                </a:solidFill>
                <a:effectLst/>
                <a:latin typeface="Segoe UI" panose="020B0502040204020203" pitchFamily="34" charset="0"/>
                <a:ea typeface="+mn-ea"/>
                <a:cs typeface="+mn-cs"/>
              </a:rPr>
            </a:br>
            <a:br>
              <a:rPr lang="en-US" sz="882" kern="1200">
                <a:solidFill>
                  <a:schemeClr val="tx1"/>
                </a:solidFill>
                <a:effectLst/>
                <a:latin typeface="Segoe UI" panose="020B0502040204020203" pitchFamily="34" charset="0"/>
                <a:ea typeface="+mn-ea"/>
                <a:cs typeface="+mn-cs"/>
              </a:rPr>
            </a:b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731C9-6710-4C1F-B61A-5577E2E504D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1842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A34B4-A7E5-4E37-206F-DBB589B32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30B01-7292-930D-1395-AC6D42543B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43747E-C7F9-C371-C519-67191A83B829}"/>
              </a:ext>
            </a:extLst>
          </p:cNvPr>
          <p:cNvSpPr>
            <a:spLocks noGrp="1"/>
          </p:cNvSpPr>
          <p:nvPr>
            <p:ph type="body" idx="1"/>
          </p:nvPr>
        </p:nvSpPr>
        <p:spPr/>
        <p:txBody>
          <a:bodyPr/>
          <a:lstStyle/>
          <a:p>
            <a:r>
              <a:rPr lang="en-US" sz="882" kern="1200">
                <a:solidFill>
                  <a:schemeClr val="tx1"/>
                </a:solidFill>
                <a:effectLst/>
                <a:latin typeface="Segoe UI" panose="020B0502040204020203" pitchFamily="34" charset="0"/>
                <a:ea typeface="+mn-ea"/>
                <a:cs typeface="+mn-cs"/>
              </a:rPr>
              <a:t>Let’s walk through the Zero Trust core principles.</a:t>
            </a:r>
            <a:br>
              <a:rPr lang="en-US" sz="882" kern="1200">
                <a:solidFill>
                  <a:schemeClr val="tx1"/>
                </a:solidFill>
                <a:effectLst/>
                <a:latin typeface="Segoe UI" panose="020B0502040204020203" pitchFamily="34" charset="0"/>
                <a:ea typeface="+mn-ea"/>
                <a:cs typeface="+mn-cs"/>
              </a:rPr>
            </a:b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1. Business Enablement (new)</a:t>
            </a: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AI introduces transformative opportunities – and new risks.</a:t>
            </a:r>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Protecting the business requires a holistic approach that balances security, governance, and innovation.</a:t>
            </a:r>
          </a:p>
          <a:p>
            <a:r>
              <a:rPr lang="en-US" sz="882" kern="1200">
                <a:solidFill>
                  <a:schemeClr val="tx1"/>
                </a:solidFill>
                <a:effectLst/>
                <a:latin typeface="Segoe UI" panose="020B0502040204020203" pitchFamily="34" charset="0"/>
                <a:ea typeface="+mn-ea"/>
                <a:cs typeface="+mn-cs"/>
              </a:rPr>
              <a:t>Zero Trust enables organizations to adopt AI, cloud, and modern work </a:t>
            </a:r>
            <a:r>
              <a:rPr lang="en-US" sz="882" b="1" kern="1200">
                <a:solidFill>
                  <a:schemeClr val="tx1"/>
                </a:solidFill>
                <a:effectLst/>
                <a:latin typeface="Segoe UI" panose="020B0502040204020203" pitchFamily="34" charset="0"/>
                <a:ea typeface="+mn-ea"/>
                <a:cs typeface="+mn-cs"/>
              </a:rPr>
              <a:t>safely and at speed</a:t>
            </a:r>
            <a:r>
              <a:rPr lang="en-US" sz="882" kern="1200">
                <a:solidFill>
                  <a:schemeClr val="tx1"/>
                </a:solidFill>
                <a:effectLst/>
                <a:latin typeface="Segoe UI" panose="020B0502040204020203" pitchFamily="34" charset="0"/>
                <a:ea typeface="+mn-ea"/>
                <a:cs typeface="+mn-cs"/>
              </a:rPr>
              <a:t>, reducing friction while strengthening protection across the digital estate.</a:t>
            </a:r>
          </a:p>
          <a:p>
            <a:r>
              <a:rPr lang="en-US" sz="882" kern="1200">
                <a:solidFill>
                  <a:schemeClr val="tx1"/>
                </a:solidFill>
                <a:effectLst/>
                <a:latin typeface="Segoe UI" panose="020B0502040204020203" pitchFamily="34" charset="0"/>
                <a:ea typeface="+mn-ea"/>
                <a:cs typeface="+mn-cs"/>
              </a:rPr>
              <a:t> </a:t>
            </a:r>
          </a:p>
          <a:p>
            <a:r>
              <a:rPr lang="en-US" sz="882" kern="1200">
                <a:solidFill>
                  <a:schemeClr val="tx1"/>
                </a:solidFill>
                <a:effectLst/>
                <a:latin typeface="Segoe UI" panose="020B0502040204020203" pitchFamily="34" charset="0"/>
                <a:ea typeface="+mn-ea"/>
                <a:cs typeface="+mn-cs"/>
              </a:rPr>
              <a:t> </a:t>
            </a:r>
          </a:p>
          <a:p>
            <a:r>
              <a:rPr lang="en-US" sz="882" b="1" kern="1200">
                <a:solidFill>
                  <a:schemeClr val="tx1"/>
                </a:solidFill>
                <a:effectLst/>
                <a:latin typeface="Segoe UI" panose="020B0502040204020203" pitchFamily="34" charset="0"/>
                <a:ea typeface="+mn-ea"/>
                <a:cs typeface="+mn-cs"/>
              </a:rPr>
              <a:t>2. Verify explicitly</a:t>
            </a: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No user, device, workload, or AI agent is inherently trusted.</a:t>
            </a:r>
          </a:p>
          <a:p>
            <a:r>
              <a:rPr lang="en-US" sz="882" kern="1200">
                <a:solidFill>
                  <a:schemeClr val="tx1"/>
                </a:solidFill>
                <a:effectLst/>
                <a:latin typeface="Segoe UI" panose="020B0502040204020203" pitchFamily="34" charset="0"/>
                <a:ea typeface="+mn-ea"/>
                <a:cs typeface="+mn-cs"/>
              </a:rPr>
              <a:t>Every access request is explicitly authenticated and authorized using all available signals</a:t>
            </a:r>
          </a:p>
          <a:p>
            <a:pPr lvl="0"/>
            <a:r>
              <a:rPr lang="en-US" sz="882" kern="1200">
                <a:solidFill>
                  <a:schemeClr val="tx1"/>
                </a:solidFill>
                <a:effectLst/>
                <a:latin typeface="Segoe UI" panose="020B0502040204020203" pitchFamily="34" charset="0"/>
                <a:ea typeface="+mn-ea"/>
                <a:cs typeface="+mn-cs"/>
              </a:rPr>
              <a:t>Identity, device health, data sensitivity, location, and behavior</a:t>
            </a:r>
          </a:p>
          <a:p>
            <a:pPr lvl="0"/>
            <a:r>
              <a:rPr lang="en-US" sz="882" kern="1200">
                <a:solidFill>
                  <a:schemeClr val="tx1"/>
                </a:solidFill>
                <a:effectLst/>
                <a:latin typeface="Segoe UI" panose="020B0502040204020203" pitchFamily="34" charset="0"/>
                <a:ea typeface="+mn-ea"/>
                <a:cs typeface="+mn-cs"/>
              </a:rPr>
              <a:t>regardless of where the request originates or what resource it accesses.</a:t>
            </a:r>
          </a:p>
          <a:p>
            <a:r>
              <a:rPr lang="en-US" sz="882" kern="1200">
                <a:solidFill>
                  <a:schemeClr val="tx1"/>
                </a:solidFill>
                <a:effectLst/>
                <a:latin typeface="Segoe UI" panose="020B0502040204020203" pitchFamily="34" charset="0"/>
                <a:ea typeface="+mn-ea"/>
                <a:cs typeface="+mn-cs"/>
              </a:rPr>
              <a:t>Zero Trust teaches us to </a:t>
            </a:r>
            <a:r>
              <a:rPr lang="en-US" sz="882" i="1" kern="1200">
                <a:solidFill>
                  <a:schemeClr val="tx1"/>
                </a:solidFill>
                <a:effectLst/>
                <a:latin typeface="Segoe UI" panose="020B0502040204020203" pitchFamily="34" charset="0"/>
                <a:ea typeface="+mn-ea"/>
                <a:cs typeface="+mn-cs"/>
              </a:rPr>
              <a:t>“</a:t>
            </a:r>
            <a:r>
              <a:rPr lang="en-US" sz="882" b="1" i="1" kern="1200">
                <a:solidFill>
                  <a:schemeClr val="tx1"/>
                </a:solidFill>
                <a:effectLst/>
                <a:latin typeface="Segoe UI" panose="020B0502040204020203" pitchFamily="34" charset="0"/>
                <a:ea typeface="+mn-ea"/>
                <a:cs typeface="+mn-cs"/>
              </a:rPr>
              <a:t>never trust, always verify</a:t>
            </a:r>
            <a:r>
              <a:rPr lang="en-US" sz="882" i="1" kern="1200">
                <a:solidFill>
                  <a:schemeClr val="tx1"/>
                </a:solidFill>
                <a:effectLst/>
                <a:latin typeface="Segoe UI" panose="020B0502040204020203" pitchFamily="34" charset="0"/>
                <a:ea typeface="+mn-ea"/>
                <a:cs typeface="+mn-cs"/>
              </a:rPr>
              <a:t>”</a:t>
            </a:r>
            <a:br>
              <a:rPr lang="en-US" sz="882" i="1" kern="1200">
                <a:solidFill>
                  <a:schemeClr val="tx1"/>
                </a:solidFill>
                <a:effectLst/>
                <a:latin typeface="Segoe UI" panose="020B0502040204020203" pitchFamily="34" charset="0"/>
                <a:ea typeface="+mn-ea"/>
                <a:cs typeface="+mn-cs"/>
              </a:rPr>
            </a:b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3. Least-privilege access</a:t>
            </a: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Access is continuously minimized and risk‑adaptive.</a:t>
            </a:r>
          </a:p>
          <a:p>
            <a:pPr lvl="0"/>
            <a:r>
              <a:rPr lang="en-US" sz="882" kern="1200">
                <a:solidFill>
                  <a:schemeClr val="tx1"/>
                </a:solidFill>
                <a:effectLst/>
                <a:latin typeface="Segoe UI" panose="020B0502040204020203" pitchFamily="34" charset="0"/>
                <a:ea typeface="+mn-ea"/>
                <a:cs typeface="+mn-cs"/>
              </a:rPr>
              <a:t>Permissions are reduced by default and granted only when needed.</a:t>
            </a:r>
          </a:p>
          <a:p>
            <a:pPr lvl="0"/>
            <a:r>
              <a:rPr lang="en-US" sz="882" kern="1200">
                <a:solidFill>
                  <a:schemeClr val="tx1"/>
                </a:solidFill>
                <a:effectLst/>
                <a:latin typeface="Segoe UI" panose="020B0502040204020203" pitchFamily="34" charset="0"/>
                <a:ea typeface="+mn-ea"/>
                <a:cs typeface="+mn-cs"/>
              </a:rPr>
              <a:t>Elevated access requires approval and is time‑bound (just‑in‑time, just‑enough).</a:t>
            </a:r>
          </a:p>
          <a:p>
            <a:pPr lvl="0"/>
            <a:r>
              <a:rPr lang="en-US" sz="882" kern="1200">
                <a:solidFill>
                  <a:schemeClr val="tx1"/>
                </a:solidFill>
                <a:effectLst/>
                <a:latin typeface="Segoe UI" panose="020B0502040204020203" pitchFamily="34" charset="0"/>
                <a:ea typeface="+mn-ea"/>
                <a:cs typeface="+mn-cs"/>
              </a:rPr>
              <a:t>Data is classified, labeled, and encrypted.</a:t>
            </a:r>
          </a:p>
          <a:p>
            <a:pPr lvl="0"/>
            <a:r>
              <a:rPr lang="en-US" sz="882" kern="1200">
                <a:solidFill>
                  <a:schemeClr val="tx1"/>
                </a:solidFill>
                <a:effectLst/>
                <a:latin typeface="Segoe UI" panose="020B0502040204020203" pitchFamily="34" charset="0"/>
                <a:ea typeface="+mn-ea"/>
                <a:cs typeface="+mn-cs"/>
              </a:rPr>
              <a:t>Networks and workloads are segmented to limit blast radius.</a:t>
            </a:r>
          </a:p>
          <a:p>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This ensures users, applications, and AI systems can access </a:t>
            </a:r>
            <a:r>
              <a:rPr lang="en-US" sz="882" b="1" kern="1200">
                <a:solidFill>
                  <a:schemeClr val="tx1"/>
                </a:solidFill>
                <a:effectLst/>
                <a:latin typeface="Segoe UI" panose="020B0502040204020203" pitchFamily="34" charset="0"/>
                <a:ea typeface="+mn-ea"/>
                <a:cs typeface="+mn-cs"/>
              </a:rPr>
              <a:t>only what is required for the intended task – and nothing more</a:t>
            </a:r>
            <a:br>
              <a:rPr lang="en-US" sz="882" b="1" kern="1200">
                <a:solidFill>
                  <a:schemeClr val="tx1"/>
                </a:solidFill>
                <a:effectLst/>
                <a:latin typeface="Segoe UI" panose="020B0502040204020203" pitchFamily="34" charset="0"/>
                <a:ea typeface="+mn-ea"/>
                <a:cs typeface="+mn-cs"/>
              </a:rPr>
            </a:b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4. Assume breach</a:t>
            </a: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Breaches are inevitable—resilience is essential.</a:t>
            </a:r>
          </a:p>
          <a:p>
            <a:pPr lvl="0"/>
            <a:r>
              <a:rPr lang="en-US" sz="882" kern="1200">
                <a:solidFill>
                  <a:schemeClr val="tx1"/>
                </a:solidFill>
                <a:effectLst/>
                <a:latin typeface="Segoe UI" panose="020B0502040204020203" pitchFamily="34" charset="0"/>
                <a:ea typeface="+mn-ea"/>
                <a:cs typeface="+mn-cs"/>
              </a:rPr>
              <a:t>Infrastructure and AI components are continuously assessed for vulnerabilities.</a:t>
            </a:r>
          </a:p>
          <a:p>
            <a:pPr lvl="0"/>
            <a:r>
              <a:rPr lang="en-US" sz="882" kern="1200">
                <a:solidFill>
                  <a:schemeClr val="tx1"/>
                </a:solidFill>
                <a:effectLst/>
                <a:latin typeface="Segoe UI" panose="020B0502040204020203" pitchFamily="34" charset="0"/>
                <a:ea typeface="+mn-ea"/>
                <a:cs typeface="+mn-cs"/>
              </a:rPr>
              <a:t>Real‑time threat detection and response are used to prevent lateral movement.</a:t>
            </a:r>
          </a:p>
          <a:p>
            <a:pPr lvl="0"/>
            <a:r>
              <a:rPr lang="en-US" sz="882" kern="1200">
                <a:solidFill>
                  <a:schemeClr val="tx1"/>
                </a:solidFill>
                <a:effectLst/>
                <a:latin typeface="Segoe UI" panose="020B0502040204020203" pitchFamily="34" charset="0"/>
                <a:ea typeface="+mn-ea"/>
                <a:cs typeface="+mn-cs"/>
              </a:rPr>
              <a:t>Controls are designed to contain impact, accelerate recovery, and protect sensitive data—even after compromise.</a:t>
            </a:r>
          </a:p>
          <a:p>
            <a:br>
              <a:rPr lang="en-US" sz="882" kern="1200">
                <a:solidFill>
                  <a:schemeClr val="tx1"/>
                </a:solidFill>
                <a:effectLst/>
                <a:latin typeface="Segoe UI" panose="020B0502040204020203" pitchFamily="34" charset="0"/>
                <a:ea typeface="+mn-ea"/>
                <a:cs typeface="+mn-cs"/>
              </a:rPr>
            </a:br>
            <a:r>
              <a:rPr lang="en-US" sz="882" kern="1200">
                <a:solidFill>
                  <a:schemeClr val="tx1"/>
                </a:solidFill>
                <a:effectLst/>
                <a:latin typeface="Segoe UI" panose="020B0502040204020203" pitchFamily="34" charset="0"/>
                <a:ea typeface="+mn-ea"/>
                <a:cs typeface="+mn-cs"/>
              </a:rPr>
              <a:t>By assuming breach, organizations shift from reactive defense to </a:t>
            </a:r>
            <a:r>
              <a:rPr lang="en-US" sz="882" b="1" kern="1200">
                <a:solidFill>
                  <a:schemeClr val="tx1"/>
                </a:solidFill>
                <a:effectLst/>
                <a:latin typeface="Segoe UI" panose="020B0502040204020203" pitchFamily="34" charset="0"/>
                <a:ea typeface="+mn-ea"/>
                <a:cs typeface="+mn-cs"/>
              </a:rPr>
              <a:t>continuous containment and resilience</a:t>
            </a:r>
            <a:r>
              <a:rPr lang="en-US" sz="882" kern="1200">
                <a:solidFill>
                  <a:schemeClr val="tx1"/>
                </a:solidFill>
                <a:effectLst/>
                <a:latin typeface="Segoe UI" panose="020B0502040204020203" pitchFamily="34" charset="0"/>
                <a:ea typeface="+mn-ea"/>
                <a:cs typeface="+mn-cs"/>
              </a:rPr>
              <a:t>.</a:t>
            </a:r>
          </a:p>
          <a:p>
            <a:r>
              <a:rPr lang="en-US" sz="882" kern="1200">
                <a:solidFill>
                  <a:schemeClr val="tx1"/>
                </a:solidFill>
                <a:effectLst/>
                <a:latin typeface="Segoe UI" panose="020B0502040204020203" pitchFamily="34" charset="0"/>
                <a:ea typeface="+mn-ea"/>
                <a:cs typeface="+mn-cs"/>
              </a:rPr>
              <a:t> </a:t>
            </a:r>
          </a:p>
          <a:p>
            <a:endParaRPr lang="en-US"/>
          </a:p>
        </p:txBody>
      </p:sp>
      <p:sp>
        <p:nvSpPr>
          <p:cNvPr id="4" name="Slide Number Placeholder 3">
            <a:extLst>
              <a:ext uri="{FF2B5EF4-FFF2-40B4-BE49-F238E27FC236}">
                <a16:creationId xmlns:a16="http://schemas.microsoft.com/office/drawing/2014/main" id="{793714A2-55AA-E721-E508-A14BA172B7C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6D6141B-A3B1-014D-8DD9-BAEF11E1C595}"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69653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lang="en-US" sz="850">
              <a:latin typeface="Segoe UI"/>
              <a:cs typeface="Segoe UI"/>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9/15/2026 11:28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17282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C2AF8-EE0A-4930-505C-71073A2C8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FACE8-82B3-5EC7-678B-FA113EFAEE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C2709F-606C-50C6-B88E-5CB306D1FB93}"/>
              </a:ext>
            </a:extLst>
          </p:cNvPr>
          <p:cNvSpPr>
            <a:spLocks noGrp="1"/>
          </p:cNvSpPr>
          <p:nvPr>
            <p:ph type="body" idx="1"/>
          </p:nvPr>
        </p:nvSpPr>
        <p:spPr/>
        <p:txBody>
          <a:bodyPr/>
          <a:lstStyle/>
          <a:p>
            <a:pPr fontAlgn="t"/>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829AF83-C4CC-FE24-75D1-147379E28D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731C9-6710-4C1F-B61A-5577E2E504D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4081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F0E90-908F-1029-348C-997A50A9B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E222F-9663-FC28-6BDA-1FA77EA708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5E8BB4F-9EC5-888B-BB08-12BAD20155D5}"/>
              </a:ext>
            </a:extLst>
          </p:cNvPr>
          <p:cNvSpPr>
            <a:spLocks noGrp="1"/>
          </p:cNvSpPr>
          <p:nvPr>
            <p:ph type="body" idx="1"/>
          </p:nvPr>
        </p:nvSpPr>
        <p:spPr/>
        <p:txBody>
          <a:bodyPr/>
          <a:lstStyle/>
          <a:p>
            <a:r>
              <a:rPr lang="en-US" sz="882" b="1" kern="1200">
                <a:solidFill>
                  <a:schemeClr val="tx1"/>
                </a:solidFill>
                <a:effectLst/>
                <a:latin typeface="Segoe UI" panose="020B0502040204020203" pitchFamily="34" charset="0"/>
                <a:ea typeface="+mn-ea"/>
                <a:cs typeface="+mn-cs"/>
              </a:rPr>
              <a:t>First steps to a ZT approach</a:t>
            </a: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A comprehensive AI security and governance approach is organized across four operational stages to establish control, visibility, protection, and regulatory alignment.</a:t>
            </a:r>
          </a:p>
          <a:p>
            <a:r>
              <a:rPr lang="en-US" sz="882" b="1" kern="1200">
                <a:solidFill>
                  <a:schemeClr val="tx1"/>
                </a:solidFill>
                <a:effectLst/>
                <a:latin typeface="Segoe UI" panose="020B0502040204020203" pitchFamily="34" charset="0"/>
                <a:ea typeface="+mn-ea"/>
                <a:cs typeface="+mn-cs"/>
              </a:rPr>
              <a:t> </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Prepare - </a:t>
            </a:r>
            <a:r>
              <a:rPr lang="en-US" sz="882" kern="1200">
                <a:solidFill>
                  <a:schemeClr val="tx1"/>
                </a:solidFill>
                <a:effectLst/>
                <a:latin typeface="Segoe UI" panose="020B0502040204020203" pitchFamily="34" charset="0"/>
                <a:ea typeface="+mn-ea"/>
                <a:cs typeface="+mn-cs"/>
              </a:rPr>
              <a:t>Establish a Zero Trust foundation across identity, access, and data. Define classification, lineage, and governance controls to ensure consistent handling of sensitive information and enforce least-privilege access.</a:t>
            </a:r>
          </a:p>
          <a:p>
            <a:r>
              <a:rPr lang="en-US" sz="882" b="1" kern="1200">
                <a:solidFill>
                  <a:schemeClr val="tx1"/>
                </a:solidFill>
                <a:effectLst/>
                <a:latin typeface="Segoe UI" panose="020B0502040204020203" pitchFamily="34" charset="0"/>
                <a:ea typeface="+mn-ea"/>
                <a:cs typeface="+mn-cs"/>
              </a:rPr>
              <a:t> </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Discover - </a:t>
            </a:r>
            <a:r>
              <a:rPr lang="en-US" sz="882" kern="1200">
                <a:solidFill>
                  <a:schemeClr val="tx1"/>
                </a:solidFill>
                <a:effectLst/>
                <a:latin typeface="Segoe UI" panose="020B0502040204020203" pitchFamily="34" charset="0"/>
                <a:ea typeface="+mn-ea"/>
                <a:cs typeface="+mn-cs"/>
              </a:rPr>
              <a:t>Maintain visibility into AI usage, prompts, responses, and supporting data. Continuously assess security posture across AI applications, models, orchestration layers, and development pipelines to identify exposure and operational risk.</a:t>
            </a:r>
          </a:p>
          <a:p>
            <a:r>
              <a:rPr lang="en-US" sz="882" b="1" kern="1200">
                <a:solidFill>
                  <a:schemeClr val="tx1"/>
                </a:solidFill>
                <a:effectLst/>
                <a:latin typeface="Segoe UI" panose="020B0502040204020203" pitchFamily="34" charset="0"/>
                <a:ea typeface="+mn-ea"/>
                <a:cs typeface="+mn-cs"/>
              </a:rPr>
              <a:t> </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Protect - </a:t>
            </a:r>
            <a:r>
              <a:rPr lang="en-US" sz="882" kern="1200">
                <a:solidFill>
                  <a:schemeClr val="tx1"/>
                </a:solidFill>
                <a:effectLst/>
                <a:latin typeface="Segoe UI" panose="020B0502040204020203" pitchFamily="34" charset="0"/>
                <a:ea typeface="+mn-ea"/>
                <a:cs typeface="+mn-cs"/>
              </a:rPr>
              <a:t>Apply data protection, endpoint control, and workload security to reduce misuse, data leakage, and adversarial threats. Implement safety controls to manage content risk and operational integrity.</a:t>
            </a:r>
          </a:p>
          <a:p>
            <a:r>
              <a:rPr lang="en-US" sz="882" b="1" kern="1200">
                <a:solidFill>
                  <a:schemeClr val="tx1"/>
                </a:solidFill>
                <a:effectLst/>
                <a:latin typeface="Segoe UI" panose="020B0502040204020203" pitchFamily="34" charset="0"/>
                <a:ea typeface="+mn-ea"/>
                <a:cs typeface="+mn-cs"/>
              </a:rPr>
              <a:t> </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Govern - </a:t>
            </a:r>
            <a:r>
              <a:rPr lang="en-US" sz="882" kern="1200">
                <a:solidFill>
                  <a:schemeClr val="tx1"/>
                </a:solidFill>
                <a:effectLst/>
                <a:latin typeface="Segoe UI" panose="020B0502040204020203" pitchFamily="34" charset="0"/>
                <a:ea typeface="+mn-ea"/>
                <a:cs typeface="+mn-cs"/>
              </a:rPr>
              <a:t>Align AI operations with regulatory, legal, and internal policy requirements. Enable audit readiness, lifecycle management, eDiscovery, and communications governance to support accountability and defensibility.</a:t>
            </a:r>
          </a:p>
          <a:p>
            <a:r>
              <a:rPr lang="en-US" sz="882" b="1" kern="1200">
                <a:solidFill>
                  <a:schemeClr val="tx1"/>
                </a:solidFill>
                <a:effectLst/>
                <a:latin typeface="Segoe UI" panose="020B0502040204020203" pitchFamily="34" charset="0"/>
                <a:ea typeface="+mn-ea"/>
                <a:cs typeface="+mn-cs"/>
              </a:rPr>
              <a:t> </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Regulatory Alignment - </a:t>
            </a:r>
            <a:r>
              <a:rPr lang="en-US" sz="882" kern="1200">
                <a:solidFill>
                  <a:schemeClr val="tx1"/>
                </a:solidFill>
                <a:effectLst/>
                <a:latin typeface="Segoe UI" panose="020B0502040204020203" pitchFamily="34" charset="0"/>
                <a:ea typeface="+mn-ea"/>
                <a:cs typeface="+mn-cs"/>
              </a:rPr>
              <a:t>Supports alignment with emerging frameworks including the </a:t>
            </a:r>
            <a:r>
              <a:rPr lang="en-US" sz="882" b="1" kern="1200">
                <a:solidFill>
                  <a:schemeClr val="tx1"/>
                </a:solidFill>
                <a:effectLst/>
                <a:latin typeface="Segoe UI" panose="020B0502040204020203" pitchFamily="34" charset="0"/>
                <a:ea typeface="+mn-ea"/>
                <a:cs typeface="+mn-cs"/>
              </a:rPr>
              <a:t>EU AI Act, NIST AI Risk Management Framework, ISO 42001, ISO 23894, and internal codes of conduct.</a:t>
            </a:r>
            <a:br>
              <a:rPr lang="en-US" sz="882" b="1" kern="1200">
                <a:solidFill>
                  <a:schemeClr val="tx1"/>
                </a:solidFill>
                <a:effectLst/>
                <a:latin typeface="Segoe UI" panose="020B0502040204020203" pitchFamily="34" charset="0"/>
                <a:ea typeface="+mn-ea"/>
                <a:cs typeface="+mn-cs"/>
              </a:rPr>
            </a:b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This operating model supports alignment with emerging regulatory and standards frameworks, including the </a:t>
            </a:r>
            <a:r>
              <a:rPr lang="en-US" sz="882" b="1" kern="1200">
                <a:solidFill>
                  <a:schemeClr val="tx1"/>
                </a:solidFill>
                <a:effectLst/>
                <a:latin typeface="Segoe UI" panose="020B0502040204020203" pitchFamily="34" charset="0"/>
                <a:ea typeface="+mn-ea"/>
                <a:cs typeface="+mn-cs"/>
              </a:rPr>
              <a:t>EU AI Act, NIST AI Risk Management Framework, ISO 42001, ISO 23894, and organizational code-of-conduct policies.</a:t>
            </a:r>
            <a:endParaRPr lang="en-US" sz="882" kern="1200">
              <a:solidFill>
                <a:schemeClr val="tx1"/>
              </a:solidFill>
              <a:effectLst/>
              <a:latin typeface="Segoe UI" panose="020B0502040204020203" pitchFamily="34" charset="0"/>
              <a:ea typeface="+mn-ea"/>
              <a:cs typeface="+mn-cs"/>
            </a:endParaRPr>
          </a:p>
          <a:p>
            <a:endParaRPr lang="en-US"/>
          </a:p>
        </p:txBody>
      </p:sp>
      <p:sp>
        <p:nvSpPr>
          <p:cNvPr id="4" name="Slide Number Placeholder 3">
            <a:extLst>
              <a:ext uri="{FF2B5EF4-FFF2-40B4-BE49-F238E27FC236}">
                <a16:creationId xmlns:a16="http://schemas.microsoft.com/office/drawing/2014/main" id="{ADBCDDAC-678F-FB1C-9F6B-65B1BD6E36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D27F19-CA21-4B20-868A-069F7E4A761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5293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sz="850">
              <a:latin typeface="Segoe UI"/>
              <a:cs typeface="Segoe UI"/>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9/15/2026 11:28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2939713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67BE1-F0EE-771E-1C09-EA7A032CB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64D41-38A2-5CEC-17D4-94737C1311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90DBB4-C56E-A7FC-5520-1CFAE9D78B69}"/>
              </a:ext>
            </a:extLst>
          </p:cNvPr>
          <p:cNvSpPr>
            <a:spLocks noGrp="1"/>
          </p:cNvSpPr>
          <p:nvPr>
            <p:ph type="body" idx="1"/>
          </p:nvPr>
        </p:nvSpPr>
        <p:spPr/>
        <p:txBody>
          <a:bodyPr/>
          <a:lstStyle/>
          <a:p>
            <a:r>
              <a:rPr lang="en-US" sz="882" b="1" kern="1200">
                <a:solidFill>
                  <a:schemeClr val="tx1"/>
                </a:solidFill>
                <a:effectLst/>
                <a:latin typeface="Segoe UI" panose="020B0502040204020203" pitchFamily="34" charset="0"/>
                <a:ea typeface="+mn-ea"/>
                <a:cs typeface="+mn-cs"/>
              </a:rPr>
              <a:t>ANIMATION</a:t>
            </a:r>
            <a:endParaRPr lang="en-US" sz="882" kern="1200">
              <a:solidFill>
                <a:schemeClr val="tx1"/>
              </a:solidFill>
              <a:effectLst/>
              <a:latin typeface="Segoe UI" panose="020B0502040204020203" pitchFamily="34" charset="0"/>
              <a:ea typeface="+mn-ea"/>
              <a:cs typeface="+mn-cs"/>
            </a:endParaRPr>
          </a:p>
          <a:p>
            <a:r>
              <a:rPr lang="en-US" sz="882" i="1" kern="1200">
                <a:solidFill>
                  <a:schemeClr val="tx1"/>
                </a:solidFill>
                <a:effectLst/>
                <a:latin typeface="Segoe UI" panose="020B0502040204020203" pitchFamily="34" charset="0"/>
                <a:ea typeface="+mn-ea"/>
                <a:cs typeface="+mn-cs"/>
              </a:rPr>
              <a:t>As you discuss this slide, the image on the right side will scroll up to show the breadth of covering in the AI pillar.</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 </a:t>
            </a:r>
            <a:endParaRPr lang="en-US" sz="882" kern="1200">
              <a:solidFill>
                <a:schemeClr val="tx1"/>
              </a:solidFill>
              <a:effectLst/>
              <a:latin typeface="Segoe UI" panose="020B0502040204020203" pitchFamily="34" charset="0"/>
              <a:ea typeface="+mn-ea"/>
              <a:cs typeface="+mn-cs"/>
            </a:endParaRPr>
          </a:p>
          <a:p>
            <a:r>
              <a:rPr lang="en-US" sz="882" b="1" kern="1200">
                <a:solidFill>
                  <a:schemeClr val="tx1"/>
                </a:solidFill>
                <a:effectLst/>
                <a:latin typeface="Segoe UI" panose="020B0502040204020203" pitchFamily="34" charset="0"/>
                <a:ea typeface="+mn-ea"/>
                <a:cs typeface="+mn-cs"/>
              </a:rPr>
              <a:t>Microsoft ZT Deployment Workshop</a:t>
            </a:r>
            <a:endParaRPr lang="en-US" sz="882" kern="1200">
              <a:solidFill>
                <a:schemeClr val="tx1"/>
              </a:solidFill>
              <a:effectLst/>
              <a:latin typeface="Segoe UI" panose="020B0502040204020203" pitchFamily="34" charset="0"/>
              <a:ea typeface="+mn-ea"/>
              <a:cs typeface="+mn-cs"/>
            </a:endParaRPr>
          </a:p>
          <a:p>
            <a:r>
              <a:rPr lang="en-US" sz="882" b="1" u="sng" kern="1200">
                <a:solidFill>
                  <a:schemeClr val="tx1"/>
                </a:solidFill>
                <a:effectLst/>
                <a:latin typeface="Segoe UI" panose="020B0502040204020203" pitchFamily="34" charset="0"/>
                <a:ea typeface="+mn-ea"/>
                <a:cs typeface="+mn-cs"/>
                <a:hlinkClick r:id="rId3"/>
              </a:rPr>
              <a:t>https://zerotrust.microsoft.com</a:t>
            </a:r>
            <a:r>
              <a:rPr lang="en-US" sz="882" b="1" kern="1200">
                <a:solidFill>
                  <a:schemeClr val="tx1"/>
                </a:solidFill>
                <a:effectLst/>
                <a:latin typeface="Segoe UI" panose="020B0502040204020203" pitchFamily="34" charset="0"/>
                <a:ea typeface="+mn-ea"/>
                <a:cs typeface="+mn-cs"/>
              </a:rPr>
              <a:t> </a:t>
            </a:r>
            <a:br>
              <a:rPr lang="en-US" sz="882" b="1" kern="1200">
                <a:solidFill>
                  <a:schemeClr val="tx1"/>
                </a:solidFill>
                <a:effectLst/>
                <a:latin typeface="Segoe UI" panose="020B0502040204020203" pitchFamily="34" charset="0"/>
                <a:ea typeface="+mn-ea"/>
                <a:cs typeface="+mn-cs"/>
              </a:rPr>
            </a:br>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This is a publicly available resource, developed to enable increased adoption and maturity of a Zero Trust approach. It provides a detailed, visual plan that helps customers implement the how of Zero Trust. Transition from the vision to the actual capabilities to achieve business outcomes.</a:t>
            </a:r>
          </a:p>
          <a:p>
            <a:r>
              <a:rPr lang="en-US" sz="882" kern="1200">
                <a:solidFill>
                  <a:schemeClr val="tx1"/>
                </a:solidFill>
                <a:effectLst/>
                <a:latin typeface="Segoe UI" panose="020B0502040204020203" pitchFamily="34" charset="0"/>
                <a:ea typeface="+mn-ea"/>
                <a:cs typeface="+mn-cs"/>
              </a:rPr>
              <a:t> </a:t>
            </a:r>
          </a:p>
          <a:p>
            <a:r>
              <a:rPr lang="en-US" sz="882" kern="1200">
                <a:solidFill>
                  <a:schemeClr val="tx1"/>
                </a:solidFill>
                <a:effectLst/>
                <a:latin typeface="Segoe UI" panose="020B0502040204020203" pitchFamily="34" charset="0"/>
                <a:ea typeface="+mn-ea"/>
                <a:cs typeface="+mn-cs"/>
              </a:rPr>
              <a:t>Designed to be an easy to use tool that can be customized by partners and customers to reflect their individual journeys to modernizing security.</a:t>
            </a:r>
          </a:p>
          <a:p>
            <a:r>
              <a:rPr lang="en-US" sz="882" kern="1200">
                <a:solidFill>
                  <a:schemeClr val="tx1"/>
                </a:solidFill>
                <a:effectLst/>
                <a:latin typeface="Segoe UI" panose="020B0502040204020203" pitchFamily="34" charset="0"/>
                <a:ea typeface="+mn-ea"/>
                <a:cs typeface="+mn-cs"/>
              </a:rPr>
              <a:t> </a:t>
            </a:r>
          </a:p>
          <a:p>
            <a:r>
              <a:rPr lang="en-US" sz="882" kern="1200">
                <a:solidFill>
                  <a:schemeClr val="tx1"/>
                </a:solidFill>
                <a:effectLst/>
                <a:latin typeface="Segoe UI" panose="020B0502040204020203" pitchFamily="34" charset="0"/>
                <a:ea typeface="+mn-ea"/>
                <a:cs typeface="+mn-cs"/>
              </a:rPr>
              <a:t>It includes the ability to keep updating each recommendation as progress continues beyond the initial workshop.</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 name="Header Placeholder 3">
            <a:extLst>
              <a:ext uri="{FF2B5EF4-FFF2-40B4-BE49-F238E27FC236}">
                <a16:creationId xmlns:a16="http://schemas.microsoft.com/office/drawing/2014/main" id="{9B97EA8F-D972-93DA-A8CC-BD6528EB475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9C511EB3-2155-F0FC-9FF9-A1846CA2A4C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55E6181-8A7C-8AE3-FA04-0B328E65986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9/15/2026 11:28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D7551429-9DE7-F314-3CD0-BF6408F9133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730535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81253-6B7F-90FA-F220-A493C9614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ABCFD-098B-6C52-65F7-7D98D614B3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AD9578-9B92-6CEE-9DAA-C38AA7A7E5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 name="Header Placeholder 3">
            <a:extLst>
              <a:ext uri="{FF2B5EF4-FFF2-40B4-BE49-F238E27FC236}">
                <a16:creationId xmlns:a16="http://schemas.microsoft.com/office/drawing/2014/main" id="{AD2D8D4F-96E4-439F-D51C-0C32056A9814}"/>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9FA9B2EE-6F80-D6E1-4FFB-E2873286610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5FD75B7-4D5C-94B3-76C8-B4F4197625C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9/15/2026 11:29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A67E3A8A-A53C-08F5-2516-7B9F5670E5D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392413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94794-C6DB-A9BF-B1F8-DB0735C0F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19C21-7191-F009-5E4C-887E9D322E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1AB1A3-F7A4-BF39-7116-9B8F984A59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 name="Header Placeholder 3">
            <a:extLst>
              <a:ext uri="{FF2B5EF4-FFF2-40B4-BE49-F238E27FC236}">
                <a16:creationId xmlns:a16="http://schemas.microsoft.com/office/drawing/2014/main" id="{EE7D3EAF-7B90-1B9D-4E6B-2E3EA90E320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0F634CC5-31AD-3D77-2515-E188550A878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DB57995-46A1-6BFF-D4C3-6FADFB894AA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9/15/2026 11:29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20722070-EA3F-3705-E259-5E2D04202B3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1566082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43485-9F5D-A37A-C495-ED0565FE8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08403-97AC-7DF1-FCC5-8B3444E212E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2B59A7-3511-986F-EEF8-CA75A9343726}"/>
              </a:ext>
            </a:extLst>
          </p:cNvPr>
          <p:cNvSpPr>
            <a:spLocks noGrp="1"/>
          </p:cNvSpPr>
          <p:nvPr>
            <p:ph type="body" idx="1"/>
          </p:nvPr>
        </p:nvSpPr>
        <p:spPr/>
        <p:txBody>
          <a:bodyPr/>
          <a:lstStyle/>
          <a:p>
            <a:endParaRPr lang="en-US" sz="850">
              <a:cs typeface="Segoe UI" panose="020B0502040204020203" pitchFamily="34" charset="0"/>
            </a:endParaRPr>
          </a:p>
        </p:txBody>
      </p:sp>
      <p:sp>
        <p:nvSpPr>
          <p:cNvPr id="4" name="Slide Number Placeholder 3">
            <a:extLst>
              <a:ext uri="{FF2B5EF4-FFF2-40B4-BE49-F238E27FC236}">
                <a16:creationId xmlns:a16="http://schemas.microsoft.com/office/drawing/2014/main" id="{EEF8CEC2-314F-2851-FF66-E815B4963AD4}"/>
              </a:ext>
            </a:extLst>
          </p:cNvPr>
          <p:cNvSpPr>
            <a:spLocks noGrp="1"/>
          </p:cNvSpPr>
          <p:nvPr>
            <p:ph type="sldNum" sz="quarter" idx="5"/>
          </p:nvPr>
        </p:nvSpPr>
        <p:spPr/>
        <p:txBody>
          <a:bodyPr/>
          <a:lstStyle/>
          <a:p>
            <a:fld id="{DC000DB5-5357-412C-8C31-3C70969399D5}" type="slidenum">
              <a:rPr lang="en-US" smtClean="0"/>
              <a:t>16</a:t>
            </a:fld>
            <a:endParaRPr lang="en-US"/>
          </a:p>
        </p:txBody>
      </p:sp>
    </p:spTree>
    <p:extLst>
      <p:ext uri="{BB962C8B-B14F-4D97-AF65-F5344CB8AC3E}">
        <p14:creationId xmlns:p14="http://schemas.microsoft.com/office/powerpoint/2010/main" val="159058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6D821-1940-00D7-7533-72DB5E68D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3DFDF-242A-83FB-B8FF-117A80EB34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581C23-473F-29CF-2B52-D8859F6BE9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endParaRPr lang="en-US">
              <a:solidFill>
                <a:srgbClr val="2A446F"/>
              </a:solidFill>
            </a:endParaRPr>
          </a:p>
        </p:txBody>
      </p:sp>
      <p:sp>
        <p:nvSpPr>
          <p:cNvPr id="4" name="Header Placeholder 3">
            <a:extLst>
              <a:ext uri="{FF2B5EF4-FFF2-40B4-BE49-F238E27FC236}">
                <a16:creationId xmlns:a16="http://schemas.microsoft.com/office/drawing/2014/main" id="{D8FFE9E8-62C6-3146-DEAA-279517EFC28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525CF661-811B-2E58-C36E-89410833951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A40A4B6-3605-C27F-4DDD-38DD1AC39299}"/>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9/15/2026 11:28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307936C0-ED7C-CE5D-94F6-42D730800A7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110149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E3100-3E60-B8C1-2BB1-0061D5541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1F9F1-00CB-0091-6114-E227B70F9D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151AE7-547D-3440-5012-42DCA5FECE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DFCB03-A2E0-E59A-0E67-67A9B47A256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6D6141B-A3B1-014D-8DD9-BAEF11E1C595}"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55071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1" i="1">
                <a:solidFill>
                  <a:srgbClr val="242424"/>
                </a:solidFill>
                <a:effectLst/>
                <a:latin typeface="Segoe UI" panose="020B0502040204020203" pitchFamily="34" charset="0"/>
              </a:rPr>
              <a:t>(Click for Microsoft products)</a:t>
            </a:r>
          </a:p>
          <a:p>
            <a:pPr algn="l"/>
            <a:endParaRPr lang="en-US" b="1" i="0">
              <a:solidFill>
                <a:srgbClr val="242424"/>
              </a:solidFill>
              <a:effectLst/>
              <a:latin typeface="Segoe UI" panose="020B0502040204020203" pitchFamily="34" charset="0"/>
            </a:endParaRPr>
          </a:p>
          <a:p>
            <a:pPr algn="l"/>
            <a:r>
              <a:rPr lang="en-US" b="1" i="0">
                <a:solidFill>
                  <a:srgbClr val="242424"/>
                </a:solidFill>
                <a:effectLst/>
                <a:latin typeface="Segoe UI" panose="020B0502040204020203" pitchFamily="34" charset="0"/>
              </a:rPr>
              <a:t>Talk track: </a:t>
            </a:r>
          </a:p>
          <a:p>
            <a:r>
              <a:rPr lang="en-US"/>
              <a:t>Microsoft offers a comprehensive portfolio of security solutions which enable every organization to implement an end-to-end Zero Trust strategy.</a:t>
            </a:r>
          </a:p>
        </p:txBody>
      </p:sp>
      <p:sp>
        <p:nvSpPr>
          <p:cNvPr id="4" name="Slide Number Placeholder 3"/>
          <p:cNvSpPr>
            <a:spLocks noGrp="1"/>
          </p:cNvSpPr>
          <p:nvPr>
            <p:ph type="sldNum" sz="quarter" idx="5"/>
          </p:nvPr>
        </p:nvSpPr>
        <p:spPr/>
        <p:txBody>
          <a:bodyPr/>
          <a:lstStyle/>
          <a:p>
            <a:fld id="{CD8B1863-3ED3-4F51-8EEA-C231796A677F}" type="slidenum">
              <a:rPr lang="en-US" smtClean="0"/>
              <a:t>25</a:t>
            </a:fld>
            <a:endParaRPr lang="en-US"/>
          </a:p>
        </p:txBody>
      </p:sp>
    </p:spTree>
    <p:extLst>
      <p:ext uri="{BB962C8B-B14F-4D97-AF65-F5344CB8AC3E}">
        <p14:creationId xmlns:p14="http://schemas.microsoft.com/office/powerpoint/2010/main" val="20548686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A06D7-4C5F-1EE9-B25F-7D369E756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6DD85-2804-8E02-B78F-EBCFC019EFF2}"/>
              </a:ext>
            </a:extLst>
          </p:cNvPr>
          <p:cNvSpPr>
            <a:spLocks noGrp="1" noRot="1" noChangeAspect="1"/>
          </p:cNvSpPr>
          <p:nvPr>
            <p:ph type="sldImg"/>
          </p:nvPr>
        </p:nvSpPr>
        <p:spPr>
          <a:xfrm>
            <a:off x="2297113" y="463550"/>
            <a:ext cx="2120900" cy="1193800"/>
          </a:xfrm>
        </p:spPr>
        <p:txBody>
          <a:bodyPr/>
          <a:lstStyle/>
          <a:p>
            <a:endParaRPr lang="en-US"/>
          </a:p>
        </p:txBody>
      </p:sp>
      <p:sp>
        <p:nvSpPr>
          <p:cNvPr id="3" name="Notes Placeholder 2">
            <a:extLst>
              <a:ext uri="{FF2B5EF4-FFF2-40B4-BE49-F238E27FC236}">
                <a16:creationId xmlns:a16="http://schemas.microsoft.com/office/drawing/2014/main" id="{1731615E-FEB7-F376-8C23-4717DC6D0FDD}"/>
              </a:ext>
            </a:extLst>
          </p:cNvPr>
          <p:cNvSpPr>
            <a:spLocks noGrp="1"/>
          </p:cNvSpPr>
          <p:nvPr>
            <p:ph type="body" idx="1"/>
          </p:nvPr>
        </p:nvSpPr>
        <p:spPr/>
        <p:txBody>
          <a:bodyPr/>
          <a:lstStyle/>
          <a:p>
            <a:r>
              <a:rPr lang="en-US" b="1" i="1" kern="1200" dirty="0">
                <a:effectLst/>
              </a:rPr>
              <a:t>BUILD SLIDE VERSION (Animated Build sequence that takes about a dozen clicks)</a:t>
            </a:r>
          </a:p>
          <a:p>
            <a:endParaRPr lang="en-US" kern="1200" dirty="0">
              <a:effectLst/>
            </a:endParaRPr>
          </a:p>
          <a:p>
            <a:pPr marL="0" marR="0" lvl="0" indent="0" algn="l" defTabSz="914400" rtl="0" eaLnBrk="1" fontAlgn="auto" latinLnBrk="0" hangingPunct="1">
              <a:buClrTx/>
              <a:buSzTx/>
              <a:buFontTx/>
              <a:buNone/>
              <a:tabLst/>
              <a:defRPr/>
            </a:pPr>
            <a:r>
              <a:rPr lang="en-US" b="1" kern="1200" dirty="0">
                <a:effectLst/>
              </a:rPr>
              <a:t>Key Takeaway:</a:t>
            </a:r>
            <a:r>
              <a:rPr lang="en-US" kern="1200" dirty="0">
                <a:effectLst/>
              </a:rPr>
              <a:t> This diagram describes Microsoft’s cybersecurity capabilities. This is part of a series of security architectures available for download at </a:t>
            </a:r>
            <a:r>
              <a:rPr lang="en-US" u="sng" kern="1200" dirty="0">
                <a:effectLst/>
                <a:hlinkClick r:id="rId3">
                  <a:extLst>
                    <a:ext uri="{A12FA001-AC4F-418D-AE19-62706E023703}">
                      <ahyp:hlinkClr xmlns:ahyp="http://schemas.microsoft.com/office/drawing/2018/hyperlinkcolor" val="tx"/>
                    </a:ext>
                  </a:extLst>
                </a:hlinkClick>
              </a:rPr>
              <a:t>https://aka.ms/MCRA</a:t>
            </a:r>
            <a:endParaRPr lang="en-US" kern="1200" dirty="0">
              <a:effectLst/>
            </a:endParaRPr>
          </a:p>
          <a:p>
            <a:r>
              <a:rPr lang="en-US" kern="1200" dirty="0">
                <a:effectLst/>
              </a:rPr>
              <a:t> </a:t>
            </a:r>
          </a:p>
          <a:p>
            <a:pPr marL="0" marR="0" lvl="0" indent="0" algn="l" defTabSz="914400" rtl="0" eaLnBrk="1" fontAlgn="auto" latinLnBrk="0" hangingPunct="1">
              <a:buClrTx/>
              <a:buSzTx/>
              <a:buFontTx/>
              <a:buNone/>
              <a:tabLst/>
              <a:defRPr/>
            </a:pPr>
            <a:r>
              <a:rPr lang="en-US" kern="1200" dirty="0">
                <a:effectLst/>
              </a:rPr>
              <a:t>This diagram is interactive, you can hover over any of the capabilities for a quick description and then click on it for more documentation on the capability. </a:t>
            </a:r>
          </a:p>
          <a:p>
            <a:pPr marL="0" marR="0" lvl="0" indent="0" algn="l" defTabSz="914400" rtl="0" eaLnBrk="1" fontAlgn="auto" latinLnBrk="0" hangingPunct="1">
              <a:buClrTx/>
              <a:buSzTx/>
              <a:buFontTx/>
              <a:buNone/>
              <a:tabLst/>
              <a:defRPr/>
            </a:pPr>
            <a:endParaRPr lang="en-US" kern="1200" dirty="0">
              <a:effectLst/>
            </a:endParaRPr>
          </a:p>
          <a:p>
            <a:pPr marL="0" marR="0" lvl="0" indent="0" algn="l" defTabSz="914400" rtl="0" eaLnBrk="1" fontAlgn="auto" latinLnBrk="0" hangingPunct="1">
              <a:buClrTx/>
              <a:buSzTx/>
              <a:buFontTx/>
              <a:buNone/>
              <a:tabLst/>
              <a:defRPr/>
            </a:pPr>
            <a:r>
              <a:rPr lang="en-US" kern="1200" dirty="0">
                <a:effectLst/>
              </a:rPr>
              <a:t>As we review technical areas, keep in mind that Microsoft takes a holistic integrated approach for capabilities to drive simplicity and effectiveness:</a:t>
            </a:r>
          </a:p>
          <a:p>
            <a:pPr marL="171450" marR="0" lvl="0" indent="-171450" algn="l" defTabSz="914400" rtl="0" eaLnBrk="1" fontAlgn="auto" latinLnBrk="0" hangingPunct="1">
              <a:buClrTx/>
              <a:buSzTx/>
              <a:buFont typeface="Arial" panose="020B0604020202020204" pitchFamily="34" charset="0"/>
              <a:buChar char="•"/>
              <a:tabLst/>
              <a:defRPr/>
            </a:pPr>
            <a:r>
              <a:rPr lang="en-US" b="1" kern="1200" dirty="0">
                <a:effectLst/>
              </a:rPr>
              <a:t>Threat Intelligence </a:t>
            </a:r>
            <a:r>
              <a:rPr lang="en-US" kern="1200" dirty="0">
                <a:effectLst/>
              </a:rPr>
              <a:t>– Microsoft capabilities are informed by the same underlying system with 65+ signals per day of context</a:t>
            </a:r>
          </a:p>
          <a:p>
            <a:pPr marL="171450" marR="0" lvl="0" indent="-171450" algn="l" defTabSz="914400" rtl="0" eaLnBrk="1" fontAlgn="auto" latinLnBrk="0" hangingPunct="1">
              <a:buClrTx/>
              <a:buSzTx/>
              <a:buFont typeface="Arial" panose="020B0604020202020204" pitchFamily="34" charset="0"/>
              <a:buChar char="•"/>
              <a:tabLst/>
              <a:defRPr/>
            </a:pPr>
            <a:r>
              <a:rPr lang="en-US" b="1" kern="1200" dirty="0">
                <a:effectLst/>
              </a:rPr>
              <a:t>Single Agent/Control Point – </a:t>
            </a:r>
            <a:r>
              <a:rPr lang="en-US" b="0" kern="1200" dirty="0">
                <a:effectLst/>
              </a:rPr>
              <a:t>Microsoft capabilities utilize a single endpoint </a:t>
            </a:r>
            <a:r>
              <a:rPr lang="en-US" kern="1200" dirty="0">
                <a:effectLst/>
              </a:rPr>
              <a:t>agent or policy control point where possible for multiple different functions (e.g. </a:t>
            </a:r>
            <a:r>
              <a:rPr lang="nn-NO" kern="1200" dirty="0">
                <a:effectLst/>
              </a:rPr>
              <a:t>Microsoft Defender for Cloud Apps</a:t>
            </a:r>
            <a:r>
              <a:rPr lang="en-US" kern="1200" dirty="0">
                <a:effectLst/>
              </a:rPr>
              <a:t> performs governance, threat detection, information protection and other for SaaS application, Microsoft Defender for Endpoint is similar for endpoints, etc.)</a:t>
            </a:r>
          </a:p>
          <a:p>
            <a:pPr marL="171450" marR="0" lvl="0" indent="-171450" algn="l" defTabSz="914400" rtl="0" eaLnBrk="1" fontAlgn="auto" latinLnBrk="0" hangingPunct="1">
              <a:buClrTx/>
              <a:buSzTx/>
              <a:buFont typeface="Arial" panose="020B0604020202020204" pitchFamily="34" charset="0"/>
              <a:buChar char="•"/>
              <a:tabLst/>
              <a:defRPr/>
            </a:pPr>
            <a:r>
              <a:rPr lang="en-US" b="1" kern="1200" dirty="0">
                <a:effectLst/>
              </a:rPr>
              <a:t>Consistent Experience – </a:t>
            </a:r>
            <a:r>
              <a:rPr lang="en-US" b="0" kern="1200" dirty="0">
                <a:effectLst/>
              </a:rPr>
              <a:t>Microsoft capabilities </a:t>
            </a:r>
            <a:r>
              <a:rPr lang="en-US" kern="1200" dirty="0">
                <a:effectLst/>
              </a:rPr>
              <a:t>are integrated to provide a consistent experience per role/task/outcome where possible (e.g. a single label for data that is used for security, data retention, and other requirements across clouds, platforms, and operating systems)</a:t>
            </a:r>
          </a:p>
          <a:p>
            <a:r>
              <a:rPr lang="en-US" b="1" kern="1200" dirty="0">
                <a:effectLst/>
              </a:rPr>
              <a:t> </a:t>
            </a:r>
            <a:endParaRPr lang="en-US" kern="1200" dirty="0">
              <a:effectLst/>
            </a:endParaRPr>
          </a:p>
          <a:p>
            <a:r>
              <a:rPr lang="en-US" b="1" kern="1200" dirty="0">
                <a:effectLst/>
              </a:rPr>
              <a:t>CLICK 1 – In the beginning, there were servers and networks…</a:t>
            </a:r>
            <a:endParaRPr lang="en-US" kern="1200" dirty="0">
              <a:effectLst/>
            </a:endParaRPr>
          </a:p>
          <a:p>
            <a:pPr lvl="1"/>
            <a:r>
              <a:rPr lang="en-US" kern="1200" dirty="0">
                <a:effectLst/>
              </a:rPr>
              <a:t>Most organizations today operate a multi-platform environment with Windows and Linux servers in the datacenters, application containers, and many different generations of applications to protect. </a:t>
            </a:r>
            <a:br>
              <a:rPr lang="en-US" kern="1200" dirty="0">
                <a:effectLst/>
              </a:rPr>
            </a:br>
            <a:r>
              <a:rPr lang="en-US" kern="1200" dirty="0">
                <a:effectLst/>
              </a:rPr>
              <a:t>Most organizations started security with a core set of security capabilities at the network edge / egress points to protect extranet and intranet resources. </a:t>
            </a:r>
          </a:p>
          <a:p>
            <a:pPr lvl="1"/>
            <a:endParaRPr lang="en-US" b="1" kern="1200" dirty="0">
              <a:effectLst/>
            </a:endParaRPr>
          </a:p>
          <a:p>
            <a:pPr marL="0" marR="0"/>
            <a:r>
              <a:rPr lang="en-US" b="1" i="0" u="none" dirty="0">
                <a:effectLst/>
                <a:ea typeface="Calibri" panose="020F0502020204030204" pitchFamily="34" charset="0"/>
              </a:rPr>
              <a:t>CLICK 2 – …and Endpoints and Devices</a:t>
            </a:r>
          </a:p>
          <a:p>
            <a:pPr marL="0" marR="0"/>
            <a:endParaRPr lang="en-US" b="1" i="0" u="none"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lang="en-US" b="0" i="0" u="none" kern="1200" dirty="0">
                <a:effectLst/>
                <a:ea typeface="Calibri" panose="020F0502020204030204" pitchFamily="34" charset="0"/>
              </a:rPr>
              <a:t>Many organizations take advantage of built-in Windows features and system management to provide basic security hygiene like patching and Active Directory account security and group policy</a:t>
            </a: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Microsoft Endpoint Manager (MEM) Configuration Manager </a:t>
            </a:r>
            <a:r>
              <a:rPr lang="en-US" b="0" kern="1200" dirty="0">
                <a:effectLst/>
                <a:ea typeface="Calibri" panose="020F0502020204030204" pitchFamily="34" charset="0"/>
              </a:rPr>
              <a:t>and</a:t>
            </a:r>
            <a:r>
              <a:rPr lang="en-US" b="1" kern="1200" dirty="0">
                <a:effectLst/>
                <a:ea typeface="Calibri" panose="020F0502020204030204" pitchFamily="34" charset="0"/>
              </a:rPr>
              <a:t> Intune </a:t>
            </a:r>
            <a:r>
              <a:rPr lang="en-US" b="0" kern="1200" dirty="0">
                <a:effectLst/>
                <a:ea typeface="Calibri" panose="020F0502020204030204" pitchFamily="34" charset="0"/>
              </a:rPr>
              <a:t>MDM/MAM provide cross-platform unified endpoint management (UEM) and security across Windows, Linux, Mac, iOS, and Android</a:t>
            </a: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Windows 11 and 10 Security </a:t>
            </a:r>
            <a:r>
              <a:rPr lang="en-US" b="0" kern="1200" dirty="0">
                <a:effectLst/>
                <a:ea typeface="Calibri" panose="020F0502020204030204" pitchFamily="34" charset="0"/>
              </a:rPr>
              <a:t>includes an extensive set of platform capabilities and hardware security integrations to protect against ever-evolving attacks</a:t>
            </a:r>
            <a:endParaRPr lang="en-US" b="1" kern="1200" dirty="0">
              <a:effectLst/>
            </a:endParaRPr>
          </a:p>
          <a:p>
            <a:pPr marL="457200" marR="0" lvl="1" indent="0" algn="l" defTabSz="914400" rtl="0" eaLnBrk="1" fontAlgn="auto" latinLnBrk="0" hangingPunct="1">
              <a:buClrTx/>
              <a:buSzTx/>
              <a:buFont typeface="Arial" panose="020B0604020202020204" pitchFamily="34" charset="0"/>
              <a:buNone/>
              <a:tabLst/>
              <a:defRPr/>
            </a:pPr>
            <a:endParaRPr lang="en-US" b="1" kern="1200" dirty="0">
              <a:effectLst/>
            </a:endParaRPr>
          </a:p>
          <a:p>
            <a:pPr marL="457200" marR="0" lvl="1" indent="0" algn="l" defTabSz="914400" rtl="0" eaLnBrk="1" fontAlgn="auto" latinLnBrk="0" hangingPunct="1">
              <a:buClrTx/>
              <a:buSzTx/>
              <a:buFont typeface="Arial" panose="020B0604020202020204" pitchFamily="34" charset="0"/>
              <a:buNone/>
              <a:tabLst/>
              <a:defRPr/>
            </a:pPr>
            <a:r>
              <a:rPr lang="en-US" b="1" kern="1200" dirty="0">
                <a:effectLst/>
                <a:ea typeface="Calibri" panose="020F0502020204030204" pitchFamily="34" charset="0"/>
              </a:rPr>
              <a:t>Microsoft Defender for Endpoint (MDE) – </a:t>
            </a:r>
            <a:r>
              <a:rPr lang="en-US" b="0" kern="1200" dirty="0">
                <a:effectLst/>
                <a:ea typeface="Calibri" panose="020F0502020204030204" pitchFamily="34" charset="0"/>
              </a:rPr>
              <a:t>provides advanced endpoint detection and response (EDR) capabilities, Web Content Filtering, Threat and Vulnerability Management, and Data Loss Protection (DLP). This is a cornerstone of XDR capabilities described more in security operations. </a:t>
            </a:r>
          </a:p>
          <a:p>
            <a:pPr marL="457200" marR="0" lvl="1" indent="0" algn="l" defTabSz="914400" rtl="0" eaLnBrk="1" fontAlgn="auto" latinLnBrk="0" hangingPunct="1">
              <a:buClrTx/>
              <a:buSzTx/>
              <a:buFont typeface="Arial" panose="020B0604020202020204" pitchFamily="34" charset="0"/>
              <a:buNone/>
              <a:tabLst/>
              <a:defRPr/>
            </a:pPr>
            <a:endParaRPr lang="en-US" b="0" kern="1200" dirty="0">
              <a:effectLst/>
              <a:ea typeface="Calibri" panose="020F0502020204030204" pitchFamily="34" charset="0"/>
            </a:endParaRPr>
          </a:p>
          <a:p>
            <a:pPr marL="0" marR="0"/>
            <a:r>
              <a:rPr lang="en-US" b="1" i="0" u="none" dirty="0">
                <a:effectLst/>
                <a:ea typeface="Calibri" panose="020F0502020204030204" pitchFamily="34" charset="0"/>
              </a:rPr>
              <a:t>CLICK 3 – SaaS Drives Modernization of Identity and Access Security</a:t>
            </a:r>
          </a:p>
          <a:p>
            <a:pPr marL="0" marR="0"/>
            <a:endParaRPr lang="en-US" b="1" i="0" u="none"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lang="en-US" b="0" i="0" u="none" dirty="0">
                <a:effectLst/>
                <a:ea typeface="Calibri" panose="020F0502020204030204" pitchFamily="34" charset="0"/>
              </a:rPr>
              <a:t>Organizations first start adopting cloud with Software as a Services (SaaS), and the first app is usually Office 365 for email (or sometimes </a:t>
            </a:r>
            <a:r>
              <a:rPr lang="en-US" b="0" i="0" dirty="0">
                <a:effectLst/>
              </a:rPr>
              <a:t>G Suite). This trend continues today with the adoption of Generative AI like ChatGPT, Microsoft Copilot, Google Bard, and more.</a:t>
            </a:r>
          </a:p>
          <a:p>
            <a:pPr marL="457200" marR="0" lvl="1" indent="0" algn="l" defTabSz="914400" rtl="0" eaLnBrk="1" fontAlgn="auto" latinLnBrk="0" hangingPunct="1">
              <a:buClrTx/>
              <a:buSzTx/>
              <a:buFontTx/>
              <a:buNone/>
              <a:tabLst/>
              <a:defRPr/>
            </a:pPr>
            <a:endParaRPr lang="en-US" b="0" i="0" dirty="0">
              <a:effectLst/>
            </a:endParaRPr>
          </a:p>
          <a:p>
            <a:pPr marL="457200" marR="0" lvl="1" indent="0" algn="l" defTabSz="914400" rtl="0" eaLnBrk="1" fontAlgn="auto" latinLnBrk="0" hangingPunct="1">
              <a:buClrTx/>
              <a:buSzTx/>
              <a:buFontTx/>
              <a:buNone/>
              <a:tabLst/>
              <a:defRPr/>
            </a:pPr>
            <a:r>
              <a:rPr lang="en-US" b="0" i="0" dirty="0">
                <a:effectLst/>
              </a:rPr>
              <a:t>This creates a need for access control beyond the firewall using secure cloud identities </a:t>
            </a:r>
            <a:r>
              <a:rPr lang="en-US" b="0" kern="1200" dirty="0">
                <a:effectLst/>
                <a:ea typeface="Calibri" panose="020F0502020204030204" pitchFamily="34" charset="0"/>
              </a:rPr>
              <a:t>(that also extends to mobile/IoT portions of the enterprise estate). Identity is also playing an increasing </a:t>
            </a:r>
            <a:r>
              <a:rPr lang="en-US" dirty="0">
                <a:effectLst/>
                <a:ea typeface="Calibri" panose="020F0502020204030204" pitchFamily="34" charset="0"/>
              </a:rPr>
              <a:t>role in datacenter access control strategies as they modernize to the cloud</a:t>
            </a:r>
          </a:p>
          <a:p>
            <a:pPr marL="457200" marR="0" lvl="1" indent="0" algn="l" defTabSz="914400" rtl="0" eaLnBrk="1" fontAlgn="auto" latinLnBrk="0" hangingPunct="1">
              <a:buClrTx/>
              <a:buSzTx/>
              <a:buFontTx/>
              <a:buNone/>
              <a:tabLst/>
              <a:defRPr/>
            </a:pPr>
            <a:endParaRPr lang="en-US"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lang="en-US" dirty="0">
                <a:effectLst/>
                <a:ea typeface="Calibri" panose="020F0502020204030204" pitchFamily="34" charset="0"/>
              </a:rPr>
              <a:t>While some aren’t aware of it, many organizations have already deployed modern single identity and single sign-on capabilities across their enterprise estate with </a:t>
            </a:r>
            <a:r>
              <a:rPr lang="en-US" b="1" dirty="0">
                <a:effectLst/>
                <a:ea typeface="Calibri" panose="020F0502020204030204" pitchFamily="34" charset="0"/>
              </a:rPr>
              <a:t>Entra ID </a:t>
            </a:r>
            <a:r>
              <a:rPr lang="en-US" dirty="0">
                <a:effectLst/>
                <a:ea typeface="Calibri" panose="020F0502020204030204" pitchFamily="34" charset="0"/>
              </a:rPr>
              <a:t>(formerly </a:t>
            </a:r>
            <a:r>
              <a:rPr lang="en-US" b="0" dirty="0">
                <a:effectLst/>
                <a:ea typeface="Calibri" panose="020F0502020204030204" pitchFamily="34" charset="0"/>
              </a:rPr>
              <a:t>Azure Active Directory), which is configured during an </a:t>
            </a:r>
            <a:r>
              <a:rPr lang="en-US" dirty="0">
                <a:effectLst/>
                <a:ea typeface="Calibri" panose="020F0502020204030204" pitchFamily="34" charset="0"/>
              </a:rPr>
              <a:t>Office 365 deployment and connected to the existing enterprise identity system via Active Directory</a:t>
            </a:r>
          </a:p>
          <a:p>
            <a:pPr marL="457200" marR="0" lvl="1" indent="0" algn="l" defTabSz="914400" rtl="0" eaLnBrk="1" fontAlgn="auto" latinLnBrk="0" hangingPunct="1">
              <a:buClrTx/>
              <a:buSzTx/>
              <a:buFontTx/>
              <a:buNone/>
              <a:tabLst/>
              <a:defRPr/>
            </a:pPr>
            <a:endParaRPr lang="en-US"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lang="en-US" dirty="0">
                <a:effectLst/>
                <a:ea typeface="Calibri" panose="020F0502020204030204" pitchFamily="34" charset="0"/>
              </a:rPr>
              <a:t>In addition to single sign on (SSO), Microsoft provides critical modern security elements for Entra ID like</a:t>
            </a: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err="1">
                <a:effectLst/>
                <a:ea typeface="Calibri" panose="020F0502020204030204" pitchFamily="34" charset="0"/>
              </a:rPr>
              <a:t>Passwordless</a:t>
            </a:r>
            <a:r>
              <a:rPr lang="en-US" b="1" kern="1200" dirty="0">
                <a:effectLst/>
                <a:ea typeface="Calibri" panose="020F0502020204030204" pitchFamily="34" charset="0"/>
              </a:rPr>
              <a:t> and MFA</a:t>
            </a:r>
            <a:r>
              <a:rPr lang="en-US" b="0" kern="1200" dirty="0">
                <a:effectLst/>
                <a:ea typeface="Calibri" panose="020F0502020204030204" pitchFamily="34" charset="0"/>
              </a:rPr>
              <a:t> – capabilities to simplify the user experience and strengthen security assurances via </a:t>
            </a:r>
            <a:r>
              <a:rPr lang="en-US" b="1" kern="1200" dirty="0">
                <a:effectLst/>
                <a:ea typeface="Calibri" panose="020F0502020204030204" pitchFamily="34" charset="0"/>
              </a:rPr>
              <a:t>Hello For Business </a:t>
            </a:r>
            <a:r>
              <a:rPr lang="en-US" b="0" kern="1200" dirty="0">
                <a:effectLst/>
                <a:ea typeface="Calibri" panose="020F0502020204030204" pitchFamily="34" charset="0"/>
              </a:rPr>
              <a:t>biometric authentication</a:t>
            </a:r>
            <a:r>
              <a:rPr lang="en-US" b="1" kern="1200" dirty="0">
                <a:effectLst/>
                <a:ea typeface="Calibri" panose="020F0502020204030204" pitchFamily="34" charset="0"/>
              </a:rPr>
              <a:t>, Verified Identities, Passkeys </a:t>
            </a:r>
            <a:r>
              <a:rPr lang="en-US" b="0" kern="1200" dirty="0">
                <a:effectLst/>
                <a:ea typeface="Calibri" panose="020F0502020204030204" pitchFamily="34" charset="0"/>
              </a:rPr>
              <a:t>, </a:t>
            </a:r>
            <a:r>
              <a:rPr lang="en-US" b="0" kern="1200" dirty="0" err="1">
                <a:effectLst/>
                <a:ea typeface="Calibri" panose="020F0502020204030204" pitchFamily="34" charset="0"/>
              </a:rPr>
              <a:t>nd</a:t>
            </a:r>
            <a:r>
              <a:rPr lang="en-US" b="0" kern="1200" dirty="0">
                <a:effectLst/>
                <a:ea typeface="Calibri" panose="020F0502020204030204" pitchFamily="34" charset="0"/>
              </a:rPr>
              <a:t> other</a:t>
            </a:r>
            <a:r>
              <a:rPr lang="en-US" b="1" kern="1200" dirty="0">
                <a:effectLst/>
                <a:ea typeface="Calibri" panose="020F0502020204030204" pitchFamily="34" charset="0"/>
              </a:rPr>
              <a:t> FIDO2 keys</a:t>
            </a: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Identity Protection – </a:t>
            </a:r>
            <a:r>
              <a:rPr lang="en-US" b="0" kern="1200" dirty="0">
                <a:effectLst/>
                <a:ea typeface="Calibri" panose="020F0502020204030204" pitchFamily="34" charset="0"/>
              </a:rPr>
              <a:t>against highly prevalent attacks with Leaked Credential Protections, Behavioral Analytics, Threat Intelligence integration and more</a:t>
            </a:r>
          </a:p>
          <a:p>
            <a:pPr marL="628650" marR="0" lvl="1" indent="-171450" algn="l" defTabSz="914400" rtl="0" eaLnBrk="1" fontAlgn="auto" latinLnBrk="0" hangingPunct="1">
              <a:buClrTx/>
              <a:buSzTx/>
              <a:buFont typeface="Arial" panose="020B0604020202020204" pitchFamily="34" charset="0"/>
              <a:buChar char="•"/>
              <a:tabLst/>
              <a:defRPr/>
            </a:pPr>
            <a:r>
              <a:rPr lang="en-US" b="1" dirty="0">
                <a:effectLst/>
                <a:ea typeface="Calibri" panose="020F0502020204030204" pitchFamily="34" charset="0"/>
              </a:rPr>
              <a:t>Entra ID PIM </a:t>
            </a:r>
            <a:r>
              <a:rPr lang="en-US" dirty="0">
                <a:effectLst/>
                <a:ea typeface="Calibri" panose="020F0502020204030204" pitchFamily="34" charset="0"/>
              </a:rPr>
              <a:t>reduces risk by providing just in time access to privileged accounts using approval workflows</a:t>
            </a:r>
          </a:p>
          <a:p>
            <a:pPr marL="628650" marR="0" lvl="1" indent="-171450" algn="l" defTabSz="914400" rtl="0" eaLnBrk="1" fontAlgn="auto" latinLnBrk="0" hangingPunct="1">
              <a:buClrTx/>
              <a:buSzTx/>
              <a:buFont typeface="Arial" panose="020B0604020202020204" pitchFamily="34" charset="0"/>
              <a:buChar char="•"/>
              <a:tabLst/>
              <a:defRPr/>
            </a:pPr>
            <a:r>
              <a:rPr lang="en-US" b="1" dirty="0">
                <a:effectLst/>
                <a:ea typeface="Calibri" panose="020F0502020204030204" pitchFamily="34" charset="0"/>
              </a:rPr>
              <a:t>Identity Governance </a:t>
            </a:r>
            <a:r>
              <a:rPr lang="en-US" dirty="0">
                <a:effectLst/>
                <a:ea typeface="Calibri" panose="020F0502020204030204" pitchFamily="34" charset="0"/>
              </a:rPr>
              <a:t>helps ensure the right people have access to the right resources</a:t>
            </a:r>
          </a:p>
          <a:p>
            <a:pPr marL="628650" marR="0" lvl="1" indent="-171450" algn="l" defTabSz="914400" rtl="0" eaLnBrk="1" fontAlgn="auto" latinLnBrk="0" hangingPunct="1">
              <a:buClrTx/>
              <a:buSzTx/>
              <a:buFont typeface="Arial" panose="020B0604020202020204" pitchFamily="34" charset="0"/>
              <a:buChar char="•"/>
              <a:tabLst/>
              <a:defRPr/>
            </a:pPr>
            <a:r>
              <a:rPr lang="en-US" b="1" dirty="0">
                <a:effectLst/>
                <a:ea typeface="Calibri" panose="020F0502020204030204" pitchFamily="34" charset="0"/>
              </a:rPr>
              <a:t>External Identities (Entra ID B2B and B2C) </a:t>
            </a:r>
            <a:r>
              <a:rPr lang="en-US" dirty="0">
                <a:effectLst/>
                <a:ea typeface="Calibri" panose="020F0502020204030204" pitchFamily="34" charset="0"/>
              </a:rPr>
              <a:t>provide security for partner and customer/client/citizen accounts while separating them from enterprise user directories</a:t>
            </a:r>
          </a:p>
          <a:p>
            <a:pPr marL="0" marR="0" lvl="0" indent="0" algn="l" defTabSz="914400" rtl="0" eaLnBrk="1" fontAlgn="auto" latinLnBrk="0" hangingPunct="1">
              <a:buClrTx/>
              <a:buSzTx/>
              <a:buFontTx/>
              <a:buNone/>
              <a:tabLst/>
              <a:defRPr/>
            </a:pPr>
            <a:endParaRPr lang="en-US"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lang="en-US" b="0" dirty="0">
                <a:effectLst/>
                <a:ea typeface="Calibri" panose="020F0502020204030204" pitchFamily="34" charset="0"/>
              </a:rPr>
              <a:t>Additionally, </a:t>
            </a:r>
            <a:r>
              <a:rPr lang="en-US" b="1" dirty="0">
                <a:effectLst/>
                <a:ea typeface="Calibri" panose="020F0502020204030204" pitchFamily="34" charset="0"/>
              </a:rPr>
              <a:t>Conditional Access </a:t>
            </a:r>
            <a:r>
              <a:rPr lang="en-US" b="0" dirty="0">
                <a:effectLst/>
                <a:ea typeface="Calibri" panose="020F0502020204030204" pitchFamily="34" charset="0"/>
              </a:rPr>
              <a:t>applies </a:t>
            </a:r>
            <a:r>
              <a:rPr kumimoji="0" lang="en-US" b="1" i="1" u="none" strike="noStrike" kern="1200" cap="none" spc="0" normalizeH="0" baseline="0" noProof="0" dirty="0">
                <a:ln>
                  <a:noFill/>
                </a:ln>
                <a:effectLst/>
                <a:uLnTx/>
                <a:uFillTx/>
              </a:rPr>
              <a:t>Zero Trust principles </a:t>
            </a:r>
            <a:r>
              <a:rPr kumimoji="0" lang="en-US" b="0" i="0" u="none" strike="noStrike" kern="1200" cap="none" spc="0" normalizeH="0" baseline="0" noProof="0" dirty="0">
                <a:ln>
                  <a:noFill/>
                </a:ln>
                <a:effectLst/>
                <a:uLnTx/>
                <a:uFillTx/>
              </a:rPr>
              <a:t>to access control decisions by explicitly validating trust of users and endpoints requesting access to your resources. This helps build a de facto </a:t>
            </a:r>
            <a:r>
              <a:rPr lang="en-US" dirty="0">
                <a:effectLst/>
                <a:ea typeface="Calibri" panose="020F0502020204030204" pitchFamily="34" charset="0"/>
              </a:rPr>
              <a:t>security perimeter around these modern resources with modern controls and provides simple consistent policy enforcement across them. </a:t>
            </a:r>
          </a:p>
          <a:p>
            <a:pPr marL="457200" marR="0" lvl="1" indent="0" algn="l" defTabSz="914400" rtl="0" eaLnBrk="1" fontAlgn="auto" latinLnBrk="0" hangingPunct="1">
              <a:buClrTx/>
              <a:buSzTx/>
              <a:buFontTx/>
              <a:buNone/>
              <a:tabLst/>
              <a:defRPr/>
            </a:pPr>
            <a:endParaRPr lang="en-US" b="0" kern="1200" dirty="0">
              <a:effectLst/>
            </a:endParaRPr>
          </a:p>
          <a:p>
            <a:pPr marL="457200" marR="0" lvl="1" indent="0" algn="l" defTabSz="914400" rtl="0" eaLnBrk="1" fontAlgn="auto" latinLnBrk="0" hangingPunct="1">
              <a:buClrTx/>
              <a:buSzTx/>
              <a:buFontTx/>
              <a:buNone/>
              <a:tabLst/>
              <a:defRPr/>
            </a:pPr>
            <a:r>
              <a:rPr lang="en-US" b="1" kern="1200" dirty="0">
                <a:effectLst/>
              </a:rPr>
              <a:t>Microsoft Defender for Identity (MDI) </a:t>
            </a:r>
            <a:r>
              <a:rPr lang="en-US" b="0" kern="1200" dirty="0">
                <a:effectLst/>
              </a:rPr>
              <a:t>– provides XDR capabilities for cloud identity services (Entra ID, formerly Azure AD) as well as Active Directory domain, federation, and certificate services</a:t>
            </a:r>
          </a:p>
          <a:p>
            <a:pPr marL="457200" marR="0" lvl="1" indent="0" algn="l" defTabSz="914400" rtl="0" eaLnBrk="1" fontAlgn="auto" latinLnBrk="0" hangingPunct="1">
              <a:buClrTx/>
              <a:buSzTx/>
              <a:buFontTx/>
              <a:buNone/>
              <a:tabLst/>
              <a:defRPr/>
            </a:pPr>
            <a:endParaRPr lang="en-US" b="0" kern="1200" dirty="0">
              <a:effectLst/>
            </a:endParaRPr>
          </a:p>
          <a:p>
            <a:pPr marL="457200" marR="0" lvl="1" indent="0" algn="l" defTabSz="914400" rtl="0" eaLnBrk="1" fontAlgn="auto" latinLnBrk="0" hangingPunct="1">
              <a:buClrTx/>
              <a:buSzTx/>
              <a:buFontTx/>
              <a:buNone/>
              <a:tabLst/>
              <a:defRPr/>
            </a:pPr>
            <a:r>
              <a:rPr lang="en-US" b="0" kern="1200" dirty="0">
                <a:effectLst/>
              </a:rPr>
              <a:t>The </a:t>
            </a:r>
            <a:r>
              <a:rPr lang="en-US" b="1" kern="1200" dirty="0">
                <a:effectLst/>
              </a:rPr>
              <a:t>Service Trust Portal </a:t>
            </a:r>
            <a:r>
              <a:rPr lang="en-US" b="0" kern="1200" dirty="0">
                <a:effectLst/>
              </a:rPr>
              <a:t>provides information on how Microsoft secures our cloud platforms and reports compliance. </a:t>
            </a:r>
          </a:p>
          <a:p>
            <a:pPr marL="457200" marR="0" lvl="1" indent="0" algn="l" defTabSz="914400" rtl="0" eaLnBrk="1" fontAlgn="auto" latinLnBrk="0" hangingPunct="1">
              <a:buClrTx/>
              <a:buSzTx/>
              <a:buFontTx/>
              <a:buNone/>
              <a:tabLst/>
              <a:defRPr/>
            </a:pPr>
            <a:endParaRPr lang="en-US" b="0" dirty="0">
              <a:effectLst/>
              <a:ea typeface="Calibri" panose="020F0502020204030204" pitchFamily="34" charset="0"/>
            </a:endParaRPr>
          </a:p>
          <a:p>
            <a:pPr marL="0" marR="0" lvl="0" indent="0" algn="l" defTabSz="914400" rtl="0" eaLnBrk="1" fontAlgn="auto" latinLnBrk="0" hangingPunct="1">
              <a:buClrTx/>
              <a:buSzTx/>
              <a:buFontTx/>
              <a:buNone/>
              <a:tabLst/>
              <a:defRPr/>
            </a:pPr>
            <a:endParaRPr lang="en-US" dirty="0">
              <a:effectLst/>
              <a:ea typeface="Calibri" panose="020F0502020204030204" pitchFamily="34" charset="0"/>
            </a:endParaRPr>
          </a:p>
          <a:p>
            <a:pPr marL="0" marR="0" lvl="0" indent="0" algn="l" defTabSz="914400" rtl="0" eaLnBrk="1" fontAlgn="auto" latinLnBrk="0" hangingPunct="1">
              <a:buClrTx/>
              <a:buSzTx/>
              <a:buFontTx/>
              <a:buNone/>
              <a:tabLst/>
              <a:defRPr/>
            </a:pPr>
            <a:r>
              <a:rPr lang="en-US" b="1" dirty="0">
                <a:effectLst/>
                <a:ea typeface="Calibri" panose="020F0502020204030204" pitchFamily="34" charset="0"/>
              </a:rPr>
              <a:t>CLICK 4 – </a:t>
            </a:r>
            <a:r>
              <a:rPr kumimoji="0" lang="en-US" b="1" i="0" u="none" strike="noStrike" kern="1200" cap="none" spc="0" normalizeH="0" baseline="0" noProof="0" dirty="0">
                <a:ln>
                  <a:noFill/>
                </a:ln>
                <a:effectLst/>
                <a:uLnTx/>
                <a:uFillTx/>
              </a:rPr>
              <a:t>Microsoft Entra Private Access &amp; App Proxy</a:t>
            </a:r>
            <a:endParaRPr lang="en-US" b="1" dirty="0">
              <a:effectLst/>
              <a:ea typeface="Calibri" panose="020F0502020204030204" pitchFamily="34" charset="0"/>
            </a:endParaRPr>
          </a:p>
          <a:p>
            <a:pPr marL="0" marR="0" lvl="0" indent="0" algn="l" defTabSz="914400" rtl="0" eaLnBrk="1" fontAlgn="auto" latinLnBrk="0" hangingPunct="1">
              <a:buClrTx/>
              <a:buSzTx/>
              <a:buFontTx/>
              <a:buNone/>
              <a:tabLst/>
              <a:defRPr/>
            </a:pPr>
            <a:endParaRPr lang="en-US" b="1"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kumimoji="0" lang="en-US" b="0" i="0" u="none" strike="noStrike" kern="1200" cap="none" spc="0" normalizeH="0" baseline="0" noProof="0" dirty="0">
                <a:ln>
                  <a:noFill/>
                </a:ln>
                <a:effectLst/>
                <a:uLnTx/>
                <a:uFillTx/>
              </a:rPr>
              <a:t>These capabilities </a:t>
            </a:r>
            <a:r>
              <a:rPr lang="en-US" b="0" dirty="0">
                <a:effectLst/>
                <a:ea typeface="Calibri" panose="020F0502020204030204" pitchFamily="34" charset="0"/>
              </a:rPr>
              <a:t>extend </a:t>
            </a:r>
            <a:r>
              <a:rPr lang="en-US" dirty="0">
                <a:effectLst/>
                <a:ea typeface="Calibri" panose="020F0502020204030204" pitchFamily="34" charset="0"/>
              </a:rPr>
              <a:t>the modern access control approach (security perimeter) to on-premises resources by simplifying user access to them and modernizing security with Conditional Access (which explicitly validates user and device trust, a Zero Trust principle). </a:t>
            </a:r>
          </a:p>
          <a:p>
            <a:pPr marL="628650" marR="0" lvl="1" indent="-171450" algn="l" defTabSz="914400" rtl="0" eaLnBrk="1" fontAlgn="auto" latinLnBrk="0" hangingPunct="1">
              <a:buClrTx/>
              <a:buSzTx/>
              <a:buFont typeface="Arial" panose="020B0604020202020204" pitchFamily="34" charset="0"/>
              <a:buChar char="•"/>
              <a:tabLst/>
              <a:defRPr/>
            </a:pPr>
            <a:r>
              <a:rPr lang="en-US" b="1" kern="1200" noProof="0" dirty="0">
                <a:effectLst/>
                <a:ea typeface="Calibri" panose="020F0502020204030204" pitchFamily="34" charset="0"/>
              </a:rPr>
              <a:t>Microsoft Entra Application Proxy </a:t>
            </a:r>
            <a:r>
              <a:rPr lang="en-US" b="0" kern="1200" noProof="0" dirty="0">
                <a:effectLst/>
                <a:ea typeface="Calibri" panose="020F0502020204030204" pitchFamily="34" charset="0"/>
              </a:rPr>
              <a:t>is a modern secure replacement to VPN for accessing private apps and resources (via fully https and modern authentication protocols)</a:t>
            </a:r>
          </a:p>
          <a:p>
            <a:pPr marL="628650" marR="0" lvl="1" indent="-171450" algn="l" defTabSz="914400" rtl="0" eaLnBrk="1" fontAlgn="auto" latinLnBrk="0" hangingPunct="1">
              <a:buClrTx/>
              <a:buSzTx/>
              <a:buFont typeface="Arial" panose="020B0604020202020204" pitchFamily="34" charset="0"/>
              <a:buChar char="•"/>
              <a:tabLst/>
              <a:defRPr/>
            </a:pPr>
            <a:r>
              <a:rPr lang="en-US" b="1" kern="1200" noProof="0" dirty="0">
                <a:effectLst/>
                <a:ea typeface="Calibri" panose="020F0502020204030204" pitchFamily="34" charset="0"/>
              </a:rPr>
              <a:t>Microsoft Entra Private Access </a:t>
            </a:r>
            <a:r>
              <a:rPr lang="en-US" b="0" kern="1200" noProof="0" dirty="0">
                <a:effectLst/>
                <a:ea typeface="Calibri" panose="020F0502020204030204" pitchFamily="34" charset="0"/>
              </a:rPr>
              <a:t>is a modern secure replacement to VPN for accessing private apps and resources (via fully qualified domain names (FQDNs) and IP addresses)</a:t>
            </a:r>
          </a:p>
          <a:p>
            <a:pPr marL="628650" marR="0" lvl="1" indent="-171450" algn="l" defTabSz="914400" rtl="0" eaLnBrk="1" fontAlgn="auto" latinLnBrk="0" hangingPunct="1">
              <a:buClrTx/>
              <a:buSzTx/>
              <a:buFont typeface="Arial" panose="020B0604020202020204" pitchFamily="34" charset="0"/>
              <a:buChar char="•"/>
              <a:tabLst/>
              <a:defRPr/>
            </a:pPr>
            <a:endParaRPr lang="en-US" b="0" kern="1200" dirty="0">
              <a:effectLst/>
              <a:ea typeface="Calibri" panose="020F0502020204030204" pitchFamily="34" charset="0"/>
            </a:endParaRPr>
          </a:p>
          <a:p>
            <a:pPr marL="628650" marR="0" lvl="1" indent="-171450" algn="l" defTabSz="914400" rtl="0" eaLnBrk="1" fontAlgn="auto" latinLnBrk="0" hangingPunct="1">
              <a:buClrTx/>
              <a:buSzTx/>
              <a:buFont typeface="Arial" panose="020B0604020202020204" pitchFamily="34" charset="0"/>
              <a:buChar char="•"/>
              <a:tabLst/>
              <a:defRPr/>
            </a:pPr>
            <a:endParaRPr lang="en-US" kern="1200" dirty="0">
              <a:effectLst/>
            </a:endParaRPr>
          </a:p>
          <a:p>
            <a:pPr marL="0" marR="0" lvl="0" indent="0" algn="l" defTabSz="914400" rtl="0" eaLnBrk="1" fontAlgn="auto" latinLnBrk="0" hangingPunct="1">
              <a:buClrTx/>
              <a:buSzTx/>
              <a:buFontTx/>
              <a:buNone/>
              <a:tabLst/>
              <a:defRPr/>
            </a:pPr>
            <a:r>
              <a:rPr lang="en-US" b="1" kern="1200" dirty="0">
                <a:effectLst/>
              </a:rPr>
              <a:t>CLICK 5 – Datacenters become hybrid </a:t>
            </a:r>
            <a:r>
              <a:rPr kumimoji="0" lang="en-US" b="1" i="0" u="none" strike="noStrike" kern="1200" cap="none" spc="0" normalizeH="0" baseline="0" noProof="0" dirty="0">
                <a:ln>
                  <a:noFill/>
                </a:ln>
                <a:effectLst/>
                <a:uLnTx/>
                <a:uFillTx/>
              </a:rPr>
              <a:t>Infrastructure spanning multiple clouds (IaaS, PaaS) and on-premises</a:t>
            </a:r>
          </a:p>
          <a:p>
            <a:endParaRPr lang="en-US" b="0" kern="1200" dirty="0">
              <a:effectLst/>
            </a:endParaRPr>
          </a:p>
          <a:p>
            <a:pPr marL="457200" marR="0" lvl="1" indent="0" algn="l" defTabSz="914400" rtl="0" eaLnBrk="1" fontAlgn="auto" latinLnBrk="0" hangingPunct="1">
              <a:buClrTx/>
              <a:buSzTx/>
              <a:buFontTx/>
              <a:buNone/>
              <a:tabLst/>
              <a:defRPr/>
            </a:pPr>
            <a:r>
              <a:rPr lang="en-US" b="0" kern="1200" dirty="0">
                <a:effectLst/>
              </a:rPr>
              <a:t>Most organizations have expanded into a </a:t>
            </a:r>
            <a:r>
              <a:rPr lang="en-US" b="1" kern="1200" dirty="0">
                <a:effectLst/>
              </a:rPr>
              <a:t>hybrid infrastructure</a:t>
            </a:r>
            <a:r>
              <a:rPr lang="en-US" b="0" kern="1200" dirty="0">
                <a:effectLst/>
              </a:rPr>
              <a:t> that spans on-premises and one or more clouds providing Infrastructure as a Service (IaaS) and/or Platform as a Service (PaaS) capabilities. </a:t>
            </a:r>
          </a:p>
          <a:p>
            <a:pPr marL="457200" marR="0" lvl="1" indent="0" algn="l" defTabSz="914400" rtl="0" eaLnBrk="1" fontAlgn="auto" latinLnBrk="0" hangingPunct="1">
              <a:buClrTx/>
              <a:buSzTx/>
              <a:buFontTx/>
              <a:buNone/>
              <a:tabLst/>
              <a:defRPr/>
            </a:pPr>
            <a:endParaRPr lang="en-US" b="0" kern="1200" dirty="0">
              <a:effectLst/>
            </a:endParaRPr>
          </a:p>
          <a:p>
            <a:pPr marL="457200" marR="0" lvl="1" indent="0" algn="l" defTabSz="914400" rtl="0" eaLnBrk="1" fontAlgn="auto" latinLnBrk="0" hangingPunct="1">
              <a:buClrTx/>
              <a:buSzTx/>
              <a:buFontTx/>
              <a:buNone/>
              <a:tabLst/>
              <a:defRPr/>
            </a:pPr>
            <a:r>
              <a:rPr lang="en-US" b="0" kern="1200" dirty="0">
                <a:effectLst/>
              </a:rPr>
              <a:t>On Azure, Microsoft invested in </a:t>
            </a:r>
            <a:r>
              <a:rPr lang="en-US" b="1" kern="1200" dirty="0">
                <a:effectLst/>
              </a:rPr>
              <a:t>Azure Marketplace </a:t>
            </a:r>
            <a:r>
              <a:rPr lang="en-US" b="0" kern="1200" dirty="0">
                <a:effectLst/>
              </a:rPr>
              <a:t>to ensure customers have access to </a:t>
            </a:r>
            <a:r>
              <a:rPr lang="en-US" dirty="0">
                <a:effectLst/>
                <a:ea typeface="Calibri" panose="020F0502020204030204" pitchFamily="34" charset="0"/>
              </a:rPr>
              <a:t>capabilities from popular vendors, often used by customers to extend existing on-premises controls to the cloud.</a:t>
            </a:r>
          </a:p>
          <a:p>
            <a:pPr lvl="1"/>
            <a:endParaRPr lang="en-US" b="0" kern="1200" dirty="0">
              <a:effectLst/>
            </a:endParaRPr>
          </a:p>
          <a:p>
            <a:pPr lvl="1"/>
            <a:r>
              <a:rPr lang="en-US" b="0" kern="1200" dirty="0">
                <a:effectLst/>
              </a:rPr>
              <a:t>Microsoft provides </a:t>
            </a:r>
            <a:r>
              <a:rPr lang="en-US" b="1" kern="1200" dirty="0">
                <a:effectLst/>
              </a:rPr>
              <a:t>Private Link </a:t>
            </a:r>
            <a:r>
              <a:rPr lang="en-US" b="0" kern="1200" dirty="0">
                <a:effectLst/>
              </a:rPr>
              <a:t>support for Azure Services to help organizations extend private networks to the PaaS services used by applications. While this extends current controls and practices to the cloud, private networks may not be enough to mitigate modern attacks so Microsoft recommends following zero trust principles (https://aka.ms/zerotrust) to modernize your access control strategy using identity, network, application, data, and other controls. </a:t>
            </a:r>
          </a:p>
          <a:p>
            <a:endParaRPr lang="en-US" b="0" kern="1200" dirty="0">
              <a:effectLst/>
            </a:endParaRPr>
          </a:p>
          <a:p>
            <a:pPr marL="0" marR="0" lvl="0" indent="0" algn="l" defTabSz="914400" rtl="0" eaLnBrk="1" fontAlgn="auto" latinLnBrk="0" hangingPunct="1">
              <a:buClrTx/>
              <a:buSzTx/>
              <a:buFontTx/>
              <a:buNone/>
              <a:tabLst/>
              <a:defRPr/>
            </a:pPr>
            <a:r>
              <a:rPr lang="en-US" b="1" kern="1200" dirty="0">
                <a:effectLst/>
              </a:rPr>
              <a:t>CLICK 6 –Multi-Cloud and Azure Security </a:t>
            </a:r>
            <a:endParaRPr lang="en-US" kern="1200" dirty="0">
              <a:effectLst/>
            </a:endParaRPr>
          </a:p>
          <a:p>
            <a:endParaRPr lang="en-US" b="0" kern="1200" dirty="0">
              <a:effectLst/>
            </a:endParaRPr>
          </a:p>
          <a:p>
            <a:pPr marL="457200" marR="0" lvl="1"/>
            <a:r>
              <a:rPr lang="en-US" dirty="0">
                <a:effectLst/>
                <a:ea typeface="Calibri" panose="020F0502020204030204" pitchFamily="34" charset="0"/>
              </a:rPr>
              <a:t>Microsoft has invested in a wide range of capabilities to help secure your hybrid multi-cloud environment and the workloads in it. These are built into Azure and several extend across your hybrid infrastructure estate (on-premises, AWS, GCP, and other clouds) using </a:t>
            </a:r>
            <a:r>
              <a:rPr lang="en-US" b="1" dirty="0">
                <a:effectLst/>
                <a:ea typeface="Calibri" panose="020F0502020204030204" pitchFamily="34" charset="0"/>
              </a:rPr>
              <a:t>Azure Arc</a:t>
            </a:r>
            <a:r>
              <a:rPr lang="en-US" dirty="0">
                <a:effectLst/>
                <a:ea typeface="Calibri" panose="020F0502020204030204" pitchFamily="34" charset="0"/>
              </a:rPr>
              <a:t>. </a:t>
            </a:r>
          </a:p>
          <a:p>
            <a:pPr marL="457200" marR="0" lvl="1"/>
            <a:r>
              <a:rPr lang="en-US" b="1" dirty="0">
                <a:effectLst/>
                <a:ea typeface="Calibri" panose="020F0502020204030204" pitchFamily="34" charset="0"/>
              </a:rPr>
              <a:t>Azure Lighthouse </a:t>
            </a:r>
            <a:r>
              <a:rPr lang="en-US" dirty="0">
                <a:effectLst/>
                <a:ea typeface="Calibri" panose="020F0502020204030204" pitchFamily="34" charset="0"/>
              </a:rPr>
              <a:t>provides cross-tenant support in Azure for services, often used by managed service providers and customers with multiple tenants.</a:t>
            </a:r>
          </a:p>
          <a:p>
            <a:pPr marL="457200" marR="0" lvl="1"/>
            <a:endParaRPr lang="en-US" dirty="0">
              <a:effectLst/>
              <a:ea typeface="Calibri" panose="020F0502020204030204" pitchFamily="34" charset="0"/>
            </a:endParaRPr>
          </a:p>
          <a:p>
            <a:pPr marL="628650" marR="0" lvl="1" indent="-171450">
              <a:buFont typeface="Arial" panose="020B0604020202020204" pitchFamily="34" charset="0"/>
              <a:buChar char="•"/>
            </a:pPr>
            <a:r>
              <a:rPr lang="en-US" b="1" dirty="0">
                <a:effectLst/>
                <a:ea typeface="Calibri" panose="020F0502020204030204" pitchFamily="34" charset="0"/>
              </a:rPr>
              <a:t>Microsoft Defender for Cloud </a:t>
            </a:r>
            <a:r>
              <a:rPr lang="en-US" dirty="0">
                <a:effectLst/>
                <a:ea typeface="Calibri" panose="020F0502020204030204" pitchFamily="34" charset="0"/>
              </a:rPr>
              <a:t>provides a single starting point for managing security and compliance in Azure (and across IaaS and PaaS clouds), including</a:t>
            </a:r>
          </a:p>
          <a:p>
            <a:pPr marL="1085850" marR="0" lvl="2" indent="-171450">
              <a:buFont typeface="Arial" panose="020B0604020202020204" pitchFamily="34" charset="0"/>
              <a:buChar char="•"/>
            </a:pPr>
            <a:r>
              <a:rPr lang="en-US" b="1" dirty="0">
                <a:effectLst/>
                <a:ea typeface="Calibri" panose="020F0502020204030204" pitchFamily="34" charset="0"/>
              </a:rPr>
              <a:t>Secure Score </a:t>
            </a:r>
            <a:r>
              <a:rPr lang="en-US" dirty="0">
                <a:effectLst/>
                <a:ea typeface="Calibri" panose="020F0502020204030204" pitchFamily="34" charset="0"/>
              </a:rPr>
              <a:t>to measure security posture and providing prioritized guidance for improving it such as</a:t>
            </a:r>
          </a:p>
          <a:p>
            <a:pPr marL="1657350" marR="0" lvl="3" indent="-285750">
              <a:buFont typeface="Arial" panose="020B0604020202020204" pitchFamily="34" charset="0"/>
              <a:buChar char="•"/>
              <a:tabLst>
                <a:tab pos="914400" algn="l"/>
              </a:tabLst>
            </a:pPr>
            <a:r>
              <a:rPr lang="en-US" dirty="0">
                <a:effectLst/>
                <a:ea typeface="Calibri" panose="020F0502020204030204" pitchFamily="34" charset="0"/>
              </a:rPr>
              <a:t>Multifactor authentication isn’t required for administrative accounts</a:t>
            </a:r>
          </a:p>
          <a:p>
            <a:pPr marL="1657350" marR="0" lvl="3" indent="-285750">
              <a:buFont typeface="Arial" panose="020B0604020202020204" pitchFamily="34" charset="0"/>
              <a:buChar char="•"/>
              <a:tabLst>
                <a:tab pos="914400" algn="l"/>
              </a:tabLst>
            </a:pPr>
            <a:r>
              <a:rPr lang="en-US" dirty="0">
                <a:effectLst/>
                <a:ea typeface="Calibri" panose="020F0502020204030204" pitchFamily="34" charset="0"/>
              </a:rPr>
              <a:t>VMs exposed directly to the internet</a:t>
            </a:r>
          </a:p>
          <a:p>
            <a:pPr marL="1657350" marR="0" lvl="3" indent="-285750">
              <a:buFont typeface="Arial" panose="020B0604020202020204" pitchFamily="34" charset="0"/>
              <a:buChar char="•"/>
              <a:tabLst>
                <a:tab pos="914400" algn="l"/>
              </a:tabLst>
            </a:pPr>
            <a:r>
              <a:rPr lang="en-US" dirty="0">
                <a:effectLst/>
                <a:ea typeface="Calibri" panose="020F0502020204030204" pitchFamily="34" charset="0"/>
              </a:rPr>
              <a:t>Missing Web Application Firewalls (WAFs) for web applications</a:t>
            </a:r>
          </a:p>
          <a:p>
            <a:pPr marL="1657350" marR="0" lvl="3" indent="-285750">
              <a:buFont typeface="Arial" panose="020B0604020202020204" pitchFamily="34" charset="0"/>
              <a:buChar char="•"/>
              <a:tabLst>
                <a:tab pos="914400" algn="l"/>
              </a:tabLst>
            </a:pPr>
            <a:r>
              <a:rPr lang="en-US" dirty="0">
                <a:effectLst/>
                <a:ea typeface="Calibri" panose="020F0502020204030204" pitchFamily="34" charset="0"/>
              </a:rPr>
              <a:t>Out of date patches and antimalware signatures</a:t>
            </a:r>
          </a:p>
          <a:p>
            <a:pPr marL="1657350" marR="0" lvl="3" indent="-285750">
              <a:buFont typeface="Arial" panose="020B0604020202020204" pitchFamily="34" charset="0"/>
              <a:buChar char="•"/>
              <a:tabLst>
                <a:tab pos="914400" algn="l"/>
              </a:tabLst>
            </a:pPr>
            <a:r>
              <a:rPr lang="en-US" dirty="0">
                <a:effectLst/>
                <a:ea typeface="Calibri" panose="020F0502020204030204" pitchFamily="34" charset="0"/>
              </a:rPr>
              <a:t>…and many others</a:t>
            </a:r>
          </a:p>
          <a:p>
            <a:pPr marL="1085850" marR="0" lvl="2" indent="-171450">
              <a:buFont typeface="Arial" panose="020B0604020202020204" pitchFamily="34" charset="0"/>
              <a:buChar char="•"/>
            </a:pPr>
            <a:r>
              <a:rPr lang="en-US" b="1" dirty="0">
                <a:effectLst/>
                <a:ea typeface="Calibri" panose="020F0502020204030204" pitchFamily="34" charset="0"/>
              </a:rPr>
              <a:t>Compliance Dashboard </a:t>
            </a:r>
            <a:r>
              <a:rPr lang="en-US" dirty="0">
                <a:effectLst/>
                <a:ea typeface="Calibri" panose="020F0502020204030204" pitchFamily="34" charset="0"/>
              </a:rPr>
              <a:t>to help you quickly see and report on compliance status with regulatory guidance (and rapidly improve your compliance)</a:t>
            </a:r>
          </a:p>
          <a:p>
            <a:pPr marL="628650" marR="0" lvl="1" indent="-171450">
              <a:buFont typeface="Arial" panose="020B0604020202020204" pitchFamily="34" charset="0"/>
              <a:buChar char="•"/>
            </a:pPr>
            <a:endParaRPr lang="en-US" dirty="0">
              <a:effectLst/>
              <a:ea typeface="Calibri" panose="020F0502020204030204" pitchFamily="34" charset="0"/>
            </a:endParaRPr>
          </a:p>
          <a:p>
            <a:pPr marL="628650" lvl="1" indent="-171450" algn="l">
              <a:buFont typeface="Arial" panose="020B0604020202020204" pitchFamily="34" charset="0"/>
              <a:buChar char="•"/>
            </a:pPr>
            <a:r>
              <a:rPr lang="en-US" b="1" dirty="0">
                <a:effectLst/>
                <a:ea typeface="Calibri" panose="020F0502020204030204" pitchFamily="34" charset="0"/>
              </a:rPr>
              <a:t>Azure Firewall </a:t>
            </a:r>
            <a:r>
              <a:rPr lang="en-US" b="0" i="0" dirty="0">
                <a:effectLst/>
              </a:rPr>
              <a:t>is a managed, cloud-based network security service that helps protect your Azure Virtual Network resources. </a:t>
            </a:r>
          </a:p>
          <a:p>
            <a:pPr marL="1085850" marR="0" lvl="2" indent="-171450" algn="l" defTabSz="914400" rtl="0" eaLnBrk="1" latinLnBrk="0" hangingPunct="1">
              <a:buFont typeface="Arial" panose="020B0604020202020204" pitchFamily="34" charset="0"/>
              <a:buChar char="•"/>
            </a:pPr>
            <a:r>
              <a:rPr lang="en-US" b="1" kern="1200" dirty="0">
                <a:effectLst/>
              </a:rPr>
              <a:t>Azure Firewall Premium </a:t>
            </a:r>
            <a:r>
              <a:rPr lang="en-US" b="0" kern="1200" dirty="0">
                <a:effectLst/>
              </a:rPr>
              <a:t>is a next generation firewall with capabilities required for highly sensitive and regulated environments (TLS Inspection, IDPS, URL Filtering, Web Categories). </a:t>
            </a:r>
          </a:p>
          <a:p>
            <a:pPr marL="1085850" marR="0" lvl="2" indent="-171450" algn="l" defTabSz="914400" rtl="0" eaLnBrk="1" latinLnBrk="0" hangingPunct="1">
              <a:buFont typeface="Arial" panose="020B0604020202020204" pitchFamily="34" charset="0"/>
              <a:buChar char="•"/>
            </a:pPr>
            <a:r>
              <a:rPr lang="en-US" b="1" kern="1200" dirty="0">
                <a:effectLst/>
              </a:rPr>
              <a:t>Azure Firewall Manager </a:t>
            </a:r>
            <a:r>
              <a:rPr lang="en-US" b="0" kern="1200" dirty="0">
                <a:effectLst/>
              </a:rPr>
              <a:t>is a security management service that provides central security policy and route management for cloud-based security perimeters.</a:t>
            </a:r>
          </a:p>
          <a:p>
            <a:pPr marL="457200" lvl="1" indent="0">
              <a:buFont typeface="Arial" panose="020B0604020202020204" pitchFamily="34" charset="0"/>
              <a:buNone/>
            </a:pPr>
            <a:endParaRPr lang="en-US" b="1" i="0" dirty="0">
              <a:effectLst/>
            </a:endParaRPr>
          </a:p>
          <a:p>
            <a:pPr marL="628650" marR="0" lvl="1" indent="-171450" algn="l" defTabSz="914400" rtl="0" eaLnBrk="1" latinLnBrk="0" hangingPunct="1">
              <a:buFont typeface="Arial" panose="020B0604020202020204" pitchFamily="34" charset="0"/>
              <a:buChar char="•"/>
            </a:pPr>
            <a:r>
              <a:rPr lang="en-US" b="1" kern="1200" dirty="0">
                <a:effectLst/>
              </a:rPr>
              <a:t>Azure Web Application Firewall (WAF) </a:t>
            </a:r>
            <a:r>
              <a:rPr lang="en-US" b="0" kern="1200" dirty="0">
                <a:effectLst/>
              </a:rPr>
              <a:t>provides centralized protection of your web applications from common exploits and vulnerabilities. </a:t>
            </a:r>
          </a:p>
          <a:p>
            <a:pPr lvl="1"/>
            <a:endParaRPr lang="en-US" b="0" i="0" dirty="0">
              <a:effectLst/>
            </a:endParaRPr>
          </a:p>
          <a:p>
            <a:pPr marL="457200" marR="0" lvl="1" indent="0" algn="l" defTabSz="914400" rtl="0" eaLnBrk="1" fontAlgn="auto" latinLnBrk="0" hangingPunct="1">
              <a:buClrTx/>
              <a:buSzTx/>
              <a:buFontTx/>
              <a:buNone/>
              <a:tabLst/>
              <a:defRPr/>
            </a:pPr>
            <a:r>
              <a:rPr lang="en-US" dirty="0">
                <a:effectLst/>
                <a:ea typeface="Calibri" panose="020F0502020204030204" pitchFamily="34" charset="0"/>
              </a:rPr>
              <a:t>Microsoft has also invested heavily in other Azure security capabilities such as </a:t>
            </a:r>
            <a:r>
              <a:rPr lang="en-US" b="1" dirty="0">
                <a:effectLst/>
                <a:ea typeface="Calibri" panose="020F0502020204030204" pitchFamily="34" charset="0"/>
              </a:rPr>
              <a:t>Distributed Denial of Service (DDoS) </a:t>
            </a:r>
            <a:r>
              <a:rPr lang="en-US" dirty="0">
                <a:effectLst/>
                <a:ea typeface="Calibri" panose="020F0502020204030204" pitchFamily="34" charset="0"/>
              </a:rPr>
              <a:t>mitigations, key management, </a:t>
            </a:r>
            <a:r>
              <a:rPr lang="en-US" b="1" dirty="0">
                <a:effectLst/>
                <a:ea typeface="Calibri" panose="020F0502020204030204" pitchFamily="34" charset="0"/>
              </a:rPr>
              <a:t>Azure Bastion </a:t>
            </a:r>
            <a:r>
              <a:rPr lang="en-US" dirty="0">
                <a:effectLst/>
                <a:ea typeface="Calibri" panose="020F0502020204030204" pitchFamily="34" charset="0"/>
              </a:rPr>
              <a:t>for securing remote access, ransomware-resistant backup archives in </a:t>
            </a:r>
            <a:r>
              <a:rPr lang="en-US" b="1" dirty="0">
                <a:effectLst/>
                <a:ea typeface="Calibri" panose="020F0502020204030204" pitchFamily="34" charset="0"/>
              </a:rPr>
              <a:t>Azure Backup</a:t>
            </a:r>
            <a:r>
              <a:rPr lang="en-US" dirty="0">
                <a:effectLst/>
                <a:ea typeface="Calibri" panose="020F0502020204030204" pitchFamily="34" charset="0"/>
              </a:rPr>
              <a:t>, confidential computing capabilities to protect data while its being processed, and many more. </a:t>
            </a:r>
          </a:p>
          <a:p>
            <a:endParaRPr lang="en-US" b="0" i="0" dirty="0">
              <a:effectLst/>
            </a:endParaRPr>
          </a:p>
          <a:p>
            <a:r>
              <a:rPr lang="en-US" b="1" dirty="0"/>
              <a:t>CLICK 7 – Threat Monitoring for Datacenters and Operational Technology (OT))</a:t>
            </a:r>
            <a:br>
              <a:rPr lang="en-US" dirty="0"/>
            </a:br>
            <a:r>
              <a:rPr lang="en-US" dirty="0">
                <a:effectLst/>
                <a:ea typeface="Calibri" panose="020F0502020204030204" pitchFamily="34" charset="0"/>
              </a:rPr>
              <a:t> </a:t>
            </a:r>
          </a:p>
          <a:p>
            <a:pPr marL="457200" marR="0" lvl="1" indent="0" algn="l" defTabSz="914400" rtl="0" eaLnBrk="1" fontAlgn="auto" latinLnBrk="0" hangingPunct="1">
              <a:buClrTx/>
              <a:buSzTx/>
              <a:buFontTx/>
              <a:buNone/>
              <a:tabLst/>
              <a:defRPr/>
            </a:pPr>
            <a:r>
              <a:rPr lang="en-US" b="1" dirty="0">
                <a:effectLst/>
                <a:ea typeface="Calibri" panose="020F0502020204030204" pitchFamily="34" charset="0"/>
              </a:rPr>
              <a:t>Microsoft Threat Intelligence –</a:t>
            </a:r>
            <a:r>
              <a:rPr lang="en-US" dirty="0">
                <a:effectLst/>
                <a:ea typeface="Calibri" panose="020F0502020204030204" pitchFamily="34" charset="0"/>
              </a:rPr>
              <a:t> Through the course of our normal operations, Microsoft processes over 78 trillion signals a day of context that we use to generate threat intelligence to protect our cloud services, IT environment, and customers. Many of the capabilities in this architecture integrate that threat intelligence directly into threat detections, security guidance, and more. </a:t>
            </a:r>
          </a:p>
          <a:p>
            <a:endParaRPr lang="en-US" dirty="0">
              <a:effectLst/>
              <a:ea typeface="Calibri" panose="020F0502020204030204" pitchFamily="34" charset="0"/>
            </a:endParaRPr>
          </a:p>
          <a:p>
            <a:pPr marL="457200" marR="0" lvl="1"/>
            <a:r>
              <a:rPr lang="en-US" b="1" dirty="0">
                <a:effectLst/>
                <a:ea typeface="Calibri" panose="020F0502020204030204" pitchFamily="34" charset="0"/>
              </a:rPr>
              <a:t>Microsoft Defender for Cloud </a:t>
            </a:r>
            <a:r>
              <a:rPr lang="en-US" dirty="0">
                <a:effectLst/>
                <a:ea typeface="Calibri" panose="020F0502020204030204" pitchFamily="34" charset="0"/>
              </a:rPr>
              <a:t>provides </a:t>
            </a:r>
            <a:r>
              <a:rPr lang="en-US" i="1" dirty="0">
                <a:effectLst/>
                <a:ea typeface="Calibri" panose="020F0502020204030204" pitchFamily="34" charset="0"/>
              </a:rPr>
              <a:t>extended detection and response (XDR) </a:t>
            </a:r>
            <a:r>
              <a:rPr lang="en-US" dirty="0">
                <a:effectLst/>
                <a:ea typeface="Calibri" panose="020F0502020204030204" pitchFamily="34" charset="0"/>
              </a:rPr>
              <a:t>capabilities for infrastructure across your hybrid estate as well as operational technology (OT). </a:t>
            </a:r>
            <a:r>
              <a:rPr lang="en-US" b="0" dirty="0"/>
              <a:t>XDR tools are designed to complement a </a:t>
            </a:r>
            <a:r>
              <a:rPr lang="en-US" dirty="0">
                <a:effectLst/>
                <a:ea typeface="Calibri" panose="020F0502020204030204" pitchFamily="34" charset="0"/>
              </a:rPr>
              <a:t>Security Information and Event Management (SIEM)</a:t>
            </a:r>
            <a:r>
              <a:rPr lang="en-US" b="0" dirty="0"/>
              <a:t> by providing deep visibility into specific asset types and enhanced detection, response, and recovery capabilities (notably </a:t>
            </a:r>
            <a:r>
              <a:rPr lang="en-US" b="0" i="1" u="sng" dirty="0"/>
              <a:t>high-quality alerts</a:t>
            </a:r>
            <a:r>
              <a:rPr lang="en-US" b="0" i="1" u="none" dirty="0"/>
              <a:t> </a:t>
            </a:r>
            <a:r>
              <a:rPr lang="en-US" b="0" dirty="0"/>
              <a:t>that have low false positive rates). </a:t>
            </a:r>
            <a:r>
              <a:rPr lang="en-US" dirty="0">
                <a:effectLst/>
                <a:ea typeface="Calibri" panose="020F0502020204030204" pitchFamily="34" charset="0"/>
              </a:rPr>
              <a:t> </a:t>
            </a:r>
          </a:p>
          <a:p>
            <a:pPr marL="457200" marR="0" lvl="1"/>
            <a:endParaRPr lang="en-US" dirty="0">
              <a:effectLst/>
              <a:ea typeface="Calibri" panose="020F0502020204030204" pitchFamily="34" charset="0"/>
            </a:endParaRPr>
          </a:p>
          <a:p>
            <a:pPr marL="628650" marR="0" lvl="1" indent="-171450">
              <a:buFont typeface="Arial" panose="020B0604020202020204" pitchFamily="34" charset="0"/>
              <a:buChar char="•"/>
            </a:pPr>
            <a:r>
              <a:rPr lang="en-US" b="1" dirty="0">
                <a:effectLst/>
                <a:ea typeface="Calibri" panose="020F0502020204030204" pitchFamily="34" charset="0"/>
              </a:rPr>
              <a:t>Microsoft Defender for Cloud </a:t>
            </a:r>
            <a:r>
              <a:rPr lang="en-US" dirty="0">
                <a:effectLst/>
                <a:ea typeface="Calibri" panose="020F0502020204030204" pitchFamily="34" charset="0"/>
              </a:rPr>
              <a:t>currently covers the most highly used infrastructure services including servers/VMs, storage, databases, DNS, apps services, Kubernetes, container registries, key vault, and resource manager. </a:t>
            </a:r>
          </a:p>
          <a:p>
            <a:pPr marL="628650" marR="0" lvl="1" indent="-171450">
              <a:buFont typeface="Arial" panose="020B0604020202020204" pitchFamily="34" charset="0"/>
              <a:buChar char="•"/>
            </a:pPr>
            <a:r>
              <a:rPr lang="en-US" b="1" dirty="0">
                <a:effectLst/>
                <a:ea typeface="Calibri" panose="020F0502020204030204" pitchFamily="34" charset="0"/>
              </a:rPr>
              <a:t>Microsoft Defender for IoT </a:t>
            </a:r>
            <a:r>
              <a:rPr lang="en-US" b="0" dirty="0">
                <a:effectLst/>
                <a:ea typeface="Calibri" panose="020F0502020204030204" pitchFamily="34" charset="0"/>
              </a:rPr>
              <a:t>helps protect </a:t>
            </a:r>
            <a:r>
              <a:rPr lang="en-US" dirty="0">
                <a:effectLst/>
                <a:ea typeface="Calibri" panose="020F0502020204030204" pitchFamily="34" charset="0"/>
              </a:rPr>
              <a:t>the OT systems that control physical processes like Supervisory Control and Data Acquisition (SCADA) and Industrial Control Systems (ICS) with an agentless approach. Additionally, this capability also protects </a:t>
            </a:r>
            <a:r>
              <a:rPr lang="en-US" b="0" i="0" dirty="0">
                <a:effectLst/>
              </a:rPr>
              <a:t>IoT devices via lightweight a micro agent that supports standard IoT operating systems, such as Linux and RTOS. </a:t>
            </a:r>
            <a:endParaRPr lang="en-US" dirty="0">
              <a:effectLst/>
              <a:ea typeface="Calibri" panose="020F0502020204030204" pitchFamily="34" charset="0"/>
            </a:endParaRPr>
          </a:p>
          <a:p>
            <a:pPr marL="0" marR="0"/>
            <a:endParaRPr lang="en-US" dirty="0">
              <a:effectLst/>
              <a:ea typeface="Calibri" panose="020F0502020204030204" pitchFamily="34" charset="0"/>
            </a:endParaRPr>
          </a:p>
          <a:p>
            <a:pPr marL="0" marR="0"/>
            <a:r>
              <a:rPr lang="en-US" b="1" dirty="0">
                <a:effectLst/>
                <a:ea typeface="Calibri" panose="020F0502020204030204" pitchFamily="34" charset="0"/>
              </a:rPr>
              <a:t>CLICK 8 – Security Operations / SOC</a:t>
            </a:r>
          </a:p>
          <a:p>
            <a:pPr marL="0" marR="0"/>
            <a:endParaRPr lang="en-US" b="1" i="0" u="sng" dirty="0">
              <a:effectLst/>
              <a:ea typeface="Calibri" panose="020F0502020204030204" pitchFamily="34" charset="0"/>
            </a:endParaRPr>
          </a:p>
          <a:p>
            <a:pPr marL="457200" marR="0" lvl="1"/>
            <a:r>
              <a:rPr lang="en-US" dirty="0">
                <a:effectLst/>
                <a:ea typeface="Calibri" panose="020F0502020204030204" pitchFamily="34" charset="0"/>
              </a:rPr>
              <a:t>To help security operations teams manage active attacks, Microsoft has invested into a complete tooling strategy of XDR + SIEM + Security Data Lake</a:t>
            </a:r>
          </a:p>
          <a:p>
            <a:pPr marL="457200" marR="0" lvl="1"/>
            <a:r>
              <a:rPr lang="en-US" b="1" dirty="0">
                <a:effectLst/>
                <a:ea typeface="Calibri" panose="020F0502020204030204" pitchFamily="34" charset="0"/>
              </a:rPr>
              <a:t>Microsoft Sentinel </a:t>
            </a:r>
            <a:r>
              <a:rPr lang="en-US" b="0" dirty="0">
                <a:effectLst/>
                <a:ea typeface="Calibri" panose="020F0502020204030204" pitchFamily="34" charset="0"/>
              </a:rPr>
              <a:t>is a cloud native SIEM </a:t>
            </a:r>
            <a:r>
              <a:rPr lang="en-US" dirty="0">
                <a:effectLst/>
                <a:ea typeface="Calibri" panose="020F0502020204030204" pitchFamily="34" charset="0"/>
              </a:rPr>
              <a:t>provides broad visibility across your entire estate (IT, OT, IoT) while XDR capabilities provide deep visibility into specific assets to aid in rapid investigation and remediation (Endpoints, Email and Office 365, Identity, SaaS, Azure and multi-cloud Infrastructure)</a:t>
            </a:r>
          </a:p>
          <a:p>
            <a:pPr marL="457200" marR="0" lvl="1"/>
            <a:r>
              <a:rPr lang="en-US" dirty="0">
                <a:effectLst/>
                <a:ea typeface="Calibri" panose="020F0502020204030204" pitchFamily="34" charset="0"/>
              </a:rPr>
              <a:t>Microsoft’s XDR tooling includes:</a:t>
            </a:r>
          </a:p>
          <a:p>
            <a:pPr marL="742950" marR="0" lvl="1" indent="-2857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Microsoft Defender for Endpoint (MDE) </a:t>
            </a:r>
            <a:r>
              <a:rPr lang="en-US" b="0" kern="1200" dirty="0">
                <a:effectLst/>
                <a:ea typeface="Calibri" panose="020F0502020204030204" pitchFamily="34" charset="0"/>
              </a:rPr>
              <a:t>– described earlier. Like with cloud apps, Microsoft integrates this with other capabilities across our portfolio so you don’t have to run multiple agents/solutions to achieve your endpoint security goals. </a:t>
            </a:r>
          </a:p>
          <a:p>
            <a:pPr marL="742950" marR="0" lvl="1" indent="-2857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Microsoft Defender for Office (MDO) –</a:t>
            </a:r>
            <a:r>
              <a:rPr lang="en-US" b="0" kern="1200" dirty="0">
                <a:effectLst/>
                <a:ea typeface="Calibri" panose="020F0502020204030204" pitchFamily="34" charset="0"/>
              </a:rPr>
              <a:t> provides advanced security capabilities across Email, SharePoint Online, OneDrive for Business, Teams, etc. </a:t>
            </a:r>
            <a:endParaRPr lang="en-US" b="0" dirty="0">
              <a:effectLst/>
              <a:ea typeface="Calibri" panose="020F0502020204030204" pitchFamily="34" charset="0"/>
            </a:endParaRPr>
          </a:p>
          <a:p>
            <a:pPr marL="742950" marR="0" lvl="1" indent="-2857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Microsoft Defender for Identity (MDI) – </a:t>
            </a:r>
            <a:r>
              <a:rPr lang="en-US" b="0" kern="1200" dirty="0">
                <a:effectLst/>
                <a:ea typeface="Calibri" panose="020F0502020204030204" pitchFamily="34" charset="0"/>
              </a:rPr>
              <a:t>described earlier</a:t>
            </a:r>
          </a:p>
          <a:p>
            <a:pPr marL="742950" marR="0" lvl="1" indent="-2857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Microsoft Defender for Cloud (MDC) – </a:t>
            </a:r>
            <a:r>
              <a:rPr lang="en-US" b="0" kern="1200" dirty="0">
                <a:effectLst/>
                <a:ea typeface="Calibri" panose="020F0502020204030204" pitchFamily="34" charset="0"/>
              </a:rPr>
              <a:t>described earlier</a:t>
            </a:r>
            <a:endParaRPr lang="en-US" b="1" kern="1200" dirty="0">
              <a:effectLst/>
              <a:ea typeface="Calibri" panose="020F0502020204030204" pitchFamily="34" charset="0"/>
            </a:endParaRPr>
          </a:p>
          <a:p>
            <a:pPr marL="742950" marR="0" lvl="1" indent="-285750" algn="l" defTabSz="914400" rtl="0" eaLnBrk="1" fontAlgn="auto" latinLnBrk="0" hangingPunct="1">
              <a:buClrTx/>
              <a:buSzTx/>
              <a:buFont typeface="Arial" panose="020B0604020202020204" pitchFamily="34" charset="0"/>
              <a:buChar char="•"/>
              <a:tabLst/>
              <a:defRPr/>
            </a:pPr>
            <a:endParaRPr lang="en-US"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lang="en-US" dirty="0">
                <a:effectLst/>
                <a:ea typeface="Calibri" panose="020F0502020204030204" pitchFamily="34" charset="0"/>
              </a:rPr>
              <a:t>Microsoft is laser focused on reducing analyst fatigue and enabling rapid and effective response to incidents and focuses on</a:t>
            </a:r>
          </a:p>
          <a:p>
            <a:pPr marL="628650" marR="0" lvl="1" indent="-171450" algn="l" defTabSz="914400" rtl="0" eaLnBrk="1" fontAlgn="auto" latinLnBrk="0" hangingPunct="1">
              <a:buClrTx/>
              <a:buSzTx/>
              <a:buFont typeface="Arial" panose="020B0604020202020204" pitchFamily="34" charset="0"/>
              <a:buChar char="•"/>
              <a:tabLst/>
              <a:defRPr/>
            </a:pPr>
            <a:r>
              <a:rPr lang="en-US" b="1" kern="1200" noProof="0" dirty="0">
                <a:effectLst/>
              </a:rPr>
              <a:t>Seamless experiences </a:t>
            </a:r>
            <a:r>
              <a:rPr lang="en-US" b="0" kern="1200" noProof="0" dirty="0">
                <a:effectLst/>
              </a:rPr>
              <a:t>with Security Orchestration, Automation, and Remediation (SOAR) technologies and integration of toolsets together (natively and by providing APIs). </a:t>
            </a:r>
          </a:p>
          <a:p>
            <a:pPr marL="628650" marR="0" lvl="1" indent="-171450" algn="l" defTabSz="914400" rtl="0" eaLnBrk="1" fontAlgn="auto" latinLnBrk="0" hangingPunct="1">
              <a:buClrTx/>
              <a:buSzTx/>
              <a:buFont typeface="Arial" panose="020B0604020202020204" pitchFamily="34" charset="0"/>
              <a:buChar char="•"/>
              <a:tabLst/>
              <a:defRPr/>
            </a:pPr>
            <a:r>
              <a:rPr lang="en-US" b="1" kern="1200" noProof="0" dirty="0">
                <a:effectLst/>
              </a:rPr>
              <a:t>Rapid and accurate analysis </a:t>
            </a:r>
            <a:r>
              <a:rPr lang="en-US" b="0" kern="1200" noProof="0" dirty="0">
                <a:effectLst/>
              </a:rPr>
              <a:t>of anomalies with </a:t>
            </a:r>
            <a:r>
              <a:rPr lang="en-US" b="0" kern="1200" dirty="0">
                <a:effectLst/>
              </a:rPr>
              <a:t>Machine learning (ML) and behavioral analytics (UEBA)</a:t>
            </a:r>
          </a:p>
          <a:p>
            <a:pPr marL="457200" marR="0" lvl="1"/>
            <a:endParaRPr lang="en-US"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lang="en-US" dirty="0">
                <a:effectLst/>
                <a:ea typeface="Calibri" panose="020F0502020204030204" pitchFamily="34" charset="0"/>
              </a:rPr>
              <a:t>Microsoft also enables our customers with human expertise including</a:t>
            </a: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rPr>
              <a:t>Microsoft Threat Experts – </a:t>
            </a:r>
            <a:r>
              <a:rPr lang="en-US" b="0" kern="1200" dirty="0">
                <a:effectLst/>
              </a:rPr>
              <a:t>Managed hunting service built into Microsoft 365 Defender with expert level monitoring and analysis to empower and help ensure critical threats in your unique environments don’t get missed.</a:t>
            </a:r>
          </a:p>
          <a:p>
            <a:pPr marL="628650" marR="0" lvl="1" indent="-171450" algn="l" defTabSz="914400" rtl="0" eaLnBrk="1" fontAlgn="auto" latinLnBrk="0" hangingPunct="1">
              <a:buClrTx/>
              <a:buSzTx/>
              <a:buFont typeface="Arial" panose="020B0604020202020204" pitchFamily="34" charset="0"/>
              <a:buChar char="•"/>
              <a:tabLst/>
              <a:defRPr/>
            </a:pPr>
            <a:r>
              <a:rPr lang="en-US" b="1" kern="1200" noProof="0" dirty="0">
                <a:effectLst/>
              </a:rPr>
              <a:t>Microsoft Incident Response</a:t>
            </a:r>
            <a:r>
              <a:rPr lang="en-US" b="0" kern="1200" noProof="0" dirty="0">
                <a:effectLst/>
              </a:rPr>
              <a:t> – The Detection and Response Team (DART) provides </a:t>
            </a:r>
            <a:r>
              <a:rPr lang="en-US" b="0" kern="1200" dirty="0">
                <a:effectLst/>
                <a:ea typeface="Calibri" panose="020F0502020204030204" pitchFamily="34" charset="0"/>
              </a:rPr>
              <a:t>professional services to help investigate incidents in your environment and hunt for potential existing threats</a:t>
            </a:r>
          </a:p>
          <a:p>
            <a:pPr marL="628650" marR="0" lvl="1" indent="-171450" algn="l" defTabSz="914400" rtl="0" eaLnBrk="1" fontAlgn="auto" latinLnBrk="0" hangingPunct="1">
              <a:buClrTx/>
              <a:buSzTx/>
              <a:buFont typeface="Arial" panose="020B0604020202020204" pitchFamily="34" charset="0"/>
              <a:buChar char="•"/>
              <a:tabLst/>
              <a:defRPr/>
            </a:pPr>
            <a:r>
              <a:rPr lang="en-US" b="1" kern="1200" noProof="0" dirty="0">
                <a:effectLst/>
              </a:rPr>
              <a:t>MSSP/MDR providers – </a:t>
            </a:r>
            <a:r>
              <a:rPr lang="en-US" b="0" kern="1200" noProof="0" dirty="0">
                <a:effectLst/>
              </a:rPr>
              <a:t>Microsoft </a:t>
            </a:r>
            <a:r>
              <a:rPr lang="en-US" b="0" kern="1200" dirty="0">
                <a:effectLst/>
              </a:rPr>
              <a:t>partners with top experts in the industry to build their expertise on these capabilities so that they can advise and directly support our customers. </a:t>
            </a:r>
            <a:endParaRPr lang="en-US" b="0" kern="1200" dirty="0">
              <a:effectLst/>
              <a:ea typeface="Calibri" panose="020F0502020204030204" pitchFamily="34" charset="0"/>
            </a:endParaRPr>
          </a:p>
          <a:p>
            <a:pPr marL="0" marR="0"/>
            <a:endParaRPr lang="en-US" b="1" i="0" u="sng" dirty="0">
              <a:effectLst/>
              <a:ea typeface="Calibri" panose="020F0502020204030204" pitchFamily="34" charset="0"/>
            </a:endParaRPr>
          </a:p>
          <a:p>
            <a:pPr marL="457200" marR="0" lvl="1"/>
            <a:r>
              <a:rPr lang="en-US" b="0" i="0" u="none" dirty="0">
                <a:effectLst/>
                <a:ea typeface="Calibri" panose="020F0502020204030204" pitchFamily="34" charset="0"/>
              </a:rPr>
              <a:t>Additionally, </a:t>
            </a:r>
            <a:r>
              <a:rPr lang="nn-NO" b="1" dirty="0">
                <a:effectLst/>
                <a:ea typeface="Calibri" panose="020F0502020204030204" pitchFamily="34" charset="0"/>
              </a:rPr>
              <a:t>Microsoft Defender for Cloud Apps</a:t>
            </a:r>
            <a:r>
              <a:rPr lang="en-US" b="1" dirty="0">
                <a:effectLst/>
                <a:ea typeface="Calibri" panose="020F0502020204030204" pitchFamily="34" charset="0"/>
              </a:rPr>
              <a:t> (MDCA) </a:t>
            </a:r>
            <a:r>
              <a:rPr lang="en-US" b="0" dirty="0">
                <a:effectLst/>
                <a:ea typeface="Calibri" panose="020F0502020204030204" pitchFamily="34" charset="0"/>
              </a:rPr>
              <a:t>provides </a:t>
            </a:r>
            <a:r>
              <a:rPr lang="en-US" b="0" i="0" dirty="0">
                <a:effectLst/>
              </a:rPr>
              <a:t>Cloud Access Security Broker (CASB) capabilities that provide XDR for SaaS applications as well as governance, threat protection, data protection and more for these SaaS apps and the data stored on them. MDCA integrates with other capabilities in Microsoft’s portfolio to extend them to SaaS applications to simplify management and security. </a:t>
            </a:r>
          </a:p>
          <a:p>
            <a:pPr marL="457200" marR="0" lvl="1"/>
            <a:endParaRPr lang="en-US" b="0" i="0" u="sng" dirty="0">
              <a:effectLst/>
              <a:ea typeface="Calibri" panose="020F0502020204030204" pitchFamily="34" charset="0"/>
            </a:endParaRPr>
          </a:p>
          <a:p>
            <a:pPr marL="457200" marR="0" lvl="1"/>
            <a:r>
              <a:rPr lang="en-US" b="1" i="0" u="none" dirty="0">
                <a:effectLst/>
                <a:ea typeface="Calibri" panose="020F0502020204030204" pitchFamily="34" charset="0"/>
              </a:rPr>
              <a:t>Note: </a:t>
            </a:r>
            <a:r>
              <a:rPr lang="en-US" b="0" i="0" u="none" dirty="0">
                <a:effectLst/>
                <a:ea typeface="Calibri" panose="020F0502020204030204" pitchFamily="34" charset="0"/>
              </a:rPr>
              <a:t>MDCA and MDE illustrate Microsoft’s philosophy of a single agent (or control point) for resources that provide many security services. This helps reduce the performance impact of installing too many security agents (which we have seen can take up to a full CPU Core and 1GB of RAM per endpoint in the worst cases)</a:t>
            </a:r>
            <a:endParaRPr lang="en-US" b="1" i="0" u="none" dirty="0">
              <a:effectLst/>
              <a:ea typeface="Calibri" panose="020F0502020204030204" pitchFamily="34" charset="0"/>
            </a:endParaRPr>
          </a:p>
          <a:p>
            <a:pPr marL="457200" marR="0" lvl="1"/>
            <a:endParaRPr lang="en-US" b="1" i="0" u="none" dirty="0">
              <a:effectLst/>
              <a:ea typeface="Calibri" panose="020F0502020204030204" pitchFamily="34" charset="0"/>
            </a:endParaRPr>
          </a:p>
          <a:p>
            <a:pPr marL="0" marR="0" lvl="0" indent="0" algn="l" defTabSz="914400" rtl="0" eaLnBrk="1" fontAlgn="auto" latinLnBrk="0" hangingPunct="1">
              <a:buClrTx/>
              <a:buSzTx/>
              <a:buFontTx/>
              <a:buNone/>
              <a:tabLst/>
              <a:defRPr/>
            </a:pPr>
            <a:endParaRPr lang="en-US" dirty="0">
              <a:effectLst/>
              <a:ea typeface="Calibri" panose="020F0502020204030204" pitchFamily="34" charset="0"/>
            </a:endParaRPr>
          </a:p>
          <a:p>
            <a:pPr marL="0" marR="0" lvl="0" indent="0" algn="l" defTabSz="914400" rtl="0" eaLnBrk="1" fontAlgn="auto" latinLnBrk="0" hangingPunct="1">
              <a:buClrTx/>
              <a:buSzTx/>
              <a:buFontTx/>
              <a:buNone/>
              <a:tabLst/>
              <a:defRPr/>
            </a:pPr>
            <a:endParaRPr lang="en-US" dirty="0">
              <a:effectLst/>
              <a:ea typeface="Calibri" panose="020F0502020204030204" pitchFamily="34" charset="0"/>
            </a:endParaRPr>
          </a:p>
          <a:p>
            <a:pPr marL="0" marR="0" lvl="0" indent="0" algn="l" defTabSz="914400" rtl="0" eaLnBrk="1" fontAlgn="auto" latinLnBrk="0" hangingPunct="1">
              <a:buClrTx/>
              <a:buSzTx/>
              <a:buFontTx/>
              <a:buNone/>
              <a:tabLst/>
              <a:defRPr/>
            </a:pPr>
            <a:r>
              <a:rPr lang="en-US" b="1" dirty="0">
                <a:effectLst/>
                <a:ea typeface="Calibri" panose="020F0502020204030204" pitchFamily="34" charset="0"/>
              </a:rPr>
              <a:t>CLICK 9 – DevSecOps / Application Security</a:t>
            </a:r>
          </a:p>
          <a:p>
            <a:pPr marL="0" marR="0" lvl="0" indent="0" algn="l" defTabSz="914400" rtl="0" eaLnBrk="1" fontAlgn="auto" latinLnBrk="0" hangingPunct="1">
              <a:buClrTx/>
              <a:buSzTx/>
              <a:buFontTx/>
              <a:buNone/>
              <a:tabLst/>
              <a:defRPr/>
            </a:pPr>
            <a:r>
              <a:rPr lang="en-US" b="0" kern="1200" dirty="0">
                <a:effectLst/>
                <a:ea typeface="Calibri" panose="020F0502020204030204" pitchFamily="34" charset="0"/>
              </a:rPr>
              <a:t>Microsoft uses our</a:t>
            </a:r>
            <a:r>
              <a:rPr lang="en-US" b="1" kern="1200" dirty="0">
                <a:effectLst/>
                <a:ea typeface="Calibri" panose="020F0502020204030204" pitchFamily="34" charset="0"/>
              </a:rPr>
              <a:t> Security Development Lifecycle (SDL) </a:t>
            </a:r>
            <a:r>
              <a:rPr lang="en-US" b="0" kern="1200" dirty="0">
                <a:effectLst/>
                <a:ea typeface="Calibri" panose="020F0502020204030204" pitchFamily="34" charset="0"/>
              </a:rPr>
              <a:t>for developing software and our </a:t>
            </a:r>
            <a:r>
              <a:rPr lang="en-US" b="0" i="0" dirty="0">
                <a:effectLst/>
              </a:rPr>
              <a:t>Operational Security Assurance (OSA) framework for operating cloud services. To help customers security applications, we also provide</a:t>
            </a:r>
          </a:p>
          <a:p>
            <a:pPr marL="0" marR="0" lvl="0" indent="0" algn="l" defTabSz="914400" rtl="0" eaLnBrk="1" fontAlgn="auto" latinLnBrk="0" hangingPunct="1">
              <a:buClrTx/>
              <a:buSzTx/>
              <a:buFontTx/>
              <a:buNone/>
              <a:tabLst/>
              <a:defRPr/>
            </a:pPr>
            <a:endParaRPr lang="en-US" b="1" kern="1200" dirty="0">
              <a:effectLst/>
              <a:ea typeface="Calibri" panose="020F0502020204030204" pitchFamily="34" charset="0"/>
            </a:endParaRP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SDL and OSA documentation –</a:t>
            </a:r>
            <a:r>
              <a:rPr lang="en-US" b="0" kern="1200" dirty="0">
                <a:effectLst/>
                <a:ea typeface="Calibri" panose="020F0502020204030204" pitchFamily="34" charset="0"/>
              </a:rPr>
              <a:t> to help with securing your applications and operations. </a:t>
            </a: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ea typeface="Calibri" panose="020F0502020204030204" pitchFamily="34" charset="0"/>
              </a:rPr>
              <a:t>GitHub Advanced Security and Azure DevOps Security </a:t>
            </a:r>
            <a:r>
              <a:rPr lang="en-US" b="0" kern="1200" dirty="0">
                <a:effectLst/>
                <a:ea typeface="Calibri" panose="020F0502020204030204" pitchFamily="34" charset="0"/>
              </a:rPr>
              <a:t>provide DevSecOps and Application development security that integrates natively in the developer workflow including code scanning, secret scanning, alerting, dependency review, security policies, and more. </a:t>
            </a:r>
          </a:p>
          <a:p>
            <a:pPr marL="628650" marR="0" lvl="1" indent="-171450" algn="l" defTabSz="914400" rtl="0" eaLnBrk="1" fontAlgn="auto" latinLnBrk="0" hangingPunct="1">
              <a:buClrTx/>
              <a:buSzTx/>
              <a:buFont typeface="Arial" panose="020B0604020202020204" pitchFamily="34" charset="0"/>
              <a:buChar char="•"/>
              <a:tabLst/>
              <a:defRPr/>
            </a:pPr>
            <a:r>
              <a:rPr lang="en-US" b="1" dirty="0"/>
              <a:t>Microsoft Defender for DevOps</a:t>
            </a:r>
            <a:r>
              <a:rPr lang="en-US" b="1" i="1" dirty="0"/>
              <a:t> and </a:t>
            </a:r>
            <a:r>
              <a:rPr lang="en-US" b="1" dirty="0"/>
              <a:t>Defender for APIs </a:t>
            </a:r>
            <a:r>
              <a:rPr lang="en-US" b="1" i="1" dirty="0"/>
              <a:t> </a:t>
            </a:r>
            <a:r>
              <a:rPr lang="en-US" b="0" i="0" dirty="0"/>
              <a:t>are Microsoft Defender for Cloud capabilities:</a:t>
            </a:r>
          </a:p>
          <a:p>
            <a:pPr marL="1085850" marR="0" lvl="2" indent="-171450" algn="l" defTabSz="914400" rtl="0" eaLnBrk="1" fontAlgn="auto" latinLnBrk="0" hangingPunct="1">
              <a:buClrTx/>
              <a:buSzTx/>
              <a:buFont typeface="Arial" panose="020B0604020202020204" pitchFamily="34" charset="0"/>
              <a:buChar char="•"/>
              <a:tabLst/>
              <a:defRPr/>
            </a:pPr>
            <a:r>
              <a:rPr lang="en-US" b="1" dirty="0"/>
              <a:t>Defender for APIs </a:t>
            </a:r>
            <a:r>
              <a:rPr lang="en-US" b="0" i="0" dirty="0">
                <a:effectLst/>
              </a:rPr>
              <a:t>offers full lifecycle protection, detection, and response coverage for APIs.</a:t>
            </a:r>
          </a:p>
          <a:p>
            <a:pPr marL="1085850" marR="0" lvl="2" indent="-171450" algn="l" defTabSz="914400" rtl="0" eaLnBrk="1" fontAlgn="auto" latinLnBrk="0" hangingPunct="1">
              <a:buClrTx/>
              <a:buSzTx/>
              <a:buFont typeface="Arial" panose="020B0604020202020204" pitchFamily="34" charset="0"/>
              <a:buChar char="•"/>
              <a:tabLst/>
              <a:defRPr/>
            </a:pPr>
            <a:r>
              <a:rPr lang="en-US" b="1" dirty="0"/>
              <a:t>Defender for DevOps </a:t>
            </a:r>
            <a:r>
              <a:rPr lang="en-US" b="0" i="0" dirty="0">
                <a:effectLst/>
              </a:rPr>
              <a:t>empowers security teams to manage DevOps security across multi-pipeline environments with comprehensive visibility, posture management, and threat protection across </a:t>
            </a:r>
            <a:r>
              <a:rPr lang="en-US" b="0" i="0" dirty="0" err="1">
                <a:effectLst/>
              </a:rPr>
              <a:t>multicloud</a:t>
            </a:r>
            <a:r>
              <a:rPr lang="en-US" b="0" i="0" dirty="0">
                <a:effectLst/>
              </a:rPr>
              <a:t> environments including Azure, AWS, GCP, and on-premises resources. </a:t>
            </a:r>
          </a:p>
          <a:p>
            <a:pPr marL="0" marR="0" indent="0" algn="l">
              <a:buFont typeface="Arial" panose="020B0604020202020204" pitchFamily="34" charset="0"/>
              <a:buNone/>
            </a:pPr>
            <a:endParaRPr lang="en-US" b="1" i="0" u="sng" dirty="0">
              <a:effectLst/>
              <a:ea typeface="Calibri" panose="020F0502020204030204" pitchFamily="34" charset="0"/>
            </a:endParaRPr>
          </a:p>
          <a:p>
            <a:pPr marL="0" marR="0"/>
            <a:r>
              <a:rPr lang="en-US" b="1" i="0" u="none" dirty="0">
                <a:effectLst/>
                <a:ea typeface="Calibri" panose="020F0502020204030204" pitchFamily="34" charset="0"/>
              </a:rPr>
              <a:t>CLICK 10 – Privileged Access</a:t>
            </a:r>
          </a:p>
          <a:p>
            <a:pPr marL="0" marR="0"/>
            <a:endParaRPr lang="en-US" b="1" i="0" u="none" dirty="0">
              <a:effectLst/>
              <a:ea typeface="Calibri" panose="020F0502020204030204" pitchFamily="34" charset="0"/>
            </a:endParaRPr>
          </a:p>
          <a:p>
            <a:pPr lvl="1">
              <a:defRPr/>
            </a:pPr>
            <a:r>
              <a:rPr lang="en-US" dirty="0">
                <a:effectLst/>
                <a:ea typeface="Calibri" panose="020F0502020204030204" pitchFamily="34" charset="0"/>
              </a:rPr>
              <a:t>Microsoft provides prescriptive guidance on </a:t>
            </a:r>
            <a:r>
              <a:rPr lang="en-US" b="1" dirty="0">
                <a:effectLst/>
                <a:ea typeface="Calibri" panose="020F0502020204030204" pitchFamily="34" charset="0"/>
              </a:rPr>
              <a:t>securing privileged access (SPA) </a:t>
            </a:r>
            <a:r>
              <a:rPr lang="en-US" dirty="0">
                <a:effectLst/>
                <a:ea typeface="Calibri" panose="020F0502020204030204" pitchFamily="34" charset="0"/>
              </a:rPr>
              <a:t>to help you rapidly protect against those attack techniques (a high impact attack vector frequently used by attackers). This is based on the approach Microsoft uses to protect privileged access in our IT and cloud service environments (internally called Secure Access Workstations or SAWs)</a:t>
            </a:r>
            <a:endParaRPr lang="en-US" b="1" i="0" dirty="0">
              <a:effectLst/>
            </a:endParaRPr>
          </a:p>
          <a:p>
            <a:pPr marL="457200" marR="0" lvl="1" indent="0" algn="l" defTabSz="914400" rtl="0" eaLnBrk="1" fontAlgn="auto" latinLnBrk="0" hangingPunct="1">
              <a:buClrTx/>
              <a:buSzTx/>
              <a:buFontTx/>
              <a:buNone/>
              <a:tabLst/>
              <a:defRPr/>
            </a:pPr>
            <a:endParaRPr kumimoji="0" lang="en-US" b="0" i="0" u="none" strike="noStrike" kern="1200" cap="none" spc="0" normalizeH="0" baseline="0" noProof="0" dirty="0">
              <a:ln>
                <a:noFill/>
              </a:ln>
              <a:effectLst/>
              <a:uLnTx/>
              <a:uFillTx/>
            </a:endParaRPr>
          </a:p>
          <a:p>
            <a:pPr marL="457200" marR="0" lvl="1" indent="0" algn="l" defTabSz="914400" rtl="0" eaLnBrk="1" fontAlgn="auto" latinLnBrk="0" hangingPunct="1">
              <a:buClrTx/>
              <a:buSzTx/>
              <a:buFontTx/>
              <a:buNone/>
              <a:tabLst/>
              <a:defRPr/>
            </a:pPr>
            <a:r>
              <a:rPr kumimoji="0" lang="en-US" b="0" i="0" u="none" strike="noStrike" kern="1200" cap="none" spc="0" normalizeH="0" baseline="0" noProof="0" dirty="0">
                <a:ln>
                  <a:noFill/>
                </a:ln>
                <a:effectLst/>
                <a:uLnTx/>
                <a:uFillTx/>
              </a:rPr>
              <a:t>This guidance includes strategy, planning, and implementation documentation to secure </a:t>
            </a:r>
            <a:r>
              <a:rPr kumimoji="0" lang="en-US" i="0" u="none" strike="noStrike" kern="1200" cap="none" spc="0" normalizeH="0" baseline="0" noProof="0" dirty="0">
                <a:ln>
                  <a:noFill/>
                </a:ln>
                <a:effectLst/>
                <a:uLnTx/>
                <a:uFillTx/>
              </a:rPr>
              <a:t>Accounts, Devices, Intermediaries, and interfaces. The approach is based on zero trust principles and leverages conditional access for policy enforcement.</a:t>
            </a:r>
          </a:p>
          <a:p>
            <a:pPr marL="457200" marR="0" lvl="1" indent="0" algn="l" defTabSz="914400" rtl="0" eaLnBrk="1" fontAlgn="auto" latinLnBrk="0" hangingPunct="1">
              <a:buClrTx/>
              <a:buSzTx/>
              <a:buFontTx/>
              <a:buNone/>
              <a:tabLst/>
              <a:defRPr/>
            </a:pPr>
            <a:r>
              <a:rPr lang="en-US" dirty="0"/>
              <a:t>Key components of securing privileged access include:</a:t>
            </a:r>
          </a:p>
          <a:p>
            <a:pPr marL="628650" marR="0" lvl="1" indent="-171450" algn="l" defTabSz="914400" rtl="0" eaLnBrk="1" fontAlgn="auto" latinLnBrk="0" hangingPunct="1">
              <a:buClrTx/>
              <a:buSzTx/>
              <a:buFont typeface="Arial" panose="020B0604020202020204" pitchFamily="34" charset="0"/>
              <a:buChar char="•"/>
              <a:tabLst/>
              <a:defRPr/>
            </a:pPr>
            <a:r>
              <a:rPr kumimoji="0" lang="en-US" b="1" i="0" u="none" strike="noStrike" kern="1200" cap="none" spc="0" normalizeH="0" baseline="0" noProof="0" dirty="0">
                <a:ln>
                  <a:noFill/>
                </a:ln>
                <a:effectLst/>
                <a:uLnTx/>
                <a:uFillTx/>
              </a:rPr>
              <a:t>Privileged access workstations (PAWs) </a:t>
            </a:r>
            <a:r>
              <a:rPr kumimoji="0" lang="en-US" i="0" u="none" strike="noStrike" kern="1200" cap="none" spc="0" normalizeH="0" baseline="0" noProof="0" dirty="0">
                <a:ln>
                  <a:noFill/>
                </a:ln>
                <a:effectLst/>
                <a:uLnTx/>
                <a:uFillTx/>
              </a:rPr>
              <a:t>to provide safe operating environment </a:t>
            </a:r>
            <a:r>
              <a:rPr lang="en-US" dirty="0"/>
              <a:t>for sensitive accounts.</a:t>
            </a:r>
          </a:p>
          <a:p>
            <a:pPr marL="628650" marR="0" lvl="1" indent="-171450" algn="l" defTabSz="914400" rtl="0" eaLnBrk="1" fontAlgn="auto" latinLnBrk="0" hangingPunct="1">
              <a:buClrTx/>
              <a:buSzTx/>
              <a:buFont typeface="Arial" panose="020B0604020202020204" pitchFamily="34" charset="0"/>
              <a:buChar char="•"/>
              <a:tabLst/>
              <a:defRPr/>
            </a:pPr>
            <a:r>
              <a:rPr lang="en-US" b="1" dirty="0"/>
              <a:t>Windows LAPS </a:t>
            </a:r>
            <a:r>
              <a:rPr lang="en-US" dirty="0"/>
              <a:t>- Windows Local Administrator Password Solution (LAPS) mitigates lateral traversal attacks by setting and managing random passwords for local administrator accounts on Windows computers</a:t>
            </a:r>
            <a:endParaRPr lang="en-US" dirty="0">
              <a:effectLst/>
            </a:endParaRPr>
          </a:p>
          <a:p>
            <a:pPr marL="457200" marR="0" lvl="1" indent="0" algn="l" defTabSz="914400" rtl="0" eaLnBrk="1" fontAlgn="auto" latinLnBrk="0" hangingPunct="1">
              <a:buClrTx/>
              <a:buSzTx/>
              <a:buFontTx/>
              <a:buNone/>
              <a:tabLst/>
              <a:defRPr/>
            </a:pPr>
            <a:endParaRPr kumimoji="0" lang="en-US" i="0" u="none" strike="noStrike" kern="1200" cap="none" spc="0" normalizeH="0" baseline="0" noProof="0" dirty="0">
              <a:ln>
                <a:noFill/>
              </a:ln>
              <a:effectLst/>
              <a:uLnTx/>
              <a:uFillTx/>
            </a:endParaRPr>
          </a:p>
          <a:p>
            <a:pPr marL="457200" marR="0" lvl="1" indent="0" algn="l" defTabSz="914400" rtl="0" eaLnBrk="1" fontAlgn="auto" latinLnBrk="0" hangingPunct="1">
              <a:buClrTx/>
              <a:buSzTx/>
              <a:buFontTx/>
              <a:buNone/>
              <a:tabLst/>
              <a:defRPr/>
            </a:pPr>
            <a:r>
              <a:rPr lang="en-US" dirty="0">
                <a:effectLst/>
                <a:ea typeface="Calibri" panose="020F0502020204030204" pitchFamily="34" charset="0"/>
              </a:rPr>
              <a:t>See https://aka.ms/SPA for more information. </a:t>
            </a:r>
          </a:p>
          <a:p>
            <a:pPr marL="0" marR="0"/>
            <a:endParaRPr lang="en-US" b="1" i="0" u="none" dirty="0">
              <a:effectLst/>
              <a:ea typeface="Calibri" panose="020F0502020204030204" pitchFamily="34" charset="0"/>
            </a:endParaRPr>
          </a:p>
          <a:p>
            <a:pPr marL="0" marR="0"/>
            <a:r>
              <a:rPr lang="en-US" b="1" i="0" u="none" dirty="0">
                <a:effectLst/>
                <a:ea typeface="Calibri" panose="020F0502020204030204" pitchFamily="34" charset="0"/>
              </a:rPr>
              <a:t>CLICK 11 – Information Protection / Data Protection</a:t>
            </a:r>
          </a:p>
          <a:p>
            <a:pPr marL="0" marR="0"/>
            <a:endParaRPr lang="en-US" b="0" i="0" u="none" dirty="0">
              <a:effectLst/>
              <a:ea typeface="Calibri" panose="020F0502020204030204" pitchFamily="34" charset="0"/>
            </a:endParaRPr>
          </a:p>
          <a:p>
            <a:pPr marL="457200" marR="0" lvl="1" rtl="0" fontAlgn="t"/>
            <a:r>
              <a:rPr lang="en-US" b="1" dirty="0">
                <a:effectLst/>
              </a:rPr>
              <a:t>Microsoft Purview</a:t>
            </a:r>
            <a:r>
              <a:rPr lang="en-US" dirty="0">
                <a:effectLst/>
              </a:rPr>
              <a:t> is a family of data governance, risk, and compliance solutions that can help your organization govern, protect, and manage your entire data estate. </a:t>
            </a:r>
          </a:p>
          <a:p>
            <a:pPr marL="457200" marR="0" lvl="1" rtl="0" fontAlgn="t"/>
            <a:r>
              <a:rPr lang="en-US" dirty="0">
                <a:effectLst/>
              </a:rPr>
              <a:t>Note: Microsoft Purview combines the former Azure Purview and Microsoft 365 compliance solutions and services together into a single brand. </a:t>
            </a:r>
          </a:p>
          <a:p>
            <a:pPr marL="457200" marR="0" lvl="1" rtl="0" fontAlgn="t"/>
            <a:r>
              <a:rPr lang="en-US" dirty="0">
                <a:effectLst/>
              </a:rPr>
              <a:t> </a:t>
            </a:r>
          </a:p>
          <a:p>
            <a:pPr marL="457200" marR="0" lvl="1" indent="0" algn="l" defTabSz="914400" rtl="0" eaLnBrk="1" fontAlgn="auto" latinLnBrk="0" hangingPunct="1">
              <a:buClrTx/>
              <a:buSzTx/>
              <a:buFontTx/>
              <a:buNone/>
              <a:tabLst/>
              <a:defRPr/>
            </a:pPr>
            <a:r>
              <a:rPr lang="en-US" b="0" i="0" dirty="0"/>
              <a:t>These solutions provide a full lifecycle approach to discovering, classifying, protecting, and monitoring the data your organization relies on to drive mission completion and competitive advantage (in various forms, formats, and locations)</a:t>
            </a:r>
          </a:p>
          <a:p>
            <a:pPr marL="457200" marR="0" lvl="1" indent="0" algn="l" defTabSz="914400" rtl="0" eaLnBrk="1" fontAlgn="auto" latinLnBrk="0" hangingPunct="1">
              <a:buClrTx/>
              <a:buSzTx/>
              <a:buFontTx/>
              <a:buNone/>
              <a:tabLst/>
              <a:defRPr/>
            </a:pPr>
            <a:r>
              <a:rPr lang="en-US" b="0" i="0" dirty="0"/>
              <a:t>A few key focus areas are:</a:t>
            </a: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rPr>
              <a:t>Protect </a:t>
            </a:r>
            <a:r>
              <a:rPr lang="en-US" b="0" kern="1200" dirty="0">
                <a:effectLst/>
              </a:rPr>
              <a:t>files </a:t>
            </a:r>
            <a:r>
              <a:rPr lang="en-US" b="0" i="0" dirty="0">
                <a:effectLst/>
              </a:rPr>
              <a:t>regardless of where the data is stored or with whom it’s shared </a:t>
            </a:r>
            <a:r>
              <a:rPr lang="en-US" b="0" kern="1200" dirty="0">
                <a:effectLst/>
              </a:rPr>
              <a:t>(vs. being limited to protecting files only when on a specific device/location)</a:t>
            </a:r>
          </a:p>
          <a:p>
            <a:pPr marL="628650" marR="0" lvl="1" indent="-171450" algn="l" defTabSz="914400" rtl="0" eaLnBrk="1" fontAlgn="auto" latinLnBrk="0" hangingPunct="1">
              <a:buClrTx/>
              <a:buSzTx/>
              <a:buFont typeface="Arial" panose="020B0604020202020204" pitchFamily="34" charset="0"/>
              <a:buChar char="•"/>
              <a:tabLst/>
              <a:defRPr/>
            </a:pPr>
            <a:r>
              <a:rPr lang="en-US" b="0" kern="1200" dirty="0">
                <a:effectLst/>
              </a:rPr>
              <a:t>A</a:t>
            </a:r>
            <a:r>
              <a:rPr lang="en-US" b="1" kern="1200" dirty="0">
                <a:effectLst/>
              </a:rPr>
              <a:t> File Scanner </a:t>
            </a:r>
            <a:r>
              <a:rPr lang="en-US" b="0" kern="1200" dirty="0">
                <a:effectLst/>
              </a:rPr>
              <a:t>to discover and assess existing data in SharePoint sites and </a:t>
            </a:r>
            <a:r>
              <a:rPr lang="en-US" b="0" kern="1200" dirty="0" err="1">
                <a:effectLst/>
              </a:rPr>
              <a:t>fileshares</a:t>
            </a:r>
            <a:endParaRPr lang="en-US" b="0" kern="1200" dirty="0">
              <a:effectLst/>
            </a:endParaRP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rPr>
              <a:t>Data Governance </a:t>
            </a:r>
            <a:r>
              <a:rPr lang="en-US" b="0" kern="1200" dirty="0">
                <a:effectLst/>
              </a:rPr>
              <a:t>to provide visibility and management of the full information lifecycle</a:t>
            </a:r>
          </a:p>
          <a:p>
            <a:pPr marL="628650" marR="0" lvl="1" indent="-171450" algn="l" defTabSz="914400" rtl="0" eaLnBrk="1" fontAlgn="auto" latinLnBrk="0" hangingPunct="1">
              <a:buClrTx/>
              <a:buSzTx/>
              <a:buFont typeface="Arial" panose="020B0604020202020204" pitchFamily="34" charset="0"/>
              <a:buChar char="•"/>
              <a:tabLst/>
              <a:defRPr/>
            </a:pPr>
            <a:r>
              <a:rPr lang="en-US" b="1" kern="1200" dirty="0">
                <a:effectLst/>
              </a:rPr>
              <a:t>Advanced eDiscovery </a:t>
            </a:r>
            <a:r>
              <a:rPr lang="en-US" b="0" kern="1200" dirty="0">
                <a:effectLst/>
              </a:rPr>
              <a:t>capabilities to help simplify meeting those legal obligations</a:t>
            </a:r>
          </a:p>
          <a:p>
            <a:pPr marL="628650" marR="0" lvl="1" indent="-171450" algn="l" defTabSz="914400" rtl="0" eaLnBrk="1" fontAlgn="auto" latinLnBrk="0" hangingPunct="1">
              <a:buClrTx/>
              <a:buSzTx/>
              <a:buFont typeface="Arial" panose="020B0604020202020204" pitchFamily="34" charset="0"/>
              <a:buChar char="•"/>
              <a:tabLst/>
              <a:defRPr/>
            </a:pPr>
            <a:r>
              <a:rPr kumimoji="0" lang="en-US" b="1" i="0" u="none" strike="noStrike" kern="1200" cap="none" spc="0" normalizeH="0" baseline="0" noProof="0" dirty="0">
                <a:ln>
                  <a:noFill/>
                </a:ln>
                <a:effectLst/>
                <a:uLnTx/>
                <a:uFillTx/>
                <a:ea typeface="Segoe UI" panose="020B0502040204020203" pitchFamily="34" charset="0"/>
              </a:rPr>
              <a:t>Data source coverage </a:t>
            </a:r>
            <a:r>
              <a:rPr kumimoji="0" lang="en-US" b="0" i="0" u="none" strike="noStrike" kern="1200" cap="none" spc="0" normalizeH="0" baseline="0" noProof="0" dirty="0">
                <a:ln>
                  <a:noFill/>
                </a:ln>
                <a:effectLst/>
                <a:uLnTx/>
                <a:uFillTx/>
                <a:ea typeface="Segoe UI" panose="020B0502040204020203" pitchFamily="34" charset="0"/>
              </a:rPr>
              <a:t>– includes a broad range of sources, illustrated in https://learn.microsoft.com/en-us/purview/microsoft-purview-connector-overview</a:t>
            </a:r>
          </a:p>
          <a:p>
            <a:pPr marL="0" marR="0"/>
            <a:endParaRPr lang="en-US" b="0" i="0" u="none" dirty="0">
              <a:effectLst/>
              <a:ea typeface="Calibri" panose="020F0502020204030204" pitchFamily="34" charset="0"/>
            </a:endParaRPr>
          </a:p>
          <a:p>
            <a:pPr marL="457200" marR="0" lvl="1" indent="0" algn="l" defTabSz="914400" rtl="0" eaLnBrk="1" fontAlgn="auto" latinLnBrk="0" hangingPunct="1">
              <a:buClrTx/>
              <a:buSzTx/>
              <a:buFontTx/>
              <a:buNone/>
              <a:tabLst/>
              <a:defRPr/>
            </a:pPr>
            <a:r>
              <a:rPr lang="en-US" b="1" dirty="0">
                <a:effectLst/>
                <a:ea typeface="Calibri" panose="020F0502020204030204" pitchFamily="34" charset="0"/>
              </a:rPr>
              <a:t>Compliance Manager - </a:t>
            </a:r>
            <a:r>
              <a:rPr lang="en-US" dirty="0">
                <a:effectLst/>
                <a:ea typeface="Calibri" panose="020F0502020204030204" pitchFamily="34" charset="0"/>
              </a:rPr>
              <a:t>helps you manage your compliance requirements for cloud services and workloads.</a:t>
            </a:r>
            <a:endParaRPr lang="en-US" b="0" i="0" u="none" dirty="0">
              <a:effectLst/>
              <a:ea typeface="Calibri" panose="020F0502020204030204" pitchFamily="34" charset="0"/>
            </a:endParaRPr>
          </a:p>
          <a:p>
            <a:pPr marL="0" marR="0"/>
            <a:endParaRPr lang="en-US" b="0" i="0" u="none" dirty="0">
              <a:effectLst/>
              <a:ea typeface="Calibri" panose="020F0502020204030204" pitchFamily="34" charset="0"/>
            </a:endParaRPr>
          </a:p>
          <a:p>
            <a:pPr marL="0" marR="0" lvl="0" indent="0" algn="l" defTabSz="914400" rtl="0" eaLnBrk="1" fontAlgn="auto" latinLnBrk="0" hangingPunct="1">
              <a:buClrTx/>
              <a:buSzTx/>
              <a:buFontTx/>
              <a:buNone/>
              <a:tabLst/>
              <a:defRPr/>
            </a:pPr>
            <a:r>
              <a:rPr lang="en-US" b="1" kern="1200" dirty="0">
                <a:effectLst/>
              </a:rPr>
              <a:t>CLICK 12 – Security Posture Management</a:t>
            </a:r>
          </a:p>
          <a:p>
            <a:pPr marL="457200" marR="0" lvl="1" indent="0" algn="l" defTabSz="914400" rtl="0" eaLnBrk="1" fontAlgn="auto" latinLnBrk="0" hangingPunct="1">
              <a:buClrTx/>
              <a:buSzTx/>
              <a:buFontTx/>
              <a:buNone/>
              <a:tabLst/>
              <a:defRPr/>
            </a:pPr>
            <a:r>
              <a:rPr lang="en-US" b="0" i="0" u="none" kern="1200" dirty="0">
                <a:effectLst/>
                <a:ea typeface="Calibri" panose="020F0502020204030204" pitchFamily="34" charset="0"/>
              </a:rPr>
              <a:t>Organizations need a security posture management function to actively manage technical risks by identifying, prioritizing, mitigating, and monitoring them. This ‘left of bang’ operational function complements Security Operations (SecOps/SOC) ‘right of bang’ function. </a:t>
            </a:r>
          </a:p>
          <a:p>
            <a:pPr marL="457200" marR="0" lvl="1" indent="0" algn="l" defTabSz="914400" rtl="0" eaLnBrk="1" fontAlgn="auto" latinLnBrk="0" hangingPunct="1">
              <a:buClrTx/>
              <a:buSzTx/>
              <a:buFontTx/>
              <a:buNone/>
              <a:tabLst/>
              <a:defRPr/>
            </a:pPr>
            <a:r>
              <a:rPr lang="en-US" b="1" i="0" u="none" kern="1200" dirty="0">
                <a:effectLst/>
                <a:ea typeface="Calibri" panose="020F0502020204030204" pitchFamily="34" charset="0"/>
              </a:rPr>
              <a:t>Microsoft Security Exposure Management </a:t>
            </a:r>
            <a:r>
              <a:rPr lang="en-US" b="0" i="0" u="none" kern="1200" dirty="0">
                <a:effectLst/>
                <a:ea typeface="Calibri" panose="020F0502020204030204" pitchFamily="34" charset="0"/>
              </a:rPr>
              <a:t>p</a:t>
            </a:r>
            <a:r>
              <a:rPr lang="en-US" dirty="0"/>
              <a:t>rovides a unified view of security posture + attack surface across organization, enabling you to investigate security insights, identify critical assets, reduce attack surfaces and security risk. </a:t>
            </a:r>
            <a:endParaRPr lang="en-US" b="0" dirty="0"/>
          </a:p>
          <a:p>
            <a:pPr marL="457200" marR="0" lvl="1" indent="0" algn="l" defTabSz="914400" rtl="0" eaLnBrk="1" fontAlgn="auto" latinLnBrk="0" hangingPunct="1">
              <a:buClrTx/>
              <a:buSzTx/>
              <a:buFontTx/>
              <a:buNone/>
              <a:tabLst/>
              <a:defRPr/>
            </a:pPr>
            <a:endParaRPr lang="en-US" b="1" kern="1200" dirty="0">
              <a:effectLst/>
            </a:endParaRPr>
          </a:p>
          <a:p>
            <a:pPr marL="0" marR="0" lvl="0" indent="0" algn="l" defTabSz="914400" rtl="0" eaLnBrk="1" fontAlgn="auto" latinLnBrk="0" hangingPunct="1">
              <a:buClrTx/>
              <a:buSzTx/>
              <a:buFontTx/>
              <a:buNone/>
              <a:tabLst/>
              <a:defRPr/>
            </a:pPr>
            <a:r>
              <a:rPr lang="en-US" b="1" kern="1200" dirty="0">
                <a:effectLst/>
              </a:rPr>
              <a:t>CLICK 13 – People Security</a:t>
            </a:r>
            <a:endParaRPr lang="en-US" kern="1200" dirty="0">
              <a:effectLst/>
            </a:endParaRPr>
          </a:p>
          <a:p>
            <a:pPr marL="0" marR="0"/>
            <a:endParaRPr lang="en-US" b="0" i="0" u="none" dirty="0">
              <a:effectLst/>
              <a:ea typeface="Calibri" panose="020F0502020204030204" pitchFamily="34" charset="0"/>
            </a:endParaRPr>
          </a:p>
          <a:p>
            <a:pPr marL="457200" marR="0" lvl="1"/>
            <a:r>
              <a:rPr lang="en-US" b="0" i="0" u="none" dirty="0">
                <a:effectLst/>
                <a:ea typeface="Calibri" panose="020F0502020204030204" pitchFamily="34" charset="0"/>
              </a:rPr>
              <a:t>A security program isn’t complete without protecting and educating people + protecting against insider risks (both inadvertent and deliberately malicious). Microsoft invests into these areas with:</a:t>
            </a:r>
          </a:p>
          <a:p>
            <a:pPr marL="628650" marR="0" lvl="1" indent="-171450" algn="l" defTabSz="914400" rtl="0" eaLnBrk="1" fontAlgn="auto" latinLnBrk="0" hangingPunct="1">
              <a:buClrTx/>
              <a:buSzTx/>
              <a:buFont typeface="Arial" panose="020B0604020202020204" pitchFamily="34" charset="0"/>
              <a:buChar char="•"/>
              <a:tabLst/>
              <a:defRPr/>
            </a:pPr>
            <a:r>
              <a:rPr kumimoji="0" lang="en-US" b="1" i="0" u="none" strike="noStrike" kern="1200" cap="none" spc="0" normalizeH="0" baseline="0" noProof="0" dirty="0">
                <a:ln>
                  <a:noFill/>
                </a:ln>
                <a:effectLst/>
                <a:uLnTx/>
                <a:uFillTx/>
              </a:rPr>
              <a:t>Attack Simulator </a:t>
            </a:r>
            <a:r>
              <a:rPr kumimoji="0" lang="en-US" b="0" i="0" u="none" strike="noStrike" kern="1200" cap="none" spc="0" normalizeH="0" baseline="0" noProof="0" dirty="0">
                <a:ln>
                  <a:noFill/>
                </a:ln>
                <a:effectLst/>
                <a:uLnTx/>
                <a:uFillTx/>
              </a:rPr>
              <a:t>- can be used to run realistic attack scenarios in your organization to help you identify and find vulnerable users, providing </a:t>
            </a:r>
            <a:r>
              <a:rPr lang="en-US" b="0" dirty="0">
                <a:effectLst/>
                <a:ea typeface="Times New Roman" panose="02020603050405020304" pitchFamily="18" charset="0"/>
              </a:rPr>
              <a:t>micro training by Terranova security to help empower them with security knowledge. </a:t>
            </a:r>
          </a:p>
          <a:p>
            <a:pPr marL="628650" marR="0" lvl="1" indent="-171450" algn="l" defTabSz="914400" rtl="0" eaLnBrk="1" fontAlgn="auto" latinLnBrk="0" hangingPunct="1">
              <a:buClrTx/>
              <a:buSzTx/>
              <a:buFont typeface="Arial" panose="020B0604020202020204" pitchFamily="34" charset="0"/>
              <a:buChar char="•"/>
              <a:tabLst/>
              <a:defRPr/>
            </a:pPr>
            <a:r>
              <a:rPr kumimoji="0" lang="en-US" b="1" i="0" u="none" strike="noStrike" kern="1200" cap="none" spc="0" normalizeH="0" baseline="0" noProof="0" dirty="0">
                <a:ln>
                  <a:noFill/>
                </a:ln>
                <a:effectLst/>
                <a:uLnTx/>
                <a:uFillTx/>
              </a:rPr>
              <a:t>Insider Risk Management </a:t>
            </a:r>
            <a:r>
              <a:rPr kumimoji="0" lang="en-US" b="0" i="0" u="none" strike="noStrike" kern="1200" cap="none" spc="0" normalizeH="0" baseline="0" noProof="0" dirty="0">
                <a:ln>
                  <a:noFill/>
                </a:ln>
                <a:effectLst/>
                <a:uLnTx/>
                <a:uFillTx/>
              </a:rPr>
              <a:t>- in Microsoft 365 helps minimize internal risks by enabling you to detect, investigate, and act on malicious and inadvertent activities in your organization.</a:t>
            </a:r>
          </a:p>
          <a:p>
            <a:pPr marL="628650" marR="0" lvl="1" indent="-171450" algn="l" defTabSz="914400" rtl="0" eaLnBrk="1" fontAlgn="auto" latinLnBrk="0" hangingPunct="1">
              <a:buClrTx/>
              <a:buSzTx/>
              <a:buFont typeface="Arial" panose="020B0604020202020204" pitchFamily="34" charset="0"/>
              <a:buChar char="•"/>
              <a:tabLst/>
              <a:defRPr/>
            </a:pPr>
            <a:r>
              <a:rPr kumimoji="0" lang="en-US" b="1" i="0" u="none" strike="noStrike" kern="1200" cap="none" spc="0" normalizeH="0" baseline="0" noProof="0" dirty="0">
                <a:ln>
                  <a:noFill/>
                </a:ln>
                <a:effectLst/>
                <a:uLnTx/>
                <a:uFillTx/>
              </a:rPr>
              <a:t>Communications Compliance </a:t>
            </a:r>
            <a:r>
              <a:rPr kumimoji="0" lang="en-US" b="0" i="0" u="none" strike="noStrike" kern="1200" cap="none" spc="0" normalizeH="0" baseline="0" noProof="0" dirty="0">
                <a:ln>
                  <a:noFill/>
                </a:ln>
                <a:effectLst/>
                <a:uLnTx/>
                <a:uFillTx/>
              </a:rPr>
              <a:t>- helps minimize communication risks by helping you detect, capture, and act on inappropriate messages in your organization</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b="0" i="0" u="none" strike="noStrike" kern="1200" cap="none" spc="0" normalizeH="0" baseline="0" noProof="0" dirty="0">
              <a:ln>
                <a:noFill/>
              </a:ln>
              <a:effectLst/>
              <a:uLnTx/>
              <a:uFillTx/>
            </a:endParaRPr>
          </a:p>
          <a:p>
            <a:pPr marL="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kern="1200" dirty="0">
                <a:solidFill>
                  <a:schemeClr val="tx1"/>
                </a:solidFill>
                <a:effectLst/>
                <a:latin typeface="Segoe UI" panose="020B0502040204020203" pitchFamily="34" charset="0"/>
                <a:ea typeface="+mn-ea"/>
                <a:cs typeface="Segoe UI" panose="020B0502040204020203" pitchFamily="34" charset="0"/>
              </a:rPr>
              <a:t>CLICK 14 – Security Copilot</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effectLst/>
              </a:rPr>
              <a:t>Microsoft Security Copilot </a:t>
            </a:r>
            <a:r>
              <a:rPr lang="en-US" b="0" dirty="0">
                <a:effectLst/>
              </a:rPr>
              <a:t>further simplifies security by u</a:t>
            </a:r>
            <a:r>
              <a:rPr lang="en-US" dirty="0">
                <a:effectLst/>
              </a:rPr>
              <a:t>sing generative AI to helping automate tasks across security including:</a:t>
            </a:r>
          </a:p>
          <a:p>
            <a:pPr marL="628650" marR="0" lvl="1" indent="-171450" algn="l" defTabSz="914400" rtl="0" eaLnBrk="1" fontAlgn="auto" latinLnBrk="0" hangingPunct="1">
              <a:buClrTx/>
              <a:buSzTx/>
              <a:buFont typeface="Arial" panose="020B0604020202020204" pitchFamily="34" charset="0"/>
              <a:buChar char="•"/>
              <a:tabLst/>
              <a:defRPr/>
            </a:pPr>
            <a:r>
              <a:rPr kumimoji="0" lang="en-US" sz="9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rPr>
              <a:t>Investigating and summarizing incidents</a:t>
            </a:r>
          </a:p>
          <a:p>
            <a:pPr marL="628650" marR="0" lvl="1" indent="-171450" algn="l" defTabSz="914400" rtl="0" eaLnBrk="1" fontAlgn="auto" latinLnBrk="0" hangingPunct="1">
              <a:buClrTx/>
              <a:buSzTx/>
              <a:buFont typeface="Arial" panose="020B0604020202020204" pitchFamily="34" charset="0"/>
              <a:buChar char="•"/>
              <a:tabLst/>
              <a:defRPr/>
            </a:pPr>
            <a:r>
              <a:rPr kumimoji="0" lang="en-US" sz="9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rPr>
              <a:t>Exploring risks and managing security posture</a:t>
            </a:r>
          </a:p>
          <a:p>
            <a:pPr marL="628650" marR="0" lvl="1" indent="-171450" algn="l" defTabSz="914400" rtl="0" eaLnBrk="1" fontAlgn="auto" latinLnBrk="0" hangingPunct="1">
              <a:buClrTx/>
              <a:buSzTx/>
              <a:buFont typeface="Arial" panose="020B0604020202020204" pitchFamily="34" charset="0"/>
              <a:buChar char="•"/>
              <a:tabLst/>
              <a:defRPr/>
            </a:pPr>
            <a:r>
              <a:rPr kumimoji="0" lang="en-US" sz="9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rPr>
              <a:t>Managing and troubleshooting policy and controls</a:t>
            </a:r>
          </a:p>
          <a:p>
            <a:pPr marL="628650" marR="0" lvl="1" indent="-171450" algn="l" defTabSz="914400" rtl="0" eaLnBrk="1" fontAlgn="auto" latinLnBrk="0" hangingPunct="1">
              <a:buClrTx/>
              <a:buSzTx/>
              <a:buFont typeface="Arial" panose="020B0604020202020204" pitchFamily="34" charset="0"/>
              <a:buChar char="•"/>
              <a:tabLst/>
              <a:defRPr/>
            </a:pPr>
            <a:r>
              <a:rPr kumimoji="0" lang="en-US" sz="9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rPr>
              <a:t>Building scripts &amp; reverse engineering attack scripts</a:t>
            </a:r>
            <a:endParaRPr kumimoji="0" lang="en-US" b="0" i="0" u="none" strike="noStrike" kern="1200" cap="none" spc="0" normalizeH="0" baseline="0" noProof="0" dirty="0">
              <a:ln>
                <a:noFill/>
              </a:ln>
              <a:effectLst/>
              <a:uLnTx/>
              <a:uFillTx/>
            </a:endParaRPr>
          </a:p>
          <a:p>
            <a:pPr marL="628650" marR="0" lvl="1" indent="-171450" algn="l" defTabSz="914400" rtl="0" eaLnBrk="1" fontAlgn="auto" latinLnBrk="0" hangingPunct="1">
              <a:buClrTx/>
              <a:buSzTx/>
              <a:buFont typeface="Arial" panose="020B0604020202020204" pitchFamily="34" charset="0"/>
              <a:buChar char="•"/>
              <a:tabLst/>
              <a:defRPr/>
            </a:pPr>
            <a:endParaRPr lang="en-US" b="1" kern="1200" dirty="0">
              <a:effectLst/>
            </a:endParaRPr>
          </a:p>
          <a:p>
            <a:r>
              <a:rPr lang="en-US" b="1" kern="1200" dirty="0">
                <a:effectLst/>
              </a:rPr>
              <a:t>CLICK 15 – Conclusion</a:t>
            </a:r>
          </a:p>
          <a:p>
            <a:endParaRPr lang="en-US" kern="1200" dirty="0">
              <a:effectLst/>
            </a:endParaRPr>
          </a:p>
          <a:p>
            <a:r>
              <a:rPr lang="en-US" kern="1200" dirty="0">
                <a:effectLst/>
              </a:rPr>
              <a:t>This diagram describes significant cybersecurity capabilities, but there are plenty of other security investments Microsoft makes like Security Policy Advisor (</a:t>
            </a:r>
            <a:r>
              <a:rPr kumimoji="0" lang="en-US" b="0" i="0" u="none" strike="noStrike" kern="1200" cap="none" spc="0" normalizeH="0" baseline="0" noProof="0" dirty="0">
                <a:ln>
                  <a:noFill/>
                </a:ln>
                <a:effectLst/>
                <a:uLnTx/>
                <a:uFillTx/>
                <a:ea typeface="Times New Roman" panose="02020603050405020304" pitchFamily="18" charset="0"/>
              </a:rPr>
              <a:t>https://docs.microsoft.com/DeployOffice/overview-of-security-policy-advisor) and Windows server security features (https://docs.microsoft.com/windows-server/security/security-and-assurance) that didn’t fit on the diagram. </a:t>
            </a:r>
          </a:p>
          <a:p>
            <a:endParaRPr lang="en-US" kern="1200" dirty="0">
              <a:effectLst/>
            </a:endParaRPr>
          </a:p>
          <a:p>
            <a:r>
              <a:rPr lang="en-US" kern="1200" dirty="0">
                <a:effectLst/>
              </a:rPr>
              <a:t>We understand this is a lot of capabilities to plan for, so we developed guidance to help you select the technology most relevant to your current challenges, priorities, and initiatives. This includes prescriptive roadmaps, top security best practices, and integration of security into the cloud adoption framework and well-architected framework.  </a:t>
            </a:r>
          </a:p>
          <a:p>
            <a:endParaRPr lang="en-US" kern="1200" dirty="0">
              <a:effectLst/>
            </a:endParaRPr>
          </a:p>
          <a:p>
            <a:r>
              <a:rPr lang="en-US" b="1" u="none" strike="noStrike" kern="1200" dirty="0">
                <a:effectLst/>
              </a:rPr>
              <a:t> </a:t>
            </a:r>
            <a:endParaRPr lang="en-US" kern="1200" dirty="0">
              <a:effectLst/>
            </a:endParaRPr>
          </a:p>
          <a:p>
            <a:r>
              <a:rPr lang="en-US" b="1" u="sng" kern="1200" dirty="0">
                <a:effectLst/>
              </a:rPr>
              <a:t>Feedback</a:t>
            </a:r>
            <a:endParaRPr lang="en-US" kern="1200" dirty="0">
              <a:effectLst/>
            </a:endParaRPr>
          </a:p>
          <a:p>
            <a:r>
              <a:rPr lang="en-US" kern="1200" dirty="0">
                <a:effectLst/>
              </a:rPr>
              <a:t>We are always trying to improve everything we do at Microsoft and we need your feedback to do it! You can contact the primary author (Mark Simos) directly on LinkedIn (</a:t>
            </a:r>
            <a:r>
              <a:rPr lang="en-US" u="sng" kern="1200" dirty="0">
                <a:effectLst/>
                <a:hlinkClick r:id="rId4">
                  <a:extLst>
                    <a:ext uri="{A12FA001-AC4F-418D-AE19-62706E023703}">
                      <ahyp:hlinkClr xmlns:ahyp="http://schemas.microsoft.com/office/drawing/2018/hyperlinkcolor" val="tx"/>
                    </a:ext>
                  </a:extLst>
                </a:hlinkClick>
              </a:rPr>
              <a:t>https://aka.ms/markslist</a:t>
            </a:r>
            <a:r>
              <a:rPr lang="en-US" kern="1200" dirty="0">
                <a:effectLst/>
              </a:rPr>
              <a:t>) with any feedback on how to improve it or how you use it, how it helps you, or any other thoughts you have. </a:t>
            </a:r>
          </a:p>
          <a:p>
            <a:pPr marL="0" marR="0" lvl="0" indent="0" algn="l" defTabSz="914400" rtl="0" eaLnBrk="1" fontAlgn="auto" latinLnBrk="0" hangingPunct="1">
              <a:buClrTx/>
              <a:buSzTx/>
              <a:buFontTx/>
              <a:buNone/>
              <a:tabLst/>
              <a:defRPr/>
            </a:pPr>
            <a:endParaRPr lang="en-US" dirty="0"/>
          </a:p>
        </p:txBody>
      </p:sp>
      <p:sp>
        <p:nvSpPr>
          <p:cNvPr id="4" name="Slide Number Placeholder 3">
            <a:extLst>
              <a:ext uri="{FF2B5EF4-FFF2-40B4-BE49-F238E27FC236}">
                <a16:creationId xmlns:a16="http://schemas.microsoft.com/office/drawing/2014/main" id="{EA5C0C27-5203-3D5B-9770-4E5B36D6910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980F55-CE2B-4E44-B628-FCCF0390BB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7543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28.jpe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1.xml"/><Relationship Id="rId5" Type="http://schemas.openxmlformats.org/officeDocument/2006/relationships/image" Target="../media/image32.jpeg"/><Relationship Id="rId4" Type="http://schemas.openxmlformats.org/officeDocument/2006/relationships/image" Target="../media/image31.jpe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Master" Target="../slideMasters/slideMaster1.xml"/><Relationship Id="rId4" Type="http://schemas.openxmlformats.org/officeDocument/2006/relationships/image" Target="../media/image37.jpe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Master" Target="../slideMasters/slideMaster1.xml"/><Relationship Id="rId5" Type="http://schemas.openxmlformats.org/officeDocument/2006/relationships/image" Target="../media/image41.jpeg"/><Relationship Id="rId4" Type="http://schemas.openxmlformats.org/officeDocument/2006/relationships/image" Target="../media/image40.jpe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Master" Target="../slideMasters/slideMaster1.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Master" Target="../slideMasters/slideMaster1.xml"/><Relationship Id="rId4" Type="http://schemas.openxmlformats.org/officeDocument/2006/relationships/image" Target="../media/image49.jpe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Master" Target="../slideMasters/slideMaster1.xml"/><Relationship Id="rId5" Type="http://schemas.openxmlformats.org/officeDocument/2006/relationships/image" Target="../media/image50.jpeg"/><Relationship Id="rId4" Type="http://schemas.openxmlformats.org/officeDocument/2006/relationships/image" Target="../media/image49.jpe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1.xml"/><Relationship Id="rId6" Type="http://schemas.openxmlformats.org/officeDocument/2006/relationships/image" Target="../media/image55.jpeg"/><Relationship Id="rId5" Type="http://schemas.openxmlformats.org/officeDocument/2006/relationships/image" Target="../media/image54.jpeg"/><Relationship Id="rId4" Type="http://schemas.openxmlformats.org/officeDocument/2006/relationships/image" Target="../media/image53.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6.jpe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7.jpe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8.jpe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9.jpe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0.jpe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1.jpe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2.jpe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3.jpe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4.jpe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5.sv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75.sv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78.sv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1.jpe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1.jpe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ull Photo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0946579-D753-EB82-9EBE-711F5D6636F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2145"/>
            <a:ext cx="12192000" cy="6862290"/>
          </a:xfrm>
          <a:prstGeom prst="rect">
            <a:avLst/>
          </a:prstGeom>
        </p:spPr>
      </p:pic>
      <p:sp>
        <p:nvSpPr>
          <p:cNvPr id="11" name="Rectangle 10">
            <a:extLst>
              <a:ext uri="{FF2B5EF4-FFF2-40B4-BE49-F238E27FC236}">
                <a16:creationId xmlns:a16="http://schemas.microsoft.com/office/drawing/2014/main" id="{5DFD4B58-CDF6-72D9-EA78-42606F61566B}"/>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E399"/>
              </a:gs>
              <a:gs pos="100000">
                <a:srgbClr val="FFE399">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7" name="Graphic 6" descr="Microsoft Security">
            <a:extLst>
              <a:ext uri="{FF2B5EF4-FFF2-40B4-BE49-F238E27FC236}">
                <a16:creationId xmlns:a16="http://schemas.microsoft.com/office/drawing/2014/main" id="{97DF7797-AB60-E151-D2B8-6D0976D7E4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3202908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3000">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ull Photo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4829336-D518-B358-7303-8178BC20AF2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0" y="1382"/>
            <a:ext cx="12192000" cy="6855236"/>
          </a:xfrm>
          <a:prstGeom prst="rect">
            <a:avLst/>
          </a:prstGeom>
        </p:spPr>
      </p:pic>
      <p:sp>
        <p:nvSpPr>
          <p:cNvPr id="3" name="Rectangle 2">
            <a:extLst>
              <a:ext uri="{FF2B5EF4-FFF2-40B4-BE49-F238E27FC236}">
                <a16:creationId xmlns:a16="http://schemas.microsoft.com/office/drawing/2014/main" id="{A37097AE-CB80-8F48-F10A-6DD048C0C675}"/>
              </a:ext>
              <a:ext uri="{C183D7F6-B498-43B3-948B-1728B52AA6E4}">
                <adec:decorative xmlns:adec="http://schemas.microsoft.com/office/drawing/2017/decorative" val="1"/>
              </a:ext>
            </a:extLst>
          </p:cNvPr>
          <p:cNvSpPr/>
          <p:nvPr userDrawn="1"/>
        </p:nvSpPr>
        <p:spPr bwMode="auto">
          <a:xfrm>
            <a:off x="0" y="0"/>
            <a:ext cx="8597245" cy="6858000"/>
          </a:xfrm>
          <a:prstGeom prst="rect">
            <a:avLst/>
          </a:prstGeom>
          <a:gradFill flip="none" rotWithShape="1">
            <a:gsLst>
              <a:gs pos="0">
                <a:srgbClr val="000000">
                  <a:alpha val="50000"/>
                </a:srgbClr>
              </a:gs>
              <a:gs pos="100000">
                <a:srgbClr val="000000">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10" name="Picture 9" descr="Microsoft Security">
            <a:extLst>
              <a:ext uri="{FF2B5EF4-FFF2-40B4-BE49-F238E27FC236}">
                <a16:creationId xmlns:a16="http://schemas.microsoft.com/office/drawing/2014/main" id="{D6A0ADE4-A89A-522A-4B0C-2B211CA4B71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bwMode="black">
          <a:xfrm>
            <a:off x="289702" y="296820"/>
            <a:ext cx="2876596" cy="868680"/>
          </a:xfrm>
          <a:prstGeom prst="rect">
            <a:avLst/>
          </a:prstGeom>
        </p:spPr>
      </p:pic>
    </p:spTree>
    <p:extLst>
      <p:ext uri="{BB962C8B-B14F-4D97-AF65-F5344CB8AC3E}">
        <p14:creationId xmlns:p14="http://schemas.microsoft.com/office/powerpoint/2010/main" val="1583622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ull Photo 3">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18B7FA5-5F12-7CD7-6D40-01EB073E58A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ltGray">
          <a:xfrm>
            <a:off x="0" y="1566"/>
            <a:ext cx="12192000" cy="6854867"/>
          </a:xfrm>
          <a:prstGeom prst="rect">
            <a:avLst/>
          </a:prstGeom>
        </p:spPr>
      </p:pic>
      <p:sp>
        <p:nvSpPr>
          <p:cNvPr id="3" name="Rectangle 2">
            <a:extLst>
              <a:ext uri="{FF2B5EF4-FFF2-40B4-BE49-F238E27FC236}">
                <a16:creationId xmlns:a16="http://schemas.microsoft.com/office/drawing/2014/main" id="{F5659676-01B7-3FED-8149-6F194C468C33}"/>
              </a:ext>
              <a:ext uri="{C183D7F6-B498-43B3-948B-1728B52AA6E4}">
                <adec:decorative xmlns:adec="http://schemas.microsoft.com/office/drawing/2017/decorative" val="1"/>
              </a:ext>
            </a:extLst>
          </p:cNvPr>
          <p:cNvSpPr/>
          <p:nvPr userDrawn="1"/>
        </p:nvSpPr>
        <p:spPr bwMode="auto">
          <a:xfrm>
            <a:off x="0" y="0"/>
            <a:ext cx="5867400" cy="6858000"/>
          </a:xfrm>
          <a:prstGeom prst="rect">
            <a:avLst/>
          </a:prstGeom>
          <a:gradFill flip="none" rotWithShape="1">
            <a:gsLst>
              <a:gs pos="0">
                <a:srgbClr val="5C4738">
                  <a:alpha val="80000"/>
                </a:srgbClr>
              </a:gs>
              <a:gs pos="100000">
                <a:srgbClr val="BF9474">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6" name="Picture 5" descr="Microsoft Security">
            <a:extLst>
              <a:ext uri="{FF2B5EF4-FFF2-40B4-BE49-F238E27FC236}">
                <a16:creationId xmlns:a16="http://schemas.microsoft.com/office/drawing/2014/main" id="{12A012A5-4EF7-CE94-0AFD-ACB048744F8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bwMode="black">
          <a:xfrm>
            <a:off x="289702" y="296820"/>
            <a:ext cx="2876596" cy="868680"/>
          </a:xfrm>
          <a:prstGeom prst="rect">
            <a:avLst/>
          </a:prstGeom>
        </p:spPr>
      </p:pic>
    </p:spTree>
    <p:extLst>
      <p:ext uri="{BB962C8B-B14F-4D97-AF65-F5344CB8AC3E}">
        <p14:creationId xmlns:p14="http://schemas.microsoft.com/office/powerpoint/2010/main" val="19362721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08">
          <p15:clr>
            <a:srgbClr val="5ACBF0"/>
          </p15:clr>
        </p15:guide>
        <p15:guide id="7" pos="384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Half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789B8347-537A-9576-6AAD-31AC0822D1F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BF0680A9-E1CB-5B53-219D-F848CCF70514}"/>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104448" y="0"/>
            <a:ext cx="6087552" cy="6858000"/>
          </a:xfrm>
          <a:prstGeom prst="rect">
            <a:avLst/>
          </a:prstGeom>
        </p:spPr>
      </p:pic>
    </p:spTree>
    <p:extLst>
      <p:ext uri="{BB962C8B-B14F-4D97-AF65-F5344CB8AC3E}">
        <p14:creationId xmlns:p14="http://schemas.microsoft.com/office/powerpoint/2010/main" val="2731912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840">
          <p15:clr>
            <a:srgbClr val="5ACBF0"/>
          </p15:clr>
        </p15:guide>
        <p15:guide id="5" orient="horz" pos="2160">
          <p15:clr>
            <a:srgbClr val="FBAE40"/>
          </p15:clr>
        </p15:guide>
        <p15:guide id="6" orient="horz" pos="2229">
          <p15:clr>
            <a:srgbClr val="5ACBF0"/>
          </p15:clr>
        </p15:guide>
        <p15:guide id="7" pos="3456">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Half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A33859C1-D178-8DAF-88A5-45B3F42E6C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9" name="Picture 8">
            <a:extLst>
              <a:ext uri="{FF2B5EF4-FFF2-40B4-BE49-F238E27FC236}">
                <a16:creationId xmlns:a16="http://schemas.microsoft.com/office/drawing/2014/main" id="{CDCA5EAB-92AF-CBDC-3913-B7A5E08A6028}"/>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104448" y="0"/>
            <a:ext cx="6087552" cy="6858000"/>
          </a:xfrm>
          <a:prstGeom prst="rect">
            <a:avLst/>
          </a:prstGeom>
        </p:spPr>
      </p:pic>
    </p:spTree>
    <p:extLst>
      <p:ext uri="{BB962C8B-B14F-4D97-AF65-F5344CB8AC3E}">
        <p14:creationId xmlns:p14="http://schemas.microsoft.com/office/powerpoint/2010/main" val="1223231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840">
          <p15:clr>
            <a:srgbClr val="5ACBF0"/>
          </p15:clr>
        </p15:guide>
        <p15:guide id="5" orient="horz" pos="2160">
          <p15:clr>
            <a:srgbClr val="FBAE40"/>
          </p15:clr>
        </p15:guide>
        <p15:guide id="6" orient="horz" pos="2229">
          <p15:clr>
            <a:srgbClr val="5ACBF0"/>
          </p15:clr>
        </p15:guide>
        <p15:guide id="7" pos="345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Half Tech Sca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BE3000C1-801E-43EF-158B-C6778F6B64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E2CEF103-1FB7-7E05-B436-1B39BEED90A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094923" y="0"/>
            <a:ext cx="6097077" cy="6858000"/>
          </a:xfrm>
          <a:prstGeom prst="rect">
            <a:avLst/>
          </a:prstGeom>
        </p:spPr>
      </p:pic>
    </p:spTree>
    <p:extLst>
      <p:ext uri="{BB962C8B-B14F-4D97-AF65-F5344CB8AC3E}">
        <p14:creationId xmlns:p14="http://schemas.microsoft.com/office/powerpoint/2010/main" val="956022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Half Tech Sca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AC8B23DF-C49A-493B-74A8-359F40BD33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46E80BAE-D63C-356D-256B-A4DA18F448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6000" y="0"/>
            <a:ext cx="6093657" cy="6858000"/>
          </a:xfrm>
          <a:prstGeom prst="rect">
            <a:avLst/>
          </a:prstGeom>
        </p:spPr>
      </p:pic>
    </p:spTree>
    <p:extLst>
      <p:ext uri="{BB962C8B-B14F-4D97-AF65-F5344CB8AC3E}">
        <p14:creationId xmlns:p14="http://schemas.microsoft.com/office/powerpoint/2010/main" val="357183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Half Tech Sca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54A1308D-EAAB-930A-D016-3C236169E5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F296BEBD-F376-AC3C-6FAF-856A71D2218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2376" y="0"/>
            <a:ext cx="6099624" cy="6858000"/>
          </a:xfrm>
          <a:prstGeom prst="rect">
            <a:avLst/>
          </a:prstGeom>
        </p:spPr>
      </p:pic>
    </p:spTree>
    <p:extLst>
      <p:ext uri="{BB962C8B-B14F-4D97-AF65-F5344CB8AC3E}">
        <p14:creationId xmlns:p14="http://schemas.microsoft.com/office/powerpoint/2010/main" val="2869381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Half Tech Scan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51B21C3F-0ACB-1D54-3978-4C15EB6DEF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0AF7A637-33BF-289F-AA74-069C187A117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6573" y="0"/>
            <a:ext cx="6095427" cy="6858000"/>
          </a:xfrm>
          <a:prstGeom prst="rect">
            <a:avLst/>
          </a:prstGeom>
        </p:spPr>
      </p:pic>
    </p:spTree>
    <p:extLst>
      <p:ext uri="{BB962C8B-B14F-4D97-AF65-F5344CB8AC3E}">
        <p14:creationId xmlns:p14="http://schemas.microsoft.com/office/powerpoint/2010/main" val="2698878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Half Tech Scan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CD178E6C-344F-91D9-35BD-CD8D9458FD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ABC8923B-7A7F-A404-F664-261AEFD5662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6547" y="0"/>
            <a:ext cx="6095453" cy="6858000"/>
          </a:xfrm>
          <a:prstGeom prst="rect">
            <a:avLst/>
          </a:prstGeom>
        </p:spPr>
      </p:pic>
    </p:spTree>
    <p:extLst>
      <p:ext uri="{BB962C8B-B14F-4D97-AF65-F5344CB8AC3E}">
        <p14:creationId xmlns:p14="http://schemas.microsoft.com/office/powerpoint/2010/main" val="570370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ch Scan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8A38B7E-C277-EC82-55D7-6481C181A98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ltGray">
          <a:xfrm>
            <a:off x="2" y="1"/>
            <a:ext cx="12191998" cy="6857998"/>
          </a:xfrm>
          <a:prstGeom prst="rect">
            <a:avLst/>
          </a:prstGeom>
        </p:spPr>
      </p:pic>
      <p:sp>
        <p:nvSpPr>
          <p:cNvPr id="6" name="Rectangle 5">
            <a:extLst>
              <a:ext uri="{FF2B5EF4-FFF2-40B4-BE49-F238E27FC236}">
                <a16:creationId xmlns:a16="http://schemas.microsoft.com/office/drawing/2014/main" id="{CA38D12B-EC7B-EA1B-4057-AF9DA412C46D}"/>
              </a:ext>
              <a:ext uri="{C183D7F6-B498-43B3-948B-1728B52AA6E4}">
                <adec:decorative xmlns:adec="http://schemas.microsoft.com/office/drawing/2017/decorative" val="1"/>
              </a:ext>
            </a:extLst>
          </p:cNvPr>
          <p:cNvSpPr/>
          <p:nvPr userDrawn="1"/>
        </p:nvSpPr>
        <p:spPr bwMode="auto">
          <a:xfrm>
            <a:off x="0" y="0"/>
            <a:ext cx="5867400" cy="6858000"/>
          </a:xfrm>
          <a:prstGeom prst="rect">
            <a:avLst/>
          </a:prstGeom>
          <a:gradFill flip="none" rotWithShape="1">
            <a:gsLst>
              <a:gs pos="0">
                <a:schemeClr val="bg1">
                  <a:alpha val="50000"/>
                </a:schemeClr>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7A3AACD-E573-9F14-634A-1D5A1A0EAE10}"/>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1AEC04C3-05AF-D886-BA04-C2B92AE1C11E}"/>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7D107A7B-CDA6-22BC-0F0F-6907FBBCCE8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2395106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guide id="5" pos="3000">
          <p15:clr>
            <a:srgbClr val="5ACBF0"/>
          </p15:clr>
        </p15:guide>
        <p15:guide id="6" pos="336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ch Scan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B9D8-B411-3BC6-C1C8-1D6D457196E0}"/>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1"/>
            <a:ext cx="12192002" cy="6858000"/>
          </a:xfrm>
          <a:prstGeom prst="rect">
            <a:avLst/>
          </a:prstGeom>
        </p:spPr>
      </p:pic>
      <p:sp>
        <p:nvSpPr>
          <p:cNvPr id="2" name="Title 1">
            <a:extLst>
              <a:ext uri="{FF2B5EF4-FFF2-40B4-BE49-F238E27FC236}">
                <a16:creationId xmlns:a16="http://schemas.microsoft.com/office/drawing/2014/main" id="{8E90BD01-3D97-785B-8320-C14AF7E1EF48}"/>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9FFEAA53-3411-D917-E9C0-67CC0580651A}"/>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1BE3155B-A4DB-435E-6E23-55C31BDA962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3953616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ch Scan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F47B18-3C9F-3945-4382-2ECB20DEB78E}"/>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43777E1-4699-B986-EC57-1B6944F17DCC}"/>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5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2372FB5-E859-F6AA-DD14-D4083B87ECDC}"/>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FD837864-D70E-678B-2209-B7AE9D3C55CE}"/>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6BA899B3-8491-96A9-FF00-284B3D4EC2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156800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ch Scan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F48BB96-7264-9530-CDE0-CFBAECEB0F30}"/>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ltGray">
          <a:xfrm>
            <a:off x="0" y="0"/>
            <a:ext cx="12192000" cy="6858000"/>
          </a:xfrm>
          <a:prstGeom prst="rect">
            <a:avLst/>
          </a:prstGeom>
        </p:spPr>
      </p:pic>
      <p:sp>
        <p:nvSpPr>
          <p:cNvPr id="5" name="Rectangle 4">
            <a:extLst>
              <a:ext uri="{FF2B5EF4-FFF2-40B4-BE49-F238E27FC236}">
                <a16:creationId xmlns:a16="http://schemas.microsoft.com/office/drawing/2014/main" id="{537C7AC9-1320-B560-2729-19A72498C24F}"/>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5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5A7AC5C-D3D1-7CD0-058A-BF0F18A5CA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248213E6-EE22-FC5F-7A29-7005DFDA6702}"/>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72EC0010-45A7-C133-D28C-19A2C230732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333279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ch Scan 5">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A04DD2-8161-CEFE-E805-16FD5E2B5951}"/>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12192002" cy="6858000"/>
          </a:xfrm>
          <a:prstGeom prst="rect">
            <a:avLst/>
          </a:prstGeom>
        </p:spPr>
      </p:pic>
      <p:sp>
        <p:nvSpPr>
          <p:cNvPr id="5" name="Rectangle 4">
            <a:extLst>
              <a:ext uri="{FF2B5EF4-FFF2-40B4-BE49-F238E27FC236}">
                <a16:creationId xmlns:a16="http://schemas.microsoft.com/office/drawing/2014/main" id="{37758876-CBC5-2CC7-B64B-7A0BE54262C4}"/>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6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9E493527-788F-A6FD-FF51-C35F691FCA9E}"/>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67DE02AD-BF56-503B-C72F-C737C69FD2C8}"/>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7CD92627-BCCD-EC35-AFDC-9C9A6010DB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1207648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Ligh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2" name="Graphic 1" descr="Microsoft Security">
            <a:extLst>
              <a:ext uri="{FF2B5EF4-FFF2-40B4-BE49-F238E27FC236}">
                <a16:creationId xmlns:a16="http://schemas.microsoft.com/office/drawing/2014/main" id="{C4A877E6-C868-9317-1559-B76DE5CD8C5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358225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Dark">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4" name="Picture 3" descr="Microsoft Security">
            <a:extLst>
              <a:ext uri="{FF2B5EF4-FFF2-40B4-BE49-F238E27FC236}">
                <a16:creationId xmlns:a16="http://schemas.microsoft.com/office/drawing/2014/main" id="{97141C24-5E27-2F3B-12B4-814CC0DA5D0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bwMode="black">
          <a:xfrm>
            <a:off x="289702" y="296820"/>
            <a:ext cx="2876596" cy="868680"/>
          </a:xfrm>
          <a:prstGeom prst="rect">
            <a:avLst/>
          </a:prstGeom>
        </p:spPr>
      </p:pic>
    </p:spTree>
    <p:extLst>
      <p:ext uri="{BB962C8B-B14F-4D97-AF65-F5344CB8AC3E}">
        <p14:creationId xmlns:p14="http://schemas.microsoft.com/office/powerpoint/2010/main" val="2780671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hoto Full Bleed">
    <p:bg>
      <p:bgRef idx="1001">
        <a:schemeClr val="bg2"/>
      </p:bgRef>
    </p:bg>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D72F4F47-D990-0696-0A43-94AD105A5EFE}"/>
              </a:ext>
              <a:ext uri="{C183D7F6-B498-43B3-948B-1728B52AA6E4}">
                <adec:decorative xmlns:adec="http://schemas.microsoft.com/office/drawing/2017/decorative" val="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Rectangle 2">
            <a:extLst>
              <a:ext uri="{FF2B5EF4-FFF2-40B4-BE49-F238E27FC236}">
                <a16:creationId xmlns:a16="http://schemas.microsoft.com/office/drawing/2014/main" id="{4A97C34D-6499-E383-F680-0F34EF3CBF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000000">
              <a:alpha val="3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4" name="Picture 3" descr="Microsoft Security">
            <a:extLst>
              <a:ext uri="{FF2B5EF4-FFF2-40B4-BE49-F238E27FC236}">
                <a16:creationId xmlns:a16="http://schemas.microsoft.com/office/drawing/2014/main" id="{97141C24-5E27-2F3B-12B4-814CC0DA5D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bwMode="black">
          <a:xfrm>
            <a:off x="289702" y="296820"/>
            <a:ext cx="2876596" cy="868680"/>
          </a:xfrm>
          <a:prstGeom prst="rect">
            <a:avLst/>
          </a:prstGeom>
        </p:spPr>
      </p:pic>
    </p:spTree>
    <p:extLst>
      <p:ext uri="{BB962C8B-B14F-4D97-AF65-F5344CB8AC3E}">
        <p14:creationId xmlns:p14="http://schemas.microsoft.com/office/powerpoint/2010/main" val="36753173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One Column 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489639"/>
          </a:xfrm>
        </p:spPr>
        <p:txBody>
          <a:bodyPr/>
          <a:lstStyle>
            <a:lvl1pPr>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302401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One Column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1489639"/>
          </a:xfrm>
        </p:spPr>
        <p:txBody>
          <a:bodyPr wrap="square">
            <a:spAutoFit/>
          </a:bodyPr>
          <a:lstStyle>
            <a:lvl1pPr marL="0" indent="0">
              <a:buNone/>
              <a:defRPr sz="2000"/>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116654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1489639"/>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489639"/>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36936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489639"/>
          </a:xfrm>
        </p:spPr>
        <p:txBody>
          <a:bodyPr wrap="square">
            <a:spAutoFit/>
          </a:bodyPr>
          <a:lstStyle>
            <a:lvl1pPr marL="0" indent="0">
              <a:spcBef>
                <a:spcPts val="1224"/>
              </a:spcBef>
              <a:buClr>
                <a:schemeClr val="tx1"/>
              </a:buClr>
              <a:buFont typeface="Wingdings" panose="05000000000000000000" pitchFamily="2" charset="2"/>
              <a:buNone/>
              <a:defRPr sz="20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489639"/>
          </a:xfrm>
        </p:spPr>
        <p:txBody>
          <a:bodyPr wrap="square">
            <a:spAutoFit/>
          </a:bodyPr>
          <a:lstStyle>
            <a:lvl1pPr marL="0" indent="0">
              <a:spcBef>
                <a:spcPts val="1224"/>
              </a:spcBef>
              <a:buClr>
                <a:schemeClr val="tx1"/>
              </a:buClr>
              <a:buFont typeface="Wingdings" panose="05000000000000000000" pitchFamily="2" charset="2"/>
              <a:buNone/>
              <a:defRPr sz="20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859276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lumn Bulleted Tex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307777"/>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489639"/>
          </a:xfrm>
        </p:spPr>
        <p:txBody>
          <a:bodyPr>
            <a:spAutoFit/>
          </a:bodyPr>
          <a:lstStyle>
            <a:lvl1pPr marL="171450" indent="-171450">
              <a:defRPr lang="en-US" sz="20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307777"/>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489639"/>
          </a:xfrm>
        </p:spPr>
        <p:txBody>
          <a:bodyPr>
            <a:spAutoFit/>
          </a:bodyPr>
          <a:lstStyle>
            <a:lvl1pPr marL="171450" indent="-171450">
              <a:defRPr lang="en-US" sz="20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4379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lumn Non-Bulleted Tex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307777"/>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1489639"/>
          </a:xfrm>
        </p:spPr>
        <p:txBody>
          <a:bodyPr/>
          <a:lstStyle>
            <a:lvl1pPr marL="0" indent="0">
              <a:buNone/>
              <a:defRPr sz="2000"/>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307777"/>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1489639"/>
          </a:xfrm>
        </p:spPr>
        <p:txBody>
          <a:bodyPr/>
          <a:lstStyle>
            <a:lvl1pPr marL="0" indent="0">
              <a:buNone/>
              <a:defRPr sz="2000"/>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94462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lumn Bulleted Tex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8099291"/>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Column Bulleted Tex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391970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ive Column Bulleted Tex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773766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eader 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319128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eader Text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2012285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mall Header Text Light">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221878556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mall Header Text Dark">
    <p:bg>
      <p:bgRef idx="1001">
        <a:schemeClr val="bg2"/>
      </p:bgRef>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45490286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Full Photo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DA7ED4F-056F-C53F-E2BF-EA4A8412DDD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white">
          <a:xfrm>
            <a:off x="3385" y="0"/>
            <a:ext cx="12185230" cy="6858000"/>
          </a:xfrm>
          <a:prstGeom prst="rect">
            <a:avLst/>
          </a:prstGeom>
        </p:spPr>
      </p:pic>
      <p:pic>
        <p:nvPicPr>
          <p:cNvPr id="12" name="Picture 11">
            <a:extLst>
              <a:ext uri="{FF2B5EF4-FFF2-40B4-BE49-F238E27FC236}">
                <a16:creationId xmlns:a16="http://schemas.microsoft.com/office/drawing/2014/main" id="{DAA83F9C-7592-411B-E1FE-6872AE779BD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74675" y="585788"/>
            <a:ext cx="7262813" cy="5683250"/>
          </a:xfrm>
          <a:prstGeom prst="roundRect">
            <a:avLst>
              <a:gd name="adj" fmla="val 1407"/>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1236663" y="1871327"/>
            <a:ext cx="5948362" cy="553998"/>
          </a:xfrm>
        </p:spPr>
        <p:txBody>
          <a:bodyPr wrap="square" anchor="t">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n-lt"/>
                <a:ea typeface="+mn-ea"/>
                <a:cs typeface="Segoe Sans Display" pitchFamily="2" charset="0"/>
              </a:defRPr>
            </a:lvl1pPr>
          </a:lstStyle>
          <a:p>
            <a:r>
              <a:rPr lang="en-US"/>
              <a:t>Click to edit Master title style</a:t>
            </a:r>
          </a:p>
        </p:txBody>
      </p:sp>
      <p:grpSp>
        <p:nvGrpSpPr>
          <p:cNvPr id="3" name="Group 2">
            <a:extLst>
              <a:ext uri="{FF2B5EF4-FFF2-40B4-BE49-F238E27FC236}">
                <a16:creationId xmlns:a16="http://schemas.microsoft.com/office/drawing/2014/main" id="{A374D167-A877-DD4F-71B6-1B226D482EC6}"/>
              </a:ext>
              <a:ext uri="{C183D7F6-B498-43B3-948B-1728B52AA6E4}">
                <adec:decorative xmlns:adec="http://schemas.microsoft.com/office/drawing/2017/decorative" val="1"/>
              </a:ext>
            </a:extLst>
          </p:cNvPr>
          <p:cNvGrpSpPr>
            <a:grpSpLocks noChangeAspect="1"/>
          </p:cNvGrpSpPr>
          <p:nvPr userDrawn="1"/>
        </p:nvGrpSpPr>
        <p:grpSpPr bwMode="black">
          <a:xfrm>
            <a:off x="1236663" y="1053765"/>
            <a:ext cx="524538" cy="457200"/>
            <a:chOff x="4169763" y="585788"/>
            <a:chExt cx="713371" cy="622746"/>
          </a:xfrm>
          <a:solidFill>
            <a:schemeClr val="tx2"/>
          </a:solidFill>
        </p:grpSpPr>
        <p:sp>
          <p:nvSpPr>
            <p:cNvPr id="4" name="Graphic 9">
              <a:extLst>
                <a:ext uri="{FF2B5EF4-FFF2-40B4-BE49-F238E27FC236}">
                  <a16:creationId xmlns:a16="http://schemas.microsoft.com/office/drawing/2014/main" id="{7E30BC2E-C9E5-9640-484B-8757872AA340}"/>
                </a:ext>
              </a:extLst>
            </p:cNvPr>
            <p:cNvSpPr/>
            <p:nvPr/>
          </p:nvSpPr>
          <p:spPr bwMode="black">
            <a:xfrm>
              <a:off x="4565666"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tlCol="0" anchor="ctr"/>
            <a:lstStyle/>
            <a:p>
              <a:pPr lvl="0"/>
              <a:endParaRPr lang="en-US"/>
            </a:p>
          </p:txBody>
        </p:sp>
        <p:sp>
          <p:nvSpPr>
            <p:cNvPr id="5" name="Graphic 9">
              <a:extLst>
                <a:ext uri="{FF2B5EF4-FFF2-40B4-BE49-F238E27FC236}">
                  <a16:creationId xmlns:a16="http://schemas.microsoft.com/office/drawing/2014/main" id="{E3CA75AC-6E69-6F07-C66F-627EE593FCC1}"/>
                </a:ext>
              </a:extLst>
            </p:cNvPr>
            <p:cNvSpPr/>
            <p:nvPr userDrawn="1"/>
          </p:nvSpPr>
          <p:spPr bwMode="black">
            <a:xfrm>
              <a:off x="4169763"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3463282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12">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Full Photo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3DC386-0D96-E22F-E2BE-804A581FD2D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white">
          <a:xfrm>
            <a:off x="0" y="1551"/>
            <a:ext cx="12192000" cy="6854897"/>
          </a:xfrm>
          <a:prstGeom prst="rect">
            <a:avLst/>
          </a:prstGeom>
        </p:spPr>
      </p:pic>
      <p:pic>
        <p:nvPicPr>
          <p:cNvPr id="12" name="Picture 11">
            <a:extLst>
              <a:ext uri="{FF2B5EF4-FFF2-40B4-BE49-F238E27FC236}">
                <a16:creationId xmlns:a16="http://schemas.microsoft.com/office/drawing/2014/main" id="{DAA83F9C-7592-411B-E1FE-6872AE779BD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74675" y="585788"/>
            <a:ext cx="7262813" cy="5683250"/>
          </a:xfrm>
          <a:prstGeom prst="roundRect">
            <a:avLst>
              <a:gd name="adj" fmla="val 1407"/>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1236663" y="1871327"/>
            <a:ext cx="5948362" cy="553998"/>
          </a:xfrm>
        </p:spPr>
        <p:txBody>
          <a:bodyPr wrap="square" anchor="t">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n-lt"/>
                <a:ea typeface="+mn-ea"/>
                <a:cs typeface="Segoe Sans Display" pitchFamily="2" charset="0"/>
              </a:defRPr>
            </a:lvl1pPr>
          </a:lstStyle>
          <a:p>
            <a:r>
              <a:rPr lang="en-US"/>
              <a:t>Click to edit Master title style</a:t>
            </a:r>
          </a:p>
        </p:txBody>
      </p:sp>
      <p:grpSp>
        <p:nvGrpSpPr>
          <p:cNvPr id="3" name="Group 2">
            <a:extLst>
              <a:ext uri="{FF2B5EF4-FFF2-40B4-BE49-F238E27FC236}">
                <a16:creationId xmlns:a16="http://schemas.microsoft.com/office/drawing/2014/main" id="{A374D167-A877-DD4F-71B6-1B226D482EC6}"/>
              </a:ext>
              <a:ext uri="{C183D7F6-B498-43B3-948B-1728B52AA6E4}">
                <adec:decorative xmlns:adec="http://schemas.microsoft.com/office/drawing/2017/decorative" val="1"/>
              </a:ext>
            </a:extLst>
          </p:cNvPr>
          <p:cNvGrpSpPr>
            <a:grpSpLocks noChangeAspect="1"/>
          </p:cNvGrpSpPr>
          <p:nvPr userDrawn="1"/>
        </p:nvGrpSpPr>
        <p:grpSpPr bwMode="black">
          <a:xfrm>
            <a:off x="1236663" y="1053765"/>
            <a:ext cx="524538" cy="457200"/>
            <a:chOff x="4169763" y="585788"/>
            <a:chExt cx="713371" cy="622746"/>
          </a:xfrm>
          <a:solidFill>
            <a:schemeClr val="tx2"/>
          </a:solidFill>
        </p:grpSpPr>
        <p:sp>
          <p:nvSpPr>
            <p:cNvPr id="4" name="Graphic 9">
              <a:extLst>
                <a:ext uri="{FF2B5EF4-FFF2-40B4-BE49-F238E27FC236}">
                  <a16:creationId xmlns:a16="http://schemas.microsoft.com/office/drawing/2014/main" id="{7E30BC2E-C9E5-9640-484B-8757872AA340}"/>
                </a:ext>
              </a:extLst>
            </p:cNvPr>
            <p:cNvSpPr/>
            <p:nvPr/>
          </p:nvSpPr>
          <p:spPr bwMode="black">
            <a:xfrm>
              <a:off x="4565666"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tlCol="0" anchor="ctr"/>
            <a:lstStyle/>
            <a:p>
              <a:pPr lvl="0"/>
              <a:endParaRPr lang="en-US"/>
            </a:p>
          </p:txBody>
        </p:sp>
        <p:sp>
          <p:nvSpPr>
            <p:cNvPr id="5" name="Graphic 9">
              <a:extLst>
                <a:ext uri="{FF2B5EF4-FFF2-40B4-BE49-F238E27FC236}">
                  <a16:creationId xmlns:a16="http://schemas.microsoft.com/office/drawing/2014/main" id="{E3CA75AC-6E69-6F07-C66F-627EE593FCC1}"/>
                </a:ext>
              </a:extLst>
            </p:cNvPr>
            <p:cNvSpPr/>
            <p:nvPr userDrawn="1"/>
          </p:nvSpPr>
          <p:spPr bwMode="black">
            <a:xfrm>
              <a:off x="4169763"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24384041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12">
          <p15:clr>
            <a:srgbClr val="A4A3A4"/>
          </p15:clr>
        </p15:guide>
        <p15:guide id="26" pos="6717">
          <p15:clr>
            <a:srgbClr val="A4A3A4"/>
          </p15:clr>
        </p15:guide>
        <p15:guide id="27" pos="6900">
          <p15:clr>
            <a:srgbClr val="A4A3A4"/>
          </p15:clr>
        </p15:guide>
        <p15:guide id="30" orient="horz" pos="288">
          <p15:clr>
            <a:srgbClr val="5ACBF0"/>
          </p15:clr>
        </p15:guide>
        <p15:guide id="33" pos="2976">
          <p15:clr>
            <a:srgbClr val="5ACBF0"/>
          </p15:clr>
        </p15:guide>
        <p15:guide id="34" pos="3336">
          <p15:clr>
            <a:srgbClr val="5ACBF0"/>
          </p15:clr>
        </p15:guide>
        <p15:guide id="35"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362200"/>
            <a:ext cx="7249224" cy="553998"/>
          </a:xfrm>
        </p:spPr>
        <p:txBody>
          <a:bodyPr wrap="square" anchor="t">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n-lt"/>
                <a:ea typeface="+mn-ea"/>
                <a:cs typeface="Segoe Sans Display" pitchFamily="2" charset="0"/>
              </a:defRPr>
            </a:lvl1pPr>
          </a:lstStyle>
          <a:p>
            <a:r>
              <a:rPr lang="en-US"/>
              <a:t>Click to edit Master title style</a:t>
            </a:r>
          </a:p>
        </p:txBody>
      </p:sp>
      <p:grpSp>
        <p:nvGrpSpPr>
          <p:cNvPr id="4" name="Group 3">
            <a:extLst>
              <a:ext uri="{FF2B5EF4-FFF2-40B4-BE49-F238E27FC236}">
                <a16:creationId xmlns:a16="http://schemas.microsoft.com/office/drawing/2014/main" id="{A3F2B542-236C-FF9E-34DA-F674AC8C23DA}"/>
              </a:ext>
              <a:ext uri="{C183D7F6-B498-43B3-948B-1728B52AA6E4}">
                <adec:decorative xmlns:adec="http://schemas.microsoft.com/office/drawing/2017/decorative" val="1"/>
              </a:ext>
            </a:extLst>
          </p:cNvPr>
          <p:cNvGrpSpPr>
            <a:grpSpLocks noChangeAspect="1"/>
          </p:cNvGrpSpPr>
          <p:nvPr userDrawn="1"/>
        </p:nvGrpSpPr>
        <p:grpSpPr bwMode="black">
          <a:xfrm>
            <a:off x="582391" y="585788"/>
            <a:ext cx="1049075" cy="914400"/>
            <a:chOff x="4169763" y="585788"/>
            <a:chExt cx="713371" cy="622746"/>
          </a:xfrm>
          <a:solidFill>
            <a:schemeClr val="tx2"/>
          </a:solidFill>
        </p:grpSpPr>
        <p:sp>
          <p:nvSpPr>
            <p:cNvPr id="5" name="Graphic 9">
              <a:extLst>
                <a:ext uri="{FF2B5EF4-FFF2-40B4-BE49-F238E27FC236}">
                  <a16:creationId xmlns:a16="http://schemas.microsoft.com/office/drawing/2014/main" id="{8616100D-B493-F639-609A-59DC6A2B2945}"/>
                </a:ext>
              </a:extLst>
            </p:cNvPr>
            <p:cNvSpPr/>
            <p:nvPr/>
          </p:nvSpPr>
          <p:spPr bwMode="black">
            <a:xfrm>
              <a:off x="4565666"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tlCol="0" anchor="ctr"/>
            <a:lstStyle/>
            <a:p>
              <a:pPr lvl="0"/>
              <a:endParaRPr lang="en-US"/>
            </a:p>
          </p:txBody>
        </p:sp>
        <p:sp>
          <p:nvSpPr>
            <p:cNvPr id="6" name="Graphic 9">
              <a:extLst>
                <a:ext uri="{FF2B5EF4-FFF2-40B4-BE49-F238E27FC236}">
                  <a16:creationId xmlns:a16="http://schemas.microsoft.com/office/drawing/2014/main" id="{254D7E75-4226-8293-E429-5E73E9130D6B}"/>
                </a:ext>
              </a:extLst>
            </p:cNvPr>
            <p:cNvSpPr/>
            <p:nvPr userDrawn="1"/>
          </p:nvSpPr>
          <p:spPr bwMode="black">
            <a:xfrm>
              <a:off x="4169763"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18882341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12">
          <p15:clr>
            <a:srgbClr val="A4A3A4"/>
          </p15:clr>
        </p15:guide>
        <p15:guide id="26" pos="6717">
          <p15:clr>
            <a:srgbClr val="A4A3A4"/>
          </p15:clr>
        </p15:guide>
        <p15:guide id="27" pos="6900">
          <p15:clr>
            <a:srgbClr val="A4A3A4"/>
          </p15:clr>
        </p15:guide>
        <p15:guide id="30" orient="horz" pos="288">
          <p15:clr>
            <a:srgbClr val="5ACBF0"/>
          </p15:clr>
        </p15:guide>
        <p15:guide id="32" orient="horz" pos="14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 Dar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2390" y="2362200"/>
            <a:ext cx="7255097" cy="553998"/>
          </a:xfrm>
        </p:spPr>
        <p:txBody>
          <a:bodyPr wrap="square" anchor="t">
            <a:spAutoFit/>
          </a:bodyPr>
          <a:lstStyle>
            <a:lvl1pPr>
              <a:defRPr lang="en-US" sz="3600" b="0" kern="1200" cap="none" spc="-50" baseline="0" dirty="0">
                <a:ln w="3175">
                  <a:noFill/>
                </a:ln>
                <a:solidFill>
                  <a:schemeClr val="tx1"/>
                </a:solidFill>
                <a:effectLst/>
                <a:latin typeface="+mn-lt"/>
                <a:ea typeface="+mn-ea"/>
                <a:cs typeface="Segoe Sans Display" pitchFamily="2" charset="0"/>
              </a:defRPr>
            </a:lvl1pPr>
          </a:lstStyle>
          <a:p>
            <a:r>
              <a:rPr lang="en-US"/>
              <a:t>Click to edit Master title style</a:t>
            </a:r>
          </a:p>
        </p:txBody>
      </p:sp>
      <p:grpSp>
        <p:nvGrpSpPr>
          <p:cNvPr id="3" name="Group 2">
            <a:extLst>
              <a:ext uri="{FF2B5EF4-FFF2-40B4-BE49-F238E27FC236}">
                <a16:creationId xmlns:a16="http://schemas.microsoft.com/office/drawing/2014/main" id="{9DAA9347-2B91-81A1-D35B-C367CA321C46}"/>
              </a:ext>
              <a:ext uri="{C183D7F6-B498-43B3-948B-1728B52AA6E4}">
                <adec:decorative xmlns:adec="http://schemas.microsoft.com/office/drawing/2017/decorative" val="1"/>
              </a:ext>
            </a:extLst>
          </p:cNvPr>
          <p:cNvGrpSpPr>
            <a:grpSpLocks noChangeAspect="1"/>
          </p:cNvGrpSpPr>
          <p:nvPr userDrawn="1"/>
        </p:nvGrpSpPr>
        <p:grpSpPr bwMode="black">
          <a:xfrm>
            <a:off x="582391" y="585788"/>
            <a:ext cx="1049075" cy="914400"/>
            <a:chOff x="4169763" y="585788"/>
            <a:chExt cx="713371" cy="622746"/>
          </a:xfrm>
          <a:solidFill>
            <a:schemeClr val="tx2"/>
          </a:solidFill>
        </p:grpSpPr>
        <p:sp>
          <p:nvSpPr>
            <p:cNvPr id="7" name="Graphic 9">
              <a:extLst>
                <a:ext uri="{FF2B5EF4-FFF2-40B4-BE49-F238E27FC236}">
                  <a16:creationId xmlns:a16="http://schemas.microsoft.com/office/drawing/2014/main" id="{1955151A-4300-7EE0-BD6F-1D9D68052193}"/>
                </a:ext>
              </a:extLst>
            </p:cNvPr>
            <p:cNvSpPr/>
            <p:nvPr/>
          </p:nvSpPr>
          <p:spPr bwMode="black">
            <a:xfrm>
              <a:off x="4565666"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tlCol="0" anchor="ctr"/>
            <a:lstStyle/>
            <a:p>
              <a:pPr lvl="0"/>
              <a:endParaRPr lang="en-US"/>
            </a:p>
          </p:txBody>
        </p:sp>
        <p:sp>
          <p:nvSpPr>
            <p:cNvPr id="8" name="Graphic 9">
              <a:extLst>
                <a:ext uri="{FF2B5EF4-FFF2-40B4-BE49-F238E27FC236}">
                  <a16:creationId xmlns:a16="http://schemas.microsoft.com/office/drawing/2014/main" id="{CE786B1F-884A-07DB-5A7A-8634C2585C33}"/>
                </a:ext>
              </a:extLst>
            </p:cNvPr>
            <p:cNvSpPr/>
            <p:nvPr userDrawn="1"/>
          </p:nvSpPr>
          <p:spPr bwMode="black">
            <a:xfrm>
              <a:off x="4169763"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342808561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44">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12">
          <p15:clr>
            <a:srgbClr val="A4A3A4"/>
          </p15:clr>
        </p15:guide>
        <p15:guide id="26" pos="6717">
          <p15:clr>
            <a:srgbClr val="A4A3A4"/>
          </p15:clr>
        </p15:guide>
        <p15:guide id="27" pos="6900">
          <p15:clr>
            <a:srgbClr val="A4A3A4"/>
          </p15:clr>
        </p15:guide>
        <p15:guide id="30" orient="horz" pos="288">
          <p15:clr>
            <a:srgbClr val="5ACBF0"/>
          </p15:clr>
        </p15:guide>
        <p15:guide id="32" orient="horz" pos="14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amp; Photo Ligh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13A1B1-3A31-817C-8E25-E88AD8A3474B}"/>
              </a:ext>
            </a:extLst>
          </p:cNvPr>
          <p:cNvSpPr>
            <a:spLocks noGrp="1"/>
          </p:cNvSpPr>
          <p:nvPr>
            <p:ph type="title"/>
          </p:nvPr>
        </p:nvSpPr>
        <p:spPr>
          <a:xfrm>
            <a:off x="588264" y="2362200"/>
            <a:ext cx="5363274" cy="1107996"/>
          </a:xfrm>
        </p:spPr>
        <p:txBody>
          <a:bodyPr wrap="square" anchor="t">
            <a:spAutoFit/>
          </a:bodyPr>
          <a:lstStyle>
            <a:lvl1pPr>
              <a:defRPr lang="en-US" sz="3600" b="0" kern="1200" cap="none" spc="-50" baseline="0" dirty="0">
                <a:ln w="3175">
                  <a:noFill/>
                </a:ln>
                <a:solidFill>
                  <a:schemeClr val="tx1"/>
                </a:solidFill>
                <a:effectLst/>
                <a:latin typeface="+mn-lt"/>
                <a:ea typeface="+mn-ea"/>
                <a:cs typeface="Segoe Sans Display" pitchFamily="2" charset="0"/>
              </a:defRPr>
            </a:lvl1pPr>
          </a:lstStyle>
          <a:p>
            <a:r>
              <a:rPr lang="en-US"/>
              <a:t>Click to edit Master title style</a:t>
            </a:r>
          </a:p>
        </p:txBody>
      </p:sp>
      <p:grpSp>
        <p:nvGrpSpPr>
          <p:cNvPr id="8" name="Group 7">
            <a:extLst>
              <a:ext uri="{FF2B5EF4-FFF2-40B4-BE49-F238E27FC236}">
                <a16:creationId xmlns:a16="http://schemas.microsoft.com/office/drawing/2014/main" id="{EA4970E2-4100-E5B0-8BBF-0C578DCB4547}"/>
              </a:ext>
              <a:ext uri="{C183D7F6-B498-43B3-948B-1728B52AA6E4}">
                <adec:decorative xmlns:adec="http://schemas.microsoft.com/office/drawing/2017/decorative" val="1"/>
              </a:ext>
            </a:extLst>
          </p:cNvPr>
          <p:cNvGrpSpPr>
            <a:grpSpLocks noChangeAspect="1"/>
          </p:cNvGrpSpPr>
          <p:nvPr userDrawn="1"/>
        </p:nvGrpSpPr>
        <p:grpSpPr bwMode="black">
          <a:xfrm>
            <a:off x="582391" y="585788"/>
            <a:ext cx="1049075" cy="914400"/>
            <a:chOff x="4169763" y="585788"/>
            <a:chExt cx="713371" cy="622746"/>
          </a:xfrm>
          <a:solidFill>
            <a:schemeClr val="tx2"/>
          </a:solidFill>
        </p:grpSpPr>
        <p:sp>
          <p:nvSpPr>
            <p:cNvPr id="9" name="Graphic 9">
              <a:extLst>
                <a:ext uri="{FF2B5EF4-FFF2-40B4-BE49-F238E27FC236}">
                  <a16:creationId xmlns:a16="http://schemas.microsoft.com/office/drawing/2014/main" id="{5A418B6C-90EA-A6F6-53A8-E205BD8DE8CB}"/>
                </a:ext>
              </a:extLst>
            </p:cNvPr>
            <p:cNvSpPr/>
            <p:nvPr/>
          </p:nvSpPr>
          <p:spPr bwMode="black">
            <a:xfrm>
              <a:off x="4565666"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tlCol="0" anchor="ctr"/>
            <a:lstStyle/>
            <a:p>
              <a:pPr lvl="0"/>
              <a:endParaRPr lang="en-US">
                <a:solidFill>
                  <a:schemeClr val="tx1"/>
                </a:solidFill>
              </a:endParaRPr>
            </a:p>
          </p:txBody>
        </p:sp>
        <p:sp>
          <p:nvSpPr>
            <p:cNvPr id="10" name="Graphic 9">
              <a:extLst>
                <a:ext uri="{FF2B5EF4-FFF2-40B4-BE49-F238E27FC236}">
                  <a16:creationId xmlns:a16="http://schemas.microsoft.com/office/drawing/2014/main" id="{514C0156-92FD-636D-EE62-515C7E197032}"/>
                </a:ext>
              </a:extLst>
            </p:cNvPr>
            <p:cNvSpPr/>
            <p:nvPr userDrawn="1"/>
          </p:nvSpPr>
          <p:spPr bwMode="black">
            <a:xfrm>
              <a:off x="4169763"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B709A26E-BED0-3294-69A4-0DDAAE9C2CCB}"/>
              </a:ext>
              <a:ext uri="{C183D7F6-B498-43B3-948B-1728B52AA6E4}">
                <adec:decorative xmlns:adec="http://schemas.microsoft.com/office/drawing/2017/decorative" val="0"/>
              </a:ext>
            </a:extLst>
          </p:cNvPr>
          <p:cNvSpPr>
            <a:spLocks noGrp="1"/>
          </p:cNvSpPr>
          <p:nvPr>
            <p:ph type="pic" sz="quarter" idx="13" hasCustomPrompt="1"/>
          </p:nvPr>
        </p:nvSpPr>
        <p:spPr bwMode="ltGray">
          <a:xfrm>
            <a:off x="7185025" y="1211263"/>
            <a:ext cx="4435475" cy="4435475"/>
          </a:xfrm>
          <a:prstGeom prst="ellipse">
            <a:avLst/>
          </a:prstGeom>
          <a:blipFill>
            <a:blip r:embed="rId2"/>
            <a:stretch>
              <a:fillRect/>
            </a:stretch>
          </a:blipFill>
          <a:effectLst/>
        </p:spPr>
        <p:txBody>
          <a:bodyPr lIns="0" tIns="0" rIns="0" bIns="1005840" anchor="ctr" anchorCtr="0">
            <a:noAutofit/>
          </a:bodyPr>
          <a:lstStyle>
            <a:lvl1pPr marL="0" indent="0" algn="ctr">
              <a:lnSpc>
                <a:spcPct val="100000"/>
              </a:lnSpc>
              <a:buNone/>
              <a:defRPr sz="10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7069373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44">
          <p15:clr>
            <a:srgbClr val="A4A3A4"/>
          </p15:clr>
        </p15:guide>
        <p15:guide id="16" pos="3749">
          <p15:clr>
            <a:srgbClr val="A4A3A4"/>
          </p15:clr>
        </p15:guide>
        <p15:guide id="17" pos="3932">
          <p15:clr>
            <a:srgbClr val="A4A3A4"/>
          </p15:clr>
        </p15:guide>
        <p15:guide id="18" pos="4344">
          <p15:clr>
            <a:srgbClr val="A4A3A4"/>
          </p15:clr>
        </p15:guide>
        <p15:guide id="19" pos="4536">
          <p15:clr>
            <a:srgbClr val="A4A3A4"/>
          </p15:clr>
        </p15:guide>
        <p15:guide id="20" pos="4937">
          <p15:clr>
            <a:srgbClr val="A4A3A4"/>
          </p15:clr>
        </p15:guide>
        <p15:guide id="21" pos="5120">
          <p15:clr>
            <a:srgbClr val="A4A3A4"/>
          </p15:clr>
        </p15:guide>
        <p15:guide id="22" pos="5520">
          <p15:clr>
            <a:srgbClr val="A4A3A4"/>
          </p15:clr>
        </p15:guide>
        <p15:guide id="23" pos="5714">
          <p15:clr>
            <a:srgbClr val="A4A3A4"/>
          </p15:clr>
        </p15:guide>
        <p15:guide id="24" pos="6123">
          <p15:clr>
            <a:srgbClr val="A4A3A4"/>
          </p15:clr>
        </p15:guide>
        <p15:guide id="25" pos="6312">
          <p15:clr>
            <a:srgbClr val="A4A3A4"/>
          </p15:clr>
        </p15:guide>
        <p15:guide id="26" pos="6717">
          <p15:clr>
            <a:srgbClr val="A4A3A4"/>
          </p15:clr>
        </p15:guide>
        <p15:guide id="27" pos="6900">
          <p15:clr>
            <a:srgbClr val="A4A3A4"/>
          </p15:clr>
        </p15:guide>
        <p15:guide id="30" orient="horz" pos="288">
          <p15:clr>
            <a:srgbClr val="5ACBF0"/>
          </p15:clr>
        </p15:guide>
        <p15:guide id="32" orient="horz" pos="1488">
          <p15:clr>
            <a:srgbClr val="5ACBF0"/>
          </p15:clr>
        </p15:guide>
        <p15:guide id="33" pos="3336">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amp; Photo Dark">
    <p:bg>
      <p:bgRef idx="1001">
        <a:schemeClr val="bg2"/>
      </p:bgRef>
    </p:bg>
    <p:spTree>
      <p:nvGrpSpPr>
        <p:cNvPr id="1" name=""/>
        <p:cNvGrpSpPr/>
        <p:nvPr/>
      </p:nvGrpSpPr>
      <p:grpSpPr>
        <a:xfrm>
          <a:off x="0" y="0"/>
          <a:ext cx="0" cy="0"/>
          <a:chOff x="0" y="0"/>
          <a:chExt cx="0" cy="0"/>
        </a:xfrm>
      </p:grpSpPr>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6D6EE357-5FBE-EF45-EDC4-EB022C75B1A6}"/>
              </a:ext>
              <a:ext uri="{C183D7F6-B498-43B3-948B-1728B52AA6E4}">
                <adec:decorative xmlns:adec="http://schemas.microsoft.com/office/drawing/2017/decorative" val="0"/>
              </a:ext>
            </a:extLst>
          </p:cNvPr>
          <p:cNvSpPr>
            <a:spLocks noGrp="1"/>
          </p:cNvSpPr>
          <p:nvPr>
            <p:ph type="pic" sz="quarter" idx="13" hasCustomPrompt="1"/>
          </p:nvPr>
        </p:nvSpPr>
        <p:spPr bwMode="ltGray">
          <a:xfrm>
            <a:off x="7185025" y="1211262"/>
            <a:ext cx="4435475" cy="4435475"/>
          </a:xfrm>
          <a:prstGeom prst="ellipse">
            <a:avLst/>
          </a:prstGeom>
          <a:blipFill>
            <a:blip r:embed="rId2"/>
            <a:stretch>
              <a:fillRect/>
            </a:stretch>
          </a:blipFill>
          <a:effectLst/>
        </p:spPr>
        <p:txBody>
          <a:bodyPr lIns="0" tIns="0" rIns="0" bIns="1005840" anchor="ctr" anchorCtr="0">
            <a:noAutofit/>
          </a:bodyPr>
          <a:lstStyle>
            <a:lvl1pPr marL="0" indent="0" algn="ctr">
              <a:lnSpc>
                <a:spcPct val="100000"/>
              </a:lnSpc>
              <a:buNone/>
              <a:defRPr sz="10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1" name="Title 1">
            <a:extLst>
              <a:ext uri="{FF2B5EF4-FFF2-40B4-BE49-F238E27FC236}">
                <a16:creationId xmlns:a16="http://schemas.microsoft.com/office/drawing/2014/main" id="{9B16CA86-851F-5A66-72F8-611E57EE996E}"/>
              </a:ext>
            </a:extLst>
          </p:cNvPr>
          <p:cNvSpPr>
            <a:spLocks noGrp="1"/>
          </p:cNvSpPr>
          <p:nvPr>
            <p:ph type="title"/>
          </p:nvPr>
        </p:nvSpPr>
        <p:spPr>
          <a:xfrm>
            <a:off x="588264" y="2362200"/>
            <a:ext cx="5363274" cy="1107996"/>
          </a:xfrm>
        </p:spPr>
        <p:txBody>
          <a:bodyPr wrap="square" anchor="t">
            <a:spAutoFit/>
          </a:bodyPr>
          <a:lstStyle>
            <a:lvl1pPr>
              <a:defRPr lang="en-US" sz="3600" b="0" kern="1200" cap="none" spc="-50" baseline="0" dirty="0">
                <a:ln w="3175">
                  <a:noFill/>
                </a:ln>
                <a:solidFill>
                  <a:schemeClr val="tx1"/>
                </a:solidFill>
                <a:effectLst/>
                <a:latin typeface="+mn-lt"/>
                <a:ea typeface="+mn-ea"/>
                <a:cs typeface="Segoe Sans Display" pitchFamily="2" charset="0"/>
              </a:defRPr>
            </a:lvl1pPr>
          </a:lstStyle>
          <a:p>
            <a:r>
              <a:rPr lang="en-US"/>
              <a:t>Click to edit Master title style</a:t>
            </a:r>
          </a:p>
        </p:txBody>
      </p:sp>
      <p:grpSp>
        <p:nvGrpSpPr>
          <p:cNvPr id="12" name="Group 11">
            <a:extLst>
              <a:ext uri="{FF2B5EF4-FFF2-40B4-BE49-F238E27FC236}">
                <a16:creationId xmlns:a16="http://schemas.microsoft.com/office/drawing/2014/main" id="{E0A80FC4-BF13-32EC-AC2C-CCF799F915D8}"/>
              </a:ext>
              <a:ext uri="{C183D7F6-B498-43B3-948B-1728B52AA6E4}">
                <adec:decorative xmlns:adec="http://schemas.microsoft.com/office/drawing/2017/decorative" val="1"/>
              </a:ext>
            </a:extLst>
          </p:cNvPr>
          <p:cNvGrpSpPr>
            <a:grpSpLocks noChangeAspect="1"/>
          </p:cNvGrpSpPr>
          <p:nvPr userDrawn="1"/>
        </p:nvGrpSpPr>
        <p:grpSpPr bwMode="black">
          <a:xfrm>
            <a:off x="582391" y="585788"/>
            <a:ext cx="1049075" cy="914400"/>
            <a:chOff x="4169763" y="585788"/>
            <a:chExt cx="713371" cy="622746"/>
          </a:xfrm>
          <a:solidFill>
            <a:schemeClr val="tx2"/>
          </a:solidFill>
        </p:grpSpPr>
        <p:sp>
          <p:nvSpPr>
            <p:cNvPr id="13" name="Graphic 9">
              <a:extLst>
                <a:ext uri="{FF2B5EF4-FFF2-40B4-BE49-F238E27FC236}">
                  <a16:creationId xmlns:a16="http://schemas.microsoft.com/office/drawing/2014/main" id="{ACB80D2C-8BBC-86B2-4F0A-E84BC66B3773}"/>
                </a:ext>
              </a:extLst>
            </p:cNvPr>
            <p:cNvSpPr/>
            <p:nvPr/>
          </p:nvSpPr>
          <p:spPr bwMode="black">
            <a:xfrm>
              <a:off x="4565666"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tlCol="0" anchor="ctr"/>
            <a:lstStyle/>
            <a:p>
              <a:pPr lvl="0"/>
              <a:endParaRPr lang="en-US"/>
            </a:p>
          </p:txBody>
        </p:sp>
        <p:sp>
          <p:nvSpPr>
            <p:cNvPr id="14" name="Graphic 9">
              <a:extLst>
                <a:ext uri="{FF2B5EF4-FFF2-40B4-BE49-F238E27FC236}">
                  <a16:creationId xmlns:a16="http://schemas.microsoft.com/office/drawing/2014/main" id="{730E620F-1CE6-FC30-06F9-60DE40676085}"/>
                </a:ext>
              </a:extLst>
            </p:cNvPr>
            <p:cNvSpPr/>
            <p:nvPr userDrawn="1"/>
          </p:nvSpPr>
          <p:spPr bwMode="black">
            <a:xfrm>
              <a:off x="4169763"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59297855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44">
          <p15:clr>
            <a:srgbClr val="A4A3A4"/>
          </p15:clr>
        </p15:guide>
        <p15:guide id="16" pos="3749">
          <p15:clr>
            <a:srgbClr val="A4A3A4"/>
          </p15:clr>
        </p15:guide>
        <p15:guide id="17" pos="3932">
          <p15:clr>
            <a:srgbClr val="A4A3A4"/>
          </p15:clr>
        </p15:guide>
        <p15:guide id="18" pos="4344">
          <p15:clr>
            <a:srgbClr val="A4A3A4"/>
          </p15:clr>
        </p15:guide>
        <p15:guide id="19" pos="453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12">
          <p15:clr>
            <a:srgbClr val="A4A3A4"/>
          </p15:clr>
        </p15:guide>
        <p15:guide id="26" pos="6717">
          <p15:clr>
            <a:srgbClr val="A4A3A4"/>
          </p15:clr>
        </p15:guide>
        <p15:guide id="27" pos="6900">
          <p15:clr>
            <a:srgbClr val="A4A3A4"/>
          </p15:clr>
        </p15:guide>
        <p15:guide id="30" orient="horz" pos="288">
          <p15:clr>
            <a:srgbClr val="5ACBF0"/>
          </p15:clr>
        </p15:guide>
        <p15:guide id="32" orient="horz" pos="1488">
          <p15:clr>
            <a:srgbClr val="5ACBF0"/>
          </p15:clr>
        </p15:guide>
        <p15:guide id="33" pos="3336">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amp; Square Photo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8"/>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 uri="{C183D7F6-B498-43B3-948B-1728B52AA6E4}">
                <adec:decorative xmlns:adec="http://schemas.microsoft.com/office/drawing/2017/decorative" val="0"/>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9283677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amp; 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 uri="{C183D7F6-B498-43B3-948B-1728B52AA6E4}">
                <adec:decorative xmlns:adec="http://schemas.microsoft.com/office/drawing/2017/decorative" val="0"/>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5150211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amp; Square Photo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 uri="{C183D7F6-B498-43B3-948B-1728B52AA6E4}">
                <adec:decorative xmlns:adec="http://schemas.microsoft.com/office/drawing/2017/decorative" val="0"/>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9505741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hoto Full Bleed Lower Text">
    <p:bg>
      <p:bgRef idx="1001">
        <a:schemeClr val="bg2"/>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 uri="{C183D7F6-B498-43B3-948B-1728B52AA6E4}">
                <adec:decorative xmlns:adec="http://schemas.microsoft.com/office/drawing/2017/decorative" val="0"/>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 uri="{C183D7F6-B498-43B3-948B-1728B52AA6E4}">
                <adec:decorative xmlns:adec="http://schemas.microsoft.com/office/drawing/2017/decorative" val="0"/>
              </a:ext>
            </a:extLst>
          </p:cNvPr>
          <p:cNvSpPr>
            <a:spLocks noGrp="1"/>
          </p:cNvSpPr>
          <p:nvPr>
            <p:ph type="title"/>
          </p:nvPr>
        </p:nvSpPr>
        <p:spPr bwMode="blackWhite">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chemeClr val="tx1"/>
                </a:solidFill>
              </a:defRPr>
            </a:lvl1pPr>
          </a:lstStyle>
          <a:p>
            <a:r>
              <a:rPr lang="en-US"/>
              <a:t>Click to edit Master title style</a:t>
            </a:r>
          </a:p>
        </p:txBody>
      </p:sp>
    </p:spTree>
    <p:extLst>
      <p:ext uri="{BB962C8B-B14F-4D97-AF65-F5344CB8AC3E}">
        <p14:creationId xmlns:p14="http://schemas.microsoft.com/office/powerpoint/2010/main" val="396385810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hoto Full Bleed Left Text">
    <p:bg>
      <p:bgRef idx="1001">
        <a:schemeClr val="bg2"/>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 uri="{C183D7F6-B498-43B3-948B-1728B52AA6E4}">
                <adec:decorative xmlns:adec="http://schemas.microsoft.com/office/drawing/2017/decorative" val="0"/>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 uri="{C183D7F6-B498-43B3-948B-1728B52AA6E4}">
                <adec:decorative xmlns:adec="http://schemas.microsoft.com/office/drawing/2017/decorative" val="0"/>
              </a:ext>
            </a:extLst>
          </p:cNvPr>
          <p:cNvSpPr>
            <a:spLocks noGrp="1"/>
          </p:cNvSpPr>
          <p:nvPr>
            <p:ph type="title" hasCustomPrompt="1"/>
          </p:nvPr>
        </p:nvSpPr>
        <p:spPr bwMode="blackWhite">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chemeClr val="tx1"/>
                </a:solidFill>
              </a:defRPr>
            </a:lvl1pPr>
          </a:lstStyle>
          <a:p>
            <a:r>
              <a:rPr lang="en-US"/>
              <a:t>Click to edit </a:t>
            </a:r>
            <a:br>
              <a:rPr lang="en-US"/>
            </a:br>
            <a:r>
              <a:rPr lang="en-US"/>
              <a:t>Master title style</a:t>
            </a:r>
          </a:p>
        </p:txBody>
      </p:sp>
    </p:spTree>
    <p:extLst>
      <p:ext uri="{BB962C8B-B14F-4D97-AF65-F5344CB8AC3E}">
        <p14:creationId xmlns:p14="http://schemas.microsoft.com/office/powerpoint/2010/main" val="248825765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hoto Full Bleed Right Text">
    <p:bg>
      <p:bgRef idx="1001">
        <a:schemeClr val="bg2"/>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 uri="{C183D7F6-B498-43B3-948B-1728B52AA6E4}">
                <adec:decorative xmlns:adec="http://schemas.microsoft.com/office/drawing/2017/decorative" val="0"/>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 uri="{C183D7F6-B498-43B3-948B-1728B52AA6E4}">
                <adec:decorative xmlns:adec="http://schemas.microsoft.com/office/drawing/2017/decorative" val="0"/>
              </a:ext>
            </a:extLst>
          </p:cNvPr>
          <p:cNvSpPr>
            <a:spLocks noGrp="1"/>
          </p:cNvSpPr>
          <p:nvPr>
            <p:ph type="title" hasCustomPrompt="1"/>
          </p:nvPr>
        </p:nvSpPr>
        <p:spPr bwMode="blackWhite">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chemeClr val="tx1"/>
                </a:solidFill>
              </a:defRPr>
            </a:lvl1pPr>
          </a:lstStyle>
          <a:p>
            <a:r>
              <a:rPr lang="en-US"/>
              <a:t>Click to edit </a:t>
            </a:r>
            <a:br>
              <a:rPr lang="en-US"/>
            </a:br>
            <a:r>
              <a:rPr lang="en-US"/>
              <a:t>Master title style</a:t>
            </a:r>
          </a:p>
        </p:txBody>
      </p:sp>
    </p:spTree>
    <p:extLst>
      <p:ext uri="{BB962C8B-B14F-4D97-AF65-F5344CB8AC3E}">
        <p14:creationId xmlns:p14="http://schemas.microsoft.com/office/powerpoint/2010/main" val="317529255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op Horizontal Photo Lower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 uri="{C183D7F6-B498-43B3-948B-1728B52AA6E4}">
                <adec:decorative xmlns:adec="http://schemas.microsoft.com/office/drawing/2017/decorative" val="0"/>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37568771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ottom Horizontal Photo Upper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 uri="{C183D7F6-B498-43B3-948B-1728B52AA6E4}">
                <adec:decorative xmlns:adec="http://schemas.microsoft.com/office/drawing/2017/decorative" val="0"/>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8452174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 uri="{C183D7F6-B498-43B3-948B-1728B52AA6E4}">
                <adec:decorative xmlns:adec="http://schemas.microsoft.com/office/drawing/2017/decorative" val="0"/>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 uri="{C183D7F6-B498-43B3-948B-1728B52AA6E4}">
                <adec:decorative xmlns:adec="http://schemas.microsoft.com/office/drawing/2017/decorative" val="0"/>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85693714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 uri="{C183D7F6-B498-43B3-948B-1728B52AA6E4}">
                <adec:decorative xmlns:adec="http://schemas.microsoft.com/office/drawing/2017/decorative" val="0"/>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 uri="{C183D7F6-B498-43B3-948B-1728B52AA6E4}">
                <adec:decorative xmlns:adec="http://schemas.microsoft.com/office/drawing/2017/decorative" val="0"/>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 uri="{C183D7F6-B498-43B3-948B-1728B52AA6E4}">
                <adec:decorative xmlns:adec="http://schemas.microsoft.com/office/drawing/2017/decorative" val="0"/>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8288689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64267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Filmstrip Photo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9634860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hree Filmstrip Photo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9876141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Four Filmstrip Photo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0153138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Five Filmstrip Photo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5884772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hree Round Photo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71476232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our Round Photo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28323812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Five Round Photo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8126877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Agenda and Text Side by Sid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sz="2000"/>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bwMode="auto">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97380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Agenda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5"/>
            <a:ext cx="6667500" cy="5683254"/>
          </a:xfrm>
        </p:spPr>
        <p:txBody>
          <a:bodyPr anchor="ctr"/>
          <a:lstStyle>
            <a:lvl1pPr marL="231775" indent="-231775">
              <a:spcAft>
                <a:spcPts val="600"/>
              </a:spcAft>
              <a:buFont typeface="Wingdings" panose="05000000000000000000" pitchFamily="2" charset="2"/>
              <a:buChar char=""/>
              <a:defRPr sz="2000"/>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14957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459991065"/>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70508376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5793738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d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3841871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de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8895417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emo 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134855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emo Dark">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8417876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Tech Scan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FF55AF-07A0-E53A-0789-86E0BA8D665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ltGray">
          <a:xfrm>
            <a:off x="0" y="1730"/>
            <a:ext cx="12192000" cy="685454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86136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ech Scan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A91C97-0F4B-CB0B-3806-07BEEA5F7272}"/>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auto">
          <a:xfrm>
            <a:off x="0" y="319"/>
            <a:ext cx="12192000" cy="6857361"/>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129046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ech Scan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780E26-77D9-EDA1-6B0D-E498A450A3A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0" y="0"/>
            <a:ext cx="12192000"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81384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ection Tech Scan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10B085-DDE7-88C6-CC2C-8FA66A131AD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0" y="0"/>
            <a:ext cx="12192000" cy="6855163"/>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035298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Tech Scan 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7A2C0C-5A6D-7740-29B0-946ED0BE2F65}"/>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0" y="0"/>
            <a:ext cx="12186409"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85585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ech Scan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F2C24F-5B26-E853-33E8-371952F8F12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0" y="0"/>
            <a:ext cx="12192000"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656659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ech Scan 7">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34D503-F46F-BFA0-6453-FB10F5385FD5}"/>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5917" y="1691"/>
            <a:ext cx="12192000" cy="6856309"/>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549518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ech Scan 8">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189FDC-525A-CF23-3070-940BC162EE0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0" y="0"/>
            <a:ext cx="12192000"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450998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ech Scan 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70C3B-D4ED-F3F0-36A3-8D6A980CB41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6" y="0"/>
            <a:ext cx="12189708"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546570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ech Scan 10">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A9DD60-6582-EC28-94B1-2DB255180C5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ltGray">
          <a:xfrm>
            <a:off x="0" y="0"/>
            <a:ext cx="12182400"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464345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402755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Dark">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8842911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lank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048A-4F0D-B875-375B-E7827CA8606D}"/>
              </a:ext>
            </a:extLst>
          </p:cNvPr>
          <p:cNvSpPr>
            <a:spLocks noGrp="1"/>
          </p:cNvSpPr>
          <p:nvPr>
            <p:ph type="title" hasCustomPrompt="1"/>
          </p:nvPr>
        </p:nvSpPr>
        <p:spPr>
          <a:xfrm>
            <a:off x="588263" y="-824268"/>
            <a:ext cx="11018520" cy="553998"/>
          </a:xfrm>
        </p:spPr>
        <p:txBody>
          <a:bodyPr anchor="b"/>
          <a:lstStyle>
            <a:lvl1pPr>
              <a:defRPr>
                <a:solidFill>
                  <a:srgbClr val="B1B3B3"/>
                </a:solidFill>
              </a:defRPr>
            </a:lvl1pPr>
          </a:lstStyle>
          <a:p>
            <a:r>
              <a:rPr lang="en-US"/>
              <a:t>Title</a:t>
            </a:r>
          </a:p>
        </p:txBody>
      </p:sp>
    </p:spTree>
    <p:extLst>
      <p:ext uri="{BB962C8B-B14F-4D97-AF65-F5344CB8AC3E}">
        <p14:creationId xmlns:p14="http://schemas.microsoft.com/office/powerpoint/2010/main" val="22683784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nk Dar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B9675-1EDC-10A9-79BB-CA60778FC665}"/>
              </a:ext>
            </a:extLst>
          </p:cNvPr>
          <p:cNvSpPr>
            <a:spLocks noGrp="1"/>
          </p:cNvSpPr>
          <p:nvPr>
            <p:ph type="title" hasCustomPrompt="1"/>
          </p:nvPr>
        </p:nvSpPr>
        <p:spPr>
          <a:xfrm>
            <a:off x="588263" y="-824268"/>
            <a:ext cx="11018520" cy="553998"/>
          </a:xfrm>
        </p:spPr>
        <p:txBody>
          <a:bodyPr anchor="b"/>
          <a:lstStyle>
            <a:lvl1pPr>
              <a:defRPr>
                <a:solidFill>
                  <a:srgbClr val="B1B3B3"/>
                </a:solidFill>
              </a:defRPr>
            </a:lvl1pPr>
          </a:lstStyle>
          <a:p>
            <a:r>
              <a:rPr lang="en-US"/>
              <a:t>Title</a:t>
            </a:r>
          </a:p>
        </p:txBody>
      </p:sp>
    </p:spTree>
    <p:extLst>
      <p:ext uri="{BB962C8B-B14F-4D97-AF65-F5344CB8AC3E}">
        <p14:creationId xmlns:p14="http://schemas.microsoft.com/office/powerpoint/2010/main" val="127899978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Notes Slide">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mj-lt"/>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340086537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Microsoft Security">
            <a:extLst>
              <a:ext uri="{FF2B5EF4-FFF2-40B4-BE49-F238E27FC236}">
                <a16:creationId xmlns:a16="http://schemas.microsoft.com/office/drawing/2014/main" id="{4AF1DC5D-9E4C-61B6-29E6-3134DF76ECE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bwMode="black">
          <a:xfrm>
            <a:off x="289702" y="296820"/>
            <a:ext cx="2876596" cy="868680"/>
          </a:xfrm>
          <a:prstGeom prst="rect">
            <a:avLst/>
          </a:prstGeom>
        </p:spPr>
      </p:pic>
      <p:sp>
        <p:nvSpPr>
          <p:cNvPr id="3" name="Title 1">
            <a:extLst>
              <a:ext uri="{FF2B5EF4-FFF2-40B4-BE49-F238E27FC236}">
                <a16:creationId xmlns:a16="http://schemas.microsoft.com/office/drawing/2014/main" id="{89FF0FC9-6B16-7B48-F8A5-349518F8D93B}"/>
              </a:ext>
              <a:ext uri="{C183D7F6-B498-43B3-948B-1728B52AA6E4}">
                <adec:decorative xmlns:adec="http://schemas.microsoft.com/office/drawing/2017/decorative" val="0"/>
              </a:ext>
            </a:extLst>
          </p:cNvPr>
          <p:cNvSpPr>
            <a:spLocks noGrp="1"/>
          </p:cNvSpPr>
          <p:nvPr>
            <p:ph type="title" hasCustomPrompt="1"/>
          </p:nvPr>
        </p:nvSpPr>
        <p:spPr>
          <a:xfrm>
            <a:off x="588263" y="-824268"/>
            <a:ext cx="11018520" cy="553998"/>
          </a:xfrm>
        </p:spPr>
        <p:txBody>
          <a:bodyPr anchor="b"/>
          <a:lstStyle>
            <a:lvl1pPr>
              <a:defRPr>
                <a:solidFill>
                  <a:srgbClr val="B1B3B3"/>
                </a:solidFill>
              </a:defRPr>
            </a:lvl1pPr>
          </a:lstStyle>
          <a:p>
            <a:r>
              <a:rPr lang="en-US"/>
              <a:t>Closing</a:t>
            </a:r>
          </a:p>
        </p:txBody>
      </p:sp>
    </p:spTree>
    <p:extLst>
      <p:ext uri="{BB962C8B-B14F-4D97-AF65-F5344CB8AC3E}">
        <p14:creationId xmlns:p14="http://schemas.microsoft.com/office/powerpoint/2010/main" val="55755682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313B46-92C5-A5FA-387F-43DC2D8927A6}"/>
              </a:ext>
            </a:extLst>
          </p:cNvPr>
          <p:cNvSpPr/>
          <p:nvPr userDrawn="1"/>
        </p:nvSpPr>
        <p:spPr bwMode="auto">
          <a:xfrm>
            <a:off x="7185025" y="0"/>
            <a:ext cx="5006975" cy="6858000"/>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Rectangle 4">
            <a:extLst>
              <a:ext uri="{FF2B5EF4-FFF2-40B4-BE49-F238E27FC236}">
                <a16:creationId xmlns:a16="http://schemas.microsoft.com/office/drawing/2014/main" id="{8BD5EF73-B988-C504-CAAD-C73C30918B93}"/>
              </a:ext>
            </a:extLst>
          </p:cNvPr>
          <p:cNvSpPr/>
          <p:nvPr userDrawn="1"/>
        </p:nvSpPr>
        <p:spPr>
          <a:xfrm>
            <a:off x="-9119" y="6712242"/>
            <a:ext cx="12201119" cy="164808"/>
          </a:xfrm>
          <a:prstGeom prst="rect">
            <a:avLst/>
          </a:prstGeom>
          <a:solidFill>
            <a:srgbClr val="007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25203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52F704-18F1-CB6F-7B65-BB1555A7867B}"/>
              </a:ext>
            </a:extLst>
          </p:cNvPr>
          <p:cNvSpPr/>
          <p:nvPr userDrawn="1"/>
        </p:nvSpPr>
        <p:spPr bwMode="auto">
          <a:xfrm>
            <a:off x="0" y="0"/>
            <a:ext cx="12201118" cy="6858000"/>
          </a:xfrm>
          <a:prstGeom prst="rect">
            <a:avLst/>
          </a:prstGeom>
          <a:gradFill>
            <a:gsLst>
              <a:gs pos="38000">
                <a:schemeClr val="bg1"/>
              </a:gs>
              <a:gs pos="100000">
                <a:srgbClr val="F2F2F2"/>
              </a:gs>
            </a:gsLst>
            <a:lin ang="540000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044AB327-558B-4B43-2D77-38A052B1AF2C}"/>
              </a:ext>
            </a:extLst>
          </p:cNvPr>
          <p:cNvSpPr/>
          <p:nvPr userDrawn="1"/>
        </p:nvSpPr>
        <p:spPr>
          <a:xfrm>
            <a:off x="-9119" y="6712242"/>
            <a:ext cx="12210237" cy="145758"/>
          </a:xfrm>
          <a:prstGeom prst="rect">
            <a:avLst/>
          </a:prstGeom>
          <a:solidFill>
            <a:srgbClr val="007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29294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A6A6A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69E062-DF3B-1570-1EE2-517196F4104F}"/>
              </a:ext>
            </a:extLst>
          </p:cNvPr>
          <p:cNvSpPr/>
          <p:nvPr userDrawn="1"/>
        </p:nvSpPr>
        <p:spPr bwMode="auto">
          <a:xfrm>
            <a:off x="0" y="0"/>
            <a:ext cx="12201118" cy="6858000"/>
          </a:xfrm>
          <a:prstGeom prst="rect">
            <a:avLst/>
          </a:prstGeom>
          <a:gradFill>
            <a:gsLst>
              <a:gs pos="38000">
                <a:schemeClr val="bg1"/>
              </a:gs>
              <a:gs pos="100000">
                <a:srgbClr val="F2F2F2"/>
              </a:gs>
            </a:gsLst>
            <a:lin ang="540000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24054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Header 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2706450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Section Tech Scan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F2C24F-5B26-E853-33E8-371952F8F12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0" y="0"/>
            <a:ext cx="12192000" cy="6858000"/>
          </a:xfrm>
          <a:prstGeom prst="rect">
            <a:avLst/>
          </a:prstGeom>
        </p:spPr>
      </p:pic>
      <p:sp>
        <p:nvSpPr>
          <p:cNvPr id="2" name="Title 1"/>
          <p:cNvSpPr>
            <a:spLocks noGrp="1"/>
          </p:cNvSpPr>
          <p:nvPr>
            <p:ph type="title" hasCustomPrompt="1"/>
          </p:nvPr>
        </p:nvSpPr>
        <p:spPr>
          <a:xfrm>
            <a:off x="585216" y="2980408"/>
            <a:ext cx="9487698" cy="553998"/>
          </a:xfrm>
          <a:noFill/>
        </p:spPr>
        <p:txBody>
          <a:bodyPr wrap="square"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151688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2793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Title Half Tech Scan 1">
    <p:bg>
      <p:bgPr>
        <a:solidFill>
          <a:srgbClr val="091F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bg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bg1"/>
                </a:solidFill>
                <a:latin typeface="+mn-lt"/>
                <a:cs typeface="Segoe Sans Display" pitchFamily="2" charset="0"/>
              </a:defRPr>
            </a:lvl1pPr>
          </a:lstStyle>
          <a:p>
            <a:pPr lvl="0"/>
            <a:r>
              <a:rPr lang="en-US"/>
              <a:t>Speaker name or subtitle</a:t>
            </a:r>
          </a:p>
        </p:txBody>
      </p:sp>
      <p:pic>
        <p:nvPicPr>
          <p:cNvPr id="6" name="Picture 5">
            <a:extLst>
              <a:ext uri="{FF2B5EF4-FFF2-40B4-BE49-F238E27FC236}">
                <a16:creationId xmlns:a16="http://schemas.microsoft.com/office/drawing/2014/main" id="{E2CEF103-1FB7-7E05-B436-1B39BEED90A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094923" y="0"/>
            <a:ext cx="6097077" cy="6858000"/>
          </a:xfrm>
          <a:prstGeom prst="rect">
            <a:avLst/>
          </a:prstGeom>
        </p:spPr>
      </p:pic>
      <p:pic>
        <p:nvPicPr>
          <p:cNvPr id="4" name="Picture 3" descr="Microsoft Security">
            <a:extLst>
              <a:ext uri="{FF2B5EF4-FFF2-40B4-BE49-F238E27FC236}">
                <a16:creationId xmlns:a16="http://schemas.microsoft.com/office/drawing/2014/main" id="{2AE728EA-82AD-30B9-0F43-3916B0490C81}"/>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bwMode="black">
          <a:xfrm>
            <a:off x="289702" y="296820"/>
            <a:ext cx="2876596" cy="868680"/>
          </a:xfrm>
          <a:prstGeom prst="rect">
            <a:avLst/>
          </a:prstGeom>
        </p:spPr>
      </p:pic>
    </p:spTree>
    <p:extLst>
      <p:ext uri="{BB962C8B-B14F-4D97-AF65-F5344CB8AC3E}">
        <p14:creationId xmlns:p14="http://schemas.microsoft.com/office/powerpoint/2010/main" val="163133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Title Half Tech Scan 1">
    <p:spTree>
      <p:nvGrpSpPr>
        <p:cNvPr id="1" name=""/>
        <p:cNvGrpSpPr/>
        <p:nvPr/>
      </p:nvGrpSpPr>
      <p:grpSpPr>
        <a:xfrm>
          <a:off x="0" y="0"/>
          <a:ext cx="0" cy="0"/>
          <a:chOff x="0" y="0"/>
          <a:chExt cx="0" cy="0"/>
        </a:xfrm>
      </p:grpSpPr>
      <p:pic>
        <p:nvPicPr>
          <p:cNvPr id="7" name="Picture 6" descr="A close-up of a computer&#10;&#10;AI-generated content may be incorrect.">
            <a:extLst>
              <a:ext uri="{FF2B5EF4-FFF2-40B4-BE49-F238E27FC236}">
                <a16:creationId xmlns:a16="http://schemas.microsoft.com/office/drawing/2014/main" id="{627C0BE6-228C-9C0C-59BE-5E3CE9A1D338}"/>
              </a:ext>
            </a:extLst>
          </p:cNvPr>
          <p:cNvPicPr>
            <a:picLocks noChangeAspect="1"/>
          </p:cNvPicPr>
          <p:nvPr userDrawn="1"/>
        </p:nvPicPr>
        <p:blipFill>
          <a:blip r:embed="rId2">
            <a:extLst>
              <a:ext uri="{28A0092B-C50C-407E-A947-70E740481C1C}">
                <a14:useLocalDpi xmlns:a14="http://schemas.microsoft.com/office/drawing/2010/main" val="0"/>
              </a:ext>
            </a:extLst>
          </a:blip>
          <a:srcRect l="33199" r="16875"/>
          <a:stretch/>
        </p:blipFill>
        <p:spPr>
          <a:xfrm>
            <a:off x="6105026" y="0"/>
            <a:ext cx="6086973"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BE3000C1-801E-43EF-158B-C6778F6B64B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2420707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3_Title Half Tech Scan 1">
    <p:spTree>
      <p:nvGrpSpPr>
        <p:cNvPr id="1" name=""/>
        <p:cNvGrpSpPr/>
        <p:nvPr/>
      </p:nvGrpSpPr>
      <p:grpSpPr>
        <a:xfrm>
          <a:off x="0" y="0"/>
          <a:ext cx="0" cy="0"/>
          <a:chOff x="0" y="0"/>
          <a:chExt cx="0" cy="0"/>
        </a:xfrm>
      </p:grpSpPr>
      <p:pic>
        <p:nvPicPr>
          <p:cNvPr id="6" name="Picture 5" descr="A close-up of a computer&#10;&#10;AI-generated content may be incorrect.">
            <a:extLst>
              <a:ext uri="{FF2B5EF4-FFF2-40B4-BE49-F238E27FC236}">
                <a16:creationId xmlns:a16="http://schemas.microsoft.com/office/drawing/2014/main" id="{03C58B30-5587-69A8-915F-FDD75F31D73A}"/>
              </a:ext>
            </a:extLst>
          </p:cNvPr>
          <p:cNvPicPr>
            <a:picLocks noChangeAspect="1"/>
          </p:cNvPicPr>
          <p:nvPr userDrawn="1"/>
        </p:nvPicPr>
        <p:blipFill>
          <a:blip r:embed="rId2"/>
          <a:srcRect l="40001" r="10156"/>
          <a:stretch/>
        </p:blipFill>
        <p:spPr>
          <a:xfrm>
            <a:off x="6115130" y="0"/>
            <a:ext cx="607687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BE3000C1-801E-43EF-158B-C6778F6B64B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1934704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_Title Half Tech Scan 1">
    <p:spTree>
      <p:nvGrpSpPr>
        <p:cNvPr id="1" name=""/>
        <p:cNvGrpSpPr/>
        <p:nvPr/>
      </p:nvGrpSpPr>
      <p:grpSpPr>
        <a:xfrm>
          <a:off x="0" y="0"/>
          <a:ext cx="0" cy="0"/>
          <a:chOff x="0" y="0"/>
          <a:chExt cx="0" cy="0"/>
        </a:xfrm>
      </p:grpSpPr>
      <p:pic>
        <p:nvPicPr>
          <p:cNvPr id="7" name="Picture 6" descr="Close-up of a computer&#10;&#10;AI-generated content may be incorrect.">
            <a:extLst>
              <a:ext uri="{FF2B5EF4-FFF2-40B4-BE49-F238E27FC236}">
                <a16:creationId xmlns:a16="http://schemas.microsoft.com/office/drawing/2014/main" id="{4D99CF31-C788-A10E-15DF-6D89A81E4B08}"/>
              </a:ext>
            </a:extLst>
          </p:cNvPr>
          <p:cNvPicPr>
            <a:picLocks noChangeAspect="1"/>
          </p:cNvPicPr>
          <p:nvPr userDrawn="1"/>
        </p:nvPicPr>
        <p:blipFill>
          <a:blip r:embed="rId2"/>
          <a:srcRect l="29771" r="20469"/>
          <a:stretch/>
        </p:blipFill>
        <p:spPr>
          <a:xfrm>
            <a:off x="6125234" y="0"/>
            <a:ext cx="6066766"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BE3000C1-801E-43EF-158B-C6778F6B64B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240632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5_Title Half Tech Scan 1">
    <p:spTree>
      <p:nvGrpSpPr>
        <p:cNvPr id="1" name=""/>
        <p:cNvGrpSpPr/>
        <p:nvPr/>
      </p:nvGrpSpPr>
      <p:grpSpPr>
        <a:xfrm>
          <a:off x="0" y="0"/>
          <a:ext cx="0" cy="0"/>
          <a:chOff x="0" y="0"/>
          <a:chExt cx="0" cy="0"/>
        </a:xfrm>
      </p:grpSpPr>
      <p:pic>
        <p:nvPicPr>
          <p:cNvPr id="6" name="Picture 5" descr="A close up of a computer&#10;&#10;AI-generated content may be incorrect.">
            <a:extLst>
              <a:ext uri="{FF2B5EF4-FFF2-40B4-BE49-F238E27FC236}">
                <a16:creationId xmlns:a16="http://schemas.microsoft.com/office/drawing/2014/main" id="{D70D4F0D-6FE9-BC5C-FBE4-2F2594FEF335}"/>
              </a:ext>
            </a:extLst>
          </p:cNvPr>
          <p:cNvPicPr>
            <a:picLocks noChangeAspect="1"/>
          </p:cNvPicPr>
          <p:nvPr userDrawn="1"/>
        </p:nvPicPr>
        <p:blipFill>
          <a:blip r:embed="rId2"/>
          <a:srcRect l="50322"/>
          <a:stretch/>
        </p:blipFill>
        <p:spPr>
          <a:xfrm>
            <a:off x="6135338" y="0"/>
            <a:ext cx="6056662"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BE3000C1-801E-43EF-158B-C6778F6B64B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376248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le Half Tech Sca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AC8B23DF-C49A-493B-74A8-359F40BD33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46E80BAE-D63C-356D-256B-A4DA18F448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105236" y="0"/>
            <a:ext cx="6093657" cy="6858000"/>
          </a:xfrm>
          <a:prstGeom prst="rect">
            <a:avLst/>
          </a:prstGeom>
        </p:spPr>
      </p:pic>
    </p:spTree>
    <p:extLst>
      <p:ext uri="{BB962C8B-B14F-4D97-AF65-F5344CB8AC3E}">
        <p14:creationId xmlns:p14="http://schemas.microsoft.com/office/powerpoint/2010/main" val="1757574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_Title Half Tech Scan 2">
    <p:spTree>
      <p:nvGrpSpPr>
        <p:cNvPr id="1" name=""/>
        <p:cNvGrpSpPr/>
        <p:nvPr/>
      </p:nvGrpSpPr>
      <p:grpSpPr>
        <a:xfrm>
          <a:off x="0" y="0"/>
          <a:ext cx="0" cy="0"/>
          <a:chOff x="0" y="0"/>
          <a:chExt cx="0" cy="0"/>
        </a:xfrm>
      </p:grpSpPr>
      <p:pic>
        <p:nvPicPr>
          <p:cNvPr id="9" name="Picture 8" descr="A close up of a keyboard&#10;&#10;AI-generated content may be incorrect.">
            <a:extLst>
              <a:ext uri="{FF2B5EF4-FFF2-40B4-BE49-F238E27FC236}">
                <a16:creationId xmlns:a16="http://schemas.microsoft.com/office/drawing/2014/main" id="{25A0D9E8-B04C-0046-4A40-29DAA3DCF980}"/>
              </a:ext>
            </a:extLst>
          </p:cNvPr>
          <p:cNvPicPr>
            <a:picLocks noChangeAspect="1"/>
          </p:cNvPicPr>
          <p:nvPr userDrawn="1"/>
        </p:nvPicPr>
        <p:blipFill>
          <a:blip r:embed="rId2"/>
          <a:srcRect l="39377" r="10781"/>
          <a:stretch/>
        </p:blipFill>
        <p:spPr>
          <a:xfrm>
            <a:off x="6115340" y="0"/>
            <a:ext cx="607666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AC8B23DF-C49A-493B-74A8-359F40BD3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230653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_Title Half Tech Scan 2">
    <p:spTree>
      <p:nvGrpSpPr>
        <p:cNvPr id="1" name=""/>
        <p:cNvGrpSpPr/>
        <p:nvPr/>
      </p:nvGrpSpPr>
      <p:grpSpPr>
        <a:xfrm>
          <a:off x="0" y="0"/>
          <a:ext cx="0" cy="0"/>
          <a:chOff x="0" y="0"/>
          <a:chExt cx="0" cy="0"/>
        </a:xfrm>
      </p:grpSpPr>
      <p:pic>
        <p:nvPicPr>
          <p:cNvPr id="6" name="Picture 5" descr="A close up of a keyboard&#10;&#10;AI-generated content may be incorrect.">
            <a:extLst>
              <a:ext uri="{FF2B5EF4-FFF2-40B4-BE49-F238E27FC236}">
                <a16:creationId xmlns:a16="http://schemas.microsoft.com/office/drawing/2014/main" id="{67F4EA32-7EF2-BC0D-9517-5CBD82D68122}"/>
              </a:ext>
            </a:extLst>
          </p:cNvPr>
          <p:cNvPicPr>
            <a:picLocks noChangeAspect="1"/>
          </p:cNvPicPr>
          <p:nvPr userDrawn="1"/>
        </p:nvPicPr>
        <p:blipFill>
          <a:blip r:embed="rId2"/>
          <a:srcRect l="42031" r="8210"/>
          <a:stretch/>
        </p:blipFill>
        <p:spPr>
          <a:xfrm>
            <a:off x="6125444" y="0"/>
            <a:ext cx="6066556"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AC8B23DF-C49A-493B-74A8-359F40BD3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2069695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Title Half Tech Scan 2">
    <p:spTree>
      <p:nvGrpSpPr>
        <p:cNvPr id="1" name=""/>
        <p:cNvGrpSpPr/>
        <p:nvPr/>
      </p:nvGrpSpPr>
      <p:grpSpPr>
        <a:xfrm>
          <a:off x="0" y="0"/>
          <a:ext cx="0" cy="0"/>
          <a:chOff x="0" y="0"/>
          <a:chExt cx="0" cy="0"/>
        </a:xfrm>
      </p:grpSpPr>
      <p:pic>
        <p:nvPicPr>
          <p:cNvPr id="7" name="Picture 6" descr="A close-up of a computer&#10;&#10;AI-generated content may be incorrect.">
            <a:extLst>
              <a:ext uri="{FF2B5EF4-FFF2-40B4-BE49-F238E27FC236}">
                <a16:creationId xmlns:a16="http://schemas.microsoft.com/office/drawing/2014/main" id="{5F039720-D42C-51F4-99EA-E8439BBD48AC}"/>
              </a:ext>
            </a:extLst>
          </p:cNvPr>
          <p:cNvPicPr>
            <a:picLocks noChangeAspect="1"/>
          </p:cNvPicPr>
          <p:nvPr userDrawn="1"/>
        </p:nvPicPr>
        <p:blipFill>
          <a:blip r:embed="rId2"/>
          <a:srcRect l="29855" r="20469"/>
          <a:stretch/>
        </p:blipFill>
        <p:spPr>
          <a:xfrm>
            <a:off x="6135548" y="0"/>
            <a:ext cx="6056452"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AC8B23DF-C49A-493B-74A8-359F40BD3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294718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Title Half Tech Scan 2">
    <p:spTree>
      <p:nvGrpSpPr>
        <p:cNvPr id="1" name=""/>
        <p:cNvGrpSpPr/>
        <p:nvPr/>
      </p:nvGrpSpPr>
      <p:grpSpPr>
        <a:xfrm>
          <a:off x="0" y="0"/>
          <a:ext cx="0" cy="0"/>
          <a:chOff x="0" y="0"/>
          <a:chExt cx="0" cy="0"/>
        </a:xfrm>
      </p:grpSpPr>
      <p:pic>
        <p:nvPicPr>
          <p:cNvPr id="6" name="Picture 5" descr="A close-up of a computer screen&#10;&#10;AI-generated content may be incorrect.">
            <a:extLst>
              <a:ext uri="{FF2B5EF4-FFF2-40B4-BE49-F238E27FC236}">
                <a16:creationId xmlns:a16="http://schemas.microsoft.com/office/drawing/2014/main" id="{89647DE7-1F5E-1119-E4B6-B607548B9AC5}"/>
              </a:ext>
            </a:extLst>
          </p:cNvPr>
          <p:cNvPicPr>
            <a:picLocks noChangeAspect="1"/>
          </p:cNvPicPr>
          <p:nvPr userDrawn="1"/>
        </p:nvPicPr>
        <p:blipFill>
          <a:blip r:embed="rId2"/>
          <a:srcRect l="50407"/>
          <a:stretch/>
        </p:blipFill>
        <p:spPr>
          <a:xfrm>
            <a:off x="6145652" y="0"/>
            <a:ext cx="6046348"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AC8B23DF-C49A-493B-74A8-359F40BD3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218297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Title Half Tech Scan 5">
    <p:spTree>
      <p:nvGrpSpPr>
        <p:cNvPr id="1" name=""/>
        <p:cNvGrpSpPr/>
        <p:nvPr/>
      </p:nvGrpSpPr>
      <p:grpSpPr>
        <a:xfrm>
          <a:off x="0" y="0"/>
          <a:ext cx="0" cy="0"/>
          <a:chOff x="0" y="0"/>
          <a:chExt cx="0" cy="0"/>
        </a:xfrm>
      </p:grpSpPr>
      <p:pic>
        <p:nvPicPr>
          <p:cNvPr id="6" name="Picture 5" descr="A close-up of a yellow and blue background&#10;&#10;AI-generated content may be incorrect.">
            <a:extLst>
              <a:ext uri="{FF2B5EF4-FFF2-40B4-BE49-F238E27FC236}">
                <a16:creationId xmlns:a16="http://schemas.microsoft.com/office/drawing/2014/main" id="{1999250E-BDA4-0390-AEC5-DAD1A4A6F0A6}"/>
              </a:ext>
            </a:extLst>
          </p:cNvPr>
          <p:cNvPicPr>
            <a:picLocks noChangeAspect="1"/>
          </p:cNvPicPr>
          <p:nvPr userDrawn="1"/>
        </p:nvPicPr>
        <p:blipFill>
          <a:blip r:embed="rId2"/>
          <a:srcRect l="50170"/>
          <a:stretch/>
        </p:blipFill>
        <p:spPr>
          <a:xfrm>
            <a:off x="6116754" y="0"/>
            <a:ext cx="6075246"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CD178E6C-344F-91D9-35BD-CD8D9458FD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Tree>
    <p:extLst>
      <p:ext uri="{BB962C8B-B14F-4D97-AF65-F5344CB8AC3E}">
        <p14:creationId xmlns:p14="http://schemas.microsoft.com/office/powerpoint/2010/main" val="2189767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2_Title Slide Ligh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68723"/>
            <a:ext cx="9144000" cy="615553"/>
          </a:xfrm>
          <a:noFill/>
        </p:spPr>
        <p:txBody>
          <a:bodyPr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16129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Tree>
    <p:extLst>
      <p:ext uri="{BB962C8B-B14F-4D97-AF65-F5344CB8AC3E}">
        <p14:creationId xmlns:p14="http://schemas.microsoft.com/office/powerpoint/2010/main" val="74681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Section Tech Scan 1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0F875C-81ED-6518-49B5-056DAADAB562}"/>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1"/>
            <a:ext cx="12192002"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300834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2_Horizontal">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B207AD-DEAE-154A-A901-6FD356CDE8A4}"/>
              </a:ext>
            </a:extLst>
          </p:cNvPr>
          <p:cNvSpPr/>
          <p:nvPr userDrawn="1"/>
        </p:nvSpPr>
        <p:spPr>
          <a:xfrm>
            <a:off x="2961411" y="3291776"/>
            <a:ext cx="9230589" cy="1414956"/>
          </a:xfrm>
          <a:prstGeom prst="rect">
            <a:avLst/>
          </a:prstGeom>
          <a:solidFill>
            <a:schemeClr val="bg1">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a:extLst>
              <a:ext uri="{FF2B5EF4-FFF2-40B4-BE49-F238E27FC236}">
                <a16:creationId xmlns:a16="http://schemas.microsoft.com/office/drawing/2014/main" id="{CC7BF76F-4846-4D42-BB24-41761B4010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0" y="6299345"/>
            <a:ext cx="1554480" cy="333103"/>
          </a:xfrm>
          <a:prstGeom prst="rect">
            <a:avLst/>
          </a:prstGeom>
        </p:spPr>
      </p:pic>
      <p:sp>
        <p:nvSpPr>
          <p:cNvPr id="25" name="TextBox 24">
            <a:extLst>
              <a:ext uri="{FF2B5EF4-FFF2-40B4-BE49-F238E27FC236}">
                <a16:creationId xmlns:a16="http://schemas.microsoft.com/office/drawing/2014/main" id="{F5F6FC98-BF54-8E4B-ADCE-416C088B5FD5}"/>
              </a:ext>
            </a:extLst>
          </p:cNvPr>
          <p:cNvSpPr txBox="1"/>
          <p:nvPr userDrawn="1"/>
        </p:nvSpPr>
        <p:spPr>
          <a:xfrm>
            <a:off x="3268758" y="4875180"/>
            <a:ext cx="1905338" cy="215444"/>
          </a:xfrm>
          <a:prstGeom prst="rect">
            <a:avLst/>
          </a:prstGeom>
          <a:noFill/>
          <a:ln>
            <a:noFill/>
          </a:ln>
        </p:spPr>
        <p:txBody>
          <a:bodyPr wrap="square" lIns="0" tIns="0" rIns="0" bIns="0" rtlCol="0" anchor="ctr" anchorCtr="0">
            <a:spAutoFit/>
          </a:bodyPr>
          <a:lstStyle/>
          <a:p>
            <a:r>
              <a:rPr lang="en-US" sz="1400">
                <a:solidFill>
                  <a:schemeClr val="bg1">
                    <a:lumMod val="50000"/>
                  </a:schemeClr>
                </a:solidFill>
                <a:latin typeface="Segoe UI Light" panose="020B0502040204020203" pitchFamily="34" charset="0"/>
                <a:cs typeface="Segoe UI Light" panose="020B0502040204020203" pitchFamily="34" charset="0"/>
              </a:rPr>
              <a:t>Situation:</a:t>
            </a:r>
            <a:endParaRPr lang="en-US" sz="1400">
              <a:solidFill>
                <a:schemeClr val="bg1">
                  <a:lumMod val="50000"/>
                </a:schemeClr>
              </a:solidFill>
            </a:endParaRPr>
          </a:p>
        </p:txBody>
      </p:sp>
      <p:sp>
        <p:nvSpPr>
          <p:cNvPr id="27" name="Text Placeholder 24">
            <a:extLst>
              <a:ext uri="{FF2B5EF4-FFF2-40B4-BE49-F238E27FC236}">
                <a16:creationId xmlns:a16="http://schemas.microsoft.com/office/drawing/2014/main" id="{CEABE899-10A3-484A-9A5F-6B1D4CB09EA4}"/>
              </a:ext>
            </a:extLst>
          </p:cNvPr>
          <p:cNvSpPr>
            <a:spLocks noGrp="1"/>
          </p:cNvSpPr>
          <p:nvPr>
            <p:ph type="body" sz="quarter" idx="10"/>
          </p:nvPr>
        </p:nvSpPr>
        <p:spPr>
          <a:xfrm>
            <a:off x="3268758" y="3460224"/>
            <a:ext cx="8643841" cy="830262"/>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stStyle>
          <a:p>
            <a:pPr lvl="0"/>
            <a:endParaRPr lang="en-US"/>
          </a:p>
        </p:txBody>
      </p:sp>
      <p:sp>
        <p:nvSpPr>
          <p:cNvPr id="28" name="Text Placeholder 28">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5162439"/>
            <a:ext cx="25603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37" name="Text Placeholder 24">
            <a:extLst>
              <a:ext uri="{FF2B5EF4-FFF2-40B4-BE49-F238E27FC236}">
                <a16:creationId xmlns:a16="http://schemas.microsoft.com/office/drawing/2014/main" id="{F5AC1971-A820-D44B-949E-127EE4381960}"/>
              </a:ext>
            </a:extLst>
          </p:cNvPr>
          <p:cNvSpPr>
            <a:spLocks noGrp="1"/>
          </p:cNvSpPr>
          <p:nvPr>
            <p:ph type="body" sz="quarter" idx="11"/>
          </p:nvPr>
        </p:nvSpPr>
        <p:spPr>
          <a:xfrm>
            <a:off x="3268757" y="4423180"/>
            <a:ext cx="8643841" cy="158979"/>
          </a:xfrm>
          <a:prstGeom prst="rect">
            <a:avLst/>
          </a:prstGeom>
        </p:spPr>
        <p:txBody>
          <a:bodyPr lIns="0" tIns="0" rIns="0" bIns="0"/>
          <a:lstStyle>
            <a:lvl1pPr marL="0" indent="0">
              <a:buNone/>
              <a:defRPr sz="1000" b="0" i="0">
                <a:solidFill>
                  <a:schemeClr val="bg1">
                    <a:lumMod val="5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42" name="TextBox 41">
            <a:extLst>
              <a:ext uri="{FF2B5EF4-FFF2-40B4-BE49-F238E27FC236}">
                <a16:creationId xmlns:a16="http://schemas.microsoft.com/office/drawing/2014/main" id="{B59E8476-D4FE-3D4F-9EC9-5DA909E29651}"/>
              </a:ext>
            </a:extLst>
          </p:cNvPr>
          <p:cNvSpPr txBox="1"/>
          <p:nvPr userDrawn="1"/>
        </p:nvSpPr>
        <p:spPr>
          <a:xfrm>
            <a:off x="6183107" y="4875180"/>
            <a:ext cx="1905338" cy="215444"/>
          </a:xfrm>
          <a:prstGeom prst="rect">
            <a:avLst/>
          </a:prstGeom>
          <a:noFill/>
          <a:ln>
            <a:noFill/>
          </a:ln>
        </p:spPr>
        <p:txBody>
          <a:bodyPr wrap="square" lIns="0" tIns="0" rIns="0" bIns="0" rtlCol="0" anchor="ctr" anchorCtr="0">
            <a:spAutoFit/>
          </a:bodyPr>
          <a:lstStyle/>
          <a:p>
            <a:r>
              <a:rPr lang="en-US" sz="1400">
                <a:solidFill>
                  <a:schemeClr val="bg1">
                    <a:lumMod val="50000"/>
                  </a:schemeClr>
                </a:solidFill>
                <a:latin typeface="Segoe UI Light" panose="020B0502040204020203" pitchFamily="34" charset="0"/>
                <a:cs typeface="Segoe UI Light" panose="020B0502040204020203" pitchFamily="34" charset="0"/>
              </a:rPr>
              <a:t>Solution:</a:t>
            </a:r>
            <a:endParaRPr lang="en-US" sz="1400">
              <a:solidFill>
                <a:schemeClr val="bg1">
                  <a:lumMod val="50000"/>
                </a:schemeClr>
              </a:solidFill>
            </a:endParaRPr>
          </a:p>
        </p:txBody>
      </p:sp>
      <p:sp>
        <p:nvSpPr>
          <p:cNvPr id="43" name="Text Placeholder 28">
            <a:extLst>
              <a:ext uri="{FF2B5EF4-FFF2-40B4-BE49-F238E27FC236}">
                <a16:creationId xmlns:a16="http://schemas.microsoft.com/office/drawing/2014/main" id="{847B54F4-C98A-7F4F-8633-A67212D37E3D}"/>
              </a:ext>
            </a:extLst>
          </p:cNvPr>
          <p:cNvSpPr>
            <a:spLocks noGrp="1"/>
          </p:cNvSpPr>
          <p:nvPr>
            <p:ph type="body" sz="quarter" idx="21"/>
          </p:nvPr>
        </p:nvSpPr>
        <p:spPr>
          <a:xfrm>
            <a:off x="6135863" y="5162439"/>
            <a:ext cx="228600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4" name="TextBox 43">
            <a:extLst>
              <a:ext uri="{FF2B5EF4-FFF2-40B4-BE49-F238E27FC236}">
                <a16:creationId xmlns:a16="http://schemas.microsoft.com/office/drawing/2014/main" id="{B1EBCCF4-5394-C04F-AA62-05007544FC0C}"/>
              </a:ext>
            </a:extLst>
          </p:cNvPr>
          <p:cNvSpPr txBox="1"/>
          <p:nvPr userDrawn="1"/>
        </p:nvSpPr>
        <p:spPr>
          <a:xfrm>
            <a:off x="9108124" y="4875180"/>
            <a:ext cx="1905338" cy="215444"/>
          </a:xfrm>
          <a:prstGeom prst="rect">
            <a:avLst/>
          </a:prstGeom>
          <a:noFill/>
          <a:ln>
            <a:noFill/>
          </a:ln>
        </p:spPr>
        <p:txBody>
          <a:bodyPr wrap="square" lIns="0" tIns="0" rIns="0" bIns="0" rtlCol="0" anchor="ctr" anchorCtr="0">
            <a:spAutoFit/>
          </a:bodyPr>
          <a:lstStyle/>
          <a:p>
            <a:r>
              <a:rPr lang="en-US" sz="1400">
                <a:solidFill>
                  <a:schemeClr val="bg1">
                    <a:lumMod val="50000"/>
                  </a:schemeClr>
                </a:solidFill>
                <a:latin typeface="Segoe UI Light" panose="020B0502040204020203" pitchFamily="34" charset="0"/>
                <a:cs typeface="Segoe UI Light" panose="020B0502040204020203" pitchFamily="34" charset="0"/>
              </a:rPr>
              <a:t>Impact:</a:t>
            </a:r>
            <a:endParaRPr lang="en-US" sz="1400">
              <a:solidFill>
                <a:schemeClr val="bg1">
                  <a:lumMod val="50000"/>
                </a:schemeClr>
              </a:solidFill>
            </a:endParaRPr>
          </a:p>
        </p:txBody>
      </p:sp>
      <p:sp>
        <p:nvSpPr>
          <p:cNvPr id="45" name="Text Placeholder 28">
            <a:extLst>
              <a:ext uri="{FF2B5EF4-FFF2-40B4-BE49-F238E27FC236}">
                <a16:creationId xmlns:a16="http://schemas.microsoft.com/office/drawing/2014/main" id="{817B977B-57E9-154C-AA12-E0B3A70688DF}"/>
              </a:ext>
            </a:extLst>
          </p:cNvPr>
          <p:cNvSpPr>
            <a:spLocks noGrp="1"/>
          </p:cNvSpPr>
          <p:nvPr>
            <p:ph type="body" sz="quarter" idx="22"/>
          </p:nvPr>
        </p:nvSpPr>
        <p:spPr>
          <a:xfrm>
            <a:off x="8728648" y="5162439"/>
            <a:ext cx="30175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17" name="Text Placeholder 44">
            <a:extLst>
              <a:ext uri="{FF2B5EF4-FFF2-40B4-BE49-F238E27FC236}">
                <a16:creationId xmlns:a16="http://schemas.microsoft.com/office/drawing/2014/main" id="{7EE6957E-64E7-4044-BFE8-2BF3980E5126}"/>
              </a:ext>
            </a:extLst>
          </p:cNvPr>
          <p:cNvSpPr>
            <a:spLocks noGrp="1"/>
          </p:cNvSpPr>
          <p:nvPr>
            <p:ph type="body" sz="quarter" idx="18"/>
          </p:nvPr>
        </p:nvSpPr>
        <p:spPr>
          <a:xfrm>
            <a:off x="310297" y="3596575"/>
            <a:ext cx="2286000" cy="2397826"/>
          </a:xfrm>
          <a:prstGeom prst="rect">
            <a:avLst/>
          </a:prstGeom>
        </p:spPr>
        <p:txBody>
          <a:bodyPr lIns="0" tIns="0" rIns="0" bIns="0" anchor="b" anchorCtr="0"/>
          <a:lstStyle>
            <a:lvl1pPr marL="0" indent="0">
              <a:lnSpc>
                <a:spcPct val="100000"/>
              </a:lnSpc>
              <a:buNone/>
              <a:defRPr sz="1000" b="1" i="0">
                <a:solidFill>
                  <a:schemeClr val="bg1">
                    <a:lumMod val="50000"/>
                  </a:schemeClr>
                </a:solidFill>
                <a:latin typeface="Segoe UI Semibold" panose="020B0502040204020203" pitchFamily="34" charset="0"/>
                <a:cs typeface="Segoe UI Semibold" panose="020B0502040204020203" pitchFamily="34" charset="0"/>
              </a:defRPr>
            </a:lvl1pPr>
          </a:lstStyle>
          <a:p>
            <a:pPr lvl="0"/>
            <a:endParaRPr lang="en-US"/>
          </a:p>
        </p:txBody>
      </p:sp>
      <p:sp>
        <p:nvSpPr>
          <p:cNvPr id="5" name="Picture Placeholder 4">
            <a:extLst>
              <a:ext uri="{FF2B5EF4-FFF2-40B4-BE49-F238E27FC236}">
                <a16:creationId xmlns:a16="http://schemas.microsoft.com/office/drawing/2014/main" id="{3D70BBFF-3B0B-644F-878A-E178AF5B45E4}"/>
              </a:ext>
            </a:extLst>
          </p:cNvPr>
          <p:cNvSpPr>
            <a:spLocks noGrp="1" noChangeAspect="1"/>
          </p:cNvSpPr>
          <p:nvPr>
            <p:ph type="pic" sz="quarter" idx="23" hasCustomPrompt="1"/>
          </p:nvPr>
        </p:nvSpPr>
        <p:spPr>
          <a:xfrm>
            <a:off x="401737" y="436245"/>
            <a:ext cx="2103120" cy="2103120"/>
          </a:xfrm>
          <a:prstGeom prst="rect">
            <a:avLst/>
          </a:prstGeom>
        </p:spPr>
        <p:txBody>
          <a:bodyPr/>
          <a:lstStyle>
            <a:lvl1pPr marL="0" indent="0">
              <a:buNone/>
              <a:defRPr/>
            </a:lvl1pPr>
          </a:lstStyle>
          <a:p>
            <a:r>
              <a:rPr lang="en-US"/>
              <a:t>Logo</a:t>
            </a:r>
          </a:p>
        </p:txBody>
      </p:sp>
      <p:sp>
        <p:nvSpPr>
          <p:cNvPr id="24" name="Picture Placeholder 6">
            <a:extLst>
              <a:ext uri="{FF2B5EF4-FFF2-40B4-BE49-F238E27FC236}">
                <a16:creationId xmlns:a16="http://schemas.microsoft.com/office/drawing/2014/main" id="{3C57D4FA-1216-4944-BBF6-C83155F9ED20}"/>
              </a:ext>
            </a:extLst>
          </p:cNvPr>
          <p:cNvSpPr>
            <a:spLocks noGrp="1" noChangeAspect="1"/>
          </p:cNvSpPr>
          <p:nvPr>
            <p:ph type="pic" sz="quarter" idx="24" hasCustomPrompt="1"/>
          </p:nvPr>
        </p:nvSpPr>
        <p:spPr>
          <a:xfrm>
            <a:off x="2960688" y="0"/>
            <a:ext cx="9235440" cy="3292475"/>
          </a:xfrm>
          <a:prstGeom prst="rect">
            <a:avLst/>
          </a:prstGeom>
        </p:spPr>
        <p:txBody>
          <a:bodyPr/>
          <a:lstStyle>
            <a:lvl1pPr marL="0" indent="0">
              <a:buNone/>
              <a:defRPr/>
            </a:lvl1pPr>
          </a:lstStyle>
          <a:p>
            <a:r>
              <a:rPr lang="en-US"/>
              <a:t>Horizontal banner image</a:t>
            </a:r>
          </a:p>
        </p:txBody>
      </p:sp>
    </p:spTree>
    <p:extLst>
      <p:ext uri="{BB962C8B-B14F-4D97-AF65-F5344CB8AC3E}">
        <p14:creationId xmlns:p14="http://schemas.microsoft.com/office/powerpoint/2010/main" val="230447037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1_Horizontal">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B207AD-DEAE-154A-A901-6FD356CDE8A4}"/>
              </a:ext>
            </a:extLst>
          </p:cNvPr>
          <p:cNvSpPr/>
          <p:nvPr userDrawn="1"/>
        </p:nvSpPr>
        <p:spPr>
          <a:xfrm>
            <a:off x="2961411" y="3291776"/>
            <a:ext cx="9230589" cy="1290383"/>
          </a:xfrm>
          <a:prstGeom prst="rect">
            <a:avLst/>
          </a:prstGeom>
          <a:solidFill>
            <a:schemeClr val="bg1">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a:extLst>
              <a:ext uri="{FF2B5EF4-FFF2-40B4-BE49-F238E27FC236}">
                <a16:creationId xmlns:a16="http://schemas.microsoft.com/office/drawing/2014/main" id="{CC7BF76F-4846-4D42-BB24-41761B4010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0" y="6299345"/>
            <a:ext cx="1554480" cy="333103"/>
          </a:xfrm>
          <a:prstGeom prst="rect">
            <a:avLst/>
          </a:prstGeom>
        </p:spPr>
      </p:pic>
      <p:sp>
        <p:nvSpPr>
          <p:cNvPr id="25" name="TextBox 24">
            <a:extLst>
              <a:ext uri="{FF2B5EF4-FFF2-40B4-BE49-F238E27FC236}">
                <a16:creationId xmlns:a16="http://schemas.microsoft.com/office/drawing/2014/main" id="{F5F6FC98-BF54-8E4B-ADCE-416C088B5FD5}"/>
              </a:ext>
            </a:extLst>
          </p:cNvPr>
          <p:cNvSpPr txBox="1"/>
          <p:nvPr userDrawn="1"/>
        </p:nvSpPr>
        <p:spPr>
          <a:xfrm>
            <a:off x="3268758" y="4875180"/>
            <a:ext cx="1905338" cy="215444"/>
          </a:xfrm>
          <a:prstGeom prst="rect">
            <a:avLst/>
          </a:prstGeom>
          <a:noFill/>
          <a:ln>
            <a:noFill/>
          </a:ln>
        </p:spPr>
        <p:txBody>
          <a:bodyPr wrap="square" lIns="0" tIns="0" rIns="0" bIns="0" rtlCol="0" anchor="ctr" anchorCtr="0">
            <a:spAutoFit/>
          </a:bodyPr>
          <a:lstStyle/>
          <a:p>
            <a:r>
              <a:rPr lang="en-US" sz="1400">
                <a:solidFill>
                  <a:schemeClr val="bg1">
                    <a:lumMod val="50000"/>
                  </a:schemeClr>
                </a:solidFill>
                <a:latin typeface="Segoe UI Light" panose="020B0502040204020203" pitchFamily="34" charset="0"/>
                <a:cs typeface="Segoe UI Light" panose="020B0502040204020203" pitchFamily="34" charset="0"/>
              </a:rPr>
              <a:t>Situation:</a:t>
            </a:r>
            <a:endParaRPr lang="en-US" sz="1400">
              <a:solidFill>
                <a:schemeClr val="bg1">
                  <a:lumMod val="50000"/>
                </a:schemeClr>
              </a:solidFill>
            </a:endParaRPr>
          </a:p>
        </p:txBody>
      </p:sp>
      <p:sp>
        <p:nvSpPr>
          <p:cNvPr id="27" name="Text Placeholder 24">
            <a:extLst>
              <a:ext uri="{FF2B5EF4-FFF2-40B4-BE49-F238E27FC236}">
                <a16:creationId xmlns:a16="http://schemas.microsoft.com/office/drawing/2014/main" id="{CEABE899-10A3-484A-9A5F-6B1D4CB09EA4}"/>
              </a:ext>
            </a:extLst>
          </p:cNvPr>
          <p:cNvSpPr>
            <a:spLocks noGrp="1"/>
          </p:cNvSpPr>
          <p:nvPr>
            <p:ph type="body" sz="quarter" idx="10"/>
          </p:nvPr>
        </p:nvSpPr>
        <p:spPr>
          <a:xfrm>
            <a:off x="3268758" y="3460224"/>
            <a:ext cx="8643841" cy="830262"/>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stStyle>
          <a:p>
            <a:pPr lvl="0"/>
            <a:endParaRPr lang="en-US"/>
          </a:p>
        </p:txBody>
      </p:sp>
      <p:sp>
        <p:nvSpPr>
          <p:cNvPr id="28" name="Text Placeholder 28">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5162439"/>
            <a:ext cx="25603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37" name="Text Placeholder 24">
            <a:extLst>
              <a:ext uri="{FF2B5EF4-FFF2-40B4-BE49-F238E27FC236}">
                <a16:creationId xmlns:a16="http://schemas.microsoft.com/office/drawing/2014/main" id="{F5AC1971-A820-D44B-949E-127EE4381960}"/>
              </a:ext>
            </a:extLst>
          </p:cNvPr>
          <p:cNvSpPr>
            <a:spLocks noGrp="1"/>
          </p:cNvSpPr>
          <p:nvPr>
            <p:ph type="body" sz="quarter" idx="11"/>
          </p:nvPr>
        </p:nvSpPr>
        <p:spPr>
          <a:xfrm>
            <a:off x="3268757" y="4423180"/>
            <a:ext cx="8643841" cy="158979"/>
          </a:xfrm>
          <a:prstGeom prst="rect">
            <a:avLst/>
          </a:prstGeom>
        </p:spPr>
        <p:txBody>
          <a:bodyPr lIns="0" tIns="0" rIns="0" bIns="0"/>
          <a:lstStyle>
            <a:lvl1pPr marL="0" indent="0">
              <a:buNone/>
              <a:defRPr sz="1000" b="0" i="0">
                <a:solidFill>
                  <a:schemeClr val="bg1">
                    <a:lumMod val="5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42" name="TextBox 41">
            <a:extLst>
              <a:ext uri="{FF2B5EF4-FFF2-40B4-BE49-F238E27FC236}">
                <a16:creationId xmlns:a16="http://schemas.microsoft.com/office/drawing/2014/main" id="{B59E8476-D4FE-3D4F-9EC9-5DA909E29651}"/>
              </a:ext>
            </a:extLst>
          </p:cNvPr>
          <p:cNvSpPr txBox="1"/>
          <p:nvPr userDrawn="1"/>
        </p:nvSpPr>
        <p:spPr>
          <a:xfrm>
            <a:off x="6183107" y="4875180"/>
            <a:ext cx="1905338" cy="215444"/>
          </a:xfrm>
          <a:prstGeom prst="rect">
            <a:avLst/>
          </a:prstGeom>
          <a:noFill/>
          <a:ln>
            <a:noFill/>
          </a:ln>
        </p:spPr>
        <p:txBody>
          <a:bodyPr wrap="square" lIns="0" tIns="0" rIns="0" bIns="0" rtlCol="0" anchor="ctr" anchorCtr="0">
            <a:spAutoFit/>
          </a:bodyPr>
          <a:lstStyle/>
          <a:p>
            <a:r>
              <a:rPr lang="en-US" sz="1400">
                <a:solidFill>
                  <a:schemeClr val="bg1">
                    <a:lumMod val="50000"/>
                  </a:schemeClr>
                </a:solidFill>
                <a:latin typeface="Segoe UI Light" panose="020B0502040204020203" pitchFamily="34" charset="0"/>
                <a:cs typeface="Segoe UI Light" panose="020B0502040204020203" pitchFamily="34" charset="0"/>
              </a:rPr>
              <a:t>Solution:</a:t>
            </a:r>
            <a:endParaRPr lang="en-US" sz="1400">
              <a:solidFill>
                <a:schemeClr val="bg1">
                  <a:lumMod val="50000"/>
                </a:schemeClr>
              </a:solidFill>
            </a:endParaRPr>
          </a:p>
        </p:txBody>
      </p:sp>
      <p:sp>
        <p:nvSpPr>
          <p:cNvPr id="43" name="Text Placeholder 28">
            <a:extLst>
              <a:ext uri="{FF2B5EF4-FFF2-40B4-BE49-F238E27FC236}">
                <a16:creationId xmlns:a16="http://schemas.microsoft.com/office/drawing/2014/main" id="{847B54F4-C98A-7F4F-8633-A67212D37E3D}"/>
              </a:ext>
            </a:extLst>
          </p:cNvPr>
          <p:cNvSpPr>
            <a:spLocks noGrp="1"/>
          </p:cNvSpPr>
          <p:nvPr>
            <p:ph type="body" sz="quarter" idx="21"/>
          </p:nvPr>
        </p:nvSpPr>
        <p:spPr>
          <a:xfrm>
            <a:off x="6135863" y="5162439"/>
            <a:ext cx="228600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4" name="TextBox 43">
            <a:extLst>
              <a:ext uri="{FF2B5EF4-FFF2-40B4-BE49-F238E27FC236}">
                <a16:creationId xmlns:a16="http://schemas.microsoft.com/office/drawing/2014/main" id="{B1EBCCF4-5394-C04F-AA62-05007544FC0C}"/>
              </a:ext>
            </a:extLst>
          </p:cNvPr>
          <p:cNvSpPr txBox="1"/>
          <p:nvPr userDrawn="1"/>
        </p:nvSpPr>
        <p:spPr>
          <a:xfrm>
            <a:off x="9108124" y="4875180"/>
            <a:ext cx="1905338" cy="215444"/>
          </a:xfrm>
          <a:prstGeom prst="rect">
            <a:avLst/>
          </a:prstGeom>
          <a:noFill/>
          <a:ln>
            <a:noFill/>
          </a:ln>
        </p:spPr>
        <p:txBody>
          <a:bodyPr wrap="square" lIns="0" tIns="0" rIns="0" bIns="0" rtlCol="0" anchor="ctr" anchorCtr="0">
            <a:spAutoFit/>
          </a:bodyPr>
          <a:lstStyle/>
          <a:p>
            <a:r>
              <a:rPr lang="en-US" sz="1400">
                <a:solidFill>
                  <a:schemeClr val="bg1">
                    <a:lumMod val="50000"/>
                  </a:schemeClr>
                </a:solidFill>
                <a:latin typeface="Segoe UI Light" panose="020B0502040204020203" pitchFamily="34" charset="0"/>
                <a:cs typeface="Segoe UI Light" panose="020B0502040204020203" pitchFamily="34" charset="0"/>
              </a:rPr>
              <a:t>Impact:</a:t>
            </a:r>
            <a:endParaRPr lang="en-US" sz="1400">
              <a:solidFill>
                <a:schemeClr val="bg1">
                  <a:lumMod val="50000"/>
                </a:schemeClr>
              </a:solidFill>
            </a:endParaRPr>
          </a:p>
        </p:txBody>
      </p:sp>
      <p:sp>
        <p:nvSpPr>
          <p:cNvPr id="45" name="Text Placeholder 28">
            <a:extLst>
              <a:ext uri="{FF2B5EF4-FFF2-40B4-BE49-F238E27FC236}">
                <a16:creationId xmlns:a16="http://schemas.microsoft.com/office/drawing/2014/main" id="{817B977B-57E9-154C-AA12-E0B3A70688DF}"/>
              </a:ext>
            </a:extLst>
          </p:cNvPr>
          <p:cNvSpPr>
            <a:spLocks noGrp="1"/>
          </p:cNvSpPr>
          <p:nvPr>
            <p:ph type="body" sz="quarter" idx="22"/>
          </p:nvPr>
        </p:nvSpPr>
        <p:spPr>
          <a:xfrm>
            <a:off x="8728648" y="5162439"/>
            <a:ext cx="30175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17" name="Text Placeholder 44">
            <a:extLst>
              <a:ext uri="{FF2B5EF4-FFF2-40B4-BE49-F238E27FC236}">
                <a16:creationId xmlns:a16="http://schemas.microsoft.com/office/drawing/2014/main" id="{7EE6957E-64E7-4044-BFE8-2BF3980E5126}"/>
              </a:ext>
            </a:extLst>
          </p:cNvPr>
          <p:cNvSpPr>
            <a:spLocks noGrp="1"/>
          </p:cNvSpPr>
          <p:nvPr>
            <p:ph type="body" sz="quarter" idx="18"/>
          </p:nvPr>
        </p:nvSpPr>
        <p:spPr>
          <a:xfrm>
            <a:off x="310297" y="3596575"/>
            <a:ext cx="2286000" cy="2397826"/>
          </a:xfrm>
          <a:prstGeom prst="rect">
            <a:avLst/>
          </a:prstGeom>
        </p:spPr>
        <p:txBody>
          <a:bodyPr lIns="0" tIns="0" rIns="0" bIns="0" anchor="b" anchorCtr="0"/>
          <a:lstStyle>
            <a:lvl1pPr marL="0" indent="0">
              <a:lnSpc>
                <a:spcPct val="100000"/>
              </a:lnSpc>
              <a:buNone/>
              <a:defRPr sz="1000" b="1" i="0">
                <a:solidFill>
                  <a:schemeClr val="bg1">
                    <a:lumMod val="50000"/>
                  </a:schemeClr>
                </a:solidFill>
                <a:latin typeface="Segoe UI Semibold" panose="020B0502040204020203" pitchFamily="34" charset="0"/>
                <a:cs typeface="Segoe UI Semibold" panose="020B0502040204020203" pitchFamily="34" charset="0"/>
              </a:defRPr>
            </a:lvl1pPr>
          </a:lstStyle>
          <a:p>
            <a:pPr lvl="0"/>
            <a:endParaRPr lang="en-US"/>
          </a:p>
        </p:txBody>
      </p:sp>
      <p:sp>
        <p:nvSpPr>
          <p:cNvPr id="5" name="Picture Placeholder 4">
            <a:extLst>
              <a:ext uri="{FF2B5EF4-FFF2-40B4-BE49-F238E27FC236}">
                <a16:creationId xmlns:a16="http://schemas.microsoft.com/office/drawing/2014/main" id="{3D70BBFF-3B0B-644F-878A-E178AF5B45E4}"/>
              </a:ext>
            </a:extLst>
          </p:cNvPr>
          <p:cNvSpPr>
            <a:spLocks noGrp="1" noChangeAspect="1"/>
          </p:cNvSpPr>
          <p:nvPr>
            <p:ph type="pic" sz="quarter" idx="23" hasCustomPrompt="1"/>
          </p:nvPr>
        </p:nvSpPr>
        <p:spPr>
          <a:xfrm>
            <a:off x="401737" y="436245"/>
            <a:ext cx="2103120" cy="2103120"/>
          </a:xfrm>
          <a:prstGeom prst="rect">
            <a:avLst/>
          </a:prstGeom>
        </p:spPr>
        <p:txBody>
          <a:bodyPr/>
          <a:lstStyle>
            <a:lvl1pPr marL="0" indent="0">
              <a:buNone/>
              <a:defRPr/>
            </a:lvl1pPr>
          </a:lstStyle>
          <a:p>
            <a:r>
              <a:rPr lang="en-US"/>
              <a:t>Logo</a:t>
            </a:r>
          </a:p>
        </p:txBody>
      </p:sp>
      <p:sp>
        <p:nvSpPr>
          <p:cNvPr id="24" name="Picture Placeholder 6">
            <a:extLst>
              <a:ext uri="{FF2B5EF4-FFF2-40B4-BE49-F238E27FC236}">
                <a16:creationId xmlns:a16="http://schemas.microsoft.com/office/drawing/2014/main" id="{3C57D4FA-1216-4944-BBF6-C83155F9ED20}"/>
              </a:ext>
            </a:extLst>
          </p:cNvPr>
          <p:cNvSpPr>
            <a:spLocks noGrp="1" noChangeAspect="1"/>
          </p:cNvSpPr>
          <p:nvPr>
            <p:ph type="pic" sz="quarter" idx="24" hasCustomPrompt="1"/>
          </p:nvPr>
        </p:nvSpPr>
        <p:spPr>
          <a:xfrm>
            <a:off x="2960688" y="0"/>
            <a:ext cx="9235440" cy="3292475"/>
          </a:xfrm>
          <a:prstGeom prst="rect">
            <a:avLst/>
          </a:prstGeom>
        </p:spPr>
        <p:txBody>
          <a:bodyPr/>
          <a:lstStyle>
            <a:lvl1pPr marL="0" indent="0">
              <a:buNone/>
              <a:defRPr/>
            </a:lvl1pPr>
          </a:lstStyle>
          <a:p>
            <a:r>
              <a:rPr lang="en-US"/>
              <a:t>Horizontal banner image</a:t>
            </a:r>
          </a:p>
        </p:txBody>
      </p:sp>
    </p:spTree>
    <p:extLst>
      <p:ext uri="{BB962C8B-B14F-4D97-AF65-F5344CB8AC3E}">
        <p14:creationId xmlns:p14="http://schemas.microsoft.com/office/powerpoint/2010/main" val="215344686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ection title - Secure ident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C11EAE-3A22-E84A-8BC8-11A0D824AB2E}"/>
              </a:ext>
            </a:extLst>
          </p:cNvPr>
          <p:cNvSpPr/>
          <p:nvPr userDrawn="1"/>
        </p:nvSpPr>
        <p:spPr bwMode="auto">
          <a:xfrm>
            <a:off x="5270500" y="0"/>
            <a:ext cx="69215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F1130DED-49F2-7F4A-A1D8-D5BEF2F4F110}"/>
              </a:ext>
            </a:extLst>
          </p:cNvPr>
          <p:cNvPicPr>
            <a:picLocks noChangeAspect="1"/>
          </p:cNvPicPr>
          <p:nvPr userDrawn="1"/>
        </p:nvPicPr>
        <p:blipFill>
          <a:blip r:embed="rId2"/>
          <a:stretch>
            <a:fillRect/>
          </a:stretch>
        </p:blipFill>
        <p:spPr>
          <a:xfrm>
            <a:off x="5692066" y="901699"/>
            <a:ext cx="6245934" cy="4735013"/>
          </a:xfrm>
          <a:prstGeom prst="rect">
            <a:avLst/>
          </a:prstGeom>
        </p:spPr>
      </p:pic>
    </p:spTree>
    <p:extLst>
      <p:ext uri="{BB962C8B-B14F-4D97-AF65-F5344CB8AC3E}">
        <p14:creationId xmlns:p14="http://schemas.microsoft.com/office/powerpoint/2010/main" val="30842584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337063" y="289513"/>
            <a:ext cx="11655840" cy="899665"/>
          </a:xfrm>
        </p:spPr>
        <p:txBody>
          <a:bodyPr tIns="45720" bIns="45720"/>
          <a:lstStyle>
            <a:lvl1pPr>
              <a:defRPr lang="en-US" sz="3600" b="0" kern="1200" cap="none" spc="0" baseline="0" dirty="0">
                <a:ln w="3175">
                  <a:noFill/>
                </a:ln>
                <a:gradFill>
                  <a:gsLst>
                    <a:gs pos="1250">
                      <a:schemeClr val="accent1"/>
                    </a:gs>
                    <a:gs pos="100000">
                      <a:schemeClr val="accent1"/>
                    </a:gs>
                  </a:gsLst>
                  <a:lin ang="5400000" scaled="0"/>
                </a:gradFill>
                <a:effectLst/>
                <a:latin typeface="+mj-lt"/>
                <a:ea typeface="+mn-ea"/>
                <a:cs typeface="Segoe UI" pitchFamily="34" charset="0"/>
              </a:defRPr>
            </a:lvl1pPr>
          </a:lstStyle>
          <a:p>
            <a:r>
              <a:rPr lang="en-US"/>
              <a:t>Title Text Style</a:t>
            </a:r>
          </a:p>
        </p:txBody>
      </p:sp>
      <p:sp>
        <p:nvSpPr>
          <p:cNvPr id="4" name="Content Placeholder 3"/>
          <p:cNvSpPr>
            <a:spLocks noGrp="1"/>
          </p:cNvSpPr>
          <p:nvPr>
            <p:ph sz="quarter" idx="10" hasCustomPrompt="1"/>
          </p:nvPr>
        </p:nvSpPr>
        <p:spPr>
          <a:xfrm>
            <a:off x="337063" y="1189178"/>
            <a:ext cx="11655078" cy="851323"/>
          </a:xfrm>
        </p:spPr>
        <p:txBody>
          <a:bodyPr/>
          <a:lstStyle>
            <a:lvl1pPr>
              <a:defRPr/>
            </a:lvl1pPr>
            <a:lvl2pPr>
              <a:defRPr/>
            </a:lvl2pPr>
            <a:lvl3pPr>
              <a:defRPr/>
            </a:lvl3pPr>
            <a:lvl4pPr>
              <a:defRPr sz="980" b="0"/>
            </a:lvl4pPr>
            <a:lvl5pPr>
              <a:defRPr sz="980" b="0"/>
            </a:lvl5pPr>
          </a:lstStyle>
          <a:p>
            <a:pPr lvl="0"/>
            <a:r>
              <a:rPr lang="en-US"/>
              <a:t>Subheading text style</a:t>
            </a:r>
          </a:p>
          <a:p>
            <a:pPr lvl="1"/>
            <a:r>
              <a:rPr lang="en-US"/>
              <a:t>Paragraph title text style</a:t>
            </a:r>
          </a:p>
          <a:p>
            <a:pPr lvl="2"/>
            <a:r>
              <a:rPr lang="en-US"/>
              <a:t>Body text style</a:t>
            </a:r>
          </a:p>
        </p:txBody>
      </p:sp>
    </p:spTree>
    <p:extLst>
      <p:ext uri="{BB962C8B-B14F-4D97-AF65-F5344CB8AC3E}">
        <p14:creationId xmlns:p14="http://schemas.microsoft.com/office/powerpoint/2010/main" val="2788700161"/>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vert="horz" wrap="square" lIns="0" tIns="0" rIns="0" bIns="0" rtlCol="0" anchor="t">
            <a:spAutoFit/>
          </a:bodyPr>
          <a:lstStyle>
            <a:lvl1pPr>
              <a:defRPr lang="en-US"/>
            </a:lvl1pPr>
          </a:lstStyle>
          <a:p>
            <a:pPr lvl="0"/>
            <a:r>
              <a:rPr lang="en-US"/>
              <a:t>Click to edit Master title style</a:t>
            </a:r>
          </a:p>
        </p:txBody>
      </p:sp>
    </p:spTree>
    <p:extLst>
      <p:ext uri="{BB962C8B-B14F-4D97-AF65-F5344CB8AC3E}">
        <p14:creationId xmlns:p14="http://schemas.microsoft.com/office/powerpoint/2010/main" val="35818937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_Section_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9"/>
          </a:xfrm>
          <a:noFill/>
        </p:spPr>
        <p:txBody>
          <a:bodyPr lIns="0" tIns="0" rIns="0" bIns="0" anchor="b" anchorCtr="0">
            <a:spAutoFit/>
          </a:bodyPr>
          <a:lstStyle>
            <a:lvl1pPr>
              <a:defRPr sz="3600" spc="-51" baseline="0">
                <a:gradFill>
                  <a:gsLst>
                    <a:gs pos="62564">
                      <a:schemeClr val="tx1"/>
                    </a:gs>
                    <a:gs pos="55000">
                      <a:schemeClr val="tx1"/>
                    </a:gs>
                  </a:gsLst>
                  <a:lin ang="5400000" scaled="0"/>
                </a:gradFill>
                <a:latin typeface="+mj-lt"/>
                <a:cs typeface="Segoe UI" panose="020B0502040204020203" pitchFamily="34" charset="0"/>
              </a:defRPr>
            </a:lvl1pPr>
          </a:lstStyle>
          <a:p>
            <a:r>
              <a:rPr lang="en-US"/>
              <a:t>Section title </a:t>
            </a:r>
          </a:p>
        </p:txBody>
      </p:sp>
      <p:grpSp>
        <p:nvGrpSpPr>
          <p:cNvPr id="8" name="Group 7">
            <a:extLst>
              <a:ext uri="{FF2B5EF4-FFF2-40B4-BE49-F238E27FC236}">
                <a16:creationId xmlns:a16="http://schemas.microsoft.com/office/drawing/2014/main" id="{0C904686-1582-4110-8932-0DA530CDB97B}"/>
              </a:ext>
            </a:extLst>
          </p:cNvPr>
          <p:cNvGrpSpPr/>
          <p:nvPr userDrawn="1"/>
        </p:nvGrpSpPr>
        <p:grpSpPr>
          <a:xfrm>
            <a:off x="7608892" y="1405230"/>
            <a:ext cx="3222616" cy="3703096"/>
            <a:chOff x="7578734" y="1512789"/>
            <a:chExt cx="3222616" cy="3703096"/>
          </a:xfrm>
        </p:grpSpPr>
        <p:grpSp>
          <p:nvGrpSpPr>
            <p:cNvPr id="10" name="Group 9">
              <a:extLst>
                <a:ext uri="{FF2B5EF4-FFF2-40B4-BE49-F238E27FC236}">
                  <a16:creationId xmlns:a16="http://schemas.microsoft.com/office/drawing/2014/main" id="{9C865DBD-317F-442F-B394-977884445547}"/>
                </a:ext>
              </a:extLst>
            </p:cNvPr>
            <p:cNvGrpSpPr/>
            <p:nvPr/>
          </p:nvGrpSpPr>
          <p:grpSpPr>
            <a:xfrm>
              <a:off x="7578734" y="1512789"/>
              <a:ext cx="3222616" cy="3703096"/>
              <a:chOff x="7830194" y="1899080"/>
              <a:chExt cx="2518414" cy="2893903"/>
            </a:xfrm>
          </p:grpSpPr>
          <p:sp>
            <p:nvSpPr>
              <p:cNvPr id="12" name="Oval 11">
                <a:extLst>
                  <a:ext uri="{FF2B5EF4-FFF2-40B4-BE49-F238E27FC236}">
                    <a16:creationId xmlns:a16="http://schemas.microsoft.com/office/drawing/2014/main" id="{A76E8D15-F1DA-4A78-9BF9-47CAC847D0DF}"/>
                  </a:ext>
                </a:extLst>
              </p:cNvPr>
              <p:cNvSpPr/>
              <p:nvPr/>
            </p:nvSpPr>
            <p:spPr bwMode="auto">
              <a:xfrm>
                <a:off x="7830194" y="2274571"/>
                <a:ext cx="2518414" cy="2518412"/>
              </a:xfrm>
              <a:prstGeom prst="ellipse">
                <a:avLst/>
              </a:prstGeom>
              <a:noFill/>
              <a:ln w="76200" cap="sq">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gradFill>
                    <a:gsLst>
                      <a:gs pos="0">
                        <a:srgbClr val="505050"/>
                      </a:gs>
                      <a:gs pos="100000">
                        <a:srgbClr val="505050"/>
                      </a:gs>
                    </a:gsLst>
                  </a:gradFill>
                  <a:effectLst/>
                  <a:uLnTx/>
                  <a:uFillTx/>
                  <a:latin typeface="Segoe UI"/>
                  <a:ea typeface="+mn-ea"/>
                  <a:cs typeface="+mn-cs"/>
                </a:endParaRPr>
              </a:p>
            </p:txBody>
          </p:sp>
          <p:pic>
            <p:nvPicPr>
              <p:cNvPr id="13" name="Graphic 7">
                <a:extLst>
                  <a:ext uri="{FF2B5EF4-FFF2-40B4-BE49-F238E27FC236}">
                    <a16:creationId xmlns:a16="http://schemas.microsoft.com/office/drawing/2014/main" id="{B64B2ADD-47A5-4B19-9B54-50FCFF49A3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42363" y="2386739"/>
                <a:ext cx="2294075" cy="2294075"/>
              </a:xfrm>
              <a:prstGeom prst="rect">
                <a:avLst/>
              </a:prstGeom>
            </p:spPr>
          </p:pic>
          <p:sp>
            <p:nvSpPr>
              <p:cNvPr id="14" name="TextBox 8">
                <a:extLst>
                  <a:ext uri="{FF2B5EF4-FFF2-40B4-BE49-F238E27FC236}">
                    <a16:creationId xmlns:a16="http://schemas.microsoft.com/office/drawing/2014/main" id="{A0EB55C6-8F14-40AA-97C8-48121E93750F}"/>
                  </a:ext>
                </a:extLst>
              </p:cNvPr>
              <p:cNvSpPr txBox="1"/>
              <p:nvPr/>
            </p:nvSpPr>
            <p:spPr>
              <a:xfrm>
                <a:off x="8947534" y="1899080"/>
                <a:ext cx="221731" cy="336730"/>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a:gradFill>
                      <a:gsLst>
                        <a:gs pos="2917">
                          <a:schemeClr val="tx1">
                            <a:alpha val="20000"/>
                          </a:schemeClr>
                        </a:gs>
                        <a:gs pos="30000">
                          <a:schemeClr val="tx1">
                            <a:alpha val="20000"/>
                          </a:schemeClr>
                        </a:gs>
                      </a:gsLst>
                      <a:lin ang="5400000" scaled="0"/>
                    </a:gradFill>
                  </a:rPr>
                  <a:t>N</a:t>
                </a:r>
              </a:p>
            </p:txBody>
          </p:sp>
        </p:grpSp>
        <p:sp>
          <p:nvSpPr>
            <p:cNvPr id="11" name="key">
              <a:extLst>
                <a:ext uri="{FF2B5EF4-FFF2-40B4-BE49-F238E27FC236}">
                  <a16:creationId xmlns:a16="http://schemas.microsoft.com/office/drawing/2014/main" id="{55D14D35-FB4B-48D8-BA1B-5B586056D506}"/>
                </a:ext>
              </a:extLst>
            </p:cNvPr>
            <p:cNvSpPr>
              <a:spLocks noChangeAspect="1" noEditPoints="1"/>
            </p:cNvSpPr>
            <p:nvPr/>
          </p:nvSpPr>
          <p:spPr bwMode="auto">
            <a:xfrm rot="2700000">
              <a:off x="9002415" y="3421699"/>
              <a:ext cx="367646" cy="365760"/>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solidFill>
              <a:schemeClr val="accent1"/>
            </a:solidFill>
            <a:ln w="44450" cap="sq">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gradFill>
                  <a:gsLst>
                    <a:gs pos="0">
                      <a:srgbClr val="505050"/>
                    </a:gs>
                    <a:gs pos="100000">
                      <a:srgbClr val="505050"/>
                    </a:gs>
                  </a:gsLst>
                </a:gradFill>
              </a:endParaRPr>
            </a:p>
          </p:txBody>
        </p:sp>
      </p:grpSp>
    </p:spTree>
    <p:extLst>
      <p:ext uri="{BB962C8B-B14F-4D97-AF65-F5344CB8AC3E}">
        <p14:creationId xmlns:p14="http://schemas.microsoft.com/office/powerpoint/2010/main" val="35728337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91" y="1264251"/>
            <a:ext cx="11018520" cy="1612749"/>
          </a:xfrm>
        </p:spPr>
        <p:txBody>
          <a:bodyPr wrap="square">
            <a:spAutoFit/>
          </a:bodyPr>
          <a:lstStyle>
            <a:lvl1pPr marL="0" indent="0">
              <a:buNone/>
              <a:defRPr/>
            </a:lvl1pPr>
            <a:lvl2pPr marL="228594" indent="0">
              <a:buNone/>
              <a:defRPr/>
            </a:lvl2pPr>
            <a:lvl3pPr marL="457189" indent="0">
              <a:buNone/>
              <a:defRPr/>
            </a:lvl3pPr>
            <a:lvl4pPr marL="685783" indent="0">
              <a:buNone/>
              <a:defRPr/>
            </a:lvl4pPr>
            <a:lvl5pPr marL="914377"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3456458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userDrawn="1"/>
        </p:nvSpPr>
        <p:spPr bwMode="auto">
          <a:xfrm>
            <a:off x="0" y="0"/>
            <a:ext cx="12192000" cy="12089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bg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CCCF4131-8CCF-4171-B985-EAF865CC55EF}"/>
              </a:ext>
            </a:extLst>
          </p:cNvPr>
          <p:cNvGrpSpPr/>
          <p:nvPr userDrawn="1"/>
        </p:nvGrpSpPr>
        <p:grpSpPr>
          <a:xfrm>
            <a:off x="10798157" y="457199"/>
            <a:ext cx="1100156" cy="564349"/>
            <a:chOff x="9946913" y="171645"/>
            <a:chExt cx="1656824" cy="849904"/>
          </a:xfrm>
        </p:grpSpPr>
        <p:sp>
          <p:nvSpPr>
            <p:cNvPr id="6" name="Graphic 4">
              <a:extLst>
                <a:ext uri="{FF2B5EF4-FFF2-40B4-BE49-F238E27FC236}">
                  <a16:creationId xmlns:a16="http://schemas.microsoft.com/office/drawing/2014/main" id="{494D7464-294F-4164-ACF7-0EDEA0812105}"/>
                </a:ext>
              </a:extLst>
            </p:cNvPr>
            <p:cNvSpPr/>
            <p:nvPr/>
          </p:nvSpPr>
          <p:spPr>
            <a:xfrm>
              <a:off x="994691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8773D37F-9426-48AF-9E30-19EA4A3E4F07}"/>
                </a:ext>
              </a:extLst>
            </p:cNvPr>
            <p:cNvSpPr/>
            <p:nvPr userDrawn="1"/>
          </p:nvSpPr>
          <p:spPr>
            <a:xfrm>
              <a:off x="10689786" y="171645"/>
              <a:ext cx="521445"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26D5F151-C3B9-4DC3-A552-E8B16BA82E44}"/>
                </a:ext>
              </a:extLst>
            </p:cNvPr>
            <p:cNvSpPr/>
            <p:nvPr userDrawn="1"/>
          </p:nvSpPr>
          <p:spPr>
            <a:xfrm>
              <a:off x="1108229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1218594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Full Photo 1">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0946579-D753-EB82-9EBE-711F5D6636F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2145"/>
            <a:ext cx="12192000" cy="6862290"/>
          </a:xfrm>
          <a:prstGeom prst="rect">
            <a:avLst/>
          </a:prstGeom>
        </p:spPr>
      </p:pic>
      <p:sp>
        <p:nvSpPr>
          <p:cNvPr id="11" name="Rectangle 10">
            <a:extLst>
              <a:ext uri="{FF2B5EF4-FFF2-40B4-BE49-F238E27FC236}">
                <a16:creationId xmlns:a16="http://schemas.microsoft.com/office/drawing/2014/main" id="{5DFD4B58-CDF6-72D9-EA78-42606F61566B}"/>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E399"/>
              </a:gs>
              <a:gs pos="100000">
                <a:srgbClr val="FFE399">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5" y="2302431"/>
            <a:ext cx="4397375"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5" y="3962400"/>
            <a:ext cx="438785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3" name="Group 2">
            <a:extLst>
              <a:ext uri="{FF2B5EF4-FFF2-40B4-BE49-F238E27FC236}">
                <a16:creationId xmlns:a16="http://schemas.microsoft.com/office/drawing/2014/main" id="{42C728BE-0286-086C-B905-4C6760B953FF}"/>
              </a:ext>
            </a:extLst>
          </p:cNvPr>
          <p:cNvGrpSpPr/>
          <p:nvPr userDrawn="1"/>
        </p:nvGrpSpPr>
        <p:grpSpPr>
          <a:xfrm>
            <a:off x="358775" y="358775"/>
            <a:ext cx="2290019" cy="290497"/>
            <a:chOff x="358775" y="358775"/>
            <a:chExt cx="2290019" cy="290497"/>
          </a:xfrm>
        </p:grpSpPr>
        <p:grpSp>
          <p:nvGrpSpPr>
            <p:cNvPr id="4" name="Graphic 6" descr="Microsoft Security">
              <a:extLst>
                <a:ext uri="{FF2B5EF4-FFF2-40B4-BE49-F238E27FC236}">
                  <a16:creationId xmlns:a16="http://schemas.microsoft.com/office/drawing/2014/main" id="{A7A37CDA-9BC0-95F6-C977-12615C4D439C}"/>
                </a:ext>
              </a:extLst>
            </p:cNvPr>
            <p:cNvGrpSpPr/>
            <p:nvPr/>
          </p:nvGrpSpPr>
          <p:grpSpPr>
            <a:xfrm>
              <a:off x="1790370" y="412960"/>
              <a:ext cx="858424" cy="231672"/>
              <a:chOff x="1790370" y="412960"/>
              <a:chExt cx="858424" cy="231672"/>
            </a:xfrm>
            <a:solidFill>
              <a:schemeClr val="tx1"/>
            </a:solidFill>
          </p:grpSpPr>
          <p:sp>
            <p:nvSpPr>
              <p:cNvPr id="14" name="Freeform: Shape 13">
                <a:extLst>
                  <a:ext uri="{FF2B5EF4-FFF2-40B4-BE49-F238E27FC236}">
                    <a16:creationId xmlns:a16="http://schemas.microsoft.com/office/drawing/2014/main" id="{17C11848-0D05-742B-68F1-3B9B19BB0571}"/>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solidFill>
                <a:srgbClr val="454142"/>
              </a:solid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93DBC450-0591-F512-AE00-F6EB6B2B8741}"/>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solidFill>
                <a:srgbClr val="454142"/>
              </a:solid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4C64C3B0-F112-C518-7033-27CF492BF534}"/>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solidFill>
                <a:srgbClr val="454142"/>
              </a:solid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27727395-2B8D-ED9C-A96C-A0F1249FA1C9}"/>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solidFill>
                <a:srgbClr val="454142"/>
              </a:solid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1C0A0895-420B-8DED-BDA3-5DF7FA708574}"/>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solidFill>
                <a:srgbClr val="454142"/>
              </a:solid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55221164-3884-315A-9F3E-5ADC62DDEF99}"/>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solidFill>
                <a:srgbClr val="454142"/>
              </a:solid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B4E58CFD-A81E-A2C1-1565-840570514D65}"/>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solidFill>
                <a:srgbClr val="454142"/>
              </a:solidFill>
              <a:ln w="40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AC6D5123-61AE-0398-2D60-757C21B9091C}"/>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solidFill>
                <a:srgbClr val="454142"/>
              </a:solidFill>
              <a:ln w="4025" cap="flat">
                <a:noFill/>
                <a:prstDash val="solid"/>
                <a:miter/>
              </a:ln>
            </p:spPr>
            <p:txBody>
              <a:bodyPr rtlCol="0" anchor="ctr"/>
              <a:lstStyle/>
              <a:p>
                <a:endParaRPr lang="en-GB"/>
              </a:p>
            </p:txBody>
          </p:sp>
        </p:grpSp>
        <p:sp>
          <p:nvSpPr>
            <p:cNvPr id="6" name="Freeform: Shape 5">
              <a:extLst>
                <a:ext uri="{FF2B5EF4-FFF2-40B4-BE49-F238E27FC236}">
                  <a16:creationId xmlns:a16="http://schemas.microsoft.com/office/drawing/2014/main" id="{EB54297E-9055-5B89-B164-E202CC9A905F}"/>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rgbClr val="454142"/>
            </a:solidFill>
            <a:ln w="40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B8DA8629-7635-30E3-FF15-3E6172318354}"/>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E6CF4FD4-9C59-72A0-86BB-2AA8F0DF8390}"/>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4045B8D8-5379-1AD1-95D5-64760CB0E3EB}"/>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2942FE6D-0A19-3779-8D39-86725857228A}"/>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41093029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7" pos="3000">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Full Photo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4829336-D518-B358-7303-8178BC20AF2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0" y="1382"/>
            <a:ext cx="12192000" cy="6855236"/>
          </a:xfrm>
          <a:prstGeom prst="rect">
            <a:avLst/>
          </a:prstGeom>
        </p:spPr>
      </p:pic>
      <p:sp>
        <p:nvSpPr>
          <p:cNvPr id="3" name="Rectangle 2">
            <a:extLst>
              <a:ext uri="{FF2B5EF4-FFF2-40B4-BE49-F238E27FC236}">
                <a16:creationId xmlns:a16="http://schemas.microsoft.com/office/drawing/2014/main" id="{A37097AE-CB80-8F48-F10A-6DD048C0C675}"/>
              </a:ext>
              <a:ext uri="{C183D7F6-B498-43B3-948B-1728B52AA6E4}">
                <adec:decorative xmlns:adec="http://schemas.microsoft.com/office/drawing/2017/decorative" val="1"/>
              </a:ext>
            </a:extLst>
          </p:cNvPr>
          <p:cNvSpPr/>
          <p:nvPr userDrawn="1"/>
        </p:nvSpPr>
        <p:spPr bwMode="auto">
          <a:xfrm>
            <a:off x="0" y="0"/>
            <a:ext cx="8597245" cy="6858000"/>
          </a:xfrm>
          <a:prstGeom prst="rect">
            <a:avLst/>
          </a:prstGeom>
          <a:gradFill flip="none" rotWithShape="1">
            <a:gsLst>
              <a:gs pos="0">
                <a:srgbClr val="000000">
                  <a:alpha val="50000"/>
                </a:srgbClr>
              </a:gs>
              <a:gs pos="100000">
                <a:srgbClr val="000000">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5" y="2302431"/>
            <a:ext cx="4397375"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5" y="3962400"/>
            <a:ext cx="4397375"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24" name="Group 23">
            <a:extLst>
              <a:ext uri="{FF2B5EF4-FFF2-40B4-BE49-F238E27FC236}">
                <a16:creationId xmlns:a16="http://schemas.microsoft.com/office/drawing/2014/main" id="{45EF38B3-0434-9034-D041-4C4D253A1C72}"/>
              </a:ext>
            </a:extLst>
          </p:cNvPr>
          <p:cNvGrpSpPr/>
          <p:nvPr userDrawn="1"/>
        </p:nvGrpSpPr>
        <p:grpSpPr>
          <a:xfrm>
            <a:off x="358775" y="358775"/>
            <a:ext cx="2290019" cy="290497"/>
            <a:chOff x="358775" y="358775"/>
            <a:chExt cx="2290019" cy="290497"/>
          </a:xfrm>
        </p:grpSpPr>
        <p:grpSp>
          <p:nvGrpSpPr>
            <p:cNvPr id="9" name="Graphic 6" descr="Microsoft Security">
              <a:extLst>
                <a:ext uri="{FF2B5EF4-FFF2-40B4-BE49-F238E27FC236}">
                  <a16:creationId xmlns:a16="http://schemas.microsoft.com/office/drawing/2014/main" id="{1CC86001-2168-A192-54CF-F6FF5989C279}"/>
                </a:ext>
              </a:extLst>
            </p:cNvPr>
            <p:cNvGrpSpPr/>
            <p:nvPr/>
          </p:nvGrpSpPr>
          <p:grpSpPr>
            <a:xfrm>
              <a:off x="1790370" y="412960"/>
              <a:ext cx="858424" cy="231672"/>
              <a:chOff x="1790370" y="412960"/>
              <a:chExt cx="858424" cy="231672"/>
            </a:xfrm>
            <a:solidFill>
              <a:schemeClr val="tx1"/>
            </a:solidFill>
          </p:grpSpPr>
          <p:sp>
            <p:nvSpPr>
              <p:cNvPr id="11" name="Freeform: Shape 10">
                <a:extLst>
                  <a:ext uri="{FF2B5EF4-FFF2-40B4-BE49-F238E27FC236}">
                    <a16:creationId xmlns:a16="http://schemas.microsoft.com/office/drawing/2014/main" id="{8CA2641D-F012-6587-E395-9B8C4854C6B6}"/>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E0160EA4-F385-2151-B7E3-D7C33272CB24}"/>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858E9016-1D26-7811-8155-76FF11D8C4F8}"/>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F86FBE55-370C-3A45-2CF4-662913516D32}"/>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5ACF1F08-C022-63B9-29B2-4D4EE6DF4C52}"/>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03A3D221-743E-3CC0-55A2-F9AA7F4F9744}"/>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731C0DA4-FC63-58A0-4E36-EB6CEF14CCF0}"/>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BBE5E473-419B-772F-E9F5-D358543B52F6}"/>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19" name="Freeform: Shape 18">
              <a:extLst>
                <a:ext uri="{FF2B5EF4-FFF2-40B4-BE49-F238E27FC236}">
                  <a16:creationId xmlns:a16="http://schemas.microsoft.com/office/drawing/2014/main" id="{02B5AB0B-D7D5-4EA7-A93A-3A8D1EAC6371}"/>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6B4B7DB1-900C-4A9E-56C2-FA5741B2CDF7}"/>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39C3C54A-2C14-FA79-9F63-38AF52A33294}"/>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AB1713E1-C3DD-BE95-42E3-F0D16C4259E3}"/>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EC58521B-8C97-0387-FD03-BE69D9BCFA2E}"/>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88361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7" pos="2996">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Full Photo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18B7FA5-5F12-7CD7-6D40-01EB073E58A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ltGray">
          <a:xfrm>
            <a:off x="0" y="1566"/>
            <a:ext cx="12192000" cy="6854867"/>
          </a:xfrm>
          <a:prstGeom prst="rect">
            <a:avLst/>
          </a:prstGeom>
        </p:spPr>
      </p:pic>
      <p:sp>
        <p:nvSpPr>
          <p:cNvPr id="3" name="Rectangle 2">
            <a:extLst>
              <a:ext uri="{FF2B5EF4-FFF2-40B4-BE49-F238E27FC236}">
                <a16:creationId xmlns:a16="http://schemas.microsoft.com/office/drawing/2014/main" id="{F5659676-01B7-3FED-8149-6F194C468C33}"/>
              </a:ext>
              <a:ext uri="{C183D7F6-B498-43B3-948B-1728B52AA6E4}">
                <adec:decorative xmlns:adec="http://schemas.microsoft.com/office/drawing/2017/decorative" val="1"/>
              </a:ext>
            </a:extLst>
          </p:cNvPr>
          <p:cNvSpPr/>
          <p:nvPr userDrawn="1"/>
        </p:nvSpPr>
        <p:spPr bwMode="auto">
          <a:xfrm>
            <a:off x="0" y="0"/>
            <a:ext cx="5867400" cy="6858000"/>
          </a:xfrm>
          <a:prstGeom prst="rect">
            <a:avLst/>
          </a:prstGeom>
          <a:gradFill flip="none" rotWithShape="1">
            <a:gsLst>
              <a:gs pos="0">
                <a:srgbClr val="5C4738">
                  <a:alpha val="80000"/>
                </a:srgbClr>
              </a:gs>
              <a:gs pos="100000">
                <a:srgbClr val="BF9474">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5" y="2302431"/>
            <a:ext cx="5127625"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4" y="3962400"/>
            <a:ext cx="5127625"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4" name="Group 3">
            <a:extLst>
              <a:ext uri="{FF2B5EF4-FFF2-40B4-BE49-F238E27FC236}">
                <a16:creationId xmlns:a16="http://schemas.microsoft.com/office/drawing/2014/main" id="{4FEEDF17-EAEA-F6EB-024F-89EC2867926F}"/>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96140F8A-0744-3B81-D900-067858B9A089}"/>
                </a:ext>
              </a:extLst>
            </p:cNvPr>
            <p:cNvGrpSpPr/>
            <p:nvPr/>
          </p:nvGrpSpPr>
          <p:grpSpPr>
            <a:xfrm>
              <a:off x="1790370" y="412960"/>
              <a:ext cx="858424" cy="231672"/>
              <a:chOff x="1790370" y="412960"/>
              <a:chExt cx="858424" cy="231672"/>
            </a:xfrm>
            <a:solidFill>
              <a:schemeClr val="tx1"/>
            </a:solidFill>
          </p:grpSpPr>
          <p:sp>
            <p:nvSpPr>
              <p:cNvPr id="14" name="Freeform: Shape 13">
                <a:extLst>
                  <a:ext uri="{FF2B5EF4-FFF2-40B4-BE49-F238E27FC236}">
                    <a16:creationId xmlns:a16="http://schemas.microsoft.com/office/drawing/2014/main" id="{93164492-A976-C7DE-B7C5-4B1F93E3EDBC}"/>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CA78F227-EB70-0E61-C2D3-A6A3A9DF2E9C}"/>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8D2F358E-0DB0-8334-E27B-542D94F75EE3}"/>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6AF0C625-97A9-3733-E6A8-4E1B150E2E1C}"/>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CD181DA4-8518-9656-5DCC-58AECBE7841B}"/>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F4B74127-5230-9485-ECCA-A5C8DDC7882A}"/>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9827FD01-7408-AF3F-545E-AC4013779ABF}"/>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26CB99AA-76FE-0EAA-0E97-E0542B2BD053}"/>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5069CD60-D0A6-439A-2289-4874FC8050CE}"/>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F881C59A-D032-2396-3864-31AB3128C13D}"/>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383A4B5-49AA-2116-ACBB-6D690550EB7C}"/>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7AC4F590-8C96-48A9-B5A4-0C32C174472F}"/>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643E94D2-DA21-76A7-8B2B-F3D6B7CC2663}"/>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2878916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7" pos="3840">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Half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5" y="2302431"/>
            <a:ext cx="5127625"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4" y="3962400"/>
            <a:ext cx="5127625"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6" name="Picture 5">
            <a:extLst>
              <a:ext uri="{FF2B5EF4-FFF2-40B4-BE49-F238E27FC236}">
                <a16:creationId xmlns:a16="http://schemas.microsoft.com/office/drawing/2014/main" id="{BF0680A9-E1CB-5B53-219D-F848CCF7051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6104448" y="0"/>
            <a:ext cx="6087552" cy="6858000"/>
          </a:xfrm>
          <a:prstGeom prst="rect">
            <a:avLst/>
          </a:prstGeom>
        </p:spPr>
      </p:pic>
      <p:grpSp>
        <p:nvGrpSpPr>
          <p:cNvPr id="3" name="Group 2">
            <a:extLst>
              <a:ext uri="{FF2B5EF4-FFF2-40B4-BE49-F238E27FC236}">
                <a16:creationId xmlns:a16="http://schemas.microsoft.com/office/drawing/2014/main" id="{ACD1FF04-77EC-579E-8768-0832425DD105}"/>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36C65E23-3A1A-9198-7B8B-E226E1C0935B}"/>
                </a:ext>
              </a:extLst>
            </p:cNvPr>
            <p:cNvGrpSpPr/>
            <p:nvPr/>
          </p:nvGrpSpPr>
          <p:grpSpPr>
            <a:xfrm>
              <a:off x="1790370" y="412960"/>
              <a:ext cx="858424" cy="231672"/>
              <a:chOff x="1790370" y="412960"/>
              <a:chExt cx="858424" cy="231672"/>
            </a:xfrm>
            <a:solidFill>
              <a:schemeClr val="tx1"/>
            </a:solidFill>
          </p:grpSpPr>
          <p:sp>
            <p:nvSpPr>
              <p:cNvPr id="13" name="Freeform: Shape 12">
                <a:extLst>
                  <a:ext uri="{FF2B5EF4-FFF2-40B4-BE49-F238E27FC236}">
                    <a16:creationId xmlns:a16="http://schemas.microsoft.com/office/drawing/2014/main" id="{6DCD6014-B5DA-ADE7-FB44-AE3FE89962D8}"/>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0ADB4822-B861-AA35-7F9A-2605367D92E2}"/>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F1F472BF-A6D4-1E18-0BB2-5AFC6702EA8D}"/>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B56D5044-A1A4-153E-4D7D-F8591A677DA9}"/>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A49060C8-48DB-4922-AB6B-00C1D67B125F}"/>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36456AFD-F850-D339-3F24-A5C04BFA93BF}"/>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C02FE352-E653-76C6-E65B-67D20F4FEA90}"/>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673D4846-1296-5EDB-D780-CC211F6D8289}"/>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9C5E975C-4227-A315-15F2-3C527576B45C}"/>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4F3EB73E-4BB4-F124-793C-5D4216E74478}"/>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0E8A401-B7A3-065D-02C2-D262B81AD310}"/>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96DAC9B2-1513-26BD-6103-F1F7038B6F31}"/>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1546199-6C9D-828C-CFE0-6D228A4A168A}"/>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414809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840">
          <p15:clr>
            <a:srgbClr val="5ACBF0"/>
          </p15:clr>
        </p15:guide>
        <p15:guide id="7" pos="3456">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Half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5"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5"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9" name="Picture 8">
            <a:extLst>
              <a:ext uri="{FF2B5EF4-FFF2-40B4-BE49-F238E27FC236}">
                <a16:creationId xmlns:a16="http://schemas.microsoft.com/office/drawing/2014/main" id="{CDCA5EAB-92AF-CBDC-3913-B7A5E08A602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6104448" y="0"/>
            <a:ext cx="6087552" cy="6858000"/>
          </a:xfrm>
          <a:prstGeom prst="rect">
            <a:avLst/>
          </a:prstGeom>
        </p:spPr>
      </p:pic>
      <p:grpSp>
        <p:nvGrpSpPr>
          <p:cNvPr id="3" name="Group 2">
            <a:extLst>
              <a:ext uri="{FF2B5EF4-FFF2-40B4-BE49-F238E27FC236}">
                <a16:creationId xmlns:a16="http://schemas.microsoft.com/office/drawing/2014/main" id="{3A1CA2BC-88BF-A317-17B1-C0A2B59C67CF}"/>
              </a:ext>
            </a:extLst>
          </p:cNvPr>
          <p:cNvGrpSpPr/>
          <p:nvPr userDrawn="1"/>
        </p:nvGrpSpPr>
        <p:grpSpPr>
          <a:xfrm>
            <a:off x="358775" y="358775"/>
            <a:ext cx="2290019" cy="290497"/>
            <a:chOff x="358775" y="358775"/>
            <a:chExt cx="2290019" cy="290497"/>
          </a:xfrm>
        </p:grpSpPr>
        <p:grpSp>
          <p:nvGrpSpPr>
            <p:cNvPr id="6" name="Graphic 6" descr="Microsoft Security">
              <a:extLst>
                <a:ext uri="{FF2B5EF4-FFF2-40B4-BE49-F238E27FC236}">
                  <a16:creationId xmlns:a16="http://schemas.microsoft.com/office/drawing/2014/main" id="{186F569D-2DA7-7142-5BB2-104DB4774DD5}"/>
                </a:ext>
              </a:extLst>
            </p:cNvPr>
            <p:cNvGrpSpPr/>
            <p:nvPr/>
          </p:nvGrpSpPr>
          <p:grpSpPr>
            <a:xfrm>
              <a:off x="1790370" y="412960"/>
              <a:ext cx="858424" cy="231672"/>
              <a:chOff x="1790370" y="412960"/>
              <a:chExt cx="858424" cy="231672"/>
            </a:xfrm>
            <a:solidFill>
              <a:schemeClr val="tx1"/>
            </a:solidFill>
          </p:grpSpPr>
          <p:sp>
            <p:nvSpPr>
              <p:cNvPr id="13" name="Freeform: Shape 12">
                <a:extLst>
                  <a:ext uri="{FF2B5EF4-FFF2-40B4-BE49-F238E27FC236}">
                    <a16:creationId xmlns:a16="http://schemas.microsoft.com/office/drawing/2014/main" id="{103BAC8E-1AD2-EC20-8405-09E786D89E44}"/>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CFF4CBFD-73AC-320E-4357-31B5B3F0E86F}"/>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95F091DB-35C4-C6A8-8F69-ADBA87D8A639}"/>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4176E02E-3DC1-DD09-1387-F8BD982BA7AF}"/>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7B410F1D-9549-BAAD-7E05-E39E3A490C80}"/>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835E4C16-A7D0-9D82-D237-10CA68D7F781}"/>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6EEFE4AA-B78B-E7A1-5D93-53AF3473463F}"/>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3D2B2E09-034B-637A-7EA1-BDCE33559BEF}"/>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7" name="Freeform: Shape 6">
              <a:extLst>
                <a:ext uri="{FF2B5EF4-FFF2-40B4-BE49-F238E27FC236}">
                  <a16:creationId xmlns:a16="http://schemas.microsoft.com/office/drawing/2014/main" id="{E26D457A-AFB9-A887-E9A0-3A44F3331FAB}"/>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1CD2DBF0-CF6F-A919-62C1-10FEC1BD9452}"/>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0C54947C-96F6-C6E6-B59F-A978A323E856}"/>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9ED70185-E899-81D1-00EA-3FC204AF1BBF}"/>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F0289AA0-9701-53A4-F7B4-5BA462BED902}"/>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19004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840">
          <p15:clr>
            <a:srgbClr val="5ACBF0"/>
          </p15:clr>
        </p15:guide>
        <p15:guide id="7" pos="3456">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Half Tech Sca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5" y="2302431"/>
            <a:ext cx="5127625"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4" y="3962400"/>
            <a:ext cx="5127625"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6" name="Picture 5">
            <a:extLst>
              <a:ext uri="{FF2B5EF4-FFF2-40B4-BE49-F238E27FC236}">
                <a16:creationId xmlns:a16="http://schemas.microsoft.com/office/drawing/2014/main" id="{E2CEF103-1FB7-7E05-B436-1B39BEED90A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094923" y="0"/>
            <a:ext cx="6097077" cy="6858000"/>
          </a:xfrm>
          <a:prstGeom prst="rect">
            <a:avLst/>
          </a:prstGeom>
        </p:spPr>
      </p:pic>
      <p:grpSp>
        <p:nvGrpSpPr>
          <p:cNvPr id="3" name="Group 2">
            <a:extLst>
              <a:ext uri="{FF2B5EF4-FFF2-40B4-BE49-F238E27FC236}">
                <a16:creationId xmlns:a16="http://schemas.microsoft.com/office/drawing/2014/main" id="{B6289FEB-333F-13DD-67FF-0D5CFAD1805C}"/>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271308DF-0A1B-B921-3B53-59A3D89E9FED}"/>
                </a:ext>
              </a:extLst>
            </p:cNvPr>
            <p:cNvGrpSpPr/>
            <p:nvPr/>
          </p:nvGrpSpPr>
          <p:grpSpPr>
            <a:xfrm>
              <a:off x="1790370" y="412960"/>
              <a:ext cx="858424" cy="231672"/>
              <a:chOff x="1790370" y="412960"/>
              <a:chExt cx="858424" cy="231672"/>
            </a:xfrm>
            <a:solidFill>
              <a:schemeClr val="tx1"/>
            </a:solidFill>
          </p:grpSpPr>
          <p:sp>
            <p:nvSpPr>
              <p:cNvPr id="13" name="Freeform: Shape 12">
                <a:extLst>
                  <a:ext uri="{FF2B5EF4-FFF2-40B4-BE49-F238E27FC236}">
                    <a16:creationId xmlns:a16="http://schemas.microsoft.com/office/drawing/2014/main" id="{5A4DA678-E59F-A53C-B669-458C94EC52AF}"/>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354F0B40-F438-9080-C643-AE8E14A8BB03}"/>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64B767C-CFA1-5869-406B-BB1B9B0B17BB}"/>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AF3BDCE1-F9C7-73A5-A43D-141657666015}"/>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340CF54-4FA5-72A3-BE50-D5FBEC055FEB}"/>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98BDDDC8-A891-2CDC-DB11-AD302C5FF3D3}"/>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5F43D948-0427-985F-2AB7-295FF8991F5E}"/>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9996475B-1974-5A93-F9AC-DA0A1D40225E}"/>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9AD58572-C99B-10AF-25DB-9BA670C81D8E}"/>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129EE11B-0FC2-CF83-8E8B-8238F28A6558}"/>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F66E1276-1B3D-A9ED-8F2C-49606265CBAB}"/>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FD6B1018-60D3-E543-41B0-5E7770ADE2B7}"/>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E947DD2-5C8B-60A2-9E46-1A52E4BAC97B}"/>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283360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7" pos="3840">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Half Tech Sca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5" y="2302431"/>
            <a:ext cx="5127625"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4" y="3962400"/>
            <a:ext cx="5127625"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6" name="Picture 5">
            <a:extLst>
              <a:ext uri="{FF2B5EF4-FFF2-40B4-BE49-F238E27FC236}">
                <a16:creationId xmlns:a16="http://schemas.microsoft.com/office/drawing/2014/main" id="{46E80BAE-D63C-356D-256B-A4DA18F4480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096000" y="0"/>
            <a:ext cx="6093657" cy="6858000"/>
          </a:xfrm>
          <a:prstGeom prst="rect">
            <a:avLst/>
          </a:prstGeom>
        </p:spPr>
      </p:pic>
      <p:grpSp>
        <p:nvGrpSpPr>
          <p:cNvPr id="3" name="Group 2">
            <a:extLst>
              <a:ext uri="{FF2B5EF4-FFF2-40B4-BE49-F238E27FC236}">
                <a16:creationId xmlns:a16="http://schemas.microsoft.com/office/drawing/2014/main" id="{AE432E05-D2F3-9C26-2D06-DE1C640A1B2A}"/>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5739BBC2-60F2-F733-74F9-C0D9DAFCF9D2}"/>
                </a:ext>
              </a:extLst>
            </p:cNvPr>
            <p:cNvGrpSpPr/>
            <p:nvPr/>
          </p:nvGrpSpPr>
          <p:grpSpPr>
            <a:xfrm>
              <a:off x="1790370" y="412960"/>
              <a:ext cx="858424" cy="231672"/>
              <a:chOff x="1790370" y="412960"/>
              <a:chExt cx="858424" cy="231672"/>
            </a:xfrm>
            <a:solidFill>
              <a:schemeClr val="tx1"/>
            </a:solidFill>
          </p:grpSpPr>
          <p:sp>
            <p:nvSpPr>
              <p:cNvPr id="13" name="Freeform: Shape 12">
                <a:extLst>
                  <a:ext uri="{FF2B5EF4-FFF2-40B4-BE49-F238E27FC236}">
                    <a16:creationId xmlns:a16="http://schemas.microsoft.com/office/drawing/2014/main" id="{3BE71E4D-BAA9-E44F-A667-4F650D4D7BF7}"/>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086D232F-E018-EB87-ED2D-F3C8FE5C5A4F}"/>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560259E2-89DE-40EB-F796-FF7B01F01468}"/>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75617449-2CDE-D3BC-04A4-AB9EC064E0E1}"/>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282798A4-4C17-5CFE-AA9B-4E5A0F3BA890}"/>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B22C388B-DF66-F0EA-85CE-729CFE1A61F2}"/>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4CD5247F-8150-2B6D-2487-95EB49009015}"/>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42C86370-E10D-46FA-41F9-D05E2DED4336}"/>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91A35256-F3DC-8D23-19EE-D1FAE9538153}"/>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13F087A9-B1CE-2D47-AFEB-1A9FDB543A82}"/>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9808D97E-0AD1-4365-8222-7D1EA17CFF2B}"/>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DAA85896-208E-14FB-5A9E-0A82574487F8}"/>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5BA4633-0879-4DC6-3BF8-B137BE866ED7}"/>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626083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7" pos="3840">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Half Tech Sca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5" y="2302431"/>
            <a:ext cx="5126400"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5" y="3962400"/>
            <a:ext cx="5126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6" name="Picture 5">
            <a:extLst>
              <a:ext uri="{FF2B5EF4-FFF2-40B4-BE49-F238E27FC236}">
                <a16:creationId xmlns:a16="http://schemas.microsoft.com/office/drawing/2014/main" id="{F296BEBD-F376-AC3C-6FAF-856A71D2218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092376" y="0"/>
            <a:ext cx="6099624" cy="6858000"/>
          </a:xfrm>
          <a:prstGeom prst="rect">
            <a:avLst/>
          </a:prstGeom>
        </p:spPr>
      </p:pic>
      <p:grpSp>
        <p:nvGrpSpPr>
          <p:cNvPr id="3" name="Group 2">
            <a:extLst>
              <a:ext uri="{FF2B5EF4-FFF2-40B4-BE49-F238E27FC236}">
                <a16:creationId xmlns:a16="http://schemas.microsoft.com/office/drawing/2014/main" id="{ABAE9A45-7FA6-0284-5B28-149888E598B4}"/>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0B0E6946-9267-0BAD-8AF1-4318E6D71352}"/>
                </a:ext>
              </a:extLst>
            </p:cNvPr>
            <p:cNvGrpSpPr/>
            <p:nvPr/>
          </p:nvGrpSpPr>
          <p:grpSpPr>
            <a:xfrm>
              <a:off x="1790370" y="412960"/>
              <a:ext cx="858424" cy="231672"/>
              <a:chOff x="1790370" y="412960"/>
              <a:chExt cx="858424" cy="231672"/>
            </a:xfrm>
            <a:solidFill>
              <a:schemeClr val="tx1"/>
            </a:solidFill>
          </p:grpSpPr>
          <p:sp>
            <p:nvSpPr>
              <p:cNvPr id="13" name="Freeform: Shape 12">
                <a:extLst>
                  <a:ext uri="{FF2B5EF4-FFF2-40B4-BE49-F238E27FC236}">
                    <a16:creationId xmlns:a16="http://schemas.microsoft.com/office/drawing/2014/main" id="{62CB76C8-0282-8392-C5C1-E5B59AD3D753}"/>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E3A727D0-F83B-EDD1-3B2B-5C6F80E725C3}"/>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7B1C6AD8-A7D4-C53D-29FE-E58BD707289F}"/>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68DC84A1-95A3-E54F-017D-3EDEB7F63D30}"/>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C2478B61-4FC8-AE10-42AF-C15682556CB2}"/>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85CB6080-8B0A-CBEE-FA8B-3511EF4004DC}"/>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A327F4BC-E666-69A0-5A06-1EEA3A45336E}"/>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7B29ED2E-135B-AFAE-935B-6F5F9F720E2A}"/>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85A95C4C-FF19-3EC3-36CB-0203E1E989EF}"/>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56AD6C30-A9CE-49FB-7478-6A9CF473BFF4}"/>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0CE1F2A3-E88E-EBC2-ECAE-2598AEAAD4E2}"/>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4DDA4222-0996-ACBA-FEC1-71C4D20E9AF9}"/>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68BE61DC-1F0E-5BA9-D880-6DA2AC841D25}"/>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2169891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7" pos="3840">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Half Tech Scan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4" y="2302431"/>
            <a:ext cx="5126400"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5" y="3962400"/>
            <a:ext cx="5126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6" name="Picture 5">
            <a:extLst>
              <a:ext uri="{FF2B5EF4-FFF2-40B4-BE49-F238E27FC236}">
                <a16:creationId xmlns:a16="http://schemas.microsoft.com/office/drawing/2014/main" id="{0AF7A637-33BF-289F-AA74-069C187A117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096573" y="0"/>
            <a:ext cx="6095427" cy="6858000"/>
          </a:xfrm>
          <a:prstGeom prst="rect">
            <a:avLst/>
          </a:prstGeom>
        </p:spPr>
      </p:pic>
      <p:grpSp>
        <p:nvGrpSpPr>
          <p:cNvPr id="3" name="Group 2">
            <a:extLst>
              <a:ext uri="{FF2B5EF4-FFF2-40B4-BE49-F238E27FC236}">
                <a16:creationId xmlns:a16="http://schemas.microsoft.com/office/drawing/2014/main" id="{CFDD063B-82AB-D77C-074A-5E7209824C6F}"/>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E9EDA0FE-55A7-4740-21CC-3CC1227A591A}"/>
                </a:ext>
              </a:extLst>
            </p:cNvPr>
            <p:cNvGrpSpPr/>
            <p:nvPr/>
          </p:nvGrpSpPr>
          <p:grpSpPr>
            <a:xfrm>
              <a:off x="1790370" y="412960"/>
              <a:ext cx="858424" cy="231672"/>
              <a:chOff x="1790370" y="412960"/>
              <a:chExt cx="858424" cy="231672"/>
            </a:xfrm>
            <a:solidFill>
              <a:schemeClr val="tx1"/>
            </a:solidFill>
          </p:grpSpPr>
          <p:sp>
            <p:nvSpPr>
              <p:cNvPr id="13" name="Freeform: Shape 12">
                <a:extLst>
                  <a:ext uri="{FF2B5EF4-FFF2-40B4-BE49-F238E27FC236}">
                    <a16:creationId xmlns:a16="http://schemas.microsoft.com/office/drawing/2014/main" id="{DFBFE465-5388-0AF0-5FAA-A08BE28BC760}"/>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1D935661-C35D-99B0-268F-F5195954890A}"/>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FEF838FE-1D59-9F41-0E28-95F7AA1712C9}"/>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5F4AD999-403B-B28E-0202-186F2778CF12}"/>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230BD0C2-A074-73F9-21B4-7801EBFE2FC2}"/>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9D171F2F-DC5F-9C97-78BB-C6E9EF154B79}"/>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FB7EF7BB-D2D1-8EC4-70F9-21639A9BEEED}"/>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E489A348-A1D6-6265-9C7E-A0537790CFA0}"/>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491CB26E-DE6D-C9D4-7AA3-0A460E1B2A6B}"/>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3D840D93-4C9F-5772-B89F-367304223794}"/>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D8D48CD8-B604-784E-1C2C-64DE5119DC80}"/>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3D1D279B-2F6F-FAA1-D047-B9A22A9A9AAF}"/>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98768237-4B3C-3B0D-5427-9292CE3B30B9}"/>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3440280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7" pos="3840">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Half Tech Scan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58774" y="2302431"/>
            <a:ext cx="5127625"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58774" y="3962400"/>
            <a:ext cx="5127625"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6" name="Picture 5">
            <a:extLst>
              <a:ext uri="{FF2B5EF4-FFF2-40B4-BE49-F238E27FC236}">
                <a16:creationId xmlns:a16="http://schemas.microsoft.com/office/drawing/2014/main" id="{ABC8923B-7A7F-A404-F664-261AEFD5662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096547" y="0"/>
            <a:ext cx="6095453" cy="6858000"/>
          </a:xfrm>
          <a:prstGeom prst="rect">
            <a:avLst/>
          </a:prstGeom>
        </p:spPr>
      </p:pic>
      <p:grpSp>
        <p:nvGrpSpPr>
          <p:cNvPr id="3" name="Group 2">
            <a:extLst>
              <a:ext uri="{FF2B5EF4-FFF2-40B4-BE49-F238E27FC236}">
                <a16:creationId xmlns:a16="http://schemas.microsoft.com/office/drawing/2014/main" id="{0ACE8C83-B9EF-F7DA-0008-BCD80D9FFFE6}"/>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99082FE5-02AD-1283-BC48-71613AE4240F}"/>
                </a:ext>
              </a:extLst>
            </p:cNvPr>
            <p:cNvGrpSpPr/>
            <p:nvPr/>
          </p:nvGrpSpPr>
          <p:grpSpPr>
            <a:xfrm>
              <a:off x="1790370" y="412960"/>
              <a:ext cx="858424" cy="231672"/>
              <a:chOff x="1790370" y="412960"/>
              <a:chExt cx="858424" cy="231672"/>
            </a:xfrm>
            <a:solidFill>
              <a:schemeClr val="tx1"/>
            </a:solidFill>
          </p:grpSpPr>
          <p:sp>
            <p:nvSpPr>
              <p:cNvPr id="13" name="Freeform: Shape 12">
                <a:extLst>
                  <a:ext uri="{FF2B5EF4-FFF2-40B4-BE49-F238E27FC236}">
                    <a16:creationId xmlns:a16="http://schemas.microsoft.com/office/drawing/2014/main" id="{02350050-70D2-8B26-9917-7736DFE2AD3E}"/>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5AB2098F-8FA2-2780-2083-4A3648BAAC33}"/>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2AB2DAFB-0516-F28E-9D86-076088D717CB}"/>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7C2B7469-F066-B462-38ED-BC3C83F623E0}"/>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678418F-5981-D227-D74A-9EF81BBB83A3}"/>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1BDF30B7-DFC9-E988-6DDF-CBBC2EEB7F1E}"/>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7C0312FC-4792-71A8-A98F-02DFB15A4982}"/>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EDC16530-6F3C-70EA-A80A-20F013B78C78}"/>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EE057E78-8F3D-5182-3B92-1AA57C67D174}"/>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AC5BE028-2F8F-7389-BD60-9197A80D9AFA}"/>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10F05AC4-10AC-30A7-B89F-43A312A65B18}"/>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92788A73-A7B7-2D61-A0C9-0239FA6363AC}"/>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62B65243-EBE0-BD8C-70AA-651A913C3906}"/>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3404030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7" pos="3840">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Tech Scan 1">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8A38B7E-C277-EC82-55D7-6481C181A98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ltGray">
          <a:xfrm>
            <a:off x="2" y="1"/>
            <a:ext cx="12191998" cy="6857998"/>
          </a:xfrm>
          <a:prstGeom prst="rect">
            <a:avLst/>
          </a:prstGeom>
        </p:spPr>
      </p:pic>
      <p:sp>
        <p:nvSpPr>
          <p:cNvPr id="6" name="Rectangle 5">
            <a:extLst>
              <a:ext uri="{FF2B5EF4-FFF2-40B4-BE49-F238E27FC236}">
                <a16:creationId xmlns:a16="http://schemas.microsoft.com/office/drawing/2014/main" id="{CA38D12B-EC7B-EA1B-4057-AF9DA412C46D}"/>
              </a:ext>
              <a:ext uri="{C183D7F6-B498-43B3-948B-1728B52AA6E4}">
                <adec:decorative xmlns:adec="http://schemas.microsoft.com/office/drawing/2017/decorative" val="1"/>
              </a:ext>
            </a:extLst>
          </p:cNvPr>
          <p:cNvSpPr/>
          <p:nvPr userDrawn="1"/>
        </p:nvSpPr>
        <p:spPr bwMode="auto">
          <a:xfrm>
            <a:off x="0" y="0"/>
            <a:ext cx="5867400" cy="6858000"/>
          </a:xfrm>
          <a:prstGeom prst="rect">
            <a:avLst/>
          </a:prstGeom>
          <a:gradFill flip="none" rotWithShape="1">
            <a:gsLst>
              <a:gs pos="0">
                <a:schemeClr val="bg1">
                  <a:alpha val="50000"/>
                </a:schemeClr>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7A3AACD-E573-9F14-634A-1D5A1A0EAE10}"/>
              </a:ext>
            </a:extLst>
          </p:cNvPr>
          <p:cNvSpPr>
            <a:spLocks noGrp="1"/>
          </p:cNvSpPr>
          <p:nvPr>
            <p:ph type="title" hasCustomPrompt="1"/>
          </p:nvPr>
        </p:nvSpPr>
        <p:spPr>
          <a:xfrm>
            <a:off x="358774" y="2302431"/>
            <a:ext cx="4402800"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1AEC04C3-05AF-D886-BA04-C2B92AE1C11E}"/>
              </a:ext>
            </a:extLst>
          </p:cNvPr>
          <p:cNvSpPr>
            <a:spLocks noGrp="1"/>
          </p:cNvSpPr>
          <p:nvPr>
            <p:ph type="body" sz="quarter" idx="12" hasCustomPrompt="1"/>
          </p:nvPr>
        </p:nvSpPr>
        <p:spPr>
          <a:xfrm>
            <a:off x="358774" y="3962400"/>
            <a:ext cx="4402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5" name="Group 4">
            <a:extLst>
              <a:ext uri="{FF2B5EF4-FFF2-40B4-BE49-F238E27FC236}">
                <a16:creationId xmlns:a16="http://schemas.microsoft.com/office/drawing/2014/main" id="{463BDC55-11CF-F180-0C1A-71FCD08CBE19}"/>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4E7882EA-3E76-5368-903A-8CCFE6662E7C}"/>
                </a:ext>
              </a:extLst>
            </p:cNvPr>
            <p:cNvGrpSpPr/>
            <p:nvPr/>
          </p:nvGrpSpPr>
          <p:grpSpPr>
            <a:xfrm>
              <a:off x="1790370" y="412960"/>
              <a:ext cx="858424" cy="231672"/>
              <a:chOff x="1790370" y="412960"/>
              <a:chExt cx="858424" cy="231672"/>
            </a:xfrm>
            <a:solidFill>
              <a:schemeClr val="tx1"/>
            </a:solidFill>
          </p:grpSpPr>
          <p:sp>
            <p:nvSpPr>
              <p:cNvPr id="14" name="Freeform: Shape 13">
                <a:extLst>
                  <a:ext uri="{FF2B5EF4-FFF2-40B4-BE49-F238E27FC236}">
                    <a16:creationId xmlns:a16="http://schemas.microsoft.com/office/drawing/2014/main" id="{0A4F7B3D-2D4C-B97A-C116-B60B01D2BE4D}"/>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solidFill>
                <a:srgbClr val="454142"/>
              </a:solid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A83DEDD8-76C9-EC4F-197A-B376B8E0758C}"/>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solidFill>
                <a:srgbClr val="454142"/>
              </a:solid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FA7C12A6-E1B5-6DF6-622C-74A7CBAE599C}"/>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solidFill>
                <a:srgbClr val="454142"/>
              </a:solid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E61C5D0-0128-C1F1-805D-889DB59A3482}"/>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solidFill>
                <a:srgbClr val="454142"/>
              </a:solid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540224F2-7ABE-D3E8-2F9E-A76327FEB948}"/>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solidFill>
                <a:srgbClr val="454142"/>
              </a:solid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05F04953-34CE-BA10-83A0-1604C9CBBC6C}"/>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solidFill>
                <a:srgbClr val="454142"/>
              </a:solid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9CCA6CB9-1523-17B8-E23B-4E951CBE72BB}"/>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solidFill>
                <a:srgbClr val="454142"/>
              </a:solidFill>
              <a:ln w="40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CC884B69-A4F3-FFBD-FF00-0AB44121CBF9}"/>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solidFill>
                <a:srgbClr val="454142"/>
              </a:solid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C7809620-D364-3E34-A1D4-F71450A49711}"/>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rgbClr val="454142"/>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C90ECAE0-30A0-26EF-E9D6-FDAE9BFEAEF5}"/>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6BAC26DA-0D58-8B98-2B87-28077BB8DC93}"/>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0CF06679-9F94-314C-E8DE-8D8F03DC3B6A}"/>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C41AD198-F829-BACD-7766-D2B0DCE10532}"/>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22853712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guide id="5" pos="3000">
          <p15:clr>
            <a:srgbClr val="5ACBF0"/>
          </p15:clr>
        </p15:guide>
        <p15:guide id="6" pos="3360">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Title Tech Scan 1">
    <p:bg>
      <p:bgRef idx="1001">
        <a:schemeClr val="bg1"/>
      </p:bgRef>
    </p:bg>
    <p:spTree>
      <p:nvGrpSpPr>
        <p:cNvPr id="1" name=""/>
        <p:cNvGrpSpPr/>
        <p:nvPr/>
      </p:nvGrpSpPr>
      <p:grpSpPr>
        <a:xfrm>
          <a:off x="0" y="0"/>
          <a:ext cx="0" cy="0"/>
          <a:chOff x="0" y="0"/>
          <a:chExt cx="0" cy="0"/>
        </a:xfrm>
      </p:grpSpPr>
      <p:pic>
        <p:nvPicPr>
          <p:cNvPr id="3" name="Picture 2" descr="A blue sky with white clouds&#10;&#10;AI-generated content may be incorrect.">
            <a:extLst>
              <a:ext uri="{FF2B5EF4-FFF2-40B4-BE49-F238E27FC236}">
                <a16:creationId xmlns:a16="http://schemas.microsoft.com/office/drawing/2014/main" id="{09A2407E-9CA5-B759-B49C-5460F7F6EC2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7A3AACD-E573-9F14-634A-1D5A1A0EAE10}"/>
              </a:ext>
            </a:extLst>
          </p:cNvPr>
          <p:cNvSpPr>
            <a:spLocks noGrp="1"/>
          </p:cNvSpPr>
          <p:nvPr>
            <p:ph type="title" hasCustomPrompt="1"/>
          </p:nvPr>
        </p:nvSpPr>
        <p:spPr>
          <a:xfrm>
            <a:off x="358774" y="2302431"/>
            <a:ext cx="4402800" cy="1231106"/>
          </a:xfrm>
        </p:spPr>
        <p:txBody>
          <a:bodyPr anchor="b" anchorCtr="0">
            <a:spAutoFit/>
          </a:bodyPr>
          <a:lstStyle>
            <a:lvl1pPr>
              <a:defRPr sz="4000">
                <a:solidFill>
                  <a:schemeClr val="tx1"/>
                </a:solidFill>
                <a:latin typeface="+mn-lt"/>
              </a:defRPr>
            </a:lvl1pPr>
          </a:lstStyle>
          <a:p>
            <a:r>
              <a:rPr lang="en-US"/>
              <a:t>Event name or presentation title </a:t>
            </a:r>
          </a:p>
        </p:txBody>
      </p:sp>
      <p:sp>
        <p:nvSpPr>
          <p:cNvPr id="4" name="Text Placeholder 4">
            <a:extLst>
              <a:ext uri="{FF2B5EF4-FFF2-40B4-BE49-F238E27FC236}">
                <a16:creationId xmlns:a16="http://schemas.microsoft.com/office/drawing/2014/main" id="{1AEC04C3-05AF-D886-BA04-C2B92AE1C11E}"/>
              </a:ext>
            </a:extLst>
          </p:cNvPr>
          <p:cNvSpPr>
            <a:spLocks noGrp="1"/>
          </p:cNvSpPr>
          <p:nvPr>
            <p:ph type="body" sz="quarter" idx="12" hasCustomPrompt="1"/>
          </p:nvPr>
        </p:nvSpPr>
        <p:spPr>
          <a:xfrm>
            <a:off x="358774" y="3962400"/>
            <a:ext cx="4402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5" name="Group 4">
            <a:extLst>
              <a:ext uri="{FF2B5EF4-FFF2-40B4-BE49-F238E27FC236}">
                <a16:creationId xmlns:a16="http://schemas.microsoft.com/office/drawing/2014/main" id="{463BDC55-11CF-F180-0C1A-71FCD08CBE19}"/>
              </a:ext>
            </a:extLst>
          </p:cNvPr>
          <p:cNvGrpSpPr/>
          <p:nvPr userDrawn="1"/>
        </p:nvGrpSpPr>
        <p:grpSpPr>
          <a:xfrm>
            <a:off x="358775" y="358775"/>
            <a:ext cx="2290019" cy="290497"/>
            <a:chOff x="358775" y="358775"/>
            <a:chExt cx="2290019" cy="290497"/>
          </a:xfrm>
        </p:grpSpPr>
        <p:grpSp>
          <p:nvGrpSpPr>
            <p:cNvPr id="7" name="Graphic 6" descr="Microsoft Security">
              <a:extLst>
                <a:ext uri="{FF2B5EF4-FFF2-40B4-BE49-F238E27FC236}">
                  <a16:creationId xmlns:a16="http://schemas.microsoft.com/office/drawing/2014/main" id="{4E7882EA-3E76-5368-903A-8CCFE6662E7C}"/>
                </a:ext>
              </a:extLst>
            </p:cNvPr>
            <p:cNvGrpSpPr/>
            <p:nvPr/>
          </p:nvGrpSpPr>
          <p:grpSpPr>
            <a:xfrm>
              <a:off x="1790370" y="412960"/>
              <a:ext cx="858424" cy="231672"/>
              <a:chOff x="1790370" y="412960"/>
              <a:chExt cx="858424" cy="231672"/>
            </a:xfrm>
            <a:solidFill>
              <a:schemeClr val="tx1"/>
            </a:solidFill>
          </p:grpSpPr>
          <p:sp>
            <p:nvSpPr>
              <p:cNvPr id="14" name="Freeform: Shape 13">
                <a:extLst>
                  <a:ext uri="{FF2B5EF4-FFF2-40B4-BE49-F238E27FC236}">
                    <a16:creationId xmlns:a16="http://schemas.microsoft.com/office/drawing/2014/main" id="{0A4F7B3D-2D4C-B97A-C116-B60B01D2BE4D}"/>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solidFill>
                <a:srgbClr val="454142"/>
              </a:solid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A83DEDD8-76C9-EC4F-197A-B376B8E0758C}"/>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solidFill>
                <a:srgbClr val="454142"/>
              </a:solid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FA7C12A6-E1B5-6DF6-622C-74A7CBAE599C}"/>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solidFill>
                <a:srgbClr val="454142"/>
              </a:solid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E61C5D0-0128-C1F1-805D-889DB59A3482}"/>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solidFill>
                <a:srgbClr val="454142"/>
              </a:solid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540224F2-7ABE-D3E8-2F9E-A76327FEB948}"/>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solidFill>
                <a:srgbClr val="454142"/>
              </a:solid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05F04953-34CE-BA10-83A0-1604C9CBBC6C}"/>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solidFill>
                <a:srgbClr val="454142"/>
              </a:solid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9CCA6CB9-1523-17B8-E23B-4E951CBE72BB}"/>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solidFill>
                <a:srgbClr val="454142"/>
              </a:solidFill>
              <a:ln w="40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CC884B69-A4F3-FFBD-FF00-0AB44121CBF9}"/>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solidFill>
                <a:srgbClr val="454142"/>
              </a:solidFill>
              <a:ln w="4025"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C7809620-D364-3E34-A1D4-F71450A49711}"/>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rgbClr val="454142"/>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C90ECAE0-30A0-26EF-E9D6-FDAE9BFEAEF5}"/>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6BAC26DA-0D58-8B98-2B87-28077BB8DC93}"/>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0CF06679-9F94-314C-E8DE-8D8F03DC3B6A}"/>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C41AD198-F829-BACD-7766-D2B0DCE10532}"/>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25759248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guide id="5" pos="3000">
          <p15:clr>
            <a:srgbClr val="5ACBF0"/>
          </p15:clr>
        </p15:guide>
        <p15:guide id="6" pos="3360">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Tech Scan 2">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B9D8-B411-3BC6-C1C8-1D6D457196E0}"/>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1"/>
            <a:ext cx="12192002" cy="6858000"/>
          </a:xfrm>
          <a:prstGeom prst="rect">
            <a:avLst/>
          </a:prstGeom>
        </p:spPr>
      </p:pic>
      <p:sp>
        <p:nvSpPr>
          <p:cNvPr id="2" name="Title 1">
            <a:extLst>
              <a:ext uri="{FF2B5EF4-FFF2-40B4-BE49-F238E27FC236}">
                <a16:creationId xmlns:a16="http://schemas.microsoft.com/office/drawing/2014/main" id="{8E90BD01-3D97-785B-8320-C14AF7E1EF48}"/>
              </a:ext>
            </a:extLst>
          </p:cNvPr>
          <p:cNvSpPr>
            <a:spLocks noGrp="1"/>
          </p:cNvSpPr>
          <p:nvPr>
            <p:ph type="title" hasCustomPrompt="1"/>
          </p:nvPr>
        </p:nvSpPr>
        <p:spPr>
          <a:xfrm>
            <a:off x="358774" y="2302431"/>
            <a:ext cx="4402800"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9FFEAA53-3411-D917-E9C0-67CC0580651A}"/>
              </a:ext>
            </a:extLst>
          </p:cNvPr>
          <p:cNvSpPr>
            <a:spLocks noGrp="1"/>
          </p:cNvSpPr>
          <p:nvPr>
            <p:ph type="body" sz="quarter" idx="12" hasCustomPrompt="1"/>
          </p:nvPr>
        </p:nvSpPr>
        <p:spPr>
          <a:xfrm>
            <a:off x="358774" y="3962400"/>
            <a:ext cx="4402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5" name="Group 4">
            <a:extLst>
              <a:ext uri="{FF2B5EF4-FFF2-40B4-BE49-F238E27FC236}">
                <a16:creationId xmlns:a16="http://schemas.microsoft.com/office/drawing/2014/main" id="{8A7535C8-63E8-4A89-EC43-DCA778B2B7BE}"/>
              </a:ext>
            </a:extLst>
          </p:cNvPr>
          <p:cNvGrpSpPr/>
          <p:nvPr userDrawn="1"/>
        </p:nvGrpSpPr>
        <p:grpSpPr>
          <a:xfrm>
            <a:off x="358775" y="358775"/>
            <a:ext cx="2290019" cy="290497"/>
            <a:chOff x="358775" y="358775"/>
            <a:chExt cx="2290019" cy="290497"/>
          </a:xfrm>
        </p:grpSpPr>
        <p:grpSp>
          <p:nvGrpSpPr>
            <p:cNvPr id="6" name="Graphic 6" descr="Microsoft Security">
              <a:extLst>
                <a:ext uri="{FF2B5EF4-FFF2-40B4-BE49-F238E27FC236}">
                  <a16:creationId xmlns:a16="http://schemas.microsoft.com/office/drawing/2014/main" id="{E105BF8C-0BD1-184D-CB66-D4317EBB3456}"/>
                </a:ext>
              </a:extLst>
            </p:cNvPr>
            <p:cNvGrpSpPr/>
            <p:nvPr/>
          </p:nvGrpSpPr>
          <p:grpSpPr>
            <a:xfrm>
              <a:off x="1790370" y="412960"/>
              <a:ext cx="858424" cy="231672"/>
              <a:chOff x="1790370" y="412960"/>
              <a:chExt cx="858424" cy="231672"/>
            </a:xfrm>
            <a:solidFill>
              <a:schemeClr val="tx1"/>
            </a:solidFill>
          </p:grpSpPr>
          <p:sp>
            <p:nvSpPr>
              <p:cNvPr id="13" name="Freeform: Shape 12">
                <a:extLst>
                  <a:ext uri="{FF2B5EF4-FFF2-40B4-BE49-F238E27FC236}">
                    <a16:creationId xmlns:a16="http://schemas.microsoft.com/office/drawing/2014/main" id="{64A32A73-C722-A5B9-081E-99C116F99A58}"/>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solidFill>
                <a:srgbClr val="454142"/>
              </a:solid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86BD82D4-91D9-4A16-996F-A3B660B3C7F9}"/>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solidFill>
                <a:srgbClr val="454142"/>
              </a:solid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0F1F60E-F066-B11A-8DC4-313DEEC28627}"/>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solidFill>
                <a:srgbClr val="454142"/>
              </a:solid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6654FE77-DB19-7786-6143-C52009884591}"/>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solidFill>
                <a:srgbClr val="454142"/>
              </a:solid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195FCD86-7958-72E6-5667-ECECE32AA314}"/>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solidFill>
                <a:srgbClr val="454142"/>
              </a:solid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D1B28D43-0489-F51B-78A6-56CBE3CE5DA6}"/>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solidFill>
                <a:srgbClr val="454142"/>
              </a:solid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23DA658D-C86D-FA4C-29F5-A4837141E65C}"/>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solidFill>
                <a:srgbClr val="454142"/>
              </a:solid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397B0D04-BEA2-2DBC-9B28-79B47FF03588}"/>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solidFill>
                <a:srgbClr val="454142"/>
              </a:solidFill>
              <a:ln w="4025" cap="flat">
                <a:noFill/>
                <a:prstDash val="solid"/>
                <a:miter/>
              </a:ln>
            </p:spPr>
            <p:txBody>
              <a:bodyPr rtlCol="0" anchor="ctr"/>
              <a:lstStyle/>
              <a:p>
                <a:endParaRPr lang="en-GB"/>
              </a:p>
            </p:txBody>
          </p:sp>
        </p:grpSp>
        <p:sp>
          <p:nvSpPr>
            <p:cNvPr id="7" name="Freeform: Shape 6">
              <a:extLst>
                <a:ext uri="{FF2B5EF4-FFF2-40B4-BE49-F238E27FC236}">
                  <a16:creationId xmlns:a16="http://schemas.microsoft.com/office/drawing/2014/main" id="{347AE98D-AD06-11EF-09B0-84BF57FDAF4D}"/>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rgbClr val="454142"/>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C7DD760D-B382-46F6-C2E1-72571C0394AF}"/>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A88F91F1-916D-FC33-F688-2ACCE0C98D0A}"/>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DA503472-AA0A-3A00-99B6-5855E6CB9091}"/>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BF961F49-41BE-2D87-DFF5-47D1E10192E4}"/>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28810362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Tech Scan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F47B18-3C9F-3945-4382-2ECB20DEB78E}"/>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43777E1-4699-B986-EC57-1B6944F17DCC}"/>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5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2372FB5-E859-F6AA-DD14-D4083B87ECDC}"/>
              </a:ext>
            </a:extLst>
          </p:cNvPr>
          <p:cNvSpPr>
            <a:spLocks noGrp="1"/>
          </p:cNvSpPr>
          <p:nvPr>
            <p:ph type="title" hasCustomPrompt="1"/>
          </p:nvPr>
        </p:nvSpPr>
        <p:spPr>
          <a:xfrm>
            <a:off x="358774" y="2302431"/>
            <a:ext cx="4402800"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FD837864-D70E-678B-2209-B7AE9D3C55CE}"/>
              </a:ext>
            </a:extLst>
          </p:cNvPr>
          <p:cNvSpPr>
            <a:spLocks noGrp="1"/>
          </p:cNvSpPr>
          <p:nvPr>
            <p:ph type="body" sz="quarter" idx="12" hasCustomPrompt="1"/>
          </p:nvPr>
        </p:nvSpPr>
        <p:spPr>
          <a:xfrm>
            <a:off x="358774" y="3962400"/>
            <a:ext cx="4402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6" name="Group 5">
            <a:extLst>
              <a:ext uri="{FF2B5EF4-FFF2-40B4-BE49-F238E27FC236}">
                <a16:creationId xmlns:a16="http://schemas.microsoft.com/office/drawing/2014/main" id="{9E63A191-1800-3C45-DB6A-30E169B29755}"/>
              </a:ext>
            </a:extLst>
          </p:cNvPr>
          <p:cNvGrpSpPr/>
          <p:nvPr userDrawn="1"/>
        </p:nvGrpSpPr>
        <p:grpSpPr>
          <a:xfrm>
            <a:off x="358775" y="358775"/>
            <a:ext cx="2290019" cy="290497"/>
            <a:chOff x="358775" y="358775"/>
            <a:chExt cx="2290019" cy="290497"/>
          </a:xfrm>
        </p:grpSpPr>
        <p:grpSp>
          <p:nvGrpSpPr>
            <p:cNvPr id="8" name="Graphic 6" descr="Microsoft Security">
              <a:extLst>
                <a:ext uri="{FF2B5EF4-FFF2-40B4-BE49-F238E27FC236}">
                  <a16:creationId xmlns:a16="http://schemas.microsoft.com/office/drawing/2014/main" id="{CD0AEC1B-664E-EE8D-FACE-DD3FA5B64781}"/>
                </a:ext>
              </a:extLst>
            </p:cNvPr>
            <p:cNvGrpSpPr/>
            <p:nvPr/>
          </p:nvGrpSpPr>
          <p:grpSpPr>
            <a:xfrm>
              <a:off x="1790370" y="412960"/>
              <a:ext cx="858424" cy="231672"/>
              <a:chOff x="1790370" y="412960"/>
              <a:chExt cx="858424" cy="231672"/>
            </a:xfrm>
            <a:solidFill>
              <a:schemeClr val="tx1"/>
            </a:solidFill>
          </p:grpSpPr>
          <p:sp>
            <p:nvSpPr>
              <p:cNvPr id="14" name="Freeform: Shape 13">
                <a:extLst>
                  <a:ext uri="{FF2B5EF4-FFF2-40B4-BE49-F238E27FC236}">
                    <a16:creationId xmlns:a16="http://schemas.microsoft.com/office/drawing/2014/main" id="{4766396D-2685-EEA1-6794-42E499EDA9FA}"/>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solidFill>
                <a:srgbClr val="454142"/>
              </a:solid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A2B3C173-E102-875C-EA9D-F087428E300C}"/>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solidFill>
                <a:srgbClr val="454142"/>
              </a:solid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117DDB65-1675-A9FD-3FDA-80E80B521298}"/>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solidFill>
                <a:srgbClr val="454142"/>
              </a:solid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A5E3188E-BE15-F507-1C13-4FC7F2A961CB}"/>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solidFill>
                <a:srgbClr val="454142"/>
              </a:solid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530E5416-724F-EB6B-63F5-923A1A336634}"/>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solidFill>
                <a:srgbClr val="454142"/>
              </a:solid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5E24EA82-5446-B74F-CE03-A71278A5070C}"/>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solidFill>
                <a:srgbClr val="454142"/>
              </a:solid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BA66D959-B431-399F-1372-D969B93A9EB2}"/>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solidFill>
                <a:srgbClr val="454142"/>
              </a:solidFill>
              <a:ln w="40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F9D28EA2-DE9C-D278-924F-4876044603CB}"/>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solidFill>
                <a:srgbClr val="454142"/>
              </a:solidFill>
              <a:ln w="4025" cap="flat">
                <a:noFill/>
                <a:prstDash val="solid"/>
                <a:miter/>
              </a:ln>
            </p:spPr>
            <p:txBody>
              <a:bodyPr rtlCol="0" anchor="ctr"/>
              <a:lstStyle/>
              <a:p>
                <a:endParaRPr lang="en-GB"/>
              </a:p>
            </p:txBody>
          </p:sp>
        </p:grpSp>
        <p:sp>
          <p:nvSpPr>
            <p:cNvPr id="9" name="Freeform: Shape 8">
              <a:extLst>
                <a:ext uri="{FF2B5EF4-FFF2-40B4-BE49-F238E27FC236}">
                  <a16:creationId xmlns:a16="http://schemas.microsoft.com/office/drawing/2014/main" id="{97910E66-3B77-1788-5C08-0336E4A237F6}"/>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rgbClr val="45414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BE0CE60C-4883-8D85-7AF1-BA0B3BED1112}"/>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11E0DF99-81C2-55BB-ED31-B13C82738CF9}"/>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BE5F8A05-C164-B54F-FBAF-6E2ECFC818C3}"/>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B5205EFE-BCDD-C4A0-EF9B-BD1545DBEC30}"/>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41844644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Tech Scan 4">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F48BB96-7264-9530-CDE0-CFBAECEB0F30}"/>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ltGray">
          <a:xfrm>
            <a:off x="0" y="0"/>
            <a:ext cx="12192000" cy="6858000"/>
          </a:xfrm>
          <a:prstGeom prst="rect">
            <a:avLst/>
          </a:prstGeom>
        </p:spPr>
      </p:pic>
      <p:sp>
        <p:nvSpPr>
          <p:cNvPr id="5" name="Rectangle 4">
            <a:extLst>
              <a:ext uri="{FF2B5EF4-FFF2-40B4-BE49-F238E27FC236}">
                <a16:creationId xmlns:a16="http://schemas.microsoft.com/office/drawing/2014/main" id="{537C7AC9-1320-B560-2729-19A72498C24F}"/>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5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5A7AC5C-D3D1-7CD0-058A-BF0F18A5CA32}"/>
              </a:ext>
            </a:extLst>
          </p:cNvPr>
          <p:cNvSpPr>
            <a:spLocks noGrp="1"/>
          </p:cNvSpPr>
          <p:nvPr>
            <p:ph type="title" hasCustomPrompt="1"/>
          </p:nvPr>
        </p:nvSpPr>
        <p:spPr>
          <a:xfrm>
            <a:off x="358774" y="2302431"/>
            <a:ext cx="4402800"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248213E6-EE22-FC5F-7A29-7005DFDA6702}"/>
              </a:ext>
            </a:extLst>
          </p:cNvPr>
          <p:cNvSpPr>
            <a:spLocks noGrp="1"/>
          </p:cNvSpPr>
          <p:nvPr>
            <p:ph type="body" sz="quarter" idx="12" hasCustomPrompt="1"/>
          </p:nvPr>
        </p:nvSpPr>
        <p:spPr>
          <a:xfrm>
            <a:off x="358774" y="3962400"/>
            <a:ext cx="4402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6" name="Group 5">
            <a:extLst>
              <a:ext uri="{FF2B5EF4-FFF2-40B4-BE49-F238E27FC236}">
                <a16:creationId xmlns:a16="http://schemas.microsoft.com/office/drawing/2014/main" id="{071A356E-7BD4-93F2-4A3D-1A6DD1534BF3}"/>
              </a:ext>
            </a:extLst>
          </p:cNvPr>
          <p:cNvGrpSpPr/>
          <p:nvPr userDrawn="1"/>
        </p:nvGrpSpPr>
        <p:grpSpPr>
          <a:xfrm>
            <a:off x="358775" y="358775"/>
            <a:ext cx="2290019" cy="290497"/>
            <a:chOff x="358775" y="358775"/>
            <a:chExt cx="2290019" cy="290497"/>
          </a:xfrm>
        </p:grpSpPr>
        <p:grpSp>
          <p:nvGrpSpPr>
            <p:cNvPr id="8" name="Graphic 6" descr="Microsoft Security">
              <a:extLst>
                <a:ext uri="{FF2B5EF4-FFF2-40B4-BE49-F238E27FC236}">
                  <a16:creationId xmlns:a16="http://schemas.microsoft.com/office/drawing/2014/main" id="{8F76E2C9-F81C-68AE-BB80-7E620CC167E1}"/>
                </a:ext>
              </a:extLst>
            </p:cNvPr>
            <p:cNvGrpSpPr/>
            <p:nvPr/>
          </p:nvGrpSpPr>
          <p:grpSpPr>
            <a:xfrm>
              <a:off x="1790370" y="412960"/>
              <a:ext cx="858424" cy="231672"/>
              <a:chOff x="1790370" y="412960"/>
              <a:chExt cx="858424" cy="231672"/>
            </a:xfrm>
            <a:solidFill>
              <a:schemeClr val="tx1"/>
            </a:solidFill>
          </p:grpSpPr>
          <p:sp>
            <p:nvSpPr>
              <p:cNvPr id="14" name="Freeform: Shape 13">
                <a:extLst>
                  <a:ext uri="{FF2B5EF4-FFF2-40B4-BE49-F238E27FC236}">
                    <a16:creationId xmlns:a16="http://schemas.microsoft.com/office/drawing/2014/main" id="{7D02AB25-4157-F8B2-C806-D13DCBBB7BA9}"/>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solidFill>
                <a:srgbClr val="454142"/>
              </a:solid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2DA359B4-7FAE-39F9-F907-7E594580A966}"/>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solidFill>
                <a:srgbClr val="454142"/>
              </a:solid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BF394903-8FF8-6DB8-5999-7EBCEDF55C54}"/>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solidFill>
                <a:srgbClr val="454142"/>
              </a:solid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12E50C5-88DA-EBA6-780F-8E9BDF7F0FE6}"/>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solidFill>
                <a:srgbClr val="454142"/>
              </a:solid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8354A79F-6C8A-2314-D24B-0F0A0C9C10F4}"/>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solidFill>
                <a:srgbClr val="454142"/>
              </a:solid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F665EA23-FF88-5815-D1B2-EB8CBDBDF402}"/>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solidFill>
                <a:srgbClr val="454142"/>
              </a:solid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1D445DEB-226C-CAC2-AFDB-6C4177FC57C3}"/>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solidFill>
                <a:srgbClr val="454142"/>
              </a:solidFill>
              <a:ln w="40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4DEA4FBF-E652-A544-4E4E-5178FB8EF61E}"/>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solidFill>
                <a:srgbClr val="454142"/>
              </a:solidFill>
              <a:ln w="4025" cap="flat">
                <a:noFill/>
                <a:prstDash val="solid"/>
                <a:miter/>
              </a:ln>
            </p:spPr>
            <p:txBody>
              <a:bodyPr rtlCol="0" anchor="ctr"/>
              <a:lstStyle/>
              <a:p>
                <a:endParaRPr lang="en-GB"/>
              </a:p>
            </p:txBody>
          </p:sp>
        </p:grpSp>
        <p:sp>
          <p:nvSpPr>
            <p:cNvPr id="9" name="Freeform: Shape 8">
              <a:extLst>
                <a:ext uri="{FF2B5EF4-FFF2-40B4-BE49-F238E27FC236}">
                  <a16:creationId xmlns:a16="http://schemas.microsoft.com/office/drawing/2014/main" id="{96A2A197-9524-3652-96D6-52024943645D}"/>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rgbClr val="45414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AB98D8DE-59B1-C5A2-7BE9-8A2B5FCD7BAE}"/>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B2D0691F-209C-9CE9-D3D4-56392BE0755E}"/>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EB495B7F-E14B-F03B-3776-D1EE8CADAE8E}"/>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2DDF428E-C00B-D4A9-D8A8-E1D167044C70}"/>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6532814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Tech Scan 5">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A04DD2-8161-CEFE-E805-16FD5E2B5951}"/>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12192002" cy="6858000"/>
          </a:xfrm>
          <a:prstGeom prst="rect">
            <a:avLst/>
          </a:prstGeom>
        </p:spPr>
      </p:pic>
      <p:sp>
        <p:nvSpPr>
          <p:cNvPr id="5" name="Rectangle 4">
            <a:extLst>
              <a:ext uri="{FF2B5EF4-FFF2-40B4-BE49-F238E27FC236}">
                <a16:creationId xmlns:a16="http://schemas.microsoft.com/office/drawing/2014/main" id="{37758876-CBC5-2CC7-B64B-7A0BE54262C4}"/>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6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9E493527-788F-A6FD-FF51-C35F691FCA9E}"/>
              </a:ext>
            </a:extLst>
          </p:cNvPr>
          <p:cNvSpPr>
            <a:spLocks noGrp="1"/>
          </p:cNvSpPr>
          <p:nvPr>
            <p:ph type="title" hasCustomPrompt="1"/>
          </p:nvPr>
        </p:nvSpPr>
        <p:spPr>
          <a:xfrm>
            <a:off x="358775" y="2302431"/>
            <a:ext cx="4403725"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67DE02AD-BF56-503B-C72F-C737C69FD2C8}"/>
              </a:ext>
            </a:extLst>
          </p:cNvPr>
          <p:cNvSpPr>
            <a:spLocks noGrp="1"/>
          </p:cNvSpPr>
          <p:nvPr>
            <p:ph type="body" sz="quarter" idx="12" hasCustomPrompt="1"/>
          </p:nvPr>
        </p:nvSpPr>
        <p:spPr>
          <a:xfrm>
            <a:off x="358774" y="3962400"/>
            <a:ext cx="4402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grpSp>
        <p:nvGrpSpPr>
          <p:cNvPr id="6" name="Group 5">
            <a:extLst>
              <a:ext uri="{FF2B5EF4-FFF2-40B4-BE49-F238E27FC236}">
                <a16:creationId xmlns:a16="http://schemas.microsoft.com/office/drawing/2014/main" id="{B314E2EB-D85D-6448-C24C-AB784348FC3D}"/>
              </a:ext>
            </a:extLst>
          </p:cNvPr>
          <p:cNvGrpSpPr/>
          <p:nvPr userDrawn="1"/>
        </p:nvGrpSpPr>
        <p:grpSpPr>
          <a:xfrm>
            <a:off x="358775" y="358775"/>
            <a:ext cx="2290019" cy="290497"/>
            <a:chOff x="358775" y="358775"/>
            <a:chExt cx="2290019" cy="290497"/>
          </a:xfrm>
        </p:grpSpPr>
        <p:grpSp>
          <p:nvGrpSpPr>
            <p:cNvPr id="8" name="Graphic 6" descr="Microsoft Security">
              <a:extLst>
                <a:ext uri="{FF2B5EF4-FFF2-40B4-BE49-F238E27FC236}">
                  <a16:creationId xmlns:a16="http://schemas.microsoft.com/office/drawing/2014/main" id="{CFA55029-70E9-8DBA-4B80-E0633EF766B4}"/>
                </a:ext>
              </a:extLst>
            </p:cNvPr>
            <p:cNvGrpSpPr/>
            <p:nvPr/>
          </p:nvGrpSpPr>
          <p:grpSpPr>
            <a:xfrm>
              <a:off x="1790370" y="412960"/>
              <a:ext cx="858424" cy="231672"/>
              <a:chOff x="1790370" y="412960"/>
              <a:chExt cx="858424" cy="231672"/>
            </a:xfrm>
            <a:solidFill>
              <a:schemeClr val="tx1"/>
            </a:solidFill>
          </p:grpSpPr>
          <p:sp>
            <p:nvSpPr>
              <p:cNvPr id="14" name="Freeform: Shape 13">
                <a:extLst>
                  <a:ext uri="{FF2B5EF4-FFF2-40B4-BE49-F238E27FC236}">
                    <a16:creationId xmlns:a16="http://schemas.microsoft.com/office/drawing/2014/main" id="{BB096E2F-5D2C-7B7F-84D0-814304CA470C}"/>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solidFill>
                <a:srgbClr val="454142"/>
              </a:solid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074CB1C2-0AF2-021A-13DF-461E507EFD58}"/>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solidFill>
                <a:srgbClr val="454142"/>
              </a:solid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18C7FCE0-8CDD-7BB2-9EC8-F0350E5605E5}"/>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solidFill>
                <a:srgbClr val="454142"/>
              </a:solid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0B96C888-E1CE-735F-8940-17E2D7892FA7}"/>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solidFill>
                <a:srgbClr val="454142"/>
              </a:solid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BF61CB43-6473-E954-27C1-7BC0EA87FB2C}"/>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solidFill>
                <a:srgbClr val="454142"/>
              </a:solid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FBB3456A-5B99-4315-C30E-C1E2B98E630A}"/>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solidFill>
                <a:srgbClr val="454142"/>
              </a:solidFill>
              <a:ln w="40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F5ADDF32-123F-05E3-BADB-FF36C320A0F9}"/>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solidFill>
                <a:srgbClr val="454142"/>
              </a:solidFill>
              <a:ln w="40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F6827933-D8C6-C2A9-27AD-5FEB635E2791}"/>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solidFill>
                <a:srgbClr val="454142"/>
              </a:solidFill>
              <a:ln w="4025" cap="flat">
                <a:noFill/>
                <a:prstDash val="solid"/>
                <a:miter/>
              </a:ln>
            </p:spPr>
            <p:txBody>
              <a:bodyPr rtlCol="0" anchor="ctr"/>
              <a:lstStyle/>
              <a:p>
                <a:endParaRPr lang="en-GB"/>
              </a:p>
            </p:txBody>
          </p:sp>
        </p:grpSp>
        <p:sp>
          <p:nvSpPr>
            <p:cNvPr id="9" name="Freeform: Shape 8">
              <a:extLst>
                <a:ext uri="{FF2B5EF4-FFF2-40B4-BE49-F238E27FC236}">
                  <a16:creationId xmlns:a16="http://schemas.microsoft.com/office/drawing/2014/main" id="{1CC50386-5FBA-7337-13B4-66AF0F91EB69}"/>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rgbClr val="454142"/>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1A1B5960-089A-0751-5801-1246786336C6}"/>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C9C4D231-3C8D-A03A-EE93-1399CB446BB1}"/>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A7A66B5E-A169-F82E-E105-0A608F268E9E}"/>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06A894BD-26B3-97B0-E83C-A1B5B61466B6}"/>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31797899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ection title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A04DD2-8161-CEFE-E805-16FD5E2B5951}"/>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12192002" cy="6858000"/>
          </a:xfrm>
          <a:prstGeom prst="rect">
            <a:avLst/>
          </a:prstGeom>
        </p:spPr>
      </p:pic>
      <p:sp>
        <p:nvSpPr>
          <p:cNvPr id="5" name="Rectangle 4">
            <a:extLst>
              <a:ext uri="{FF2B5EF4-FFF2-40B4-BE49-F238E27FC236}">
                <a16:creationId xmlns:a16="http://schemas.microsoft.com/office/drawing/2014/main" id="{37758876-CBC5-2CC7-B64B-7A0BE54262C4}"/>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6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3" name="Picture 2">
            <a:extLst>
              <a:ext uri="{FF2B5EF4-FFF2-40B4-BE49-F238E27FC236}">
                <a16:creationId xmlns:a16="http://schemas.microsoft.com/office/drawing/2014/main" id="{BD8B3831-1D86-6F0B-7C3C-2A7F5162BFA5}"/>
              </a:ext>
            </a:extLst>
          </p:cNvPr>
          <p:cNvPicPr>
            <a:picLocks noChangeAspect="1"/>
          </p:cNvPicPr>
          <p:nvPr userDrawn="1"/>
        </p:nvPicPr>
        <p:blipFill>
          <a:blip r:embed="rId3"/>
          <a:srcRect r="56250"/>
          <a:stretch>
            <a:fillRect/>
          </a:stretch>
        </p:blipFill>
        <p:spPr>
          <a:xfrm>
            <a:off x="0" y="0"/>
            <a:ext cx="5334000" cy="6857999"/>
          </a:xfrm>
          <a:prstGeom prst="rect">
            <a:avLst/>
          </a:prstGeom>
        </p:spPr>
      </p:pic>
      <p:sp>
        <p:nvSpPr>
          <p:cNvPr id="22" name="Title 1">
            <a:extLst>
              <a:ext uri="{FF2B5EF4-FFF2-40B4-BE49-F238E27FC236}">
                <a16:creationId xmlns:a16="http://schemas.microsoft.com/office/drawing/2014/main" id="{10CF3498-077D-A34B-095C-D7D86E6EA7E9}"/>
              </a:ext>
            </a:extLst>
          </p:cNvPr>
          <p:cNvSpPr>
            <a:spLocks noGrp="1"/>
          </p:cNvSpPr>
          <p:nvPr>
            <p:ph type="title" hasCustomPrompt="1"/>
          </p:nvPr>
        </p:nvSpPr>
        <p:spPr>
          <a:xfrm>
            <a:off x="358774" y="2917984"/>
            <a:ext cx="4402800" cy="615553"/>
          </a:xfrm>
        </p:spPr>
        <p:txBody>
          <a:bodyPr anchor="b" anchorCtr="0">
            <a:spAutoFit/>
          </a:bodyPr>
          <a:lstStyle>
            <a:lvl1pPr algn="ctr">
              <a:defRPr sz="4000">
                <a:solidFill>
                  <a:schemeClr val="bg2"/>
                </a:solidFill>
                <a:latin typeface="+mj-lt"/>
              </a:defRPr>
            </a:lvl1pPr>
          </a:lstStyle>
          <a:p>
            <a:r>
              <a:rPr lang="en-US"/>
              <a:t>Section Title</a:t>
            </a:r>
          </a:p>
        </p:txBody>
      </p:sp>
    </p:spTree>
    <p:extLst>
      <p:ext uri="{BB962C8B-B14F-4D97-AF65-F5344CB8AC3E}">
        <p14:creationId xmlns:p14="http://schemas.microsoft.com/office/powerpoint/2010/main" val="3481574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ectin slide 1">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8A38B7E-C277-EC82-55D7-6481C181A98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ltGray">
          <a:xfrm>
            <a:off x="2" y="1"/>
            <a:ext cx="12191998" cy="6857998"/>
          </a:xfrm>
          <a:prstGeom prst="rect">
            <a:avLst/>
          </a:prstGeom>
        </p:spPr>
      </p:pic>
      <p:sp>
        <p:nvSpPr>
          <p:cNvPr id="6" name="Rectangle 5">
            <a:extLst>
              <a:ext uri="{FF2B5EF4-FFF2-40B4-BE49-F238E27FC236}">
                <a16:creationId xmlns:a16="http://schemas.microsoft.com/office/drawing/2014/main" id="{CA38D12B-EC7B-EA1B-4057-AF9DA412C46D}"/>
              </a:ext>
              <a:ext uri="{C183D7F6-B498-43B3-948B-1728B52AA6E4}">
                <adec:decorative xmlns:adec="http://schemas.microsoft.com/office/drawing/2017/decorative" val="1"/>
              </a:ext>
            </a:extLst>
          </p:cNvPr>
          <p:cNvSpPr/>
          <p:nvPr userDrawn="1"/>
        </p:nvSpPr>
        <p:spPr bwMode="auto">
          <a:xfrm>
            <a:off x="0" y="0"/>
            <a:ext cx="5867400" cy="6858000"/>
          </a:xfrm>
          <a:prstGeom prst="rect">
            <a:avLst/>
          </a:prstGeom>
          <a:gradFill flip="none" rotWithShape="1">
            <a:gsLst>
              <a:gs pos="0">
                <a:schemeClr val="bg1">
                  <a:alpha val="50000"/>
                </a:schemeClr>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3" name="Picture 2">
            <a:extLst>
              <a:ext uri="{FF2B5EF4-FFF2-40B4-BE49-F238E27FC236}">
                <a16:creationId xmlns:a16="http://schemas.microsoft.com/office/drawing/2014/main" id="{4377D387-D004-9757-AF46-D817FF812550}"/>
              </a:ext>
            </a:extLst>
          </p:cNvPr>
          <p:cNvPicPr>
            <a:picLocks noChangeAspect="1"/>
          </p:cNvPicPr>
          <p:nvPr userDrawn="1"/>
        </p:nvPicPr>
        <p:blipFill>
          <a:blip r:embed="rId3"/>
          <a:srcRect r="56250"/>
          <a:stretch>
            <a:fillRect/>
          </a:stretch>
        </p:blipFill>
        <p:spPr>
          <a:xfrm>
            <a:off x="0" y="0"/>
            <a:ext cx="5334000" cy="6857999"/>
          </a:xfrm>
          <a:prstGeom prst="rect">
            <a:avLst/>
          </a:prstGeom>
        </p:spPr>
      </p:pic>
      <p:sp>
        <p:nvSpPr>
          <p:cNvPr id="22" name="Title 1">
            <a:extLst>
              <a:ext uri="{FF2B5EF4-FFF2-40B4-BE49-F238E27FC236}">
                <a16:creationId xmlns:a16="http://schemas.microsoft.com/office/drawing/2014/main" id="{84044260-FB28-4574-2A9C-4A4FAEAD7EE0}"/>
              </a:ext>
            </a:extLst>
          </p:cNvPr>
          <p:cNvSpPr>
            <a:spLocks noGrp="1"/>
          </p:cNvSpPr>
          <p:nvPr>
            <p:ph type="title" hasCustomPrompt="1"/>
          </p:nvPr>
        </p:nvSpPr>
        <p:spPr>
          <a:xfrm>
            <a:off x="358774" y="2917984"/>
            <a:ext cx="4402800" cy="615553"/>
          </a:xfrm>
        </p:spPr>
        <p:txBody>
          <a:bodyPr anchor="b" anchorCtr="0">
            <a:spAutoFit/>
          </a:bodyPr>
          <a:lstStyle>
            <a:lvl1pPr algn="ctr">
              <a:defRPr sz="4000">
                <a:solidFill>
                  <a:schemeClr val="bg2"/>
                </a:solidFill>
                <a:latin typeface="+mj-lt"/>
              </a:defRPr>
            </a:lvl1pPr>
          </a:lstStyle>
          <a:p>
            <a:r>
              <a:rPr lang="en-US"/>
              <a:t>Section Title</a:t>
            </a:r>
          </a:p>
        </p:txBody>
      </p:sp>
    </p:spTree>
    <p:extLst>
      <p:ext uri="{BB962C8B-B14F-4D97-AF65-F5344CB8AC3E}">
        <p14:creationId xmlns:p14="http://schemas.microsoft.com/office/powerpoint/2010/main" val="34372520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guide id="5" pos="3000">
          <p15:clr>
            <a:srgbClr val="5ACBF0"/>
          </p15:clr>
        </p15:guide>
        <p15:guide id="6" pos="3360">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Section slide 2">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B9D8-B411-3BC6-C1C8-1D6D457196E0}"/>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1"/>
            <a:ext cx="12192002" cy="6858000"/>
          </a:xfrm>
          <a:prstGeom prst="rect">
            <a:avLst/>
          </a:prstGeom>
        </p:spPr>
      </p:pic>
      <p:pic>
        <p:nvPicPr>
          <p:cNvPr id="22" name="Picture 21">
            <a:extLst>
              <a:ext uri="{FF2B5EF4-FFF2-40B4-BE49-F238E27FC236}">
                <a16:creationId xmlns:a16="http://schemas.microsoft.com/office/drawing/2014/main" id="{B7F18FB7-97D5-3FC0-AF9D-491589A66E92}"/>
              </a:ext>
            </a:extLst>
          </p:cNvPr>
          <p:cNvPicPr>
            <a:picLocks noChangeAspect="1"/>
          </p:cNvPicPr>
          <p:nvPr userDrawn="1"/>
        </p:nvPicPr>
        <p:blipFill>
          <a:blip r:embed="rId3"/>
          <a:srcRect r="56250"/>
          <a:stretch>
            <a:fillRect/>
          </a:stretch>
        </p:blipFill>
        <p:spPr>
          <a:xfrm>
            <a:off x="0" y="0"/>
            <a:ext cx="5334000" cy="6857999"/>
          </a:xfrm>
          <a:prstGeom prst="rect">
            <a:avLst/>
          </a:prstGeom>
        </p:spPr>
      </p:pic>
      <p:sp>
        <p:nvSpPr>
          <p:cNvPr id="2" name="Title 1">
            <a:extLst>
              <a:ext uri="{FF2B5EF4-FFF2-40B4-BE49-F238E27FC236}">
                <a16:creationId xmlns:a16="http://schemas.microsoft.com/office/drawing/2014/main" id="{8E90BD01-3D97-785B-8320-C14AF7E1EF48}"/>
              </a:ext>
            </a:extLst>
          </p:cNvPr>
          <p:cNvSpPr>
            <a:spLocks noGrp="1"/>
          </p:cNvSpPr>
          <p:nvPr>
            <p:ph type="title" hasCustomPrompt="1"/>
          </p:nvPr>
        </p:nvSpPr>
        <p:spPr>
          <a:xfrm>
            <a:off x="358774" y="2917984"/>
            <a:ext cx="4402800" cy="615553"/>
          </a:xfrm>
        </p:spPr>
        <p:txBody>
          <a:bodyPr anchor="b" anchorCtr="0">
            <a:spAutoFit/>
          </a:bodyPr>
          <a:lstStyle>
            <a:lvl1pPr algn="ctr">
              <a:defRPr sz="4000">
                <a:solidFill>
                  <a:schemeClr val="bg2"/>
                </a:solidFill>
                <a:latin typeface="+mj-lt"/>
              </a:defRPr>
            </a:lvl1pPr>
          </a:lstStyle>
          <a:p>
            <a:r>
              <a:rPr lang="en-US"/>
              <a:t>Section Title</a:t>
            </a:r>
          </a:p>
        </p:txBody>
      </p:sp>
    </p:spTree>
    <p:extLst>
      <p:ext uri="{BB962C8B-B14F-4D97-AF65-F5344CB8AC3E}">
        <p14:creationId xmlns:p14="http://schemas.microsoft.com/office/powerpoint/2010/main" val="36755931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eep Scan image silver/blue + title">
    <p:bg>
      <p:bgPr>
        <a:solidFill>
          <a:schemeClr val="tx1"/>
        </a:solidFill>
        <a:effectLst/>
      </p:bgPr>
    </p:bg>
    <p:spTree>
      <p:nvGrpSpPr>
        <p:cNvPr id="1" name=""/>
        <p:cNvGrpSpPr/>
        <p:nvPr/>
      </p:nvGrpSpPr>
      <p:grpSpPr>
        <a:xfrm>
          <a:off x="0" y="0"/>
          <a:ext cx="0" cy="0"/>
          <a:chOff x="0" y="0"/>
          <a:chExt cx="0" cy="0"/>
        </a:xfrm>
      </p:grpSpPr>
      <p:pic>
        <p:nvPicPr>
          <p:cNvPr id="3" name="Picture 2" descr="A blue sky with white clouds&#10;&#10;AI-generated content may be incorrect.">
            <a:extLst>
              <a:ext uri="{FF2B5EF4-FFF2-40B4-BE49-F238E27FC236}">
                <a16:creationId xmlns:a16="http://schemas.microsoft.com/office/drawing/2014/main" id="{5C2FDCBF-9601-1413-5C7F-D167836CF6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18E35CD-0047-0D15-A327-1987D3D9BE2A}"/>
              </a:ext>
            </a:extLst>
          </p:cNvPr>
          <p:cNvSpPr>
            <a:spLocks noGrp="1"/>
          </p:cNvSpPr>
          <p:nvPr>
            <p:ph type="title"/>
          </p:nvPr>
        </p:nvSpPr>
        <p:spPr/>
        <p:txBody>
          <a:bodyPr/>
          <a:lstStyle>
            <a:lvl1pPr marL="0" algn="l" defTabSz="932742" rtl="0" eaLnBrk="1" latinLnBrk="0" hangingPunct="1">
              <a:lnSpc>
                <a:spcPct val="100000"/>
              </a:lnSpc>
              <a:spcBef>
                <a:spcPct val="0"/>
              </a:spcBef>
              <a:buNone/>
              <a:defRPr lang="en-US" sz="3600" b="0" kern="1200" cap="none" spc="-50" baseline="0" dirty="0">
                <a:ln w="3175">
                  <a:noFill/>
                </a:ln>
                <a:solidFill>
                  <a:srgbClr val="183D4C"/>
                </a:solidFill>
                <a:effectLst/>
                <a:latin typeface="+mj-lt"/>
                <a:ea typeface="+mn-ea"/>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1082757806"/>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Deep Scan image silver/blue + title cntr">
    <p:bg>
      <p:bgPr>
        <a:solidFill>
          <a:schemeClr val="tx1"/>
        </a:solidFill>
        <a:effectLst/>
      </p:bgPr>
    </p:bg>
    <p:spTree>
      <p:nvGrpSpPr>
        <p:cNvPr id="1" name=""/>
        <p:cNvGrpSpPr/>
        <p:nvPr/>
      </p:nvGrpSpPr>
      <p:grpSpPr>
        <a:xfrm>
          <a:off x="0" y="0"/>
          <a:ext cx="0" cy="0"/>
          <a:chOff x="0" y="0"/>
          <a:chExt cx="0" cy="0"/>
        </a:xfrm>
      </p:grpSpPr>
      <p:pic>
        <p:nvPicPr>
          <p:cNvPr id="3" name="Picture 2" descr="A blue sky with white clouds&#10;&#10;AI-generated content may be incorrect.">
            <a:extLst>
              <a:ext uri="{FF2B5EF4-FFF2-40B4-BE49-F238E27FC236}">
                <a16:creationId xmlns:a16="http://schemas.microsoft.com/office/drawing/2014/main" id="{5C2FDCBF-9601-1413-5C7F-D167836CF6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18E35CD-0047-0D15-A327-1987D3D9BE2A}"/>
              </a:ext>
            </a:extLst>
          </p:cNvPr>
          <p:cNvSpPr>
            <a:spLocks noGrp="1"/>
          </p:cNvSpPr>
          <p:nvPr>
            <p:ph type="title"/>
          </p:nvPr>
        </p:nvSpPr>
        <p:spPr>
          <a:xfrm>
            <a:off x="358774" y="254452"/>
            <a:ext cx="11472863" cy="553998"/>
          </a:xfrm>
        </p:spPr>
        <p:txBody>
          <a:bodyPr/>
          <a:lstStyle>
            <a:lvl1pPr marL="0" algn="ctr" defTabSz="932742" rtl="0" eaLnBrk="1" latinLnBrk="0" hangingPunct="1">
              <a:lnSpc>
                <a:spcPct val="100000"/>
              </a:lnSpc>
              <a:spcBef>
                <a:spcPct val="0"/>
              </a:spcBef>
              <a:buNone/>
              <a:defRPr lang="en-US" sz="3600" b="0" kern="1200" cap="none" spc="-50" baseline="0" dirty="0">
                <a:ln w="3175">
                  <a:noFill/>
                </a:ln>
                <a:solidFill>
                  <a:srgbClr val="183D4C"/>
                </a:solidFill>
                <a:effectLst/>
                <a:latin typeface="+mj-lt"/>
                <a:ea typeface="+mn-ea"/>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2770455813"/>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ep Scan image silver/blue - blank">
    <p:bg>
      <p:bgPr>
        <a:solidFill>
          <a:schemeClr val="tx1"/>
        </a:solidFill>
        <a:effectLst/>
      </p:bgPr>
    </p:bg>
    <p:spTree>
      <p:nvGrpSpPr>
        <p:cNvPr id="1" name=""/>
        <p:cNvGrpSpPr/>
        <p:nvPr/>
      </p:nvGrpSpPr>
      <p:grpSpPr>
        <a:xfrm>
          <a:off x="0" y="0"/>
          <a:ext cx="0" cy="0"/>
          <a:chOff x="0" y="0"/>
          <a:chExt cx="0" cy="0"/>
        </a:xfrm>
      </p:grpSpPr>
      <p:pic>
        <p:nvPicPr>
          <p:cNvPr id="3" name="Picture 2" descr="A blue sky with white clouds&#10;&#10;AI-generated content may be incorrect.">
            <a:extLst>
              <a:ext uri="{FF2B5EF4-FFF2-40B4-BE49-F238E27FC236}">
                <a16:creationId xmlns:a16="http://schemas.microsoft.com/office/drawing/2014/main" id="{5C2FDCBF-9601-1413-5C7F-D167836CF6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84047573"/>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rk BLue with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0A685A8-256F-9EBB-6A57-10C31DFF7721}"/>
              </a:ext>
            </a:extLst>
          </p:cNvPr>
          <p:cNvPicPr>
            <a:picLocks noChangeAspect="1"/>
          </p:cNvPicPr>
          <p:nvPr userDrawn="1"/>
        </p:nvPicPr>
        <p:blipFill>
          <a:blip r:embed="rId3"/>
          <a:srcRect/>
          <a:stretch/>
        </p:blipFill>
        <p:spPr>
          <a:xfrm>
            <a:off x="0" y="0"/>
            <a:ext cx="12192000" cy="6857999"/>
          </a:xfrm>
          <a:prstGeom prst="rect">
            <a:avLst/>
          </a:prstGeom>
        </p:spPr>
      </p:pic>
      <p:sp>
        <p:nvSpPr>
          <p:cNvPr id="4" name="Title 1">
            <a:extLst>
              <a:ext uri="{FF2B5EF4-FFF2-40B4-BE49-F238E27FC236}">
                <a16:creationId xmlns:a16="http://schemas.microsoft.com/office/drawing/2014/main" id="{7B791F81-540B-4C10-23D6-67278133D141}"/>
              </a:ext>
            </a:extLst>
          </p:cNvPr>
          <p:cNvSpPr>
            <a:spLocks noGrp="1"/>
          </p:cNvSpPr>
          <p:nvPr>
            <p:ph type="title"/>
          </p:nvPr>
        </p:nvSpPr>
        <p:spPr>
          <a:xfrm>
            <a:off x="358774" y="254452"/>
            <a:ext cx="11472863" cy="553998"/>
          </a:xfrm>
        </p:spPr>
        <p:txBody>
          <a:bodyPr/>
          <a:lstStyle>
            <a:lvl1pPr marL="0"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3621062060"/>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rk Blue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954488-A6F5-AF07-81F3-2BD2BABB2C0C}"/>
              </a:ext>
            </a:extLst>
          </p:cNvPr>
          <p:cNvPicPr>
            <a:picLocks noChangeAspect="1"/>
          </p:cNvPicPr>
          <p:nvPr userDrawn="1"/>
        </p:nvPicPr>
        <p:blipFill>
          <a:blip r:embed="rId3"/>
          <a:srcRect/>
          <a:stretch/>
        </p:blipFill>
        <p:spPr>
          <a:xfrm>
            <a:off x="0" y="0"/>
            <a:ext cx="12192000" cy="6857999"/>
          </a:xfrm>
          <a:prstGeom prst="rect">
            <a:avLst/>
          </a:prstGeom>
        </p:spPr>
      </p:pic>
    </p:spTree>
    <p:extLst>
      <p:ext uri="{BB962C8B-B14F-4D97-AF65-F5344CB8AC3E}">
        <p14:creationId xmlns:p14="http://schemas.microsoft.com/office/powerpoint/2010/main" val="405886277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white 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E35CD-0047-0D15-A327-1987D3D9BE2A}"/>
              </a:ext>
            </a:extLst>
          </p:cNvPr>
          <p:cNvSpPr>
            <a:spLocks noGrp="1"/>
          </p:cNvSpPr>
          <p:nvPr>
            <p:ph type="title"/>
          </p:nvPr>
        </p:nvSpPr>
        <p:spPr>
          <a:xfrm>
            <a:off x="358775" y="255627"/>
            <a:ext cx="11472863" cy="553998"/>
          </a:xfrm>
        </p:spPr>
        <p:txBody>
          <a:bodyPr/>
          <a:lstStyle>
            <a:lvl1pPr marL="0" algn="l" defTabSz="932742" rtl="0" eaLnBrk="1" latinLnBrk="0" hangingPunct="1">
              <a:lnSpc>
                <a:spcPct val="100000"/>
              </a:lnSpc>
              <a:spcBef>
                <a:spcPct val="0"/>
              </a:spcBef>
              <a:buNone/>
              <a:defRPr lang="en-US" sz="3600" b="0" kern="1200" cap="none" spc="-50" baseline="0" dirty="0">
                <a:ln w="3175">
                  <a:noFill/>
                </a:ln>
                <a:solidFill>
                  <a:srgbClr val="183D4C"/>
                </a:solidFill>
                <a:effectLst/>
                <a:latin typeface="+mn-lt"/>
                <a:ea typeface="+mn-ea"/>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1095119171"/>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white 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046947"/>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358775" y="2918223"/>
            <a:ext cx="9529200" cy="615553"/>
          </a:xfrm>
          <a:noFill/>
        </p:spPr>
        <p:txBody>
          <a:bodyPr lIns="0" tIns="0" rIns="0" bIns="0" anchor="b" anchorCtr="0">
            <a:spAutoFit/>
          </a:bodyPr>
          <a:lstStyle>
            <a:lvl1pPr>
              <a:defRPr sz="4000" spc="-50" baseline="0">
                <a:solidFill>
                  <a:schemeClr val="tx1"/>
                </a:solidFill>
                <a:latin typeface="+mj-lt"/>
                <a:cs typeface="Segoe Sans Display Ligh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358775" y="3962400"/>
            <a:ext cx="95292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grpSp>
        <p:nvGrpSpPr>
          <p:cNvPr id="2" name="Group 1">
            <a:extLst>
              <a:ext uri="{FF2B5EF4-FFF2-40B4-BE49-F238E27FC236}">
                <a16:creationId xmlns:a16="http://schemas.microsoft.com/office/drawing/2014/main" id="{D162477E-FCC1-6434-6A39-66D0E3577429}"/>
              </a:ext>
            </a:extLst>
          </p:cNvPr>
          <p:cNvGrpSpPr/>
          <p:nvPr userDrawn="1"/>
        </p:nvGrpSpPr>
        <p:grpSpPr>
          <a:xfrm>
            <a:off x="358775" y="358775"/>
            <a:ext cx="2290019" cy="290497"/>
            <a:chOff x="358775" y="358775"/>
            <a:chExt cx="2290019" cy="290497"/>
          </a:xfrm>
        </p:grpSpPr>
        <p:grpSp>
          <p:nvGrpSpPr>
            <p:cNvPr id="3" name="Graphic 6" descr="Microsoft Security">
              <a:extLst>
                <a:ext uri="{FF2B5EF4-FFF2-40B4-BE49-F238E27FC236}">
                  <a16:creationId xmlns:a16="http://schemas.microsoft.com/office/drawing/2014/main" id="{F20662BB-9195-A22E-F305-0F371CC4A95C}"/>
                </a:ext>
              </a:extLst>
            </p:cNvPr>
            <p:cNvGrpSpPr/>
            <p:nvPr/>
          </p:nvGrpSpPr>
          <p:grpSpPr>
            <a:xfrm>
              <a:off x="1790370" y="412960"/>
              <a:ext cx="858424" cy="231672"/>
              <a:chOff x="1790370" y="412960"/>
              <a:chExt cx="858424" cy="231672"/>
            </a:xfrm>
            <a:solidFill>
              <a:schemeClr val="tx1"/>
            </a:solidFill>
          </p:grpSpPr>
          <p:sp>
            <p:nvSpPr>
              <p:cNvPr id="12" name="Freeform: Shape 11">
                <a:extLst>
                  <a:ext uri="{FF2B5EF4-FFF2-40B4-BE49-F238E27FC236}">
                    <a16:creationId xmlns:a16="http://schemas.microsoft.com/office/drawing/2014/main" id="{1DC4D38B-8D48-AAE8-AB42-DAD6B184977B}"/>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CC1EDD96-EDE3-AF5C-EAA1-3DB59D40FC28}"/>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3955CBE7-1CAC-38D2-8A5E-420BBDE66A59}"/>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656575D-C823-F83C-36FA-FAD7B5315CC3}"/>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52508314-BC9F-D786-8FED-697674896E43}"/>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C82E0EB1-AE44-A055-88C5-61210DD52452}"/>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BC898A7D-B237-81A7-7961-97DCE9D581E6}"/>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25009AF7-E754-47D4-8751-C869F0F4E85F}"/>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6" name="Freeform: Shape 5">
              <a:extLst>
                <a:ext uri="{FF2B5EF4-FFF2-40B4-BE49-F238E27FC236}">
                  <a16:creationId xmlns:a16="http://schemas.microsoft.com/office/drawing/2014/main" id="{E4E97D29-0D78-9F17-C749-C89C29D3841C}"/>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F097D9D6-1DEA-FAAF-94E6-3DA78CFBA6A5}"/>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13AB51C7-322B-986A-F5C1-6A5F8D593A6B}"/>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BE769A52-3DE7-173B-04C2-E9D00001710F}"/>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EAB1240A-2F04-A78C-B9EA-9489B2694B88}"/>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1825574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Header 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07576058"/>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Header Text Only Midd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358775" y="2875002"/>
            <a:ext cx="4357181"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3794645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Small Header Text">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358775" y="234482"/>
            <a:ext cx="7586663" cy="372410"/>
          </a:xfrm>
        </p:spPr>
        <p:txBody>
          <a:bodyPr tIns="64008"/>
          <a:lstStyle>
            <a:lvl1pPr>
              <a:defRPr sz="2000" spc="0">
                <a:latin typeface="Segoe Sans Display Semilight" pitchFamily="2" charset="0"/>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3662149584"/>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358776" y="2362200"/>
            <a:ext cx="7586662" cy="553998"/>
          </a:xfrm>
        </p:spPr>
        <p:txBody>
          <a:bodyPr wrap="square" anchor="t">
            <a:spAutoFit/>
          </a:bodyPr>
          <a:lstStyle>
            <a:lvl1pPr>
              <a:defRPr lang="en-US" sz="3600" b="0" kern="1200" cap="none" spc="-50" baseline="0" dirty="0">
                <a:ln w="3175">
                  <a:noFill/>
                </a:ln>
                <a:solidFill>
                  <a:schemeClr val="tx1"/>
                </a:solidFill>
                <a:effectLst/>
                <a:latin typeface="+mn-lt"/>
                <a:ea typeface="+mn-ea"/>
                <a:cs typeface="Segoe Sans Display" pitchFamily="2" charset="0"/>
              </a:defRPr>
            </a:lvl1pPr>
          </a:lstStyle>
          <a:p>
            <a:r>
              <a:rPr lang="en-US"/>
              <a:t>Click to edit Master title style</a:t>
            </a:r>
          </a:p>
        </p:txBody>
      </p:sp>
      <p:grpSp>
        <p:nvGrpSpPr>
          <p:cNvPr id="3" name="Group 2">
            <a:extLst>
              <a:ext uri="{FF2B5EF4-FFF2-40B4-BE49-F238E27FC236}">
                <a16:creationId xmlns:a16="http://schemas.microsoft.com/office/drawing/2014/main" id="{9DAA9347-2B91-81A1-D35B-C367CA321C46}"/>
              </a:ext>
              <a:ext uri="{C183D7F6-B498-43B3-948B-1728B52AA6E4}">
                <adec:decorative xmlns:adec="http://schemas.microsoft.com/office/drawing/2017/decorative" val="1"/>
              </a:ext>
            </a:extLst>
          </p:cNvPr>
          <p:cNvGrpSpPr>
            <a:grpSpLocks noChangeAspect="1"/>
          </p:cNvGrpSpPr>
          <p:nvPr userDrawn="1"/>
        </p:nvGrpSpPr>
        <p:grpSpPr bwMode="black">
          <a:xfrm>
            <a:off x="358775" y="358775"/>
            <a:ext cx="1049075" cy="914400"/>
            <a:chOff x="4169763" y="585788"/>
            <a:chExt cx="713371" cy="622746"/>
          </a:xfrm>
          <a:solidFill>
            <a:schemeClr val="tx1"/>
          </a:solidFill>
        </p:grpSpPr>
        <p:sp>
          <p:nvSpPr>
            <p:cNvPr id="7" name="Graphic 9">
              <a:extLst>
                <a:ext uri="{FF2B5EF4-FFF2-40B4-BE49-F238E27FC236}">
                  <a16:creationId xmlns:a16="http://schemas.microsoft.com/office/drawing/2014/main" id="{1955151A-4300-7EE0-BD6F-1D9D68052193}"/>
                </a:ext>
              </a:extLst>
            </p:cNvPr>
            <p:cNvSpPr/>
            <p:nvPr/>
          </p:nvSpPr>
          <p:spPr bwMode="black">
            <a:xfrm>
              <a:off x="4565666"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tlCol="0" anchor="ctr"/>
            <a:lstStyle/>
            <a:p>
              <a:pPr lvl="0"/>
              <a:endParaRPr lang="en-US"/>
            </a:p>
          </p:txBody>
        </p:sp>
        <p:sp>
          <p:nvSpPr>
            <p:cNvPr id="8" name="Graphic 9">
              <a:extLst>
                <a:ext uri="{FF2B5EF4-FFF2-40B4-BE49-F238E27FC236}">
                  <a16:creationId xmlns:a16="http://schemas.microsoft.com/office/drawing/2014/main" id="{CE786B1F-884A-07DB-5A7A-8634C2585C33}"/>
                </a:ext>
              </a:extLst>
            </p:cNvPr>
            <p:cNvSpPr/>
            <p:nvPr userDrawn="1"/>
          </p:nvSpPr>
          <p:spPr bwMode="black">
            <a:xfrm>
              <a:off x="4169763" y="585788"/>
              <a:ext cx="317468" cy="622746"/>
            </a:xfrm>
            <a:custGeom>
              <a:avLst/>
              <a:gdLst>
                <a:gd name="connsiteX0" fmla="*/ 19526 w 317468"/>
                <a:gd name="connsiteY0" fmla="*/ 622746 h 622746"/>
                <a:gd name="connsiteX1" fmla="*/ 0 w 317468"/>
                <a:gd name="connsiteY1" fmla="*/ 603315 h 622746"/>
                <a:gd name="connsiteX2" fmla="*/ 0 w 317468"/>
                <a:gd name="connsiteY2" fmla="*/ 387955 h 622746"/>
                <a:gd name="connsiteX3" fmla="*/ 81915 w 317468"/>
                <a:gd name="connsiteY3" fmla="*/ 123160 h 622746"/>
                <a:gd name="connsiteX4" fmla="*/ 298037 w 317468"/>
                <a:gd name="connsiteY4" fmla="*/ 287 h 622746"/>
                <a:gd name="connsiteX5" fmla="*/ 311944 w 317468"/>
                <a:gd name="connsiteY5" fmla="*/ 11336 h 622746"/>
                <a:gd name="connsiteX6" fmla="*/ 311944 w 317468"/>
                <a:gd name="connsiteY6" fmla="*/ 104681 h 622746"/>
                <a:gd name="connsiteX7" fmla="*/ 304229 w 317468"/>
                <a:gd name="connsiteY7" fmla="*/ 115445 h 622746"/>
                <a:gd name="connsiteX8" fmla="*/ 160401 w 317468"/>
                <a:gd name="connsiteY8" fmla="*/ 237555 h 622746"/>
                <a:gd name="connsiteX9" fmla="*/ 142018 w 317468"/>
                <a:gd name="connsiteY9" fmla="*/ 322709 h 622746"/>
                <a:gd name="connsiteX10" fmla="*/ 149543 w 317468"/>
                <a:gd name="connsiteY10" fmla="*/ 329948 h 622746"/>
                <a:gd name="connsiteX11" fmla="*/ 297942 w 317468"/>
                <a:gd name="connsiteY11" fmla="*/ 329948 h 622746"/>
                <a:gd name="connsiteX12" fmla="*/ 317468 w 317468"/>
                <a:gd name="connsiteY12" fmla="*/ 349379 h 622746"/>
                <a:gd name="connsiteX13" fmla="*/ 317468 w 317468"/>
                <a:gd name="connsiteY13" fmla="*/ 560643 h 622746"/>
                <a:gd name="connsiteX14" fmla="*/ 255461 w 317468"/>
                <a:gd name="connsiteY14" fmla="*/ 622556 h 622746"/>
                <a:gd name="connsiteX15" fmla="*/ 19526 w 317468"/>
                <a:gd name="connsiteY15" fmla="*/ 622556 h 62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468" h="622746">
                  <a:moveTo>
                    <a:pt x="19526" y="622746"/>
                  </a:moveTo>
                  <a:cubicBezTo>
                    <a:pt x="8763" y="622746"/>
                    <a:pt x="0" y="613983"/>
                    <a:pt x="0" y="603315"/>
                  </a:cubicBezTo>
                  <a:lnTo>
                    <a:pt x="0" y="387955"/>
                  </a:lnTo>
                  <a:cubicBezTo>
                    <a:pt x="0" y="275274"/>
                    <a:pt x="27337" y="186977"/>
                    <a:pt x="81915" y="123160"/>
                  </a:cubicBezTo>
                  <a:cubicBezTo>
                    <a:pt x="133922" y="62295"/>
                    <a:pt x="205931" y="21338"/>
                    <a:pt x="298037" y="287"/>
                  </a:cubicBezTo>
                  <a:cubicBezTo>
                    <a:pt x="305181" y="-1332"/>
                    <a:pt x="311944" y="4097"/>
                    <a:pt x="311944" y="11336"/>
                  </a:cubicBezTo>
                  <a:lnTo>
                    <a:pt x="311944" y="104681"/>
                  </a:lnTo>
                  <a:cubicBezTo>
                    <a:pt x="311944" y="109539"/>
                    <a:pt x="308896" y="113921"/>
                    <a:pt x="304229" y="115445"/>
                  </a:cubicBezTo>
                  <a:cubicBezTo>
                    <a:pt x="233458" y="138876"/>
                    <a:pt x="185452" y="179643"/>
                    <a:pt x="160401" y="237555"/>
                  </a:cubicBezTo>
                  <a:cubicBezTo>
                    <a:pt x="146780" y="266892"/>
                    <a:pt x="140589" y="295277"/>
                    <a:pt x="142018" y="322709"/>
                  </a:cubicBezTo>
                  <a:cubicBezTo>
                    <a:pt x="142208" y="326805"/>
                    <a:pt x="145542" y="329948"/>
                    <a:pt x="149543" y="329948"/>
                  </a:cubicBezTo>
                  <a:lnTo>
                    <a:pt x="297942" y="329948"/>
                  </a:lnTo>
                  <a:cubicBezTo>
                    <a:pt x="308705" y="329948"/>
                    <a:pt x="317468" y="338711"/>
                    <a:pt x="317468" y="349379"/>
                  </a:cubicBezTo>
                  <a:lnTo>
                    <a:pt x="317468" y="560643"/>
                  </a:lnTo>
                  <a:cubicBezTo>
                    <a:pt x="317468" y="594838"/>
                    <a:pt x="289751" y="622556"/>
                    <a:pt x="255461" y="622556"/>
                  </a:cubicBezTo>
                  <a:lnTo>
                    <a:pt x="19526" y="622556"/>
                  </a:lnTo>
                </a:path>
              </a:pathLst>
            </a:cu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600483898"/>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Section Dem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775" y="2977823"/>
            <a:ext cx="9370441" cy="553998"/>
          </a:xfrm>
          <a:noFill/>
        </p:spPr>
        <p:txBody>
          <a:bodyPr wrap="square"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light" pitchFamily="2" charset="0"/>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358775" y="3977319"/>
            <a:ext cx="9370441"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034899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Blank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775" y="2980408"/>
            <a:ext cx="9370441" cy="553998"/>
          </a:xfrm>
          <a:noFill/>
        </p:spPr>
        <p:txBody>
          <a:bodyPr wrap="square"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light" pitchFamily="2" charset="0"/>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231095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B9675-1EDC-10A9-79BB-CA60778FC665}"/>
              </a:ext>
            </a:extLst>
          </p:cNvPr>
          <p:cNvSpPr>
            <a:spLocks noGrp="1"/>
          </p:cNvSpPr>
          <p:nvPr>
            <p:ph type="title" hasCustomPrompt="1"/>
          </p:nvPr>
        </p:nvSpPr>
        <p:spPr>
          <a:xfrm>
            <a:off x="588263" y="-824268"/>
            <a:ext cx="11018520" cy="553998"/>
          </a:xfrm>
        </p:spPr>
        <p:txBody>
          <a:bodyPr anchor="b"/>
          <a:lstStyle>
            <a:lvl1pPr>
              <a:defRPr>
                <a:solidFill>
                  <a:srgbClr val="B1B3B3"/>
                </a:solidFill>
              </a:defRPr>
            </a:lvl1pPr>
          </a:lstStyle>
          <a:p>
            <a:r>
              <a:rPr lang="en-US"/>
              <a:t>Title</a:t>
            </a:r>
          </a:p>
        </p:txBody>
      </p:sp>
    </p:spTree>
    <p:extLst>
      <p:ext uri="{BB962C8B-B14F-4D97-AF65-F5344CB8AC3E}">
        <p14:creationId xmlns:p14="http://schemas.microsoft.com/office/powerpoint/2010/main" val="1706478115"/>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Notes Slide">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Semilight"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358774" y="1412875"/>
            <a:ext cx="11472864" cy="2246769"/>
          </a:xfrm>
        </p:spPr>
        <p:txBody>
          <a:bodyPr wrap="square">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409858838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358775" y="6407658"/>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sp>
        <p:nvSpPr>
          <p:cNvPr id="3" name="Title 1">
            <a:extLst>
              <a:ext uri="{FF2B5EF4-FFF2-40B4-BE49-F238E27FC236}">
                <a16:creationId xmlns:a16="http://schemas.microsoft.com/office/drawing/2014/main" id="{89FF0FC9-6B16-7B48-F8A5-349518F8D93B}"/>
              </a:ext>
              <a:ext uri="{C183D7F6-B498-43B3-948B-1728B52AA6E4}">
                <adec:decorative xmlns:adec="http://schemas.microsoft.com/office/drawing/2017/decorative" val="0"/>
              </a:ext>
            </a:extLst>
          </p:cNvPr>
          <p:cNvSpPr>
            <a:spLocks noGrp="1"/>
          </p:cNvSpPr>
          <p:nvPr>
            <p:ph type="title" hasCustomPrompt="1"/>
          </p:nvPr>
        </p:nvSpPr>
        <p:spPr>
          <a:xfrm>
            <a:off x="588263" y="-824268"/>
            <a:ext cx="11018520" cy="553998"/>
          </a:xfrm>
        </p:spPr>
        <p:txBody>
          <a:bodyPr anchor="b"/>
          <a:lstStyle>
            <a:lvl1pPr>
              <a:defRPr>
                <a:solidFill>
                  <a:srgbClr val="B1B3B3"/>
                </a:solidFill>
              </a:defRPr>
            </a:lvl1pPr>
          </a:lstStyle>
          <a:p>
            <a:r>
              <a:rPr lang="en-US"/>
              <a:t>Closing</a:t>
            </a:r>
          </a:p>
        </p:txBody>
      </p:sp>
      <p:grpSp>
        <p:nvGrpSpPr>
          <p:cNvPr id="5" name="Group 4">
            <a:extLst>
              <a:ext uri="{FF2B5EF4-FFF2-40B4-BE49-F238E27FC236}">
                <a16:creationId xmlns:a16="http://schemas.microsoft.com/office/drawing/2014/main" id="{ED7B5D60-F5A1-47B6-82A7-7D313714D29E}"/>
              </a:ext>
            </a:extLst>
          </p:cNvPr>
          <p:cNvGrpSpPr/>
          <p:nvPr userDrawn="1"/>
        </p:nvGrpSpPr>
        <p:grpSpPr>
          <a:xfrm>
            <a:off x="358775" y="358775"/>
            <a:ext cx="2290019" cy="290497"/>
            <a:chOff x="358775" y="358775"/>
            <a:chExt cx="2290019" cy="290497"/>
          </a:xfrm>
        </p:grpSpPr>
        <p:grpSp>
          <p:nvGrpSpPr>
            <p:cNvPr id="6" name="Graphic 6" descr="Microsoft Security">
              <a:extLst>
                <a:ext uri="{FF2B5EF4-FFF2-40B4-BE49-F238E27FC236}">
                  <a16:creationId xmlns:a16="http://schemas.microsoft.com/office/drawing/2014/main" id="{BA130885-CEAF-04D6-8A91-B87BC4865C8A}"/>
                </a:ext>
              </a:extLst>
            </p:cNvPr>
            <p:cNvGrpSpPr/>
            <p:nvPr/>
          </p:nvGrpSpPr>
          <p:grpSpPr>
            <a:xfrm>
              <a:off x="1790370" y="412960"/>
              <a:ext cx="858424" cy="231672"/>
              <a:chOff x="1790370" y="412960"/>
              <a:chExt cx="858424" cy="231672"/>
            </a:xfrm>
            <a:solidFill>
              <a:schemeClr val="tx1"/>
            </a:solidFill>
          </p:grpSpPr>
          <p:sp>
            <p:nvSpPr>
              <p:cNvPr id="12" name="Freeform: Shape 11">
                <a:extLst>
                  <a:ext uri="{FF2B5EF4-FFF2-40B4-BE49-F238E27FC236}">
                    <a16:creationId xmlns:a16="http://schemas.microsoft.com/office/drawing/2014/main" id="{DA88884A-50C9-248F-57D6-487F3452BBAF}"/>
                  </a:ext>
                </a:extLst>
              </p:cNvPr>
              <p:cNvSpPr/>
              <p:nvPr/>
            </p:nvSpPr>
            <p:spPr>
              <a:xfrm>
                <a:off x="1790370" y="413969"/>
                <a:ext cx="105790" cy="180229"/>
              </a:xfrm>
              <a:custGeom>
                <a:avLst/>
                <a:gdLst>
                  <a:gd name="connsiteX0" fmla="*/ 31753 w 105790"/>
                  <a:gd name="connsiteY0" fmla="*/ 47045 h 180229"/>
                  <a:gd name="connsiteX1" fmla="*/ 38451 w 105790"/>
                  <a:gd name="connsiteY1" fmla="*/ 63264 h 180229"/>
                  <a:gd name="connsiteX2" fmla="*/ 62417 w 105790"/>
                  <a:gd name="connsiteY2" fmla="*/ 78757 h 180229"/>
                  <a:gd name="connsiteX3" fmla="*/ 95703 w 105790"/>
                  <a:gd name="connsiteY3" fmla="*/ 102885 h 180229"/>
                  <a:gd name="connsiteX4" fmla="*/ 105790 w 105790"/>
                  <a:gd name="connsiteY4" fmla="*/ 130764 h 180229"/>
                  <a:gd name="connsiteX5" fmla="*/ 89006 w 105790"/>
                  <a:gd name="connsiteY5" fmla="*/ 167117 h 180229"/>
                  <a:gd name="connsiteX6" fmla="*/ 46076 w 105790"/>
                  <a:gd name="connsiteY6" fmla="*/ 180230 h 180229"/>
                  <a:gd name="connsiteX7" fmla="*/ 18721 w 105790"/>
                  <a:gd name="connsiteY7" fmla="*/ 177204 h 180229"/>
                  <a:gd name="connsiteX8" fmla="*/ 0 w 105790"/>
                  <a:gd name="connsiteY8" fmla="*/ 170143 h 180229"/>
                  <a:gd name="connsiteX9" fmla="*/ 0 w 105790"/>
                  <a:gd name="connsiteY9" fmla="*/ 136978 h 180229"/>
                  <a:gd name="connsiteX10" fmla="*/ 20617 w 105790"/>
                  <a:gd name="connsiteY10" fmla="*/ 149243 h 180229"/>
                  <a:gd name="connsiteX11" fmla="*/ 45350 w 105790"/>
                  <a:gd name="connsiteY11" fmla="*/ 154125 h 180229"/>
                  <a:gd name="connsiteX12" fmla="*/ 66371 w 105790"/>
                  <a:gd name="connsiteY12" fmla="*/ 149001 h 180229"/>
                  <a:gd name="connsiteX13" fmla="*/ 74158 w 105790"/>
                  <a:gd name="connsiteY13" fmla="*/ 133669 h 180229"/>
                  <a:gd name="connsiteX14" fmla="*/ 66694 w 105790"/>
                  <a:gd name="connsiteY14" fmla="*/ 117329 h 180229"/>
                  <a:gd name="connsiteX15" fmla="*/ 39177 w 105790"/>
                  <a:gd name="connsiteY15" fmla="*/ 99536 h 180229"/>
                  <a:gd name="connsiteX16" fmla="*/ 9804 w 105790"/>
                  <a:gd name="connsiteY16" fmla="*/ 77345 h 180229"/>
                  <a:gd name="connsiteX17" fmla="*/ 121 w 105790"/>
                  <a:gd name="connsiteY17" fmla="*/ 49102 h 180229"/>
                  <a:gd name="connsiteX18" fmla="*/ 16905 w 105790"/>
                  <a:gd name="connsiteY18" fmla="*/ 13799 h 180229"/>
                  <a:gd name="connsiteX19" fmla="*/ 59835 w 105790"/>
                  <a:gd name="connsiteY19" fmla="*/ 0 h 180229"/>
                  <a:gd name="connsiteX20" fmla="*/ 82268 w 105790"/>
                  <a:gd name="connsiteY20" fmla="*/ 2138 h 180229"/>
                  <a:gd name="connsiteX21" fmla="*/ 98245 w 105790"/>
                  <a:gd name="connsiteY21" fmla="*/ 6698 h 180229"/>
                  <a:gd name="connsiteX22" fmla="*/ 98245 w 105790"/>
                  <a:gd name="connsiteY22" fmla="*/ 38410 h 180229"/>
                  <a:gd name="connsiteX23" fmla="*/ 80936 w 105790"/>
                  <a:gd name="connsiteY23" fmla="*/ 29413 h 180229"/>
                  <a:gd name="connsiteX24" fmla="*/ 60319 w 105790"/>
                  <a:gd name="connsiteY24" fmla="*/ 26145 h 180229"/>
                  <a:gd name="connsiteX25" fmla="*/ 39661 w 105790"/>
                  <a:gd name="connsiteY25" fmla="*/ 31874 h 180229"/>
                  <a:gd name="connsiteX26" fmla="*/ 31753 w 105790"/>
                  <a:gd name="connsiteY26" fmla="*/ 47085 h 18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90" h="180229">
                    <a:moveTo>
                      <a:pt x="31753" y="47045"/>
                    </a:moveTo>
                    <a:cubicBezTo>
                      <a:pt x="31753" y="53460"/>
                      <a:pt x="33972" y="58866"/>
                      <a:pt x="38451" y="63264"/>
                    </a:cubicBezTo>
                    <a:cubicBezTo>
                      <a:pt x="42889" y="67702"/>
                      <a:pt x="50878" y="72867"/>
                      <a:pt x="62417" y="78757"/>
                    </a:cubicBezTo>
                    <a:cubicBezTo>
                      <a:pt x="77910" y="86786"/>
                      <a:pt x="89006" y="94815"/>
                      <a:pt x="95703" y="102885"/>
                    </a:cubicBezTo>
                    <a:cubicBezTo>
                      <a:pt x="102441" y="110954"/>
                      <a:pt x="105790" y="120234"/>
                      <a:pt x="105790" y="130764"/>
                    </a:cubicBezTo>
                    <a:cubicBezTo>
                      <a:pt x="105790" y="146258"/>
                      <a:pt x="100182" y="158362"/>
                      <a:pt x="89006" y="167117"/>
                    </a:cubicBezTo>
                    <a:cubicBezTo>
                      <a:pt x="77829" y="175872"/>
                      <a:pt x="63506" y="180230"/>
                      <a:pt x="46076" y="180230"/>
                    </a:cubicBezTo>
                    <a:cubicBezTo>
                      <a:pt x="36111" y="180230"/>
                      <a:pt x="26992" y="179221"/>
                      <a:pt x="18721" y="177204"/>
                    </a:cubicBezTo>
                    <a:cubicBezTo>
                      <a:pt x="10450" y="175186"/>
                      <a:pt x="4196" y="172846"/>
                      <a:pt x="0" y="170143"/>
                    </a:cubicBezTo>
                    <a:lnTo>
                      <a:pt x="0" y="136978"/>
                    </a:lnTo>
                    <a:cubicBezTo>
                      <a:pt x="5366" y="141941"/>
                      <a:pt x="12225" y="146016"/>
                      <a:pt x="20617" y="149243"/>
                    </a:cubicBezTo>
                    <a:cubicBezTo>
                      <a:pt x="29010" y="152471"/>
                      <a:pt x="37240" y="154125"/>
                      <a:pt x="45350" y="154125"/>
                    </a:cubicBezTo>
                    <a:cubicBezTo>
                      <a:pt x="54186" y="154125"/>
                      <a:pt x="61206" y="152431"/>
                      <a:pt x="66371" y="149001"/>
                    </a:cubicBezTo>
                    <a:cubicBezTo>
                      <a:pt x="71576" y="145612"/>
                      <a:pt x="74158" y="140488"/>
                      <a:pt x="74158" y="133669"/>
                    </a:cubicBezTo>
                    <a:cubicBezTo>
                      <a:pt x="74158" y="127658"/>
                      <a:pt x="71656" y="122211"/>
                      <a:pt x="66694" y="117329"/>
                    </a:cubicBezTo>
                    <a:cubicBezTo>
                      <a:pt x="61691" y="112447"/>
                      <a:pt x="52532" y="106476"/>
                      <a:pt x="39177" y="99536"/>
                    </a:cubicBezTo>
                    <a:cubicBezTo>
                      <a:pt x="26064" y="92717"/>
                      <a:pt x="16260" y="85334"/>
                      <a:pt x="9804" y="77345"/>
                    </a:cubicBezTo>
                    <a:cubicBezTo>
                      <a:pt x="3349" y="69356"/>
                      <a:pt x="121" y="59956"/>
                      <a:pt x="121" y="49102"/>
                    </a:cubicBezTo>
                    <a:cubicBezTo>
                      <a:pt x="121" y="34779"/>
                      <a:pt x="5729" y="22998"/>
                      <a:pt x="16905" y="13799"/>
                    </a:cubicBezTo>
                    <a:cubicBezTo>
                      <a:pt x="28082" y="4600"/>
                      <a:pt x="42405" y="0"/>
                      <a:pt x="59835" y="0"/>
                    </a:cubicBezTo>
                    <a:cubicBezTo>
                      <a:pt x="67541" y="0"/>
                      <a:pt x="75005" y="726"/>
                      <a:pt x="82268" y="2138"/>
                    </a:cubicBezTo>
                    <a:cubicBezTo>
                      <a:pt x="89530" y="3551"/>
                      <a:pt x="94856" y="5084"/>
                      <a:pt x="98245" y="6698"/>
                    </a:cubicBezTo>
                    <a:lnTo>
                      <a:pt x="98245" y="38410"/>
                    </a:lnTo>
                    <a:cubicBezTo>
                      <a:pt x="93444" y="34618"/>
                      <a:pt x="87674" y="31592"/>
                      <a:pt x="80936" y="29413"/>
                    </a:cubicBezTo>
                    <a:cubicBezTo>
                      <a:pt x="74158" y="27234"/>
                      <a:pt x="67299" y="26145"/>
                      <a:pt x="60319" y="26145"/>
                    </a:cubicBezTo>
                    <a:cubicBezTo>
                      <a:pt x="51806" y="26145"/>
                      <a:pt x="44906" y="28041"/>
                      <a:pt x="39661" y="31874"/>
                    </a:cubicBezTo>
                    <a:cubicBezTo>
                      <a:pt x="34376" y="35667"/>
                      <a:pt x="31753" y="40750"/>
                      <a:pt x="31753" y="47085"/>
                    </a:cubicBezTo>
                    <a:close/>
                  </a:path>
                </a:pathLst>
              </a:custGeom>
              <a:grpFill/>
              <a:ln w="40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6517D5C3-4305-78EF-2EB6-6BF84E568348}"/>
                  </a:ext>
                </a:extLst>
              </p:cNvPr>
              <p:cNvSpPr/>
              <p:nvPr/>
            </p:nvSpPr>
            <p:spPr>
              <a:xfrm>
                <a:off x="1910725" y="463717"/>
                <a:ext cx="114626" cy="130522"/>
              </a:xfrm>
              <a:custGeom>
                <a:avLst/>
                <a:gdLst>
                  <a:gd name="connsiteX0" fmla="*/ 104539 w 114626"/>
                  <a:gd name="connsiteY0" fmla="*/ 95985 h 130522"/>
                  <a:gd name="connsiteX1" fmla="*/ 104539 w 114626"/>
                  <a:gd name="connsiteY1" fmla="*/ 120194 h 130522"/>
                  <a:gd name="connsiteX2" fmla="*/ 85455 w 114626"/>
                  <a:gd name="connsiteY2" fmla="*/ 127658 h 130522"/>
                  <a:gd name="connsiteX3" fmla="*/ 60279 w 114626"/>
                  <a:gd name="connsiteY3" fmla="*/ 130522 h 130522"/>
                  <a:gd name="connsiteX4" fmla="*/ 15856 w 114626"/>
                  <a:gd name="connsiteY4" fmla="*/ 113617 h 130522"/>
                  <a:gd name="connsiteX5" fmla="*/ 0 w 114626"/>
                  <a:gd name="connsiteY5" fmla="*/ 66572 h 130522"/>
                  <a:gd name="connsiteX6" fmla="*/ 16946 w 114626"/>
                  <a:gd name="connsiteY6" fmla="*/ 18761 h 130522"/>
                  <a:gd name="connsiteX7" fmla="*/ 59915 w 114626"/>
                  <a:gd name="connsiteY7" fmla="*/ 0 h 130522"/>
                  <a:gd name="connsiteX8" fmla="*/ 100222 w 114626"/>
                  <a:gd name="connsiteY8" fmla="*/ 15856 h 130522"/>
                  <a:gd name="connsiteX9" fmla="*/ 114626 w 114626"/>
                  <a:gd name="connsiteY9" fmla="*/ 59673 h 130522"/>
                  <a:gd name="connsiteX10" fmla="*/ 114626 w 114626"/>
                  <a:gd name="connsiteY10" fmla="*/ 73875 h 130522"/>
                  <a:gd name="connsiteX11" fmla="*/ 29050 w 114626"/>
                  <a:gd name="connsiteY11" fmla="*/ 73875 h 130522"/>
                  <a:gd name="connsiteX12" fmla="*/ 41154 w 114626"/>
                  <a:gd name="connsiteY12" fmla="*/ 100181 h 130522"/>
                  <a:gd name="connsiteX13" fmla="*/ 67339 w 114626"/>
                  <a:gd name="connsiteY13" fmla="*/ 107646 h 130522"/>
                  <a:gd name="connsiteX14" fmla="*/ 87513 w 114626"/>
                  <a:gd name="connsiteY14" fmla="*/ 104418 h 130522"/>
                  <a:gd name="connsiteX15" fmla="*/ 104539 w 114626"/>
                  <a:gd name="connsiteY15" fmla="*/ 95985 h 130522"/>
                  <a:gd name="connsiteX16" fmla="*/ 85697 w 114626"/>
                  <a:gd name="connsiteY16" fmla="*/ 52330 h 130522"/>
                  <a:gd name="connsiteX17" fmla="*/ 78959 w 114626"/>
                  <a:gd name="connsiteY17" fmla="*/ 30099 h 130522"/>
                  <a:gd name="connsiteX18" fmla="*/ 59956 w 114626"/>
                  <a:gd name="connsiteY18" fmla="*/ 22433 h 130522"/>
                  <a:gd name="connsiteX19" fmla="*/ 40993 w 114626"/>
                  <a:gd name="connsiteY19" fmla="*/ 30018 h 130522"/>
                  <a:gd name="connsiteX20" fmla="*/ 29817 w 114626"/>
                  <a:gd name="connsiteY20" fmla="*/ 52330 h 130522"/>
                  <a:gd name="connsiteX21" fmla="*/ 85738 w 114626"/>
                  <a:gd name="connsiteY21" fmla="*/ 52330 h 13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626" h="130522">
                    <a:moveTo>
                      <a:pt x="104539" y="95985"/>
                    </a:moveTo>
                    <a:lnTo>
                      <a:pt x="104539" y="120194"/>
                    </a:lnTo>
                    <a:cubicBezTo>
                      <a:pt x="99657" y="123260"/>
                      <a:pt x="93323" y="125761"/>
                      <a:pt x="85455" y="127658"/>
                    </a:cubicBezTo>
                    <a:cubicBezTo>
                      <a:pt x="77588" y="129554"/>
                      <a:pt x="69195" y="130522"/>
                      <a:pt x="60279" y="130522"/>
                    </a:cubicBezTo>
                    <a:cubicBezTo>
                      <a:pt x="41235" y="130522"/>
                      <a:pt x="26427" y="124874"/>
                      <a:pt x="15856" y="113617"/>
                    </a:cubicBezTo>
                    <a:cubicBezTo>
                      <a:pt x="5285" y="102360"/>
                      <a:pt x="0" y="86665"/>
                      <a:pt x="0" y="66572"/>
                    </a:cubicBezTo>
                    <a:cubicBezTo>
                      <a:pt x="0" y="46480"/>
                      <a:pt x="5649" y="31269"/>
                      <a:pt x="16946" y="18761"/>
                    </a:cubicBezTo>
                    <a:cubicBezTo>
                      <a:pt x="28243" y="6254"/>
                      <a:pt x="42566" y="0"/>
                      <a:pt x="59915" y="0"/>
                    </a:cubicBezTo>
                    <a:cubicBezTo>
                      <a:pt x="77265" y="0"/>
                      <a:pt x="90620" y="5285"/>
                      <a:pt x="100222" y="15856"/>
                    </a:cubicBezTo>
                    <a:cubicBezTo>
                      <a:pt x="109825" y="26427"/>
                      <a:pt x="114626" y="41033"/>
                      <a:pt x="114626" y="59673"/>
                    </a:cubicBezTo>
                    <a:lnTo>
                      <a:pt x="114626" y="73875"/>
                    </a:lnTo>
                    <a:lnTo>
                      <a:pt x="29050" y="73875"/>
                    </a:lnTo>
                    <a:cubicBezTo>
                      <a:pt x="30341" y="86423"/>
                      <a:pt x="34376" y="95219"/>
                      <a:pt x="41154" y="100181"/>
                    </a:cubicBezTo>
                    <a:cubicBezTo>
                      <a:pt x="47932" y="105184"/>
                      <a:pt x="56647" y="107646"/>
                      <a:pt x="67339" y="107646"/>
                    </a:cubicBezTo>
                    <a:cubicBezTo>
                      <a:pt x="74400" y="107646"/>
                      <a:pt x="81098" y="106556"/>
                      <a:pt x="87513" y="104418"/>
                    </a:cubicBezTo>
                    <a:cubicBezTo>
                      <a:pt x="93928" y="102280"/>
                      <a:pt x="99577" y="99455"/>
                      <a:pt x="104539" y="95985"/>
                    </a:cubicBezTo>
                    <a:close/>
                    <a:moveTo>
                      <a:pt x="85697" y="52330"/>
                    </a:moveTo>
                    <a:cubicBezTo>
                      <a:pt x="85697" y="42606"/>
                      <a:pt x="83438" y="35183"/>
                      <a:pt x="78959" y="30099"/>
                    </a:cubicBezTo>
                    <a:cubicBezTo>
                      <a:pt x="74481" y="24975"/>
                      <a:pt x="68106" y="22433"/>
                      <a:pt x="59956" y="22433"/>
                    </a:cubicBezTo>
                    <a:cubicBezTo>
                      <a:pt x="52895" y="22433"/>
                      <a:pt x="46601" y="24975"/>
                      <a:pt x="40993" y="30018"/>
                    </a:cubicBezTo>
                    <a:cubicBezTo>
                      <a:pt x="35384" y="35102"/>
                      <a:pt x="31672" y="42526"/>
                      <a:pt x="29817" y="52330"/>
                    </a:cubicBezTo>
                    <a:lnTo>
                      <a:pt x="85738" y="52330"/>
                    </a:lnTo>
                    <a:close/>
                  </a:path>
                </a:pathLst>
              </a:custGeom>
              <a:grpFill/>
              <a:ln w="40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A65F36D4-21A7-FB72-F4C1-34FD085F4ABB}"/>
                  </a:ext>
                </a:extLst>
              </p:cNvPr>
              <p:cNvSpPr/>
              <p:nvPr/>
            </p:nvSpPr>
            <p:spPr>
              <a:xfrm>
                <a:off x="2040401" y="463071"/>
                <a:ext cx="97760" cy="131167"/>
              </a:xfrm>
              <a:custGeom>
                <a:avLst/>
                <a:gdLst>
                  <a:gd name="connsiteX0" fmla="*/ 68711 w 97760"/>
                  <a:gd name="connsiteY0" fmla="*/ 106718 h 131167"/>
                  <a:gd name="connsiteX1" fmla="*/ 83155 w 97760"/>
                  <a:gd name="connsiteY1" fmla="*/ 103692 h 131167"/>
                  <a:gd name="connsiteX2" fmla="*/ 97761 w 97760"/>
                  <a:gd name="connsiteY2" fmla="*/ 95663 h 131167"/>
                  <a:gd name="connsiteX3" fmla="*/ 97761 w 97760"/>
                  <a:gd name="connsiteY3" fmla="*/ 123018 h 131167"/>
                  <a:gd name="connsiteX4" fmla="*/ 81784 w 97760"/>
                  <a:gd name="connsiteY4" fmla="*/ 129110 h 131167"/>
                  <a:gd name="connsiteX5" fmla="*/ 62135 w 97760"/>
                  <a:gd name="connsiteY5" fmla="*/ 131168 h 131167"/>
                  <a:gd name="connsiteX6" fmla="*/ 17269 w 97760"/>
                  <a:gd name="connsiteY6" fmla="*/ 113738 h 131167"/>
                  <a:gd name="connsiteX7" fmla="*/ 0 w 97760"/>
                  <a:gd name="connsiteY7" fmla="*/ 69195 h 131167"/>
                  <a:gd name="connsiteX8" fmla="*/ 17632 w 97760"/>
                  <a:gd name="connsiteY8" fmla="*/ 19528 h 131167"/>
                  <a:gd name="connsiteX9" fmla="*/ 67581 w 97760"/>
                  <a:gd name="connsiteY9" fmla="*/ 0 h 131167"/>
                  <a:gd name="connsiteX10" fmla="*/ 84285 w 97760"/>
                  <a:gd name="connsiteY10" fmla="*/ 2138 h 131167"/>
                  <a:gd name="connsiteX11" fmla="*/ 97721 w 97760"/>
                  <a:gd name="connsiteY11" fmla="*/ 7061 h 131167"/>
                  <a:gd name="connsiteX12" fmla="*/ 97721 w 97760"/>
                  <a:gd name="connsiteY12" fmla="*/ 35263 h 131167"/>
                  <a:gd name="connsiteX13" fmla="*/ 83801 w 97760"/>
                  <a:gd name="connsiteY13" fmla="*/ 27557 h 131167"/>
                  <a:gd name="connsiteX14" fmla="*/ 69276 w 97760"/>
                  <a:gd name="connsiteY14" fmla="*/ 24813 h 131167"/>
                  <a:gd name="connsiteX15" fmla="*/ 41194 w 97760"/>
                  <a:gd name="connsiteY15" fmla="*/ 36111 h 131167"/>
                  <a:gd name="connsiteX16" fmla="*/ 30502 w 97760"/>
                  <a:gd name="connsiteY16" fmla="*/ 66613 h 131167"/>
                  <a:gd name="connsiteX17" fmla="*/ 40791 w 97760"/>
                  <a:gd name="connsiteY17" fmla="*/ 96147 h 131167"/>
                  <a:gd name="connsiteX18" fmla="*/ 68671 w 97760"/>
                  <a:gd name="connsiteY18" fmla="*/ 106718 h 13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7760" h="131167">
                    <a:moveTo>
                      <a:pt x="68711" y="106718"/>
                    </a:moveTo>
                    <a:cubicBezTo>
                      <a:pt x="73069" y="106718"/>
                      <a:pt x="77910" y="105709"/>
                      <a:pt x="83155" y="103692"/>
                    </a:cubicBezTo>
                    <a:cubicBezTo>
                      <a:pt x="88441" y="101674"/>
                      <a:pt x="93282" y="99011"/>
                      <a:pt x="97761" y="95663"/>
                    </a:cubicBezTo>
                    <a:lnTo>
                      <a:pt x="97761" y="123018"/>
                    </a:lnTo>
                    <a:cubicBezTo>
                      <a:pt x="93040" y="125681"/>
                      <a:pt x="87715" y="127738"/>
                      <a:pt x="81784" y="129110"/>
                    </a:cubicBezTo>
                    <a:cubicBezTo>
                      <a:pt x="75812" y="130482"/>
                      <a:pt x="69276" y="131168"/>
                      <a:pt x="62135" y="131168"/>
                    </a:cubicBezTo>
                    <a:cubicBezTo>
                      <a:pt x="43736" y="131168"/>
                      <a:pt x="28767" y="125358"/>
                      <a:pt x="17269" y="113738"/>
                    </a:cubicBezTo>
                    <a:cubicBezTo>
                      <a:pt x="5770" y="102118"/>
                      <a:pt x="0" y="87270"/>
                      <a:pt x="0" y="69195"/>
                    </a:cubicBezTo>
                    <a:cubicBezTo>
                      <a:pt x="0" y="49102"/>
                      <a:pt x="5891" y="32560"/>
                      <a:pt x="17632" y="19528"/>
                    </a:cubicBezTo>
                    <a:cubicBezTo>
                      <a:pt x="29373" y="6536"/>
                      <a:pt x="46036" y="0"/>
                      <a:pt x="67581" y="0"/>
                    </a:cubicBezTo>
                    <a:cubicBezTo>
                      <a:pt x="73109" y="0"/>
                      <a:pt x="78677" y="726"/>
                      <a:pt x="84285" y="2138"/>
                    </a:cubicBezTo>
                    <a:cubicBezTo>
                      <a:pt x="89934" y="3551"/>
                      <a:pt x="94412" y="5205"/>
                      <a:pt x="97721" y="7061"/>
                    </a:cubicBezTo>
                    <a:lnTo>
                      <a:pt x="97721" y="35263"/>
                    </a:lnTo>
                    <a:cubicBezTo>
                      <a:pt x="93202" y="31955"/>
                      <a:pt x="88562" y="29373"/>
                      <a:pt x="83801" y="27557"/>
                    </a:cubicBezTo>
                    <a:cubicBezTo>
                      <a:pt x="79080" y="25741"/>
                      <a:pt x="74198" y="24813"/>
                      <a:pt x="69276" y="24813"/>
                    </a:cubicBezTo>
                    <a:cubicBezTo>
                      <a:pt x="57696" y="24813"/>
                      <a:pt x="48336" y="28566"/>
                      <a:pt x="41194" y="36111"/>
                    </a:cubicBezTo>
                    <a:cubicBezTo>
                      <a:pt x="34053" y="43655"/>
                      <a:pt x="30502" y="53823"/>
                      <a:pt x="30502" y="66613"/>
                    </a:cubicBezTo>
                    <a:cubicBezTo>
                      <a:pt x="30502" y="79403"/>
                      <a:pt x="33932" y="89086"/>
                      <a:pt x="40791" y="96147"/>
                    </a:cubicBezTo>
                    <a:cubicBezTo>
                      <a:pt x="47650" y="103207"/>
                      <a:pt x="56930" y="106718"/>
                      <a:pt x="68671" y="106718"/>
                    </a:cubicBezTo>
                    <a:close/>
                  </a:path>
                </a:pathLst>
              </a:custGeom>
              <a:grpFill/>
              <a:ln w="40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1E492236-A0CA-ADA2-6F4F-083A06383050}"/>
                  </a:ext>
                </a:extLst>
              </p:cNvPr>
              <p:cNvSpPr/>
              <p:nvPr/>
            </p:nvSpPr>
            <p:spPr>
              <a:xfrm>
                <a:off x="2159183" y="466218"/>
                <a:ext cx="112205" cy="126649"/>
              </a:xfrm>
              <a:custGeom>
                <a:avLst/>
                <a:gdLst>
                  <a:gd name="connsiteX0" fmla="*/ 112205 w 112205"/>
                  <a:gd name="connsiteY0" fmla="*/ 0 h 126649"/>
                  <a:gd name="connsiteX1" fmla="*/ 112205 w 112205"/>
                  <a:gd name="connsiteY1" fmla="*/ 124954 h 126649"/>
                  <a:gd name="connsiteX2" fmla="*/ 82550 w 112205"/>
                  <a:gd name="connsiteY2" fmla="*/ 124954 h 126649"/>
                  <a:gd name="connsiteX3" fmla="*/ 82550 w 112205"/>
                  <a:gd name="connsiteY3" fmla="*/ 108533 h 126649"/>
                  <a:gd name="connsiteX4" fmla="*/ 82066 w 112205"/>
                  <a:gd name="connsiteY4" fmla="*/ 108533 h 126649"/>
                  <a:gd name="connsiteX5" fmla="*/ 66452 w 112205"/>
                  <a:gd name="connsiteY5" fmla="*/ 121848 h 126649"/>
                  <a:gd name="connsiteX6" fmla="*/ 44503 w 112205"/>
                  <a:gd name="connsiteY6" fmla="*/ 126649 h 126649"/>
                  <a:gd name="connsiteX7" fmla="*/ 11378 w 112205"/>
                  <a:gd name="connsiteY7" fmla="*/ 114303 h 126649"/>
                  <a:gd name="connsiteX8" fmla="*/ 0 w 112205"/>
                  <a:gd name="connsiteY8" fmla="*/ 75973 h 126649"/>
                  <a:gd name="connsiteX9" fmla="*/ 0 w 112205"/>
                  <a:gd name="connsiteY9" fmla="*/ 0 h 126649"/>
                  <a:gd name="connsiteX10" fmla="*/ 29776 w 112205"/>
                  <a:gd name="connsiteY10" fmla="*/ 0 h 126649"/>
                  <a:gd name="connsiteX11" fmla="*/ 29776 w 112205"/>
                  <a:gd name="connsiteY11" fmla="*/ 72463 h 126649"/>
                  <a:gd name="connsiteX12" fmla="*/ 36030 w 112205"/>
                  <a:gd name="connsiteY12" fmla="*/ 96227 h 126649"/>
                  <a:gd name="connsiteX13" fmla="*/ 54912 w 112205"/>
                  <a:gd name="connsiteY13" fmla="*/ 104176 h 126649"/>
                  <a:gd name="connsiteX14" fmla="*/ 74965 w 112205"/>
                  <a:gd name="connsiteY14" fmla="*/ 95380 h 126649"/>
                  <a:gd name="connsiteX15" fmla="*/ 82510 w 112205"/>
                  <a:gd name="connsiteY15" fmla="*/ 72342 h 126649"/>
                  <a:gd name="connsiteX16" fmla="*/ 82510 w 112205"/>
                  <a:gd name="connsiteY16" fmla="*/ 0 h 126649"/>
                  <a:gd name="connsiteX17" fmla="*/ 112165 w 112205"/>
                  <a:gd name="connsiteY17" fmla="*/ 0 h 1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205" h="126649">
                    <a:moveTo>
                      <a:pt x="112205" y="0"/>
                    </a:moveTo>
                    <a:lnTo>
                      <a:pt x="112205" y="124954"/>
                    </a:lnTo>
                    <a:lnTo>
                      <a:pt x="82550" y="124954"/>
                    </a:lnTo>
                    <a:lnTo>
                      <a:pt x="82550" y="108533"/>
                    </a:lnTo>
                    <a:lnTo>
                      <a:pt x="82066" y="108533"/>
                    </a:lnTo>
                    <a:cubicBezTo>
                      <a:pt x="78193" y="114222"/>
                      <a:pt x="72988" y="118660"/>
                      <a:pt x="66452" y="121848"/>
                    </a:cubicBezTo>
                    <a:cubicBezTo>
                      <a:pt x="59915" y="125035"/>
                      <a:pt x="52613" y="126649"/>
                      <a:pt x="44503" y="126649"/>
                    </a:cubicBezTo>
                    <a:cubicBezTo>
                      <a:pt x="29978" y="126649"/>
                      <a:pt x="18963" y="122534"/>
                      <a:pt x="11378" y="114303"/>
                    </a:cubicBezTo>
                    <a:cubicBezTo>
                      <a:pt x="3793" y="106072"/>
                      <a:pt x="0" y="93282"/>
                      <a:pt x="0" y="75973"/>
                    </a:cubicBezTo>
                    <a:lnTo>
                      <a:pt x="0" y="0"/>
                    </a:lnTo>
                    <a:lnTo>
                      <a:pt x="29776" y="0"/>
                    </a:lnTo>
                    <a:lnTo>
                      <a:pt x="29776" y="72463"/>
                    </a:lnTo>
                    <a:cubicBezTo>
                      <a:pt x="29776" y="82994"/>
                      <a:pt x="31874" y="90902"/>
                      <a:pt x="36030" y="96227"/>
                    </a:cubicBezTo>
                    <a:cubicBezTo>
                      <a:pt x="40186" y="101553"/>
                      <a:pt x="46520" y="104176"/>
                      <a:pt x="54912" y="104176"/>
                    </a:cubicBezTo>
                    <a:cubicBezTo>
                      <a:pt x="63305" y="104176"/>
                      <a:pt x="69962" y="101230"/>
                      <a:pt x="74965" y="95380"/>
                    </a:cubicBezTo>
                    <a:cubicBezTo>
                      <a:pt x="80008" y="89490"/>
                      <a:pt x="82510" y="81824"/>
                      <a:pt x="82510" y="72342"/>
                    </a:cubicBezTo>
                    <a:lnTo>
                      <a:pt x="82510" y="0"/>
                    </a:lnTo>
                    <a:lnTo>
                      <a:pt x="112165" y="0"/>
                    </a:lnTo>
                    <a:close/>
                  </a:path>
                </a:pathLst>
              </a:custGeom>
              <a:grpFill/>
              <a:ln w="40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C03D9C2D-BCC8-9FA1-9BB9-A9AE0E845F52}"/>
                  </a:ext>
                </a:extLst>
              </p:cNvPr>
              <p:cNvSpPr/>
              <p:nvPr/>
            </p:nvSpPr>
            <p:spPr>
              <a:xfrm>
                <a:off x="2297856" y="464161"/>
                <a:ext cx="72665" cy="127012"/>
              </a:xfrm>
              <a:custGeom>
                <a:avLst/>
                <a:gdLst>
                  <a:gd name="connsiteX0" fmla="*/ 61610 w 72665"/>
                  <a:gd name="connsiteY0" fmla="*/ 0 h 127012"/>
                  <a:gd name="connsiteX1" fmla="*/ 67944 w 72665"/>
                  <a:gd name="connsiteY1" fmla="*/ 484 h 127012"/>
                  <a:gd name="connsiteX2" fmla="*/ 72665 w 72665"/>
                  <a:gd name="connsiteY2" fmla="*/ 1695 h 127012"/>
                  <a:gd name="connsiteX3" fmla="*/ 72665 w 72665"/>
                  <a:gd name="connsiteY3" fmla="*/ 31471 h 127012"/>
                  <a:gd name="connsiteX4" fmla="*/ 65927 w 72665"/>
                  <a:gd name="connsiteY4" fmla="*/ 28243 h 127012"/>
                  <a:gd name="connsiteX5" fmla="*/ 55154 w 72665"/>
                  <a:gd name="connsiteY5" fmla="*/ 26710 h 127012"/>
                  <a:gd name="connsiteX6" fmla="*/ 36877 w 72665"/>
                  <a:gd name="connsiteY6" fmla="*/ 35828 h 127012"/>
                  <a:gd name="connsiteX7" fmla="*/ 29413 w 72665"/>
                  <a:gd name="connsiteY7" fmla="*/ 63910 h 127012"/>
                  <a:gd name="connsiteX8" fmla="*/ 29413 w 72665"/>
                  <a:gd name="connsiteY8" fmla="*/ 127012 h 127012"/>
                  <a:gd name="connsiteX9" fmla="*/ 0 w 72665"/>
                  <a:gd name="connsiteY9" fmla="*/ 127012 h 127012"/>
                  <a:gd name="connsiteX10" fmla="*/ 0 w 72665"/>
                  <a:gd name="connsiteY10" fmla="*/ 2058 h 127012"/>
                  <a:gd name="connsiteX11" fmla="*/ 29413 w 72665"/>
                  <a:gd name="connsiteY11" fmla="*/ 2058 h 127012"/>
                  <a:gd name="connsiteX12" fmla="*/ 29413 w 72665"/>
                  <a:gd name="connsiteY12" fmla="*/ 21747 h 127012"/>
                  <a:gd name="connsiteX13" fmla="*/ 29897 w 72665"/>
                  <a:gd name="connsiteY13" fmla="*/ 21747 h 127012"/>
                  <a:gd name="connsiteX14" fmla="*/ 42042 w 72665"/>
                  <a:gd name="connsiteY14" fmla="*/ 5770 h 127012"/>
                  <a:gd name="connsiteX15" fmla="*/ 61610 w 72665"/>
                  <a:gd name="connsiteY15" fmla="*/ 0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65" h="127012">
                    <a:moveTo>
                      <a:pt x="61610" y="0"/>
                    </a:moveTo>
                    <a:cubicBezTo>
                      <a:pt x="63950" y="0"/>
                      <a:pt x="66048" y="161"/>
                      <a:pt x="67944" y="484"/>
                    </a:cubicBezTo>
                    <a:cubicBezTo>
                      <a:pt x="69800" y="807"/>
                      <a:pt x="71374" y="1210"/>
                      <a:pt x="72665" y="1695"/>
                    </a:cubicBezTo>
                    <a:lnTo>
                      <a:pt x="72665" y="31471"/>
                    </a:lnTo>
                    <a:cubicBezTo>
                      <a:pt x="71132" y="30341"/>
                      <a:pt x="68873" y="29252"/>
                      <a:pt x="65927" y="28243"/>
                    </a:cubicBezTo>
                    <a:cubicBezTo>
                      <a:pt x="62982" y="27234"/>
                      <a:pt x="59391" y="26710"/>
                      <a:pt x="55154" y="26710"/>
                    </a:cubicBezTo>
                    <a:cubicBezTo>
                      <a:pt x="47932" y="26710"/>
                      <a:pt x="41840" y="29736"/>
                      <a:pt x="36877" y="35828"/>
                    </a:cubicBezTo>
                    <a:cubicBezTo>
                      <a:pt x="31874" y="41920"/>
                      <a:pt x="29413" y="51281"/>
                      <a:pt x="29413" y="63910"/>
                    </a:cubicBezTo>
                    <a:lnTo>
                      <a:pt x="29413" y="127012"/>
                    </a:lnTo>
                    <a:lnTo>
                      <a:pt x="0" y="127012"/>
                    </a:lnTo>
                    <a:lnTo>
                      <a:pt x="0" y="2058"/>
                    </a:lnTo>
                    <a:lnTo>
                      <a:pt x="29413" y="2058"/>
                    </a:lnTo>
                    <a:lnTo>
                      <a:pt x="29413" y="21747"/>
                    </a:lnTo>
                    <a:lnTo>
                      <a:pt x="29897" y="21747"/>
                    </a:lnTo>
                    <a:cubicBezTo>
                      <a:pt x="32560" y="14928"/>
                      <a:pt x="36635" y="9603"/>
                      <a:pt x="42042" y="5770"/>
                    </a:cubicBezTo>
                    <a:cubicBezTo>
                      <a:pt x="47488" y="1937"/>
                      <a:pt x="53984" y="0"/>
                      <a:pt x="61610" y="0"/>
                    </a:cubicBezTo>
                    <a:close/>
                  </a:path>
                </a:pathLst>
              </a:custGeom>
              <a:grpFill/>
              <a:ln w="40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434344C6-D261-89AD-B76A-EEF4E11639B6}"/>
                  </a:ext>
                </a:extLst>
              </p:cNvPr>
              <p:cNvSpPr/>
              <p:nvPr/>
            </p:nvSpPr>
            <p:spPr>
              <a:xfrm>
                <a:off x="2383553" y="412960"/>
                <a:ext cx="35868" cy="178212"/>
              </a:xfrm>
              <a:custGeom>
                <a:avLst/>
                <a:gdLst>
                  <a:gd name="connsiteX0" fmla="*/ 0 w 35868"/>
                  <a:gd name="connsiteY0" fmla="*/ 17147 h 178212"/>
                  <a:gd name="connsiteX1" fmla="*/ 5285 w 35868"/>
                  <a:gd name="connsiteY1" fmla="*/ 4922 h 178212"/>
                  <a:gd name="connsiteX2" fmla="*/ 17874 w 35868"/>
                  <a:gd name="connsiteY2" fmla="*/ 0 h 178212"/>
                  <a:gd name="connsiteX3" fmla="*/ 30744 w 35868"/>
                  <a:gd name="connsiteY3" fmla="*/ 5043 h 178212"/>
                  <a:gd name="connsiteX4" fmla="*/ 35869 w 35868"/>
                  <a:gd name="connsiteY4" fmla="*/ 17147 h 178212"/>
                  <a:gd name="connsiteX5" fmla="*/ 30623 w 35868"/>
                  <a:gd name="connsiteY5" fmla="*/ 29171 h 178212"/>
                  <a:gd name="connsiteX6" fmla="*/ 17874 w 35868"/>
                  <a:gd name="connsiteY6" fmla="*/ 34053 h 178212"/>
                  <a:gd name="connsiteX7" fmla="*/ 5164 w 35868"/>
                  <a:gd name="connsiteY7" fmla="*/ 29130 h 178212"/>
                  <a:gd name="connsiteX8" fmla="*/ 0 w 35868"/>
                  <a:gd name="connsiteY8" fmla="*/ 17147 h 178212"/>
                  <a:gd name="connsiteX9" fmla="*/ 32439 w 35868"/>
                  <a:gd name="connsiteY9" fmla="*/ 53258 h 178212"/>
                  <a:gd name="connsiteX10" fmla="*/ 32439 w 35868"/>
                  <a:gd name="connsiteY10" fmla="*/ 178212 h 178212"/>
                  <a:gd name="connsiteX11" fmla="*/ 3026 w 35868"/>
                  <a:gd name="connsiteY11" fmla="*/ 178212 h 178212"/>
                  <a:gd name="connsiteX12" fmla="*/ 3026 w 35868"/>
                  <a:gd name="connsiteY12" fmla="*/ 53258 h 178212"/>
                  <a:gd name="connsiteX13" fmla="*/ 32439 w 35868"/>
                  <a:gd name="connsiteY13" fmla="*/ 53258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868" h="178212">
                    <a:moveTo>
                      <a:pt x="0" y="17147"/>
                    </a:moveTo>
                    <a:cubicBezTo>
                      <a:pt x="0" y="12265"/>
                      <a:pt x="1775" y="8231"/>
                      <a:pt x="5285" y="4922"/>
                    </a:cubicBezTo>
                    <a:cubicBezTo>
                      <a:pt x="8796" y="1654"/>
                      <a:pt x="12992" y="0"/>
                      <a:pt x="17874" y="0"/>
                    </a:cubicBezTo>
                    <a:cubicBezTo>
                      <a:pt x="23038" y="0"/>
                      <a:pt x="27355" y="1695"/>
                      <a:pt x="30744" y="5043"/>
                    </a:cubicBezTo>
                    <a:cubicBezTo>
                      <a:pt x="34134" y="8392"/>
                      <a:pt x="35869" y="12427"/>
                      <a:pt x="35869" y="17147"/>
                    </a:cubicBezTo>
                    <a:cubicBezTo>
                      <a:pt x="35869" y="21868"/>
                      <a:pt x="34134" y="25943"/>
                      <a:pt x="30623" y="29171"/>
                    </a:cubicBezTo>
                    <a:cubicBezTo>
                      <a:pt x="27154" y="32399"/>
                      <a:pt x="22877" y="34053"/>
                      <a:pt x="17874" y="34053"/>
                    </a:cubicBezTo>
                    <a:cubicBezTo>
                      <a:pt x="12871" y="34053"/>
                      <a:pt x="8634" y="32399"/>
                      <a:pt x="5164" y="29130"/>
                    </a:cubicBezTo>
                    <a:cubicBezTo>
                      <a:pt x="1735" y="25862"/>
                      <a:pt x="0" y="21868"/>
                      <a:pt x="0" y="17147"/>
                    </a:cubicBezTo>
                    <a:close/>
                    <a:moveTo>
                      <a:pt x="32439" y="53258"/>
                    </a:moveTo>
                    <a:lnTo>
                      <a:pt x="32439" y="178212"/>
                    </a:lnTo>
                    <a:lnTo>
                      <a:pt x="3026" y="178212"/>
                    </a:lnTo>
                    <a:lnTo>
                      <a:pt x="3026" y="53258"/>
                    </a:lnTo>
                    <a:lnTo>
                      <a:pt x="32439" y="53258"/>
                    </a:lnTo>
                    <a:close/>
                  </a:path>
                </a:pathLst>
              </a:custGeom>
              <a:grpFill/>
              <a:ln w="40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9E62BB8A-9855-52B9-EA2B-2554227C09FB}"/>
                  </a:ext>
                </a:extLst>
              </p:cNvPr>
              <p:cNvSpPr/>
              <p:nvPr/>
            </p:nvSpPr>
            <p:spPr>
              <a:xfrm>
                <a:off x="2432898" y="429099"/>
                <a:ext cx="79846" cy="165140"/>
              </a:xfrm>
              <a:custGeom>
                <a:avLst/>
                <a:gdLst>
                  <a:gd name="connsiteX0" fmla="*/ 67420 w 79846"/>
                  <a:gd name="connsiteY0" fmla="*/ 140690 h 165140"/>
                  <a:gd name="connsiteX1" fmla="*/ 73553 w 79846"/>
                  <a:gd name="connsiteY1" fmla="*/ 139479 h 165140"/>
                  <a:gd name="connsiteX2" fmla="*/ 79806 w 79846"/>
                  <a:gd name="connsiteY2" fmla="*/ 136574 h 165140"/>
                  <a:gd name="connsiteX3" fmla="*/ 79806 w 79846"/>
                  <a:gd name="connsiteY3" fmla="*/ 160904 h 165140"/>
                  <a:gd name="connsiteX4" fmla="*/ 70527 w 79846"/>
                  <a:gd name="connsiteY4" fmla="*/ 163809 h 165140"/>
                  <a:gd name="connsiteX5" fmla="*/ 57696 w 79846"/>
                  <a:gd name="connsiteY5" fmla="*/ 165140 h 165140"/>
                  <a:gd name="connsiteX6" fmla="*/ 29817 w 79846"/>
                  <a:gd name="connsiteY6" fmla="*/ 155215 h 165140"/>
                  <a:gd name="connsiteX7" fmla="*/ 20537 w 79846"/>
                  <a:gd name="connsiteY7" fmla="*/ 125358 h 165140"/>
                  <a:gd name="connsiteX8" fmla="*/ 20537 w 79846"/>
                  <a:gd name="connsiteY8" fmla="*/ 61166 h 165140"/>
                  <a:gd name="connsiteX9" fmla="*/ 0 w 79846"/>
                  <a:gd name="connsiteY9" fmla="*/ 61166 h 165140"/>
                  <a:gd name="connsiteX10" fmla="*/ 0 w 79846"/>
                  <a:gd name="connsiteY10" fmla="*/ 37079 h 165140"/>
                  <a:gd name="connsiteX11" fmla="*/ 20537 w 79846"/>
                  <a:gd name="connsiteY11" fmla="*/ 37079 h 165140"/>
                  <a:gd name="connsiteX12" fmla="*/ 20537 w 79846"/>
                  <a:gd name="connsiteY12" fmla="*/ 8997 h 165140"/>
                  <a:gd name="connsiteX13" fmla="*/ 50071 w 79846"/>
                  <a:gd name="connsiteY13" fmla="*/ 0 h 165140"/>
                  <a:gd name="connsiteX14" fmla="*/ 50071 w 79846"/>
                  <a:gd name="connsiteY14" fmla="*/ 37079 h 165140"/>
                  <a:gd name="connsiteX15" fmla="*/ 79847 w 79846"/>
                  <a:gd name="connsiteY15" fmla="*/ 37079 h 165140"/>
                  <a:gd name="connsiteX16" fmla="*/ 79847 w 79846"/>
                  <a:gd name="connsiteY16" fmla="*/ 61166 h 165140"/>
                  <a:gd name="connsiteX17" fmla="*/ 50071 w 79846"/>
                  <a:gd name="connsiteY17" fmla="*/ 61166 h 165140"/>
                  <a:gd name="connsiteX18" fmla="*/ 50071 w 79846"/>
                  <a:gd name="connsiteY18" fmla="*/ 119629 h 165140"/>
                  <a:gd name="connsiteX19" fmla="*/ 54267 w 79846"/>
                  <a:gd name="connsiteY19" fmla="*/ 135929 h 165140"/>
                  <a:gd name="connsiteX20" fmla="*/ 67460 w 79846"/>
                  <a:gd name="connsiteY20" fmla="*/ 140690 h 16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846" h="165140">
                    <a:moveTo>
                      <a:pt x="67420" y="140690"/>
                    </a:moveTo>
                    <a:cubicBezTo>
                      <a:pt x="69115" y="140690"/>
                      <a:pt x="71172" y="140286"/>
                      <a:pt x="73553" y="139479"/>
                    </a:cubicBezTo>
                    <a:cubicBezTo>
                      <a:pt x="75933" y="138672"/>
                      <a:pt x="78031" y="137704"/>
                      <a:pt x="79806" y="136574"/>
                    </a:cubicBezTo>
                    <a:lnTo>
                      <a:pt x="79806" y="160904"/>
                    </a:lnTo>
                    <a:cubicBezTo>
                      <a:pt x="77951" y="161953"/>
                      <a:pt x="74844" y="162921"/>
                      <a:pt x="70527" y="163809"/>
                    </a:cubicBezTo>
                    <a:cubicBezTo>
                      <a:pt x="66209" y="164696"/>
                      <a:pt x="61933" y="165140"/>
                      <a:pt x="57696" y="165140"/>
                    </a:cubicBezTo>
                    <a:cubicBezTo>
                      <a:pt x="45310" y="165140"/>
                      <a:pt x="35990" y="161832"/>
                      <a:pt x="29817" y="155215"/>
                    </a:cubicBezTo>
                    <a:cubicBezTo>
                      <a:pt x="23603" y="148598"/>
                      <a:pt x="20537" y="138672"/>
                      <a:pt x="20537" y="125358"/>
                    </a:cubicBezTo>
                    <a:lnTo>
                      <a:pt x="20537" y="61166"/>
                    </a:lnTo>
                    <a:lnTo>
                      <a:pt x="0" y="61166"/>
                    </a:lnTo>
                    <a:lnTo>
                      <a:pt x="0" y="37079"/>
                    </a:lnTo>
                    <a:lnTo>
                      <a:pt x="20537" y="37079"/>
                    </a:lnTo>
                    <a:lnTo>
                      <a:pt x="20537" y="8997"/>
                    </a:lnTo>
                    <a:lnTo>
                      <a:pt x="50071" y="0"/>
                    </a:lnTo>
                    <a:lnTo>
                      <a:pt x="50071" y="37079"/>
                    </a:lnTo>
                    <a:lnTo>
                      <a:pt x="79847" y="37079"/>
                    </a:lnTo>
                    <a:lnTo>
                      <a:pt x="79847" y="61166"/>
                    </a:lnTo>
                    <a:lnTo>
                      <a:pt x="50071" y="61166"/>
                    </a:lnTo>
                    <a:lnTo>
                      <a:pt x="50071" y="119629"/>
                    </a:lnTo>
                    <a:cubicBezTo>
                      <a:pt x="50071" y="127335"/>
                      <a:pt x="51483" y="132741"/>
                      <a:pt x="54267" y="135929"/>
                    </a:cubicBezTo>
                    <a:cubicBezTo>
                      <a:pt x="57051" y="139076"/>
                      <a:pt x="61449" y="140690"/>
                      <a:pt x="67460" y="140690"/>
                    </a:cubicBezTo>
                    <a:close/>
                  </a:path>
                </a:pathLst>
              </a:custGeom>
              <a:grpFill/>
              <a:ln w="40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256C507B-920E-A6C9-C517-02A95F41569A}"/>
                  </a:ext>
                </a:extLst>
              </p:cNvPr>
              <p:cNvSpPr/>
              <p:nvPr/>
            </p:nvSpPr>
            <p:spPr>
              <a:xfrm>
                <a:off x="2521944" y="466218"/>
                <a:ext cx="126851" cy="178414"/>
              </a:xfrm>
              <a:custGeom>
                <a:avLst/>
                <a:gdLst>
                  <a:gd name="connsiteX0" fmla="*/ 64636 w 126851"/>
                  <a:gd name="connsiteY0" fmla="*/ 96631 h 178414"/>
                  <a:gd name="connsiteX1" fmla="*/ 97075 w 126851"/>
                  <a:gd name="connsiteY1" fmla="*/ 0 h 178414"/>
                  <a:gd name="connsiteX2" fmla="*/ 126851 w 126851"/>
                  <a:gd name="connsiteY2" fmla="*/ 0 h 178414"/>
                  <a:gd name="connsiteX3" fmla="*/ 75449 w 126851"/>
                  <a:gd name="connsiteY3" fmla="*/ 134315 h 178414"/>
                  <a:gd name="connsiteX4" fmla="*/ 54428 w 126851"/>
                  <a:gd name="connsiteY4" fmla="*/ 167722 h 178414"/>
                  <a:gd name="connsiteX5" fmla="*/ 25862 w 126851"/>
                  <a:gd name="connsiteY5" fmla="*/ 178414 h 178414"/>
                  <a:gd name="connsiteX6" fmla="*/ 16018 w 126851"/>
                  <a:gd name="connsiteY6" fmla="*/ 177849 h 178414"/>
                  <a:gd name="connsiteX7" fmla="*/ 7868 w 126851"/>
                  <a:gd name="connsiteY7" fmla="*/ 176316 h 178414"/>
                  <a:gd name="connsiteX8" fmla="*/ 7868 w 126851"/>
                  <a:gd name="connsiteY8" fmla="*/ 151503 h 178414"/>
                  <a:gd name="connsiteX9" fmla="*/ 14807 w 126851"/>
                  <a:gd name="connsiteY9" fmla="*/ 153883 h 178414"/>
                  <a:gd name="connsiteX10" fmla="*/ 21989 w 126851"/>
                  <a:gd name="connsiteY10" fmla="*/ 154690 h 178414"/>
                  <a:gd name="connsiteX11" fmla="*/ 34940 w 126851"/>
                  <a:gd name="connsiteY11" fmla="*/ 150817 h 178414"/>
                  <a:gd name="connsiteX12" fmla="*/ 43736 w 126851"/>
                  <a:gd name="connsiteY12" fmla="*/ 139036 h 178414"/>
                  <a:gd name="connsiteX13" fmla="*/ 49950 w 126851"/>
                  <a:gd name="connsiteY13" fmla="*/ 124954 h 178414"/>
                  <a:gd name="connsiteX14" fmla="*/ 0 w 126851"/>
                  <a:gd name="connsiteY14" fmla="*/ 0 h 178414"/>
                  <a:gd name="connsiteX15" fmla="*/ 33044 w 126851"/>
                  <a:gd name="connsiteY15" fmla="*/ 0 h 178414"/>
                  <a:gd name="connsiteX16" fmla="*/ 64152 w 126851"/>
                  <a:gd name="connsiteY16" fmla="*/ 96631 h 178414"/>
                  <a:gd name="connsiteX17" fmla="*/ 64636 w 126851"/>
                  <a:gd name="connsiteY17" fmla="*/ 96631 h 17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851" h="178414">
                    <a:moveTo>
                      <a:pt x="64636" y="96631"/>
                    </a:moveTo>
                    <a:lnTo>
                      <a:pt x="97075" y="0"/>
                    </a:lnTo>
                    <a:lnTo>
                      <a:pt x="126851" y="0"/>
                    </a:lnTo>
                    <a:lnTo>
                      <a:pt x="75449" y="134315"/>
                    </a:lnTo>
                    <a:cubicBezTo>
                      <a:pt x="69599" y="149485"/>
                      <a:pt x="62619" y="160621"/>
                      <a:pt x="54428" y="167722"/>
                    </a:cubicBezTo>
                    <a:cubicBezTo>
                      <a:pt x="46238" y="174864"/>
                      <a:pt x="36716" y="178414"/>
                      <a:pt x="25862" y="178414"/>
                    </a:cubicBezTo>
                    <a:cubicBezTo>
                      <a:pt x="22312" y="178414"/>
                      <a:pt x="19003" y="178212"/>
                      <a:pt x="16018" y="177849"/>
                    </a:cubicBezTo>
                    <a:cubicBezTo>
                      <a:pt x="13032" y="177486"/>
                      <a:pt x="10288" y="176962"/>
                      <a:pt x="7868" y="176316"/>
                    </a:cubicBezTo>
                    <a:lnTo>
                      <a:pt x="7868" y="151503"/>
                    </a:lnTo>
                    <a:cubicBezTo>
                      <a:pt x="10127" y="152552"/>
                      <a:pt x="12427" y="153359"/>
                      <a:pt x="14807" y="153883"/>
                    </a:cubicBezTo>
                    <a:cubicBezTo>
                      <a:pt x="17148" y="154408"/>
                      <a:pt x="19568" y="154690"/>
                      <a:pt x="21989" y="154690"/>
                    </a:cubicBezTo>
                    <a:cubicBezTo>
                      <a:pt x="27033" y="154690"/>
                      <a:pt x="31309" y="153399"/>
                      <a:pt x="34940" y="150817"/>
                    </a:cubicBezTo>
                    <a:cubicBezTo>
                      <a:pt x="38531" y="148235"/>
                      <a:pt x="41477" y="144281"/>
                      <a:pt x="43736" y="139036"/>
                    </a:cubicBezTo>
                    <a:lnTo>
                      <a:pt x="49950" y="124954"/>
                    </a:lnTo>
                    <a:lnTo>
                      <a:pt x="0" y="0"/>
                    </a:lnTo>
                    <a:lnTo>
                      <a:pt x="33044" y="0"/>
                    </a:lnTo>
                    <a:lnTo>
                      <a:pt x="64152" y="96631"/>
                    </a:lnTo>
                    <a:lnTo>
                      <a:pt x="64636" y="96631"/>
                    </a:lnTo>
                    <a:close/>
                  </a:path>
                </a:pathLst>
              </a:custGeom>
              <a:grpFill/>
              <a:ln w="4025" cap="flat">
                <a:noFill/>
                <a:prstDash val="solid"/>
                <a:miter/>
              </a:ln>
            </p:spPr>
            <p:txBody>
              <a:bodyPr rtlCol="0" anchor="ctr"/>
              <a:lstStyle/>
              <a:p>
                <a:endParaRPr lang="en-GB"/>
              </a:p>
            </p:txBody>
          </p:sp>
        </p:grpSp>
        <p:sp>
          <p:nvSpPr>
            <p:cNvPr id="7" name="Freeform: Shape 6">
              <a:extLst>
                <a:ext uri="{FF2B5EF4-FFF2-40B4-BE49-F238E27FC236}">
                  <a16:creationId xmlns:a16="http://schemas.microsoft.com/office/drawing/2014/main" id="{F747A46B-4839-2371-F8CD-E91DB54F9A8F}"/>
                </a:ext>
              </a:extLst>
            </p:cNvPr>
            <p:cNvSpPr/>
            <p:nvPr/>
          </p:nvSpPr>
          <p:spPr>
            <a:xfrm>
              <a:off x="736383" y="404003"/>
              <a:ext cx="984711" cy="190316"/>
            </a:xfrm>
            <a:custGeom>
              <a:avLst/>
              <a:gdLst>
                <a:gd name="connsiteX0" fmla="*/ 188663 w 984711"/>
                <a:gd name="connsiteY0" fmla="*/ 12871 h 190316"/>
                <a:gd name="connsiteX1" fmla="*/ 188663 w 984711"/>
                <a:gd name="connsiteY1" fmla="*/ 187169 h 190316"/>
                <a:gd name="connsiteX2" fmla="*/ 158403 w 984711"/>
                <a:gd name="connsiteY2" fmla="*/ 187169 h 190316"/>
                <a:gd name="connsiteX3" fmla="*/ 158403 w 984711"/>
                <a:gd name="connsiteY3" fmla="*/ 50555 h 190316"/>
                <a:gd name="connsiteX4" fmla="*/ 157919 w 984711"/>
                <a:gd name="connsiteY4" fmla="*/ 50555 h 190316"/>
                <a:gd name="connsiteX5" fmla="*/ 103813 w 984711"/>
                <a:gd name="connsiteY5" fmla="*/ 187169 h 190316"/>
                <a:gd name="connsiteX6" fmla="*/ 83761 w 984711"/>
                <a:gd name="connsiteY6" fmla="*/ 187169 h 190316"/>
                <a:gd name="connsiteX7" fmla="*/ 28324 w 984711"/>
                <a:gd name="connsiteY7" fmla="*/ 50555 h 190316"/>
                <a:gd name="connsiteX8" fmla="*/ 27961 w 984711"/>
                <a:gd name="connsiteY8" fmla="*/ 50555 h 190316"/>
                <a:gd name="connsiteX9" fmla="*/ 27961 w 984711"/>
                <a:gd name="connsiteY9" fmla="*/ 187169 h 190316"/>
                <a:gd name="connsiteX10" fmla="*/ 0 w 984711"/>
                <a:gd name="connsiteY10" fmla="*/ 187169 h 190316"/>
                <a:gd name="connsiteX11" fmla="*/ 0 w 984711"/>
                <a:gd name="connsiteY11" fmla="*/ 12871 h 190316"/>
                <a:gd name="connsiteX12" fmla="*/ 43373 w 984711"/>
                <a:gd name="connsiteY12" fmla="*/ 12871 h 190316"/>
                <a:gd name="connsiteX13" fmla="*/ 93444 w 984711"/>
                <a:gd name="connsiteY13" fmla="*/ 142062 h 190316"/>
                <a:gd name="connsiteX14" fmla="*/ 94170 w 984711"/>
                <a:gd name="connsiteY14" fmla="*/ 142062 h 190316"/>
                <a:gd name="connsiteX15" fmla="*/ 147025 w 984711"/>
                <a:gd name="connsiteY15" fmla="*/ 12871 h 190316"/>
                <a:gd name="connsiteX16" fmla="*/ 188582 w 984711"/>
                <a:gd name="connsiteY16" fmla="*/ 12871 h 190316"/>
                <a:gd name="connsiteX17" fmla="*/ 213961 w 984711"/>
                <a:gd name="connsiteY17" fmla="*/ 26104 h 190316"/>
                <a:gd name="connsiteX18" fmla="*/ 219246 w 984711"/>
                <a:gd name="connsiteY18" fmla="*/ 13879 h 190316"/>
                <a:gd name="connsiteX19" fmla="*/ 231834 w 984711"/>
                <a:gd name="connsiteY19" fmla="*/ 8957 h 190316"/>
                <a:gd name="connsiteX20" fmla="*/ 244705 w 984711"/>
                <a:gd name="connsiteY20" fmla="*/ 14000 h 190316"/>
                <a:gd name="connsiteX21" fmla="*/ 249829 w 984711"/>
                <a:gd name="connsiteY21" fmla="*/ 26104 h 190316"/>
                <a:gd name="connsiteX22" fmla="*/ 244584 w 984711"/>
                <a:gd name="connsiteY22" fmla="*/ 38128 h 190316"/>
                <a:gd name="connsiteX23" fmla="*/ 231834 w 984711"/>
                <a:gd name="connsiteY23" fmla="*/ 43010 h 190316"/>
                <a:gd name="connsiteX24" fmla="*/ 219125 w 984711"/>
                <a:gd name="connsiteY24" fmla="*/ 38088 h 190316"/>
                <a:gd name="connsiteX25" fmla="*/ 213961 w 984711"/>
                <a:gd name="connsiteY25" fmla="*/ 26104 h 190316"/>
                <a:gd name="connsiteX26" fmla="*/ 246400 w 984711"/>
                <a:gd name="connsiteY26" fmla="*/ 62215 h 190316"/>
                <a:gd name="connsiteX27" fmla="*/ 246400 w 984711"/>
                <a:gd name="connsiteY27" fmla="*/ 187169 h 190316"/>
                <a:gd name="connsiteX28" fmla="*/ 216987 w 984711"/>
                <a:gd name="connsiteY28" fmla="*/ 187169 h 190316"/>
                <a:gd name="connsiteX29" fmla="*/ 216987 w 984711"/>
                <a:gd name="connsiteY29" fmla="*/ 62215 h 190316"/>
                <a:gd name="connsiteX30" fmla="*/ 246400 w 984711"/>
                <a:gd name="connsiteY30" fmla="*/ 62215 h 190316"/>
                <a:gd name="connsiteX31" fmla="*/ 335607 w 984711"/>
                <a:gd name="connsiteY31" fmla="*/ 165786 h 190316"/>
                <a:gd name="connsiteX32" fmla="*/ 350051 w 984711"/>
                <a:gd name="connsiteY32" fmla="*/ 162760 h 190316"/>
                <a:gd name="connsiteX33" fmla="*/ 364657 w 984711"/>
                <a:gd name="connsiteY33" fmla="*/ 154731 h 190316"/>
                <a:gd name="connsiteX34" fmla="*/ 364657 w 984711"/>
                <a:gd name="connsiteY34" fmla="*/ 182086 h 190316"/>
                <a:gd name="connsiteX35" fmla="*/ 348680 w 984711"/>
                <a:gd name="connsiteY35" fmla="*/ 188178 h 190316"/>
                <a:gd name="connsiteX36" fmla="*/ 329031 w 984711"/>
                <a:gd name="connsiteY36" fmla="*/ 190236 h 190316"/>
                <a:gd name="connsiteX37" fmla="*/ 284165 w 984711"/>
                <a:gd name="connsiteY37" fmla="*/ 172806 h 190316"/>
                <a:gd name="connsiteX38" fmla="*/ 266896 w 984711"/>
                <a:gd name="connsiteY38" fmla="*/ 128263 h 190316"/>
                <a:gd name="connsiteX39" fmla="*/ 284528 w 984711"/>
                <a:gd name="connsiteY39" fmla="*/ 78596 h 190316"/>
                <a:gd name="connsiteX40" fmla="*/ 334477 w 984711"/>
                <a:gd name="connsiteY40" fmla="*/ 59108 h 190316"/>
                <a:gd name="connsiteX41" fmla="*/ 351181 w 984711"/>
                <a:gd name="connsiteY41" fmla="*/ 61247 h 190316"/>
                <a:gd name="connsiteX42" fmla="*/ 364617 w 984711"/>
                <a:gd name="connsiteY42" fmla="*/ 66169 h 190316"/>
                <a:gd name="connsiteX43" fmla="*/ 364617 w 984711"/>
                <a:gd name="connsiteY43" fmla="*/ 94372 h 190316"/>
                <a:gd name="connsiteX44" fmla="*/ 350697 w 984711"/>
                <a:gd name="connsiteY44" fmla="*/ 86665 h 190316"/>
                <a:gd name="connsiteX45" fmla="*/ 336172 w 984711"/>
                <a:gd name="connsiteY45" fmla="*/ 83922 h 190316"/>
                <a:gd name="connsiteX46" fmla="*/ 308090 w 984711"/>
                <a:gd name="connsiteY46" fmla="*/ 95219 h 190316"/>
                <a:gd name="connsiteX47" fmla="*/ 297398 w 984711"/>
                <a:gd name="connsiteY47" fmla="*/ 125721 h 190316"/>
                <a:gd name="connsiteX48" fmla="*/ 307687 w 984711"/>
                <a:gd name="connsiteY48" fmla="*/ 155255 h 190316"/>
                <a:gd name="connsiteX49" fmla="*/ 335567 w 984711"/>
                <a:gd name="connsiteY49" fmla="*/ 165826 h 190316"/>
                <a:gd name="connsiteX50" fmla="*/ 448418 w 984711"/>
                <a:gd name="connsiteY50" fmla="*/ 60157 h 190316"/>
                <a:gd name="connsiteX51" fmla="*/ 454752 w 984711"/>
                <a:gd name="connsiteY51" fmla="*/ 60641 h 190316"/>
                <a:gd name="connsiteX52" fmla="*/ 459513 w 984711"/>
                <a:gd name="connsiteY52" fmla="*/ 61852 h 190316"/>
                <a:gd name="connsiteX53" fmla="*/ 459513 w 984711"/>
                <a:gd name="connsiteY53" fmla="*/ 91628 h 190316"/>
                <a:gd name="connsiteX54" fmla="*/ 452775 w 984711"/>
                <a:gd name="connsiteY54" fmla="*/ 88400 h 190316"/>
                <a:gd name="connsiteX55" fmla="*/ 442002 w 984711"/>
                <a:gd name="connsiteY55" fmla="*/ 86867 h 190316"/>
                <a:gd name="connsiteX56" fmla="*/ 423725 w 984711"/>
                <a:gd name="connsiteY56" fmla="*/ 95985 h 190316"/>
                <a:gd name="connsiteX57" fmla="*/ 416261 w 984711"/>
                <a:gd name="connsiteY57" fmla="*/ 124067 h 190316"/>
                <a:gd name="connsiteX58" fmla="*/ 416261 w 984711"/>
                <a:gd name="connsiteY58" fmla="*/ 187169 h 190316"/>
                <a:gd name="connsiteX59" fmla="*/ 386848 w 984711"/>
                <a:gd name="connsiteY59" fmla="*/ 187169 h 190316"/>
                <a:gd name="connsiteX60" fmla="*/ 386848 w 984711"/>
                <a:gd name="connsiteY60" fmla="*/ 62215 h 190316"/>
                <a:gd name="connsiteX61" fmla="*/ 416261 w 984711"/>
                <a:gd name="connsiteY61" fmla="*/ 62215 h 190316"/>
                <a:gd name="connsiteX62" fmla="*/ 416261 w 984711"/>
                <a:gd name="connsiteY62" fmla="*/ 81904 h 190316"/>
                <a:gd name="connsiteX63" fmla="*/ 416745 w 984711"/>
                <a:gd name="connsiteY63" fmla="*/ 81904 h 190316"/>
                <a:gd name="connsiteX64" fmla="*/ 428890 w 984711"/>
                <a:gd name="connsiteY64" fmla="*/ 65927 h 190316"/>
                <a:gd name="connsiteX65" fmla="*/ 448458 w 984711"/>
                <a:gd name="connsiteY65" fmla="*/ 60157 h 190316"/>
                <a:gd name="connsiteX66" fmla="*/ 461087 w 984711"/>
                <a:gd name="connsiteY66" fmla="*/ 126528 h 190316"/>
                <a:gd name="connsiteX67" fmla="*/ 478597 w 984711"/>
                <a:gd name="connsiteY67" fmla="*/ 77426 h 190316"/>
                <a:gd name="connsiteX68" fmla="*/ 527216 w 984711"/>
                <a:gd name="connsiteY68" fmla="*/ 59310 h 190316"/>
                <a:gd name="connsiteX69" fmla="*/ 572969 w 984711"/>
                <a:gd name="connsiteY69" fmla="*/ 76740 h 190316"/>
                <a:gd name="connsiteX70" fmla="*/ 589431 w 984711"/>
                <a:gd name="connsiteY70" fmla="*/ 123825 h 190316"/>
                <a:gd name="connsiteX71" fmla="*/ 571920 w 984711"/>
                <a:gd name="connsiteY71" fmla="*/ 172201 h 190316"/>
                <a:gd name="connsiteX72" fmla="*/ 524270 w 984711"/>
                <a:gd name="connsiteY72" fmla="*/ 190195 h 190316"/>
                <a:gd name="connsiteX73" fmla="*/ 478153 w 984711"/>
                <a:gd name="connsiteY73" fmla="*/ 173129 h 190316"/>
                <a:gd name="connsiteX74" fmla="*/ 461087 w 984711"/>
                <a:gd name="connsiteY74" fmla="*/ 126528 h 190316"/>
                <a:gd name="connsiteX75" fmla="*/ 491710 w 984711"/>
                <a:gd name="connsiteY75" fmla="*/ 125560 h 190316"/>
                <a:gd name="connsiteX76" fmla="*/ 500586 w 984711"/>
                <a:gd name="connsiteY76" fmla="*/ 155457 h 190316"/>
                <a:gd name="connsiteX77" fmla="*/ 526005 w 984711"/>
                <a:gd name="connsiteY77" fmla="*/ 165786 h 190316"/>
                <a:gd name="connsiteX78" fmla="*/ 550455 w 984711"/>
                <a:gd name="connsiteY78" fmla="*/ 155457 h 190316"/>
                <a:gd name="connsiteX79" fmla="*/ 558848 w 984711"/>
                <a:gd name="connsiteY79" fmla="*/ 124833 h 190316"/>
                <a:gd name="connsiteX80" fmla="*/ 550173 w 984711"/>
                <a:gd name="connsiteY80" fmla="*/ 94372 h 190316"/>
                <a:gd name="connsiteX81" fmla="*/ 525803 w 984711"/>
                <a:gd name="connsiteY81" fmla="*/ 84083 h 190316"/>
                <a:gd name="connsiteX82" fmla="*/ 500707 w 984711"/>
                <a:gd name="connsiteY82" fmla="*/ 94856 h 190316"/>
                <a:gd name="connsiteX83" fmla="*/ 491791 w 984711"/>
                <a:gd name="connsiteY83" fmla="*/ 125560 h 190316"/>
                <a:gd name="connsiteX84" fmla="*/ 633207 w 984711"/>
                <a:gd name="connsiteY84" fmla="*/ 95057 h 190316"/>
                <a:gd name="connsiteX85" fmla="*/ 637202 w 984711"/>
                <a:gd name="connsiteY85" fmla="*/ 104983 h 190316"/>
                <a:gd name="connsiteX86" fmla="*/ 654954 w 984711"/>
                <a:gd name="connsiteY86" fmla="*/ 114020 h 190316"/>
                <a:gd name="connsiteX87" fmla="*/ 679687 w 984711"/>
                <a:gd name="connsiteY87" fmla="*/ 129877 h 190316"/>
                <a:gd name="connsiteX88" fmla="*/ 686788 w 984711"/>
                <a:gd name="connsiteY88" fmla="*/ 151220 h 190316"/>
                <a:gd name="connsiteX89" fmla="*/ 673232 w 984711"/>
                <a:gd name="connsiteY89" fmla="*/ 179544 h 190316"/>
                <a:gd name="connsiteX90" fmla="*/ 636596 w 984711"/>
                <a:gd name="connsiteY90" fmla="*/ 190236 h 190316"/>
                <a:gd name="connsiteX91" fmla="*/ 619409 w 984711"/>
                <a:gd name="connsiteY91" fmla="*/ 188340 h 190316"/>
                <a:gd name="connsiteX92" fmla="*/ 603431 w 984711"/>
                <a:gd name="connsiteY92" fmla="*/ 183538 h 190316"/>
                <a:gd name="connsiteX93" fmla="*/ 603431 w 984711"/>
                <a:gd name="connsiteY93" fmla="*/ 154609 h 190316"/>
                <a:gd name="connsiteX94" fmla="*/ 620700 w 984711"/>
                <a:gd name="connsiteY94" fmla="*/ 163486 h 190316"/>
                <a:gd name="connsiteX95" fmla="*/ 637484 w 984711"/>
                <a:gd name="connsiteY95" fmla="*/ 166754 h 190316"/>
                <a:gd name="connsiteX96" fmla="*/ 652211 w 984711"/>
                <a:gd name="connsiteY96" fmla="*/ 163970 h 190316"/>
                <a:gd name="connsiteX97" fmla="*/ 656931 w 984711"/>
                <a:gd name="connsiteY97" fmla="*/ 154609 h 190316"/>
                <a:gd name="connsiteX98" fmla="*/ 652009 w 984711"/>
                <a:gd name="connsiteY98" fmla="*/ 144321 h 190316"/>
                <a:gd name="connsiteX99" fmla="*/ 633369 w 984711"/>
                <a:gd name="connsiteY99" fmla="*/ 134638 h 190316"/>
                <a:gd name="connsiteX100" fmla="*/ 610290 w 984711"/>
                <a:gd name="connsiteY100" fmla="*/ 119306 h 190316"/>
                <a:gd name="connsiteX101" fmla="*/ 603472 w 984711"/>
                <a:gd name="connsiteY101" fmla="*/ 97680 h 190316"/>
                <a:gd name="connsiteX102" fmla="*/ 616907 w 984711"/>
                <a:gd name="connsiteY102" fmla="*/ 69921 h 190316"/>
                <a:gd name="connsiteX103" fmla="*/ 651727 w 984711"/>
                <a:gd name="connsiteY103" fmla="*/ 59028 h 190316"/>
                <a:gd name="connsiteX104" fmla="*/ 666413 w 984711"/>
                <a:gd name="connsiteY104" fmla="*/ 60480 h 190316"/>
                <a:gd name="connsiteX105" fmla="*/ 680010 w 984711"/>
                <a:gd name="connsiteY105" fmla="*/ 64232 h 190316"/>
                <a:gd name="connsiteX106" fmla="*/ 680010 w 984711"/>
                <a:gd name="connsiteY106" fmla="*/ 92193 h 190316"/>
                <a:gd name="connsiteX107" fmla="*/ 666413 w 984711"/>
                <a:gd name="connsiteY107" fmla="*/ 85495 h 190316"/>
                <a:gd name="connsiteX108" fmla="*/ 650960 w 984711"/>
                <a:gd name="connsiteY108" fmla="*/ 82711 h 190316"/>
                <a:gd name="connsiteX109" fmla="*/ 637888 w 984711"/>
                <a:gd name="connsiteY109" fmla="*/ 85979 h 190316"/>
                <a:gd name="connsiteX110" fmla="*/ 633207 w 984711"/>
                <a:gd name="connsiteY110" fmla="*/ 94977 h 190316"/>
                <a:gd name="connsiteX111" fmla="*/ 699457 w 984711"/>
                <a:gd name="connsiteY111" fmla="*/ 126528 h 190316"/>
                <a:gd name="connsiteX112" fmla="*/ 716968 w 984711"/>
                <a:gd name="connsiteY112" fmla="*/ 77426 h 190316"/>
                <a:gd name="connsiteX113" fmla="*/ 765586 w 984711"/>
                <a:gd name="connsiteY113" fmla="*/ 59310 h 190316"/>
                <a:gd name="connsiteX114" fmla="*/ 811340 w 984711"/>
                <a:gd name="connsiteY114" fmla="*/ 76740 h 190316"/>
                <a:gd name="connsiteX115" fmla="*/ 827801 w 984711"/>
                <a:gd name="connsiteY115" fmla="*/ 123825 h 190316"/>
                <a:gd name="connsiteX116" fmla="*/ 810291 w 984711"/>
                <a:gd name="connsiteY116" fmla="*/ 172201 h 190316"/>
                <a:gd name="connsiteX117" fmla="*/ 762641 w 984711"/>
                <a:gd name="connsiteY117" fmla="*/ 190195 h 190316"/>
                <a:gd name="connsiteX118" fmla="*/ 716524 w 984711"/>
                <a:gd name="connsiteY118" fmla="*/ 173129 h 190316"/>
                <a:gd name="connsiteX119" fmla="*/ 699457 w 984711"/>
                <a:gd name="connsiteY119" fmla="*/ 126528 h 190316"/>
                <a:gd name="connsiteX120" fmla="*/ 730081 w 984711"/>
                <a:gd name="connsiteY120" fmla="*/ 125560 h 190316"/>
                <a:gd name="connsiteX121" fmla="*/ 738957 w 984711"/>
                <a:gd name="connsiteY121" fmla="*/ 155457 h 190316"/>
                <a:gd name="connsiteX122" fmla="*/ 764376 w 984711"/>
                <a:gd name="connsiteY122" fmla="*/ 165786 h 190316"/>
                <a:gd name="connsiteX123" fmla="*/ 788826 w 984711"/>
                <a:gd name="connsiteY123" fmla="*/ 155457 h 190316"/>
                <a:gd name="connsiteX124" fmla="*/ 797218 w 984711"/>
                <a:gd name="connsiteY124" fmla="*/ 124833 h 190316"/>
                <a:gd name="connsiteX125" fmla="*/ 788544 w 984711"/>
                <a:gd name="connsiteY125" fmla="*/ 94372 h 190316"/>
                <a:gd name="connsiteX126" fmla="*/ 764174 w 984711"/>
                <a:gd name="connsiteY126" fmla="*/ 84083 h 190316"/>
                <a:gd name="connsiteX127" fmla="*/ 739078 w 984711"/>
                <a:gd name="connsiteY127" fmla="*/ 94856 h 190316"/>
                <a:gd name="connsiteX128" fmla="*/ 730161 w 984711"/>
                <a:gd name="connsiteY128" fmla="*/ 125560 h 190316"/>
                <a:gd name="connsiteX129" fmla="*/ 925401 w 984711"/>
                <a:gd name="connsiteY129" fmla="*/ 86302 h 190316"/>
                <a:gd name="connsiteX130" fmla="*/ 881584 w 984711"/>
                <a:gd name="connsiteY130" fmla="*/ 86302 h 190316"/>
                <a:gd name="connsiteX131" fmla="*/ 881584 w 984711"/>
                <a:gd name="connsiteY131" fmla="*/ 187169 h 190316"/>
                <a:gd name="connsiteX132" fmla="*/ 851808 w 984711"/>
                <a:gd name="connsiteY132" fmla="*/ 187169 h 190316"/>
                <a:gd name="connsiteX133" fmla="*/ 851808 w 984711"/>
                <a:gd name="connsiteY133" fmla="*/ 86302 h 190316"/>
                <a:gd name="connsiteX134" fmla="*/ 830908 w 984711"/>
                <a:gd name="connsiteY134" fmla="*/ 86302 h 190316"/>
                <a:gd name="connsiteX135" fmla="*/ 830908 w 984711"/>
                <a:gd name="connsiteY135" fmla="*/ 62255 h 190316"/>
                <a:gd name="connsiteX136" fmla="*/ 851808 w 984711"/>
                <a:gd name="connsiteY136" fmla="*/ 62255 h 190316"/>
                <a:gd name="connsiteX137" fmla="*/ 851808 w 984711"/>
                <a:gd name="connsiteY137" fmla="*/ 44866 h 190316"/>
                <a:gd name="connsiteX138" fmla="*/ 864638 w 984711"/>
                <a:gd name="connsiteY138" fmla="*/ 12588 h 190316"/>
                <a:gd name="connsiteX139" fmla="*/ 897521 w 984711"/>
                <a:gd name="connsiteY139" fmla="*/ 0 h 190316"/>
                <a:gd name="connsiteX140" fmla="*/ 907003 w 984711"/>
                <a:gd name="connsiteY140" fmla="*/ 565 h 190316"/>
                <a:gd name="connsiteX141" fmla="*/ 914306 w 984711"/>
                <a:gd name="connsiteY141" fmla="*/ 2219 h 190316"/>
                <a:gd name="connsiteX142" fmla="*/ 914306 w 984711"/>
                <a:gd name="connsiteY142" fmla="*/ 27638 h 190316"/>
                <a:gd name="connsiteX143" fmla="*/ 909181 w 984711"/>
                <a:gd name="connsiteY143" fmla="*/ 25580 h 190316"/>
                <a:gd name="connsiteX144" fmla="*/ 900789 w 984711"/>
                <a:gd name="connsiteY144" fmla="*/ 24370 h 190316"/>
                <a:gd name="connsiteX145" fmla="*/ 886547 w 984711"/>
                <a:gd name="connsiteY145" fmla="*/ 30139 h 190316"/>
                <a:gd name="connsiteX146" fmla="*/ 881584 w 984711"/>
                <a:gd name="connsiteY146" fmla="*/ 47206 h 190316"/>
                <a:gd name="connsiteX147" fmla="*/ 881584 w 984711"/>
                <a:gd name="connsiteY147" fmla="*/ 62296 h 190316"/>
                <a:gd name="connsiteX148" fmla="*/ 925401 w 984711"/>
                <a:gd name="connsiteY148" fmla="*/ 62296 h 190316"/>
                <a:gd name="connsiteX149" fmla="*/ 925401 w 984711"/>
                <a:gd name="connsiteY149" fmla="*/ 34214 h 190316"/>
                <a:gd name="connsiteX150" fmla="*/ 954935 w 984711"/>
                <a:gd name="connsiteY150" fmla="*/ 25217 h 190316"/>
                <a:gd name="connsiteX151" fmla="*/ 954935 w 984711"/>
                <a:gd name="connsiteY151" fmla="*/ 62296 h 190316"/>
                <a:gd name="connsiteX152" fmla="*/ 984711 w 984711"/>
                <a:gd name="connsiteY152" fmla="*/ 62296 h 190316"/>
                <a:gd name="connsiteX153" fmla="*/ 984711 w 984711"/>
                <a:gd name="connsiteY153" fmla="*/ 86342 h 190316"/>
                <a:gd name="connsiteX154" fmla="*/ 954935 w 984711"/>
                <a:gd name="connsiteY154" fmla="*/ 86342 h 190316"/>
                <a:gd name="connsiteX155" fmla="*/ 954935 w 984711"/>
                <a:gd name="connsiteY155" fmla="*/ 144805 h 190316"/>
                <a:gd name="connsiteX156" fmla="*/ 959131 w 984711"/>
                <a:gd name="connsiteY156" fmla="*/ 161105 h 190316"/>
                <a:gd name="connsiteX157" fmla="*/ 972325 w 984711"/>
                <a:gd name="connsiteY157" fmla="*/ 165866 h 190316"/>
                <a:gd name="connsiteX158" fmla="*/ 978457 w 984711"/>
                <a:gd name="connsiteY158" fmla="*/ 164656 h 190316"/>
                <a:gd name="connsiteX159" fmla="*/ 984711 w 984711"/>
                <a:gd name="connsiteY159" fmla="*/ 161751 h 190316"/>
                <a:gd name="connsiteX160" fmla="*/ 984711 w 984711"/>
                <a:gd name="connsiteY160" fmla="*/ 186080 h 190316"/>
                <a:gd name="connsiteX161" fmla="*/ 975431 w 984711"/>
                <a:gd name="connsiteY161" fmla="*/ 188985 h 190316"/>
                <a:gd name="connsiteX162" fmla="*/ 962601 w 984711"/>
                <a:gd name="connsiteY162" fmla="*/ 190317 h 190316"/>
                <a:gd name="connsiteX163" fmla="*/ 934721 w 984711"/>
                <a:gd name="connsiteY163" fmla="*/ 180432 h 190316"/>
                <a:gd name="connsiteX164" fmla="*/ 925441 w 984711"/>
                <a:gd name="connsiteY164" fmla="*/ 150575 h 190316"/>
                <a:gd name="connsiteX165" fmla="*/ 925441 w 984711"/>
                <a:gd name="connsiteY165" fmla="*/ 86383 h 19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984711" h="190316">
                  <a:moveTo>
                    <a:pt x="188663" y="12871"/>
                  </a:moveTo>
                  <a:lnTo>
                    <a:pt x="188663" y="187169"/>
                  </a:lnTo>
                  <a:lnTo>
                    <a:pt x="158403" y="187169"/>
                  </a:lnTo>
                  <a:lnTo>
                    <a:pt x="158403" y="50555"/>
                  </a:lnTo>
                  <a:lnTo>
                    <a:pt x="157919" y="50555"/>
                  </a:lnTo>
                  <a:lnTo>
                    <a:pt x="103813" y="187169"/>
                  </a:lnTo>
                  <a:lnTo>
                    <a:pt x="83761" y="187169"/>
                  </a:lnTo>
                  <a:lnTo>
                    <a:pt x="28324" y="50555"/>
                  </a:lnTo>
                  <a:lnTo>
                    <a:pt x="27961" y="50555"/>
                  </a:lnTo>
                  <a:lnTo>
                    <a:pt x="27961" y="187169"/>
                  </a:lnTo>
                  <a:lnTo>
                    <a:pt x="0" y="187169"/>
                  </a:lnTo>
                  <a:lnTo>
                    <a:pt x="0" y="12871"/>
                  </a:lnTo>
                  <a:lnTo>
                    <a:pt x="43373" y="12871"/>
                  </a:lnTo>
                  <a:lnTo>
                    <a:pt x="93444" y="142062"/>
                  </a:lnTo>
                  <a:lnTo>
                    <a:pt x="94170" y="142062"/>
                  </a:lnTo>
                  <a:lnTo>
                    <a:pt x="147025" y="12871"/>
                  </a:lnTo>
                  <a:lnTo>
                    <a:pt x="188582" y="12871"/>
                  </a:lnTo>
                  <a:close/>
                  <a:moveTo>
                    <a:pt x="213961" y="26104"/>
                  </a:moveTo>
                  <a:cubicBezTo>
                    <a:pt x="213961" y="21222"/>
                    <a:pt x="215736" y="17188"/>
                    <a:pt x="219246" y="13879"/>
                  </a:cubicBezTo>
                  <a:cubicBezTo>
                    <a:pt x="222756" y="10571"/>
                    <a:pt x="226952" y="8957"/>
                    <a:pt x="231834" y="8957"/>
                  </a:cubicBezTo>
                  <a:cubicBezTo>
                    <a:pt x="237039" y="8957"/>
                    <a:pt x="241316" y="10652"/>
                    <a:pt x="244705" y="14000"/>
                  </a:cubicBezTo>
                  <a:cubicBezTo>
                    <a:pt x="248094" y="17349"/>
                    <a:pt x="249829" y="21384"/>
                    <a:pt x="249829" y="26104"/>
                  </a:cubicBezTo>
                  <a:cubicBezTo>
                    <a:pt x="249829" y="30825"/>
                    <a:pt x="248094" y="34900"/>
                    <a:pt x="244584" y="38128"/>
                  </a:cubicBezTo>
                  <a:cubicBezTo>
                    <a:pt x="241114" y="41356"/>
                    <a:pt x="236837" y="43010"/>
                    <a:pt x="231834" y="43010"/>
                  </a:cubicBezTo>
                  <a:cubicBezTo>
                    <a:pt x="226831" y="43010"/>
                    <a:pt x="222595" y="41356"/>
                    <a:pt x="219125" y="38088"/>
                  </a:cubicBezTo>
                  <a:cubicBezTo>
                    <a:pt x="215696" y="34819"/>
                    <a:pt x="213961" y="30825"/>
                    <a:pt x="213961" y="26104"/>
                  </a:cubicBezTo>
                  <a:close/>
                  <a:moveTo>
                    <a:pt x="246400" y="62215"/>
                  </a:moveTo>
                  <a:lnTo>
                    <a:pt x="246400" y="187169"/>
                  </a:lnTo>
                  <a:lnTo>
                    <a:pt x="216987" y="187169"/>
                  </a:lnTo>
                  <a:lnTo>
                    <a:pt x="216987" y="62215"/>
                  </a:lnTo>
                  <a:lnTo>
                    <a:pt x="246400" y="62215"/>
                  </a:lnTo>
                  <a:close/>
                  <a:moveTo>
                    <a:pt x="335607" y="165786"/>
                  </a:moveTo>
                  <a:cubicBezTo>
                    <a:pt x="339965" y="165786"/>
                    <a:pt x="344806" y="164777"/>
                    <a:pt x="350051" y="162760"/>
                  </a:cubicBezTo>
                  <a:cubicBezTo>
                    <a:pt x="355337" y="160742"/>
                    <a:pt x="360179" y="158079"/>
                    <a:pt x="364657" y="154731"/>
                  </a:cubicBezTo>
                  <a:lnTo>
                    <a:pt x="364657" y="182086"/>
                  </a:lnTo>
                  <a:cubicBezTo>
                    <a:pt x="359977" y="184749"/>
                    <a:pt x="354611" y="186806"/>
                    <a:pt x="348680" y="188178"/>
                  </a:cubicBezTo>
                  <a:cubicBezTo>
                    <a:pt x="342708" y="189550"/>
                    <a:pt x="336172" y="190236"/>
                    <a:pt x="329031" y="190236"/>
                  </a:cubicBezTo>
                  <a:cubicBezTo>
                    <a:pt x="310632" y="190236"/>
                    <a:pt x="295704" y="184426"/>
                    <a:pt x="284165" y="172806"/>
                  </a:cubicBezTo>
                  <a:cubicBezTo>
                    <a:pt x="272666" y="161186"/>
                    <a:pt x="266896" y="146338"/>
                    <a:pt x="266896" y="128263"/>
                  </a:cubicBezTo>
                  <a:cubicBezTo>
                    <a:pt x="266896" y="108170"/>
                    <a:pt x="272787" y="91628"/>
                    <a:pt x="284528" y="78596"/>
                  </a:cubicBezTo>
                  <a:cubicBezTo>
                    <a:pt x="296269" y="65604"/>
                    <a:pt x="312932" y="59108"/>
                    <a:pt x="334477" y="59108"/>
                  </a:cubicBezTo>
                  <a:cubicBezTo>
                    <a:pt x="340005" y="59108"/>
                    <a:pt x="345573" y="59835"/>
                    <a:pt x="351181" y="61247"/>
                  </a:cubicBezTo>
                  <a:cubicBezTo>
                    <a:pt x="356830" y="62659"/>
                    <a:pt x="361268" y="64313"/>
                    <a:pt x="364617" y="66169"/>
                  </a:cubicBezTo>
                  <a:lnTo>
                    <a:pt x="364617" y="94372"/>
                  </a:lnTo>
                  <a:cubicBezTo>
                    <a:pt x="360058" y="91063"/>
                    <a:pt x="355458" y="88481"/>
                    <a:pt x="350697" y="86665"/>
                  </a:cubicBezTo>
                  <a:cubicBezTo>
                    <a:pt x="345976" y="84850"/>
                    <a:pt x="341094" y="83922"/>
                    <a:pt x="336172" y="83922"/>
                  </a:cubicBezTo>
                  <a:cubicBezTo>
                    <a:pt x="324592" y="83922"/>
                    <a:pt x="315232" y="87674"/>
                    <a:pt x="308090" y="95219"/>
                  </a:cubicBezTo>
                  <a:cubicBezTo>
                    <a:pt x="300949" y="102764"/>
                    <a:pt x="297398" y="112931"/>
                    <a:pt x="297398" y="125721"/>
                  </a:cubicBezTo>
                  <a:cubicBezTo>
                    <a:pt x="297398" y="138511"/>
                    <a:pt x="300828" y="148194"/>
                    <a:pt x="307687" y="155255"/>
                  </a:cubicBezTo>
                  <a:cubicBezTo>
                    <a:pt x="314546" y="162316"/>
                    <a:pt x="323826" y="165826"/>
                    <a:pt x="335567" y="165826"/>
                  </a:cubicBezTo>
                  <a:close/>
                  <a:moveTo>
                    <a:pt x="448418" y="60157"/>
                  </a:moveTo>
                  <a:cubicBezTo>
                    <a:pt x="450758" y="60157"/>
                    <a:pt x="452856" y="60319"/>
                    <a:pt x="454752" y="60641"/>
                  </a:cubicBezTo>
                  <a:cubicBezTo>
                    <a:pt x="456648" y="60964"/>
                    <a:pt x="458182" y="61368"/>
                    <a:pt x="459513" y="61852"/>
                  </a:cubicBezTo>
                  <a:lnTo>
                    <a:pt x="459513" y="91628"/>
                  </a:lnTo>
                  <a:cubicBezTo>
                    <a:pt x="457980" y="90498"/>
                    <a:pt x="455720" y="89409"/>
                    <a:pt x="452775" y="88400"/>
                  </a:cubicBezTo>
                  <a:cubicBezTo>
                    <a:pt x="449830" y="87391"/>
                    <a:pt x="446239" y="86867"/>
                    <a:pt x="442002" y="86867"/>
                  </a:cubicBezTo>
                  <a:cubicBezTo>
                    <a:pt x="434780" y="86867"/>
                    <a:pt x="428688" y="89893"/>
                    <a:pt x="423725" y="95985"/>
                  </a:cubicBezTo>
                  <a:cubicBezTo>
                    <a:pt x="418763" y="102078"/>
                    <a:pt x="416261" y="111438"/>
                    <a:pt x="416261" y="124067"/>
                  </a:cubicBezTo>
                  <a:lnTo>
                    <a:pt x="416261" y="187169"/>
                  </a:lnTo>
                  <a:lnTo>
                    <a:pt x="386848" y="187169"/>
                  </a:lnTo>
                  <a:lnTo>
                    <a:pt x="386848" y="62215"/>
                  </a:lnTo>
                  <a:lnTo>
                    <a:pt x="416261" y="62215"/>
                  </a:lnTo>
                  <a:lnTo>
                    <a:pt x="416261" y="81904"/>
                  </a:lnTo>
                  <a:lnTo>
                    <a:pt x="416745" y="81904"/>
                  </a:lnTo>
                  <a:cubicBezTo>
                    <a:pt x="419408" y="75086"/>
                    <a:pt x="423483" y="69760"/>
                    <a:pt x="428890" y="65927"/>
                  </a:cubicBezTo>
                  <a:cubicBezTo>
                    <a:pt x="434337" y="62094"/>
                    <a:pt x="440832" y="60157"/>
                    <a:pt x="448458" y="60157"/>
                  </a:cubicBezTo>
                  <a:close/>
                  <a:moveTo>
                    <a:pt x="461087" y="126528"/>
                  </a:moveTo>
                  <a:cubicBezTo>
                    <a:pt x="461087" y="105870"/>
                    <a:pt x="466937" y="89490"/>
                    <a:pt x="478597" y="77426"/>
                  </a:cubicBezTo>
                  <a:cubicBezTo>
                    <a:pt x="490258" y="65362"/>
                    <a:pt x="506477" y="59310"/>
                    <a:pt x="527216" y="59310"/>
                  </a:cubicBezTo>
                  <a:cubicBezTo>
                    <a:pt x="546744" y="59310"/>
                    <a:pt x="561995" y="65120"/>
                    <a:pt x="572969" y="76740"/>
                  </a:cubicBezTo>
                  <a:cubicBezTo>
                    <a:pt x="583944" y="88360"/>
                    <a:pt x="589431" y="104055"/>
                    <a:pt x="589431" y="123825"/>
                  </a:cubicBezTo>
                  <a:cubicBezTo>
                    <a:pt x="589431" y="143595"/>
                    <a:pt x="583580" y="160218"/>
                    <a:pt x="571920" y="172201"/>
                  </a:cubicBezTo>
                  <a:cubicBezTo>
                    <a:pt x="560260" y="184184"/>
                    <a:pt x="544363" y="190195"/>
                    <a:pt x="524270" y="190195"/>
                  </a:cubicBezTo>
                  <a:cubicBezTo>
                    <a:pt x="504177" y="190195"/>
                    <a:pt x="489531" y="184507"/>
                    <a:pt x="478153" y="173129"/>
                  </a:cubicBezTo>
                  <a:cubicBezTo>
                    <a:pt x="466776" y="161751"/>
                    <a:pt x="461087" y="146217"/>
                    <a:pt x="461087" y="126528"/>
                  </a:cubicBezTo>
                  <a:close/>
                  <a:moveTo>
                    <a:pt x="491710" y="125560"/>
                  </a:moveTo>
                  <a:cubicBezTo>
                    <a:pt x="491710" y="138592"/>
                    <a:pt x="494655" y="148557"/>
                    <a:pt x="500586" y="155457"/>
                  </a:cubicBezTo>
                  <a:cubicBezTo>
                    <a:pt x="506517" y="162356"/>
                    <a:pt x="514950" y="165786"/>
                    <a:pt x="526005" y="165786"/>
                  </a:cubicBezTo>
                  <a:cubicBezTo>
                    <a:pt x="537060" y="165786"/>
                    <a:pt x="544847" y="162356"/>
                    <a:pt x="550455" y="155457"/>
                  </a:cubicBezTo>
                  <a:cubicBezTo>
                    <a:pt x="556064" y="148557"/>
                    <a:pt x="558848" y="138350"/>
                    <a:pt x="558848" y="124833"/>
                  </a:cubicBezTo>
                  <a:cubicBezTo>
                    <a:pt x="558848" y="111317"/>
                    <a:pt x="555943" y="101230"/>
                    <a:pt x="550173" y="94372"/>
                  </a:cubicBezTo>
                  <a:cubicBezTo>
                    <a:pt x="544363" y="87513"/>
                    <a:pt x="536253" y="84083"/>
                    <a:pt x="525803" y="84083"/>
                  </a:cubicBezTo>
                  <a:cubicBezTo>
                    <a:pt x="515354" y="84083"/>
                    <a:pt x="506679" y="87674"/>
                    <a:pt x="500707" y="94856"/>
                  </a:cubicBezTo>
                  <a:cubicBezTo>
                    <a:pt x="494736" y="102037"/>
                    <a:pt x="491791" y="112245"/>
                    <a:pt x="491791" y="125560"/>
                  </a:cubicBezTo>
                  <a:close/>
                  <a:moveTo>
                    <a:pt x="633207" y="95057"/>
                  </a:moveTo>
                  <a:cubicBezTo>
                    <a:pt x="633207" y="99253"/>
                    <a:pt x="634539" y="102562"/>
                    <a:pt x="637202" y="104983"/>
                  </a:cubicBezTo>
                  <a:cubicBezTo>
                    <a:pt x="639865" y="107363"/>
                    <a:pt x="645796" y="110389"/>
                    <a:pt x="654954" y="114020"/>
                  </a:cubicBezTo>
                  <a:cubicBezTo>
                    <a:pt x="666695" y="118741"/>
                    <a:pt x="674967" y="124027"/>
                    <a:pt x="679687" y="129877"/>
                  </a:cubicBezTo>
                  <a:cubicBezTo>
                    <a:pt x="684448" y="135767"/>
                    <a:pt x="686788" y="142869"/>
                    <a:pt x="686788" y="151220"/>
                  </a:cubicBezTo>
                  <a:cubicBezTo>
                    <a:pt x="686788" y="162961"/>
                    <a:pt x="682269" y="172402"/>
                    <a:pt x="673232" y="179544"/>
                  </a:cubicBezTo>
                  <a:cubicBezTo>
                    <a:pt x="664194" y="186685"/>
                    <a:pt x="651969" y="190236"/>
                    <a:pt x="636596" y="190236"/>
                  </a:cubicBezTo>
                  <a:cubicBezTo>
                    <a:pt x="631392" y="190236"/>
                    <a:pt x="625662" y="189590"/>
                    <a:pt x="619409" y="188340"/>
                  </a:cubicBezTo>
                  <a:cubicBezTo>
                    <a:pt x="613115" y="187089"/>
                    <a:pt x="607789" y="185475"/>
                    <a:pt x="603431" y="183538"/>
                  </a:cubicBezTo>
                  <a:lnTo>
                    <a:pt x="603431" y="154609"/>
                  </a:lnTo>
                  <a:cubicBezTo>
                    <a:pt x="608797" y="158321"/>
                    <a:pt x="614527" y="161307"/>
                    <a:pt x="620700" y="163486"/>
                  </a:cubicBezTo>
                  <a:cubicBezTo>
                    <a:pt x="626873" y="165665"/>
                    <a:pt x="632441" y="166754"/>
                    <a:pt x="637484" y="166754"/>
                  </a:cubicBezTo>
                  <a:cubicBezTo>
                    <a:pt x="644141" y="166754"/>
                    <a:pt x="649023" y="165826"/>
                    <a:pt x="652211" y="163970"/>
                  </a:cubicBezTo>
                  <a:cubicBezTo>
                    <a:pt x="655398" y="162114"/>
                    <a:pt x="656931" y="158967"/>
                    <a:pt x="656931" y="154609"/>
                  </a:cubicBezTo>
                  <a:cubicBezTo>
                    <a:pt x="656931" y="150575"/>
                    <a:pt x="655277" y="147145"/>
                    <a:pt x="652009" y="144321"/>
                  </a:cubicBezTo>
                  <a:cubicBezTo>
                    <a:pt x="648741" y="141497"/>
                    <a:pt x="642487" y="138309"/>
                    <a:pt x="633369" y="134638"/>
                  </a:cubicBezTo>
                  <a:cubicBezTo>
                    <a:pt x="622515" y="130119"/>
                    <a:pt x="614809" y="124995"/>
                    <a:pt x="610290" y="119306"/>
                  </a:cubicBezTo>
                  <a:cubicBezTo>
                    <a:pt x="605731" y="113617"/>
                    <a:pt x="603472" y="106435"/>
                    <a:pt x="603472" y="97680"/>
                  </a:cubicBezTo>
                  <a:cubicBezTo>
                    <a:pt x="603472" y="86423"/>
                    <a:pt x="607950" y="77143"/>
                    <a:pt x="616907" y="69921"/>
                  </a:cubicBezTo>
                  <a:cubicBezTo>
                    <a:pt x="625864" y="62659"/>
                    <a:pt x="637484" y="59028"/>
                    <a:pt x="651727" y="59028"/>
                  </a:cubicBezTo>
                  <a:cubicBezTo>
                    <a:pt x="656084" y="59028"/>
                    <a:pt x="661007" y="59512"/>
                    <a:pt x="666413" y="60480"/>
                  </a:cubicBezTo>
                  <a:cubicBezTo>
                    <a:pt x="671860" y="61448"/>
                    <a:pt x="676379" y="62699"/>
                    <a:pt x="680010" y="64232"/>
                  </a:cubicBezTo>
                  <a:lnTo>
                    <a:pt x="680010" y="92193"/>
                  </a:lnTo>
                  <a:cubicBezTo>
                    <a:pt x="676137" y="89611"/>
                    <a:pt x="671577" y="87391"/>
                    <a:pt x="666413" y="85495"/>
                  </a:cubicBezTo>
                  <a:cubicBezTo>
                    <a:pt x="661208" y="83639"/>
                    <a:pt x="656084" y="82711"/>
                    <a:pt x="650960" y="82711"/>
                  </a:cubicBezTo>
                  <a:cubicBezTo>
                    <a:pt x="645352" y="82711"/>
                    <a:pt x="640994" y="83801"/>
                    <a:pt x="637888" y="85979"/>
                  </a:cubicBezTo>
                  <a:cubicBezTo>
                    <a:pt x="634781" y="88158"/>
                    <a:pt x="633207" y="91184"/>
                    <a:pt x="633207" y="94977"/>
                  </a:cubicBezTo>
                  <a:close/>
                  <a:moveTo>
                    <a:pt x="699457" y="126528"/>
                  </a:moveTo>
                  <a:cubicBezTo>
                    <a:pt x="699457" y="105870"/>
                    <a:pt x="705308" y="89490"/>
                    <a:pt x="716968" y="77426"/>
                  </a:cubicBezTo>
                  <a:cubicBezTo>
                    <a:pt x="728628" y="65362"/>
                    <a:pt x="744848" y="59310"/>
                    <a:pt x="765586" y="59310"/>
                  </a:cubicBezTo>
                  <a:cubicBezTo>
                    <a:pt x="785114" y="59310"/>
                    <a:pt x="800365" y="65120"/>
                    <a:pt x="811340" y="76740"/>
                  </a:cubicBezTo>
                  <a:cubicBezTo>
                    <a:pt x="822314" y="88360"/>
                    <a:pt x="827801" y="104055"/>
                    <a:pt x="827801" y="123825"/>
                  </a:cubicBezTo>
                  <a:cubicBezTo>
                    <a:pt x="827801" y="143595"/>
                    <a:pt x="821951" y="160218"/>
                    <a:pt x="810291" y="172201"/>
                  </a:cubicBezTo>
                  <a:cubicBezTo>
                    <a:pt x="798630" y="184184"/>
                    <a:pt x="782734" y="190195"/>
                    <a:pt x="762641" y="190195"/>
                  </a:cubicBezTo>
                  <a:cubicBezTo>
                    <a:pt x="742548" y="190195"/>
                    <a:pt x="727902" y="184507"/>
                    <a:pt x="716524" y="173129"/>
                  </a:cubicBezTo>
                  <a:cubicBezTo>
                    <a:pt x="705146" y="161751"/>
                    <a:pt x="699457" y="146217"/>
                    <a:pt x="699457" y="126528"/>
                  </a:cubicBezTo>
                  <a:close/>
                  <a:moveTo>
                    <a:pt x="730081" y="125560"/>
                  </a:moveTo>
                  <a:cubicBezTo>
                    <a:pt x="730081" y="138592"/>
                    <a:pt x="733026" y="148557"/>
                    <a:pt x="738957" y="155457"/>
                  </a:cubicBezTo>
                  <a:cubicBezTo>
                    <a:pt x="744888" y="162356"/>
                    <a:pt x="753321" y="165786"/>
                    <a:pt x="764376" y="165786"/>
                  </a:cubicBezTo>
                  <a:cubicBezTo>
                    <a:pt x="775431" y="165786"/>
                    <a:pt x="783218" y="162356"/>
                    <a:pt x="788826" y="155457"/>
                  </a:cubicBezTo>
                  <a:cubicBezTo>
                    <a:pt x="794434" y="148557"/>
                    <a:pt x="797218" y="138350"/>
                    <a:pt x="797218" y="124833"/>
                  </a:cubicBezTo>
                  <a:cubicBezTo>
                    <a:pt x="797218" y="111317"/>
                    <a:pt x="794313" y="101230"/>
                    <a:pt x="788544" y="94372"/>
                  </a:cubicBezTo>
                  <a:cubicBezTo>
                    <a:pt x="782734" y="87513"/>
                    <a:pt x="774624" y="84083"/>
                    <a:pt x="764174" y="84083"/>
                  </a:cubicBezTo>
                  <a:cubicBezTo>
                    <a:pt x="753724" y="84083"/>
                    <a:pt x="745050" y="87674"/>
                    <a:pt x="739078" y="94856"/>
                  </a:cubicBezTo>
                  <a:cubicBezTo>
                    <a:pt x="733107" y="102037"/>
                    <a:pt x="730161" y="112245"/>
                    <a:pt x="730161" y="125560"/>
                  </a:cubicBezTo>
                  <a:close/>
                  <a:moveTo>
                    <a:pt x="925401" y="86302"/>
                  </a:moveTo>
                  <a:lnTo>
                    <a:pt x="881584" y="86302"/>
                  </a:lnTo>
                  <a:lnTo>
                    <a:pt x="881584" y="187169"/>
                  </a:lnTo>
                  <a:lnTo>
                    <a:pt x="851808" y="187169"/>
                  </a:lnTo>
                  <a:lnTo>
                    <a:pt x="851808" y="86302"/>
                  </a:lnTo>
                  <a:lnTo>
                    <a:pt x="830908" y="86302"/>
                  </a:lnTo>
                  <a:lnTo>
                    <a:pt x="830908" y="62255"/>
                  </a:lnTo>
                  <a:lnTo>
                    <a:pt x="851808" y="62255"/>
                  </a:lnTo>
                  <a:lnTo>
                    <a:pt x="851808" y="44866"/>
                  </a:lnTo>
                  <a:cubicBezTo>
                    <a:pt x="851808" y="31753"/>
                    <a:pt x="856085" y="20980"/>
                    <a:pt x="864638" y="12588"/>
                  </a:cubicBezTo>
                  <a:cubicBezTo>
                    <a:pt x="873192" y="4196"/>
                    <a:pt x="884126" y="0"/>
                    <a:pt x="897521" y="0"/>
                  </a:cubicBezTo>
                  <a:cubicBezTo>
                    <a:pt x="901072" y="0"/>
                    <a:pt x="904259" y="202"/>
                    <a:pt x="907003" y="565"/>
                  </a:cubicBezTo>
                  <a:cubicBezTo>
                    <a:pt x="909746" y="928"/>
                    <a:pt x="912207" y="1493"/>
                    <a:pt x="914306" y="2219"/>
                  </a:cubicBezTo>
                  <a:lnTo>
                    <a:pt x="914306" y="27638"/>
                  </a:lnTo>
                  <a:cubicBezTo>
                    <a:pt x="913337" y="27073"/>
                    <a:pt x="911643" y="26387"/>
                    <a:pt x="909181" y="25580"/>
                  </a:cubicBezTo>
                  <a:cubicBezTo>
                    <a:pt x="906761" y="24773"/>
                    <a:pt x="903936" y="24370"/>
                    <a:pt x="900789" y="24370"/>
                  </a:cubicBezTo>
                  <a:cubicBezTo>
                    <a:pt x="894616" y="24370"/>
                    <a:pt x="889896" y="26306"/>
                    <a:pt x="886547" y="30139"/>
                  </a:cubicBezTo>
                  <a:cubicBezTo>
                    <a:pt x="883238" y="33972"/>
                    <a:pt x="881584" y="39661"/>
                    <a:pt x="881584" y="47206"/>
                  </a:cubicBezTo>
                  <a:lnTo>
                    <a:pt x="881584" y="62296"/>
                  </a:lnTo>
                  <a:lnTo>
                    <a:pt x="925401" y="62296"/>
                  </a:lnTo>
                  <a:lnTo>
                    <a:pt x="925401" y="34214"/>
                  </a:lnTo>
                  <a:lnTo>
                    <a:pt x="954935" y="25217"/>
                  </a:lnTo>
                  <a:lnTo>
                    <a:pt x="954935" y="62296"/>
                  </a:lnTo>
                  <a:lnTo>
                    <a:pt x="984711" y="62296"/>
                  </a:lnTo>
                  <a:lnTo>
                    <a:pt x="984711" y="86342"/>
                  </a:lnTo>
                  <a:lnTo>
                    <a:pt x="954935" y="86342"/>
                  </a:lnTo>
                  <a:lnTo>
                    <a:pt x="954935" y="144805"/>
                  </a:lnTo>
                  <a:cubicBezTo>
                    <a:pt x="954935" y="152511"/>
                    <a:pt x="956347" y="157918"/>
                    <a:pt x="959131" y="161105"/>
                  </a:cubicBezTo>
                  <a:cubicBezTo>
                    <a:pt x="961915" y="164252"/>
                    <a:pt x="966313" y="165866"/>
                    <a:pt x="972325" y="165866"/>
                  </a:cubicBezTo>
                  <a:cubicBezTo>
                    <a:pt x="974019" y="165866"/>
                    <a:pt x="976077" y="165463"/>
                    <a:pt x="978457" y="164656"/>
                  </a:cubicBezTo>
                  <a:cubicBezTo>
                    <a:pt x="980838" y="163849"/>
                    <a:pt x="982936" y="162881"/>
                    <a:pt x="984711" y="161751"/>
                  </a:cubicBezTo>
                  <a:lnTo>
                    <a:pt x="984711" y="186080"/>
                  </a:lnTo>
                  <a:cubicBezTo>
                    <a:pt x="982855" y="187129"/>
                    <a:pt x="979749" y="188097"/>
                    <a:pt x="975431" y="188985"/>
                  </a:cubicBezTo>
                  <a:cubicBezTo>
                    <a:pt x="971114" y="189873"/>
                    <a:pt x="966837" y="190317"/>
                    <a:pt x="962601" y="190317"/>
                  </a:cubicBezTo>
                  <a:cubicBezTo>
                    <a:pt x="950215" y="190317"/>
                    <a:pt x="940894" y="187008"/>
                    <a:pt x="934721" y="180432"/>
                  </a:cubicBezTo>
                  <a:cubicBezTo>
                    <a:pt x="928508" y="173815"/>
                    <a:pt x="925441" y="163889"/>
                    <a:pt x="925441" y="150575"/>
                  </a:cubicBezTo>
                  <a:lnTo>
                    <a:pt x="925441" y="86383"/>
                  </a:lnTo>
                  <a:close/>
                </a:path>
              </a:pathLst>
            </a:custGeom>
            <a:solidFill>
              <a:schemeClr val="tx1"/>
            </a:solidFill>
            <a:ln w="40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07376BBD-D783-914A-CF95-73711F1D8001}"/>
                </a:ext>
              </a:extLst>
            </p:cNvPr>
            <p:cNvSpPr/>
            <p:nvPr/>
          </p:nvSpPr>
          <p:spPr>
            <a:xfrm>
              <a:off x="358775"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25022"/>
            </a:solidFill>
            <a:ln w="40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AEC6415C-D131-9A8B-3BBA-E1FC09DF199D}"/>
                </a:ext>
              </a:extLst>
            </p:cNvPr>
            <p:cNvSpPr/>
            <p:nvPr/>
          </p:nvSpPr>
          <p:spPr>
            <a:xfrm>
              <a:off x="511206" y="35877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7FBA00"/>
            </a:solidFill>
            <a:ln w="40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EE016A8E-B2D9-17BB-E7E6-DFA50A10B3E8}"/>
                </a:ext>
              </a:extLst>
            </p:cNvPr>
            <p:cNvSpPr/>
            <p:nvPr/>
          </p:nvSpPr>
          <p:spPr>
            <a:xfrm>
              <a:off x="358775"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00A4EF"/>
            </a:solidFill>
            <a:ln w="40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E9BFAA48-B5BF-EB7F-EEF9-E3A9284AAADA}"/>
                </a:ext>
              </a:extLst>
            </p:cNvPr>
            <p:cNvSpPr/>
            <p:nvPr/>
          </p:nvSpPr>
          <p:spPr>
            <a:xfrm>
              <a:off x="511206" y="511205"/>
              <a:ext cx="138067" cy="138067"/>
            </a:xfrm>
            <a:custGeom>
              <a:avLst/>
              <a:gdLst>
                <a:gd name="connsiteX0" fmla="*/ 0 w 138067"/>
                <a:gd name="connsiteY0" fmla="*/ 0 h 138067"/>
                <a:gd name="connsiteX1" fmla="*/ 138068 w 138067"/>
                <a:gd name="connsiteY1" fmla="*/ 0 h 138067"/>
                <a:gd name="connsiteX2" fmla="*/ 138068 w 138067"/>
                <a:gd name="connsiteY2" fmla="*/ 138067 h 138067"/>
                <a:gd name="connsiteX3" fmla="*/ 0 w 138067"/>
                <a:gd name="connsiteY3" fmla="*/ 138067 h 138067"/>
              </a:gdLst>
              <a:ahLst/>
              <a:cxnLst>
                <a:cxn ang="0">
                  <a:pos x="connsiteX0" y="connsiteY0"/>
                </a:cxn>
                <a:cxn ang="0">
                  <a:pos x="connsiteX1" y="connsiteY1"/>
                </a:cxn>
                <a:cxn ang="0">
                  <a:pos x="connsiteX2" y="connsiteY2"/>
                </a:cxn>
                <a:cxn ang="0">
                  <a:pos x="connsiteX3" y="connsiteY3"/>
                </a:cxn>
              </a:cxnLst>
              <a:rect l="l" t="t" r="r" b="b"/>
              <a:pathLst>
                <a:path w="138067" h="138067">
                  <a:moveTo>
                    <a:pt x="0" y="0"/>
                  </a:moveTo>
                  <a:lnTo>
                    <a:pt x="138068" y="0"/>
                  </a:lnTo>
                  <a:lnTo>
                    <a:pt x="138068" y="138067"/>
                  </a:lnTo>
                  <a:lnTo>
                    <a:pt x="0" y="138067"/>
                  </a:lnTo>
                  <a:close/>
                </a:path>
              </a:pathLst>
            </a:custGeom>
            <a:solidFill>
              <a:srgbClr val="FFB900"/>
            </a:solidFill>
            <a:ln w="4025" cap="flat">
              <a:noFill/>
              <a:prstDash val="solid"/>
              <a:miter/>
            </a:ln>
          </p:spPr>
          <p:txBody>
            <a:bodyPr rtlCol="0" anchor="ctr"/>
            <a:lstStyle/>
            <a:p>
              <a:endParaRPr lang="en-GB"/>
            </a:p>
          </p:txBody>
        </p:sp>
      </p:grpSp>
    </p:spTree>
    <p:extLst>
      <p:ext uri="{BB962C8B-B14F-4D97-AF65-F5344CB8AC3E}">
        <p14:creationId xmlns:p14="http://schemas.microsoft.com/office/powerpoint/2010/main" val="1049855185"/>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Gradient box">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7B224C-F878-B801-2504-812D109F7EC2}"/>
              </a:ext>
            </a:extLst>
          </p:cNvPr>
          <p:cNvSpPr>
            <a:spLocks noGrp="1"/>
          </p:cNvSpPr>
          <p:nvPr>
            <p:ph type="dt" sz="half" idx="10"/>
          </p:nvPr>
        </p:nvSpPr>
        <p:spPr/>
        <p:txBody>
          <a:bodyPr/>
          <a:lstStyle/>
          <a:p>
            <a:r>
              <a:rPr lang="en-US"/>
              <a:t>April 2025 progress report</a:t>
            </a:r>
            <a:endParaRPr lang="en-GB"/>
          </a:p>
        </p:txBody>
      </p:sp>
      <p:sp>
        <p:nvSpPr>
          <p:cNvPr id="3" name="Slide Number Placeholder 2">
            <a:extLst>
              <a:ext uri="{FF2B5EF4-FFF2-40B4-BE49-F238E27FC236}">
                <a16:creationId xmlns:a16="http://schemas.microsoft.com/office/drawing/2014/main" id="{A5C2E759-047E-AB35-E3B8-03B392E825F8}"/>
              </a:ext>
            </a:extLst>
          </p:cNvPr>
          <p:cNvSpPr>
            <a:spLocks noGrp="1"/>
          </p:cNvSpPr>
          <p:nvPr>
            <p:ph type="sldNum" sz="quarter" idx="11"/>
          </p:nvPr>
        </p:nvSpPr>
        <p:spPr/>
        <p:txBody>
          <a:bodyPr/>
          <a:lstStyle/>
          <a:p>
            <a:fld id="{575BE888-45B8-4A77-8149-553C24A0BB53}" type="slidenum">
              <a:rPr lang="en-GB" smtClean="0"/>
              <a:pPr/>
              <a:t>‹#›</a:t>
            </a:fld>
            <a:endParaRPr lang="en-GB"/>
          </a:p>
        </p:txBody>
      </p:sp>
      <p:sp>
        <p:nvSpPr>
          <p:cNvPr id="4" name="Rectangle: Rounded Corners 3">
            <a:extLst>
              <a:ext uri="{FF2B5EF4-FFF2-40B4-BE49-F238E27FC236}">
                <a16:creationId xmlns:a16="http://schemas.microsoft.com/office/drawing/2014/main" id="{AFE03D8B-1CD7-4212-7BB8-E6799B2520C3}"/>
              </a:ext>
            </a:extLst>
          </p:cNvPr>
          <p:cNvSpPr/>
          <p:nvPr userDrawn="1"/>
        </p:nvSpPr>
        <p:spPr bwMode="auto">
          <a:xfrm>
            <a:off x="360363" y="846138"/>
            <a:ext cx="11472862" cy="5445125"/>
          </a:xfrm>
          <a:prstGeom prst="roundRect">
            <a:avLst>
              <a:gd name="adj" fmla="val 3198"/>
            </a:avLst>
          </a:prstGeom>
          <a:blipFill dpi="0" rotWithShape="1">
            <a:blip r:embed="rId2"/>
            <a:srcRect/>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9F35307B-1163-DF4B-C74D-AE7C20F63EBA}"/>
              </a:ext>
            </a:extLst>
          </p:cNvPr>
          <p:cNvSpPr>
            <a:spLocks noGrp="1"/>
          </p:cNvSpPr>
          <p:nvPr>
            <p:ph type="title"/>
          </p:nvPr>
        </p:nvSpPr>
        <p:spPr>
          <a:xfrm>
            <a:off x="588263" y="963548"/>
            <a:ext cx="11018520" cy="430887"/>
          </a:xfrm>
        </p:spPr>
        <p:txBody>
          <a:bodyPr/>
          <a:lstStyle>
            <a:lvl1pPr algn="ctr">
              <a:defRPr sz="2800" spc="-60" baseline="0">
                <a:solidFill>
                  <a:schemeClr val="tx1"/>
                </a:solidFill>
              </a:defRPr>
            </a:lvl1pPr>
          </a:lstStyle>
          <a:p>
            <a:r>
              <a:rPr lang="en-US"/>
              <a:t>Click to edit Master title style</a:t>
            </a:r>
            <a:endParaRPr lang="en-GB"/>
          </a:p>
        </p:txBody>
      </p:sp>
    </p:spTree>
    <p:extLst>
      <p:ext uri="{BB962C8B-B14F-4D97-AF65-F5344CB8AC3E}">
        <p14:creationId xmlns:p14="http://schemas.microsoft.com/office/powerpoint/2010/main" val="467086216"/>
      </p:ext>
    </p:extLst>
  </p:cSld>
  <p:clrMapOvr>
    <a:masterClrMapping/>
  </p:clrMapOvr>
  <p:transition>
    <p:fade/>
  </p:transition>
  <p:extLst>
    <p:ext uri="{DCECCB84-F9BA-43D5-87BE-67443E8EF086}">
      <p15:sldGuideLst xmlns:p15="http://schemas.microsoft.com/office/powerpoint/2012/main">
        <p15:guide id="28" orient="horz" pos="828">
          <p15:clr>
            <a:srgbClr val="5ACBF0"/>
          </p15:clr>
        </p15:guide>
        <p15:guide id="30" orient="horz" pos="288">
          <p15:clr>
            <a:srgbClr val="5ACBF0"/>
          </p15:clr>
        </p15:guide>
        <p15:guide id="31" pos="38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93821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One Column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4" name="Text Placeholder 3"/>
          <p:cNvSpPr>
            <a:spLocks noGrp="1"/>
          </p:cNvSpPr>
          <p:nvPr>
            <p:ph type="body" sz="quarter" idx="10"/>
          </p:nvPr>
        </p:nvSpPr>
        <p:spPr>
          <a:xfrm>
            <a:off x="586390" y="1434370"/>
            <a:ext cx="11018520" cy="1489639"/>
          </a:xfrm>
        </p:spPr>
        <p:txBody>
          <a:bodyPr wrap="square">
            <a:spAutoFit/>
          </a:bodyPr>
          <a:lstStyle>
            <a:lvl1pPr marL="0" indent="0">
              <a:buNone/>
              <a:defRPr sz="2000"/>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91227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Blank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048A-4F0D-B875-375B-E7827CA8606D}"/>
              </a:ext>
            </a:extLst>
          </p:cNvPr>
          <p:cNvSpPr>
            <a:spLocks noGrp="1"/>
          </p:cNvSpPr>
          <p:nvPr>
            <p:ph type="title"/>
          </p:nvPr>
        </p:nvSpPr>
        <p:spPr>
          <a:xfrm>
            <a:off x="588263" y="-824268"/>
            <a:ext cx="11018520" cy="553998"/>
          </a:xfrm>
        </p:spPr>
        <p:txBody>
          <a:bodyPr anchor="b"/>
          <a:lstStyle>
            <a:lvl1pPr>
              <a:defRPr>
                <a:solidFill>
                  <a:srgbClr val="B1B3B3"/>
                </a:solidFill>
              </a:defRPr>
            </a:lvl1pPr>
          </a:lstStyle>
          <a:p>
            <a:r>
              <a:rPr lang="en-US"/>
              <a:t>Click to edit Master title style</a:t>
            </a:r>
          </a:p>
        </p:txBody>
      </p:sp>
    </p:spTree>
    <p:extLst>
      <p:ext uri="{BB962C8B-B14F-4D97-AF65-F5344CB8AC3E}">
        <p14:creationId xmlns:p14="http://schemas.microsoft.com/office/powerpoint/2010/main" val="382172245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2_Header Text Only - left side Drak">
    <p:bg>
      <p:bgPr>
        <a:solidFill>
          <a:srgbClr val="091F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6096000" y="2875002"/>
            <a:ext cx="4127692" cy="1107996"/>
          </a:xfrm>
        </p:spPr>
        <p:txBody>
          <a:bodyPr wrap="square" anchor="ctr">
            <a:spAutoFit/>
          </a:bodyPr>
          <a:lstStyle>
            <a:lvl1pPr>
              <a:defRPr>
                <a:solidFill>
                  <a:schemeClr val="tx2"/>
                </a:solidFill>
                <a:latin typeface="+mn-lt"/>
              </a:defRPr>
            </a:lvl1pPr>
          </a:lstStyle>
          <a:p>
            <a:r>
              <a:rPr lang="en-US"/>
              <a:t>Click to edit Master title style</a:t>
            </a:r>
          </a:p>
        </p:txBody>
      </p:sp>
      <p:pic>
        <p:nvPicPr>
          <p:cNvPr id="3" name="Picture 2" descr="An abstract composition where the dominant colors are yellow, pink and orange. They blend together in a smooth and flowing manner.​">
            <a:extLst>
              <a:ext uri="{FF2B5EF4-FFF2-40B4-BE49-F238E27FC236}">
                <a16:creationId xmlns:a16="http://schemas.microsoft.com/office/drawing/2014/main" id="{91FB4D7E-E795-208F-D77E-1DC083C9D09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549" r="21959"/>
          <a:stretch>
            <a:fillRect/>
          </a:stretch>
        </p:blipFill>
        <p:spPr>
          <a:xfrm>
            <a:off x="0" y="0"/>
            <a:ext cx="3356891" cy="6858000"/>
          </a:xfrm>
          <a:prstGeom prst="rect">
            <a:avLst/>
          </a:prstGeom>
        </p:spPr>
      </p:pic>
      <p:sp>
        <p:nvSpPr>
          <p:cNvPr id="5" name="Picture Placeholder 4">
            <a:extLst>
              <a:ext uri="{FF2B5EF4-FFF2-40B4-BE49-F238E27FC236}">
                <a16:creationId xmlns:a16="http://schemas.microsoft.com/office/drawing/2014/main" id="{BD070CA1-05C0-CD68-5110-48CA9A52B8E2}"/>
              </a:ext>
            </a:extLst>
          </p:cNvPr>
          <p:cNvSpPr>
            <a:spLocks noGrp="1" noChangeAspect="1"/>
          </p:cNvSpPr>
          <p:nvPr>
            <p:ph type="pic" sz="quarter" idx="10"/>
          </p:nvPr>
        </p:nvSpPr>
        <p:spPr>
          <a:xfrm>
            <a:off x="1055599" y="1171712"/>
            <a:ext cx="4602583" cy="4602583"/>
          </a:xfrm>
          <a:prstGeom prst="ellipse">
            <a:avLst/>
          </a:prstGeom>
          <a:solidFill>
            <a:schemeClr val="tx1">
              <a:lumMod val="85000"/>
            </a:schemeClr>
          </a:solidFill>
          <a:effectLst>
            <a:outerShdw blurRad="241300" algn="ctr" rotWithShape="0">
              <a:srgbClr val="FFA38B">
                <a:alpha val="20000"/>
              </a:srgbClr>
            </a:outerShdw>
          </a:effectLst>
        </p:spPr>
        <p:txBody>
          <a:bodyPr/>
          <a:lstStyle/>
          <a:p>
            <a:endParaRPr lang="en-US"/>
          </a:p>
        </p:txBody>
      </p:sp>
    </p:spTree>
    <p:extLst>
      <p:ext uri="{BB962C8B-B14F-4D97-AF65-F5344CB8AC3E}">
        <p14:creationId xmlns:p14="http://schemas.microsoft.com/office/powerpoint/2010/main" val="77724746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Blank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B9675-1EDC-10A9-79BB-CA60778FC665}"/>
              </a:ext>
            </a:extLst>
          </p:cNvPr>
          <p:cNvSpPr>
            <a:spLocks noGrp="1"/>
          </p:cNvSpPr>
          <p:nvPr>
            <p:ph type="title" hasCustomPrompt="1"/>
          </p:nvPr>
        </p:nvSpPr>
        <p:spPr>
          <a:xfrm>
            <a:off x="588263" y="-824268"/>
            <a:ext cx="11018520" cy="553998"/>
          </a:xfrm>
        </p:spPr>
        <p:txBody>
          <a:bodyPr anchor="b"/>
          <a:lstStyle>
            <a:lvl1pPr>
              <a:defRPr>
                <a:solidFill>
                  <a:srgbClr val="B1B3B3"/>
                </a:solidFill>
              </a:defRPr>
            </a:lvl1pPr>
          </a:lstStyle>
          <a:p>
            <a:r>
              <a:rPr lang="en-US"/>
              <a:t>Title</a:t>
            </a:r>
          </a:p>
        </p:txBody>
      </p:sp>
    </p:spTree>
    <p:extLst>
      <p:ext uri="{BB962C8B-B14F-4D97-AF65-F5344CB8AC3E}">
        <p14:creationId xmlns:p14="http://schemas.microsoft.com/office/powerpoint/2010/main" val="2271478939"/>
      </p:ext>
    </p:extLst>
  </p:cSld>
  <p:clrMapOvr>
    <a:masterClrMapping/>
  </p:clrMapOvr>
  <p:transition>
    <p:fade/>
  </p:transition>
  <p:extLst>
    <p:ext uri="{DCECCB84-F9BA-43D5-87BE-67443E8EF086}">
      <p15:sldGuideLst xmlns:p15="http://schemas.microsoft.com/office/powerpoint/2012/main">
        <p15:guide id="16" pos="3840">
          <p15:clr>
            <a:srgbClr val="A4A3A4"/>
          </p15:clr>
        </p15:guide>
        <p15:guide id="29" orient="horz" pos="2136">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1_Deep Scan image silver/blue + title centered">
    <p:bg>
      <p:bgPr>
        <a:solidFill>
          <a:schemeClr val="tx1"/>
        </a:solidFill>
        <a:effectLst/>
      </p:bgPr>
    </p:bg>
    <p:spTree>
      <p:nvGrpSpPr>
        <p:cNvPr id="1" name=""/>
        <p:cNvGrpSpPr/>
        <p:nvPr/>
      </p:nvGrpSpPr>
      <p:grpSpPr>
        <a:xfrm>
          <a:off x="0" y="0"/>
          <a:ext cx="0" cy="0"/>
          <a:chOff x="0" y="0"/>
          <a:chExt cx="0" cy="0"/>
        </a:xfrm>
      </p:grpSpPr>
      <p:pic>
        <p:nvPicPr>
          <p:cNvPr id="3" name="Picture 2" descr="A blue sky with white clouds&#10;&#10;AI-generated content may be incorrect.">
            <a:extLst>
              <a:ext uri="{FF2B5EF4-FFF2-40B4-BE49-F238E27FC236}">
                <a16:creationId xmlns:a16="http://schemas.microsoft.com/office/drawing/2014/main" id="{5C2FDCBF-9601-1413-5C7F-D167836CF6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18E35CD-0047-0D15-A327-1987D3D9BE2A}"/>
              </a:ext>
            </a:extLst>
          </p:cNvPr>
          <p:cNvSpPr>
            <a:spLocks noGrp="1"/>
          </p:cNvSpPr>
          <p:nvPr>
            <p:ph type="title"/>
          </p:nvPr>
        </p:nvSpPr>
        <p:spPr/>
        <p:txBody>
          <a:bodyPr/>
          <a:lstStyle>
            <a:lvl1pPr marL="0" algn="ctr" defTabSz="932742" rtl="0" eaLnBrk="1" latinLnBrk="0" hangingPunct="1">
              <a:lnSpc>
                <a:spcPct val="100000"/>
              </a:lnSpc>
              <a:spcBef>
                <a:spcPct val="0"/>
              </a:spcBef>
              <a:buNone/>
              <a:defRPr lang="en-US" sz="3600" b="0" kern="1200" cap="none" spc="-50" baseline="0" dirty="0">
                <a:ln w="3175">
                  <a:noFill/>
                </a:ln>
                <a:solidFill>
                  <a:srgbClr val="183D4C"/>
                </a:solidFill>
                <a:effectLst/>
                <a:latin typeface="+mn-lt"/>
                <a:ea typeface="+mn-ea"/>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235130489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6.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image" Target="../media/image77.emf"/><Relationship Id="rId5" Type="http://schemas.openxmlformats.org/officeDocument/2006/relationships/theme" Target="../theme/theme2.xml"/><Relationship Id="rId4" Type="http://schemas.openxmlformats.org/officeDocument/2006/relationships/slideLayout" Target="../slideLayouts/slideLayout10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0.xml"/><Relationship Id="rId18" Type="http://schemas.openxmlformats.org/officeDocument/2006/relationships/slideLayout" Target="../slideLayouts/slideLayout125.xml"/><Relationship Id="rId26" Type="http://schemas.openxmlformats.org/officeDocument/2006/relationships/slideLayout" Target="../slideLayouts/slideLayout133.xml"/><Relationship Id="rId39" Type="http://schemas.openxmlformats.org/officeDocument/2006/relationships/slideLayout" Target="../slideLayouts/slideLayout146.xml"/><Relationship Id="rId21" Type="http://schemas.openxmlformats.org/officeDocument/2006/relationships/slideLayout" Target="../slideLayouts/slideLayout128.xml"/><Relationship Id="rId34" Type="http://schemas.openxmlformats.org/officeDocument/2006/relationships/slideLayout" Target="../slideLayouts/slideLayout141.xml"/><Relationship Id="rId42" Type="http://schemas.openxmlformats.org/officeDocument/2006/relationships/slideLayout" Target="../slideLayouts/slideLayout149.xml"/><Relationship Id="rId7" Type="http://schemas.openxmlformats.org/officeDocument/2006/relationships/slideLayout" Target="../slideLayouts/slideLayout114.xml"/><Relationship Id="rId2" Type="http://schemas.openxmlformats.org/officeDocument/2006/relationships/slideLayout" Target="../slideLayouts/slideLayout109.xml"/><Relationship Id="rId16" Type="http://schemas.openxmlformats.org/officeDocument/2006/relationships/slideLayout" Target="../slideLayouts/slideLayout123.xml"/><Relationship Id="rId29" Type="http://schemas.openxmlformats.org/officeDocument/2006/relationships/slideLayout" Target="../slideLayouts/slideLayout136.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slideLayout" Target="../slideLayouts/slideLayout118.xml"/><Relationship Id="rId24" Type="http://schemas.openxmlformats.org/officeDocument/2006/relationships/slideLayout" Target="../slideLayouts/slideLayout131.xml"/><Relationship Id="rId32" Type="http://schemas.openxmlformats.org/officeDocument/2006/relationships/slideLayout" Target="../slideLayouts/slideLayout139.xml"/><Relationship Id="rId37" Type="http://schemas.openxmlformats.org/officeDocument/2006/relationships/slideLayout" Target="../slideLayouts/slideLayout144.xml"/><Relationship Id="rId40" Type="http://schemas.openxmlformats.org/officeDocument/2006/relationships/slideLayout" Target="../slideLayouts/slideLayout147.xml"/><Relationship Id="rId45" Type="http://schemas.openxmlformats.org/officeDocument/2006/relationships/image" Target="../media/image1.svg"/><Relationship Id="rId5" Type="http://schemas.openxmlformats.org/officeDocument/2006/relationships/slideLayout" Target="../slideLayouts/slideLayout112.xml"/><Relationship Id="rId15" Type="http://schemas.openxmlformats.org/officeDocument/2006/relationships/slideLayout" Target="../slideLayouts/slideLayout122.xml"/><Relationship Id="rId23" Type="http://schemas.openxmlformats.org/officeDocument/2006/relationships/slideLayout" Target="../slideLayouts/slideLayout130.xml"/><Relationship Id="rId28" Type="http://schemas.openxmlformats.org/officeDocument/2006/relationships/slideLayout" Target="../slideLayouts/slideLayout135.xml"/><Relationship Id="rId36" Type="http://schemas.openxmlformats.org/officeDocument/2006/relationships/slideLayout" Target="../slideLayouts/slideLayout143.xml"/><Relationship Id="rId10" Type="http://schemas.openxmlformats.org/officeDocument/2006/relationships/slideLayout" Target="../slideLayouts/slideLayout117.xml"/><Relationship Id="rId19" Type="http://schemas.openxmlformats.org/officeDocument/2006/relationships/slideLayout" Target="../slideLayouts/slideLayout126.xml"/><Relationship Id="rId31" Type="http://schemas.openxmlformats.org/officeDocument/2006/relationships/slideLayout" Target="../slideLayouts/slideLayout138.xml"/><Relationship Id="rId44" Type="http://schemas.openxmlformats.org/officeDocument/2006/relationships/theme" Target="../theme/theme3.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14" Type="http://schemas.openxmlformats.org/officeDocument/2006/relationships/slideLayout" Target="../slideLayouts/slideLayout121.xml"/><Relationship Id="rId22" Type="http://schemas.openxmlformats.org/officeDocument/2006/relationships/slideLayout" Target="../slideLayouts/slideLayout129.xml"/><Relationship Id="rId27" Type="http://schemas.openxmlformats.org/officeDocument/2006/relationships/slideLayout" Target="../slideLayouts/slideLayout134.xml"/><Relationship Id="rId30" Type="http://schemas.openxmlformats.org/officeDocument/2006/relationships/slideLayout" Target="../slideLayouts/slideLayout137.xml"/><Relationship Id="rId35" Type="http://schemas.openxmlformats.org/officeDocument/2006/relationships/slideLayout" Target="../slideLayouts/slideLayout142.xml"/><Relationship Id="rId43" Type="http://schemas.openxmlformats.org/officeDocument/2006/relationships/slideLayout" Target="../slideLayouts/slideLayout150.xml"/><Relationship Id="rId8" Type="http://schemas.openxmlformats.org/officeDocument/2006/relationships/slideLayout" Target="../slideLayouts/slideLayout115.xml"/><Relationship Id="rId3" Type="http://schemas.openxmlformats.org/officeDocument/2006/relationships/slideLayout" Target="../slideLayouts/slideLayout110.xml"/><Relationship Id="rId12" Type="http://schemas.openxmlformats.org/officeDocument/2006/relationships/slideLayout" Target="../slideLayouts/slideLayout119.xml"/><Relationship Id="rId17" Type="http://schemas.openxmlformats.org/officeDocument/2006/relationships/slideLayout" Target="../slideLayouts/slideLayout124.xml"/><Relationship Id="rId25" Type="http://schemas.openxmlformats.org/officeDocument/2006/relationships/slideLayout" Target="../slideLayouts/slideLayout132.xml"/><Relationship Id="rId33" Type="http://schemas.openxmlformats.org/officeDocument/2006/relationships/slideLayout" Target="../slideLayouts/slideLayout140.xml"/><Relationship Id="rId38" Type="http://schemas.openxmlformats.org/officeDocument/2006/relationships/slideLayout" Target="../slideLayouts/slideLayout145.xml"/><Relationship Id="rId20" Type="http://schemas.openxmlformats.org/officeDocument/2006/relationships/slideLayout" Target="../slideLayouts/slideLayout127.xml"/><Relationship Id="rId41" Type="http://schemas.openxmlformats.org/officeDocument/2006/relationships/slideLayout" Target="../slideLayouts/slideLayout1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0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753875272"/>
      </p:ext>
    </p:extLst>
  </p:cSld>
  <p:clrMap bg1="lt1" tx1="dk1" bg2="lt2" tx2="dk2" accent1="accent1" accent2="accent2" accent3="accent3" accent4="accent4" accent5="accent5" accent6="accent6" hlink="hlink" folHlink="folHlink"/>
  <p:sldLayoutIdLst>
    <p:sldLayoutId id="2147485230" r:id="rId1"/>
    <p:sldLayoutId id="2147485231" r:id="rId2"/>
    <p:sldLayoutId id="2147485232" r:id="rId3"/>
    <p:sldLayoutId id="2147485233" r:id="rId4"/>
    <p:sldLayoutId id="2147485234" r:id="rId5"/>
    <p:sldLayoutId id="2147485235" r:id="rId6"/>
    <p:sldLayoutId id="2147485236" r:id="rId7"/>
    <p:sldLayoutId id="2147485237" r:id="rId8"/>
    <p:sldLayoutId id="2147485238" r:id="rId9"/>
    <p:sldLayoutId id="2147485239" r:id="rId10"/>
    <p:sldLayoutId id="2147485240" r:id="rId11"/>
    <p:sldLayoutId id="2147485241" r:id="rId12"/>
    <p:sldLayoutId id="2147485242" r:id="rId13"/>
    <p:sldLayoutId id="2147485243" r:id="rId14"/>
    <p:sldLayoutId id="2147485244" r:id="rId15"/>
    <p:sldLayoutId id="2147485245" r:id="rId16"/>
    <p:sldLayoutId id="2147485246" r:id="rId17"/>
    <p:sldLayoutId id="2147485247" r:id="rId18"/>
    <p:sldLayoutId id="2147485248" r:id="rId19"/>
    <p:sldLayoutId id="2147485249" r:id="rId20"/>
    <p:sldLayoutId id="2147485250" r:id="rId21"/>
    <p:sldLayoutId id="2147485251" r:id="rId22"/>
    <p:sldLayoutId id="2147485252" r:id="rId23"/>
    <p:sldLayoutId id="2147485253" r:id="rId24"/>
    <p:sldLayoutId id="2147485254" r:id="rId25"/>
    <p:sldLayoutId id="2147485255" r:id="rId26"/>
    <p:sldLayoutId id="2147485256" r:id="rId27"/>
    <p:sldLayoutId id="2147485257" r:id="rId28"/>
    <p:sldLayoutId id="2147485258" r:id="rId29"/>
    <p:sldLayoutId id="2147485259" r:id="rId30"/>
    <p:sldLayoutId id="2147485260" r:id="rId31"/>
    <p:sldLayoutId id="2147485261" r:id="rId32"/>
    <p:sldLayoutId id="2147485262" r:id="rId33"/>
    <p:sldLayoutId id="2147485263" r:id="rId34"/>
    <p:sldLayoutId id="2147485264" r:id="rId35"/>
    <p:sldLayoutId id="2147485265" r:id="rId36"/>
    <p:sldLayoutId id="2147485266" r:id="rId37"/>
    <p:sldLayoutId id="2147485267" r:id="rId38"/>
    <p:sldLayoutId id="2147485268" r:id="rId39"/>
    <p:sldLayoutId id="2147485269" r:id="rId40"/>
    <p:sldLayoutId id="2147485270" r:id="rId41"/>
    <p:sldLayoutId id="2147485271" r:id="rId42"/>
    <p:sldLayoutId id="2147485272" r:id="rId43"/>
    <p:sldLayoutId id="2147485273" r:id="rId44"/>
    <p:sldLayoutId id="2147485274" r:id="rId45"/>
    <p:sldLayoutId id="2147485275" r:id="rId46"/>
    <p:sldLayoutId id="2147485276" r:id="rId47"/>
    <p:sldLayoutId id="2147485277" r:id="rId48"/>
    <p:sldLayoutId id="2147485278" r:id="rId49"/>
    <p:sldLayoutId id="2147485279" r:id="rId50"/>
    <p:sldLayoutId id="2147485280" r:id="rId51"/>
    <p:sldLayoutId id="2147485281" r:id="rId52"/>
    <p:sldLayoutId id="2147485282" r:id="rId53"/>
    <p:sldLayoutId id="2147485283" r:id="rId54"/>
    <p:sldLayoutId id="2147485284" r:id="rId55"/>
    <p:sldLayoutId id="2147485285" r:id="rId56"/>
    <p:sldLayoutId id="2147485286" r:id="rId57"/>
    <p:sldLayoutId id="2147485287" r:id="rId58"/>
    <p:sldLayoutId id="2147485288" r:id="rId59"/>
    <p:sldLayoutId id="2147485289" r:id="rId60"/>
    <p:sldLayoutId id="2147485290" r:id="rId61"/>
    <p:sldLayoutId id="2147485291" r:id="rId62"/>
    <p:sldLayoutId id="2147485292" r:id="rId63"/>
    <p:sldLayoutId id="2147485293" r:id="rId64"/>
    <p:sldLayoutId id="2147485294" r:id="rId65"/>
    <p:sldLayoutId id="2147485295" r:id="rId66"/>
    <p:sldLayoutId id="2147485296" r:id="rId67"/>
    <p:sldLayoutId id="2147485297" r:id="rId68"/>
    <p:sldLayoutId id="2147485298" r:id="rId69"/>
    <p:sldLayoutId id="2147485299" r:id="rId70"/>
    <p:sldLayoutId id="2147485300" r:id="rId71"/>
    <p:sldLayoutId id="2147485301" r:id="rId72"/>
    <p:sldLayoutId id="2147485302" r:id="rId73"/>
    <p:sldLayoutId id="2147485303" r:id="rId74"/>
    <p:sldLayoutId id="2147485304" r:id="rId75"/>
    <p:sldLayoutId id="2147485305" r:id="rId76"/>
    <p:sldLayoutId id="2147485306" r:id="rId77"/>
    <p:sldLayoutId id="2147485307" r:id="rId78"/>
    <p:sldLayoutId id="2147485308" r:id="rId79"/>
    <p:sldLayoutId id="2147485309" r:id="rId80"/>
    <p:sldLayoutId id="2147485311" r:id="rId81"/>
    <p:sldLayoutId id="2147485312" r:id="rId82"/>
    <p:sldLayoutId id="2147485313" r:id="rId83"/>
    <p:sldLayoutId id="2147488349" r:id="rId84"/>
    <p:sldLayoutId id="2147488391" r:id="rId85"/>
    <p:sldLayoutId id="2147488821" r:id="rId86"/>
    <p:sldLayoutId id="2147489987" r:id="rId87"/>
    <p:sldLayoutId id="2147490000" r:id="rId88"/>
    <p:sldLayoutId id="2147490001" r:id="rId89"/>
    <p:sldLayoutId id="2147490002" r:id="rId90"/>
    <p:sldLayoutId id="2147490003" r:id="rId91"/>
    <p:sldLayoutId id="2147490004" r:id="rId92"/>
    <p:sldLayoutId id="2147490005" r:id="rId93"/>
    <p:sldLayoutId id="2147490006" r:id="rId94"/>
    <p:sldLayoutId id="2147490007" r:id="rId95"/>
    <p:sldLayoutId id="2147490008" r:id="rId96"/>
    <p:sldLayoutId id="2147490009" r:id="rId97"/>
    <p:sldLayoutId id="2147490023" r:id="rId98"/>
    <p:sldLayoutId id="2147490067" r:id="rId99"/>
    <p:sldLayoutId id="2147490081" r:id="rId100"/>
    <p:sldLayoutId id="2147490085" r:id="rId101"/>
    <p:sldLayoutId id="2147490450" r:id="rId102"/>
    <p:sldLayoutId id="2147490457" r:id="rId10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6"/>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2396039675"/>
      </p:ext>
    </p:extLst>
  </p:cSld>
  <p:clrMap bg1="lt1" tx1="dk1" bg2="lt2" tx2="dk2" accent1="accent1" accent2="accent2" accent3="accent3" accent4="accent4" accent5="accent5" accent6="accent6" hlink="hlink" folHlink="folHlink"/>
  <p:sldLayoutIdLst>
    <p:sldLayoutId id="2147490453" r:id="rId1"/>
    <p:sldLayoutId id="2147490454" r:id="rId2"/>
    <p:sldLayoutId id="2147490455" r:id="rId3"/>
    <p:sldLayoutId id="2147490456" r:id="rId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blackWhite">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8774" y="254452"/>
            <a:ext cx="11472863"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358774" y="1416452"/>
            <a:ext cx="11479499" cy="5081185"/>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332069523"/>
      </p:ext>
    </p:extLst>
  </p:cSld>
  <p:clrMap bg1="dk1" tx1="lt1" bg2="dk2" tx2="lt2" accent1="accent1" accent2="accent2" accent3="accent3" accent4="accent4" accent5="accent5" accent6="accent6" hlink="hlink" folHlink="folHlink"/>
  <p:sldLayoutIdLst>
    <p:sldLayoutId id="2147490459" r:id="rId1"/>
    <p:sldLayoutId id="2147490460" r:id="rId2"/>
    <p:sldLayoutId id="2147490461" r:id="rId3"/>
    <p:sldLayoutId id="2147490462" r:id="rId4"/>
    <p:sldLayoutId id="2147490463" r:id="rId5"/>
    <p:sldLayoutId id="2147490464" r:id="rId6"/>
    <p:sldLayoutId id="2147490465" r:id="rId7"/>
    <p:sldLayoutId id="2147490466" r:id="rId8"/>
    <p:sldLayoutId id="2147490467" r:id="rId9"/>
    <p:sldLayoutId id="2147490468" r:id="rId10"/>
    <p:sldLayoutId id="2147490469" r:id="rId11"/>
    <p:sldLayoutId id="2147490470" r:id="rId12"/>
    <p:sldLayoutId id="2147490471" r:id="rId13"/>
    <p:sldLayoutId id="2147490472" r:id="rId14"/>
    <p:sldLayoutId id="2147490473" r:id="rId15"/>
    <p:sldLayoutId id="2147490474" r:id="rId16"/>
    <p:sldLayoutId id="2147490475" r:id="rId17"/>
    <p:sldLayoutId id="2147490476" r:id="rId18"/>
    <p:sldLayoutId id="2147490477" r:id="rId19"/>
    <p:sldLayoutId id="2147490478" r:id="rId20"/>
    <p:sldLayoutId id="2147490479" r:id="rId21"/>
    <p:sldLayoutId id="2147490480" r:id="rId22"/>
    <p:sldLayoutId id="2147490481" r:id="rId23"/>
    <p:sldLayoutId id="2147490482" r:id="rId24"/>
    <p:sldLayoutId id="2147490483" r:id="rId25"/>
    <p:sldLayoutId id="2147490484" r:id="rId26"/>
    <p:sldLayoutId id="2147490485" r:id="rId27"/>
    <p:sldLayoutId id="2147490486" r:id="rId28"/>
    <p:sldLayoutId id="2147490487" r:id="rId29"/>
    <p:sldLayoutId id="2147490488" r:id="rId30"/>
    <p:sldLayoutId id="2147490489" r:id="rId31"/>
    <p:sldLayoutId id="2147490490" r:id="rId32"/>
    <p:sldLayoutId id="2147490491" r:id="rId33"/>
    <p:sldLayoutId id="2147490492" r:id="rId34"/>
    <p:sldLayoutId id="2147490493" r:id="rId35"/>
    <p:sldLayoutId id="2147490494" r:id="rId36"/>
    <p:sldLayoutId id="2147490495" r:id="rId37"/>
    <p:sldLayoutId id="2147490496" r:id="rId38"/>
    <p:sldLayoutId id="2147490497" r:id="rId39"/>
    <p:sldLayoutId id="2147490498" r:id="rId40"/>
    <p:sldLayoutId id="2147490499" r:id="rId41"/>
    <p:sldLayoutId id="2147490500" r:id="rId42"/>
    <p:sldLayoutId id="2147490501" r:id="rId4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Segoe Sans Display Semilight" pitchFamily="2" charset="0"/>
          <a:ea typeface="+mn-ea"/>
          <a:cs typeface="Segoe Sans Display Semilight" pitchFamily="2" charset="0"/>
        </a:defRPr>
      </a:lvl1pPr>
    </p:titleStyle>
    <p:bodyStyle>
      <a:lvl1pPr marL="216000" marR="0" indent="-216000"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sz="2800" kern="1200" spc="0" baseline="0">
          <a:solidFill>
            <a:schemeClr val="tx1"/>
          </a:solidFill>
          <a:latin typeface="+mn-lt"/>
          <a:ea typeface="+mn-ea"/>
          <a:cs typeface="Segoe Sans Display" pitchFamily="2" charset="0"/>
        </a:defRPr>
      </a:lvl1pPr>
      <a:lvl2pPr marL="432000" marR="0" indent="-216000"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sz="2000" kern="1200" spc="0" baseline="0">
          <a:solidFill>
            <a:schemeClr val="tx1"/>
          </a:solidFill>
          <a:latin typeface="+mn-lt"/>
          <a:ea typeface="+mn-ea"/>
          <a:cs typeface="+mn-cs"/>
        </a:defRPr>
      </a:lvl2pPr>
      <a:lvl3pPr marL="648000" marR="0" indent="-216000"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sz="1600" kern="1200" spc="0" baseline="0">
          <a:solidFill>
            <a:schemeClr val="tx1"/>
          </a:solidFill>
          <a:latin typeface="+mn-lt"/>
          <a:ea typeface="+mn-ea"/>
          <a:cs typeface="+mn-cs"/>
        </a:defRPr>
      </a:lvl3pPr>
      <a:lvl4pPr marL="864000" marR="0" indent="-2160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1080000" marR="0" indent="-2160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C35EA4"/>
          </p15:clr>
        </p15:guide>
        <p15:guide id="3" pos="226">
          <p15:clr>
            <a:srgbClr val="C35EA4"/>
          </p15:clr>
        </p15:guide>
        <p15:guide id="14" pos="3840">
          <p15:clr>
            <a:srgbClr val="E97132"/>
          </p15:clr>
        </p15:guide>
        <p15:guide id="26" pos="7453">
          <p15:clr>
            <a:srgbClr val="C35EA4"/>
          </p15:clr>
        </p15:guide>
        <p15:guide id="27" orient="horz">
          <p15:clr>
            <a:srgbClr val="C35EA4"/>
          </p15:clr>
        </p15:guide>
        <p15:guide id="28" orient="horz" pos="4320">
          <p15:clr>
            <a:srgbClr val="C35EA4"/>
          </p15:clr>
        </p15:guide>
        <p15:guide id="29" orient="horz" pos="159">
          <p15:clr>
            <a:srgbClr val="C35EA4"/>
          </p15:clr>
        </p15:guide>
        <p15:guide id="30" orient="horz" pos="510">
          <p15:clr>
            <a:srgbClr val="E97132"/>
          </p15:clr>
        </p15:guide>
        <p15:guide id="33" orient="horz" pos="890">
          <p15:clr>
            <a:srgbClr val="5ACBF0"/>
          </p15:clr>
        </p15:guide>
        <p15:guide id="41" orient="horz" pos="2160">
          <p15:clr>
            <a:srgbClr val="E97132"/>
          </p15:clr>
        </p15:guide>
        <p15:guide id="52" orient="horz" pos="4093">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4.png"/><Relationship Id="rId7" Type="http://schemas.openxmlformats.org/officeDocument/2006/relationships/image" Target="../media/image88.svg"/><Relationship Id="rId12" Type="http://schemas.openxmlformats.org/officeDocument/2006/relationships/image" Target="../media/image93.svg"/><Relationship Id="rId2" Type="http://schemas.openxmlformats.org/officeDocument/2006/relationships/notesSlide" Target="../notesSlides/notesSlide2.xml"/><Relationship Id="rId1" Type="http://schemas.openxmlformats.org/officeDocument/2006/relationships/slideLayout" Target="../slideLayouts/slideLayout128.xml"/><Relationship Id="rId6" Type="http://schemas.openxmlformats.org/officeDocument/2006/relationships/image" Target="../media/image87.svg"/><Relationship Id="rId11" Type="http://schemas.openxmlformats.org/officeDocument/2006/relationships/image" Target="../media/image92.svg"/><Relationship Id="rId5" Type="http://schemas.openxmlformats.org/officeDocument/2006/relationships/image" Target="../media/image86.svg"/><Relationship Id="rId10" Type="http://schemas.openxmlformats.org/officeDocument/2006/relationships/image" Target="../media/image91.svg"/><Relationship Id="rId4" Type="http://schemas.openxmlformats.org/officeDocument/2006/relationships/image" Target="../media/image85.svg"/><Relationship Id="rId9" Type="http://schemas.openxmlformats.org/officeDocument/2006/relationships/image" Target="../media/image90.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8.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0.xml"/></Relationships>
</file>

<file path=ppt/slides/_rels/slide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xml"/><Relationship Id="rId1" Type="http://schemas.openxmlformats.org/officeDocument/2006/relationships/slideLayout" Target="../slideLayouts/slideLayout124.xml"/></Relationships>
</file>

<file path=ppt/slides/_rels/slide8.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5.jpeg"/><Relationship Id="rId7" Type="http://schemas.openxmlformats.org/officeDocument/2006/relationships/image" Target="../media/image98.png"/><Relationship Id="rId2" Type="http://schemas.openxmlformats.org/officeDocument/2006/relationships/notesSlide" Target="../notesSlides/notesSlide7.xml"/><Relationship Id="rId1" Type="http://schemas.openxmlformats.org/officeDocument/2006/relationships/slideLayout" Target="../slideLayouts/slideLayout129.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79.jpeg"/><Relationship Id="rId9" Type="http://schemas.openxmlformats.org/officeDocument/2006/relationships/image" Target="../media/image100.png"/></Relationships>
</file>

<file path=ppt/slides/_rels/slide9.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notesSlide" Target="../notesSlides/notesSlide8.xml"/><Relationship Id="rId1" Type="http://schemas.openxmlformats.org/officeDocument/2006/relationships/slideLayout" Target="../slideLayouts/slideLayout127.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1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9.xml"/><Relationship Id="rId1" Type="http://schemas.openxmlformats.org/officeDocument/2006/relationships/slideLayout" Target="../slideLayouts/slideLayout125.xml"/></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11.png"/><Relationship Id="rId2" Type="http://schemas.openxmlformats.org/officeDocument/2006/relationships/notesSlide" Target="../notesSlides/notesSlide10.xml"/><Relationship Id="rId1" Type="http://schemas.openxmlformats.org/officeDocument/2006/relationships/slideLayout" Target="../slideLayouts/slideLayout127.xml"/><Relationship Id="rId6" Type="http://schemas.openxmlformats.org/officeDocument/2006/relationships/image" Target="../media/image98.png"/><Relationship Id="rId5" Type="http://schemas.openxmlformats.org/officeDocument/2006/relationships/image" Target="../media/image110.png"/><Relationship Id="rId4" Type="http://schemas.openxmlformats.org/officeDocument/2006/relationships/image" Target="../media/image10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hyperlink" Target="https://zerotrust.microsoft.com/" TargetMode="External"/><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12.xml"/><Relationship Id="rId1" Type="http://schemas.openxmlformats.org/officeDocument/2006/relationships/slideLayout" Target="../slideLayouts/slideLayout129.xml"/><Relationship Id="rId6" Type="http://schemas.openxmlformats.org/officeDocument/2006/relationships/image" Target="../media/image115.png"/><Relationship Id="rId5" Type="http://schemas.openxmlformats.org/officeDocument/2006/relationships/image" Target="../media/image114.png"/><Relationship Id="rId10" Type="http://schemas.openxmlformats.org/officeDocument/2006/relationships/image" Target="../media/image118.png"/><Relationship Id="rId4" Type="http://schemas.openxmlformats.org/officeDocument/2006/relationships/image" Target="../media/image113.png"/><Relationship Id="rId9" Type="http://schemas.openxmlformats.org/officeDocument/2006/relationships/image" Target="../media/image117.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9.xml"/></Relationships>
</file>

<file path=ppt/slides/_rels/slide15.xml.rels><?xml version="1.0" encoding="UTF-8" standalone="yes"?>
<Relationships xmlns="http://schemas.openxmlformats.org/package/2006/relationships"><Relationship Id="rId3" Type="http://schemas.openxmlformats.org/officeDocument/2006/relationships/image" Target="../media/image119.png"/><Relationship Id="rId7" Type="http://schemas.openxmlformats.org/officeDocument/2006/relationships/image" Target="../media/image94.png"/><Relationship Id="rId2" Type="http://schemas.openxmlformats.org/officeDocument/2006/relationships/notesSlide" Target="../notesSlides/notesSlide14.xml"/><Relationship Id="rId1" Type="http://schemas.openxmlformats.org/officeDocument/2006/relationships/slideLayout" Target="../slideLayouts/slideLayout129.xml"/><Relationship Id="rId6" Type="http://schemas.openxmlformats.org/officeDocument/2006/relationships/image" Target="../media/image100.png"/><Relationship Id="rId5" Type="http://schemas.openxmlformats.org/officeDocument/2006/relationships/image" Target="../media/image121.png"/><Relationship Id="rId4" Type="http://schemas.openxmlformats.org/officeDocument/2006/relationships/image" Target="../media/image120.png"/></Relationships>
</file>

<file path=ppt/slides/_rels/slide16.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67.jpeg"/><Relationship Id="rId7" Type="http://schemas.openxmlformats.org/officeDocument/2006/relationships/image" Target="../media/image125.svg"/><Relationship Id="rId12" Type="http://schemas.openxmlformats.org/officeDocument/2006/relationships/image" Target="../media/image130.png"/><Relationship Id="rId2" Type="http://schemas.openxmlformats.org/officeDocument/2006/relationships/notesSlide" Target="../notesSlides/notesSlide15.xml"/><Relationship Id="rId1" Type="http://schemas.openxmlformats.org/officeDocument/2006/relationships/slideLayout" Target="../slideLayouts/slideLayout28.xml"/><Relationship Id="rId6" Type="http://schemas.openxmlformats.org/officeDocument/2006/relationships/image" Target="../media/image124.svg"/><Relationship Id="rId11" Type="http://schemas.openxmlformats.org/officeDocument/2006/relationships/image" Target="../media/image129.png"/><Relationship Id="rId5" Type="http://schemas.openxmlformats.org/officeDocument/2006/relationships/image" Target="../media/image123.svg"/><Relationship Id="rId10" Type="http://schemas.openxmlformats.org/officeDocument/2006/relationships/image" Target="../media/image128.png"/><Relationship Id="rId4" Type="http://schemas.openxmlformats.org/officeDocument/2006/relationships/image" Target="../media/image122.png"/><Relationship Id="rId9" Type="http://schemas.openxmlformats.org/officeDocument/2006/relationships/image" Target="../media/image127.svg"/></Relationships>
</file>

<file path=ppt/slides/_rels/slide1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6.xml"/><Relationship Id="rId1" Type="http://schemas.openxmlformats.org/officeDocument/2006/relationships/slideLayout" Target="../slideLayouts/slideLayout129.xml"/><Relationship Id="rId4" Type="http://schemas.openxmlformats.org/officeDocument/2006/relationships/image" Target="../media/image131.png"/></Relationships>
</file>

<file path=ppt/slides/_rels/slide18.xml.rels><?xml version="1.0" encoding="UTF-8" standalone="yes"?>
<Relationships xmlns="http://schemas.openxmlformats.org/package/2006/relationships"><Relationship Id="rId2" Type="http://schemas.openxmlformats.org/officeDocument/2006/relationships/hyperlink" Target="https://microsoft.github.io/zerotrustassessment/docs/workshop-guidance/delivery-guide" TargetMode="Externa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hyperlink" Target="https://learn.microsoft.com/en-us/security/zero-trust/assessment/get-started" TargetMode="External"/><Relationship Id="rId1" Type="http://schemas.openxmlformats.org/officeDocument/2006/relationships/slideLayout" Target="../slideLayouts/slideLayout19.xml"/><Relationship Id="rId4" Type="http://schemas.openxmlformats.org/officeDocument/2006/relationships/image" Target="../media/image132.png"/></Relationships>
</file>

<file path=ppt/slides/_rels/slide2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hyperlink" Target="https://microsoft.github.io/zerotrustassessment/docs/workshop-guidance/delivery-guide" TargetMode="Externa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hyperlink" Target="https://aka.ms/zerotrust/AIZTvideo" TargetMode="External"/><Relationship Id="rId7" Type="http://schemas.openxmlformats.org/officeDocument/2006/relationships/hyperlink" Target="https://forms.office.com/pages/responsepage.aspx?id=v4j5cvGGr0GRqy180BHbR7t6ckxTCw9OiSbwsJxSnMlUMlNJT0pHUkFaNVRTSkIyWjhPQkNORFhUNy4u&amp;route=shorturl" TargetMode="External"/><Relationship Id="rId2" Type="http://schemas.openxmlformats.org/officeDocument/2006/relationships/notesSlide" Target="../notesSlides/notesSlide17.xml"/><Relationship Id="rId1" Type="http://schemas.openxmlformats.org/officeDocument/2006/relationships/slideLayout" Target="../slideLayouts/slideLayout129.xml"/><Relationship Id="rId6" Type="http://schemas.openxmlformats.org/officeDocument/2006/relationships/hyperlink" Target="https://microsoft.github.io/zerotrustassessment/" TargetMode="External"/><Relationship Id="rId11" Type="http://schemas.openxmlformats.org/officeDocument/2006/relationships/image" Target="../media/image135.png"/><Relationship Id="rId5" Type="http://schemas.openxmlformats.org/officeDocument/2006/relationships/image" Target="../media/image133.png"/><Relationship Id="rId10" Type="http://schemas.openxmlformats.org/officeDocument/2006/relationships/hyperlink" Target="https://aka.ms/zerotrust/assessment" TargetMode="External"/><Relationship Id="rId4" Type="http://schemas.openxmlformats.org/officeDocument/2006/relationships/hyperlink" Target="https://www.microsoft.com/en-us/security/business/zero-trust#modal-1" TargetMode="External"/><Relationship Id="rId9" Type="http://schemas.openxmlformats.org/officeDocument/2006/relationships/hyperlink" Target="https://aka.ms/zerotrust/demo"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hyperlink" Target="https://aka.ms/ZTWorkshop" TargetMode="Externa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8" Type="http://schemas.openxmlformats.org/officeDocument/2006/relationships/image" Target="../media/image142.jpeg"/><Relationship Id="rId3" Type="http://schemas.openxmlformats.org/officeDocument/2006/relationships/image" Target="../media/image137.png"/><Relationship Id="rId7" Type="http://schemas.openxmlformats.org/officeDocument/2006/relationships/image" Target="../media/image141.svg"/><Relationship Id="rId12" Type="http://schemas.openxmlformats.org/officeDocument/2006/relationships/image" Target="../media/image146.svg"/><Relationship Id="rId2" Type="http://schemas.openxmlformats.org/officeDocument/2006/relationships/notesSlide" Target="../notesSlides/notesSlide18.xml"/><Relationship Id="rId1" Type="http://schemas.openxmlformats.org/officeDocument/2006/relationships/slideLayout" Target="../slideLayouts/slideLayout28.xml"/><Relationship Id="rId6" Type="http://schemas.openxmlformats.org/officeDocument/2006/relationships/image" Target="../media/image140.svg"/><Relationship Id="rId11" Type="http://schemas.openxmlformats.org/officeDocument/2006/relationships/image" Target="../media/image145.svg"/><Relationship Id="rId5" Type="http://schemas.openxmlformats.org/officeDocument/2006/relationships/image" Target="../media/image139.svg"/><Relationship Id="rId10" Type="http://schemas.openxmlformats.org/officeDocument/2006/relationships/image" Target="../media/image144.jpeg"/><Relationship Id="rId4" Type="http://schemas.openxmlformats.org/officeDocument/2006/relationships/image" Target="../media/image138.svg"/><Relationship Id="rId9" Type="http://schemas.openxmlformats.org/officeDocument/2006/relationships/image" Target="../media/image143.jpeg"/></Relationships>
</file>

<file path=ppt/slides/_rels/slide26.xml.rels><?xml version="1.0" encoding="UTF-8" standalone="yes"?>
<Relationships xmlns="http://schemas.openxmlformats.org/package/2006/relationships"><Relationship Id="rId117" Type="http://schemas.openxmlformats.org/officeDocument/2006/relationships/hyperlink" Target="https://aka.ms/SPA" TargetMode="External"/><Relationship Id="rId21" Type="http://schemas.openxmlformats.org/officeDocument/2006/relationships/hyperlink" Target="https://www.microsoft.com/en-us/security/blog/2021/07/22/how-to-protect-your-cad-data-files-with-mip-and-halocad/" TargetMode="External"/><Relationship Id="rId42" Type="http://schemas.openxmlformats.org/officeDocument/2006/relationships/image" Target="../media/image177.emf"/><Relationship Id="rId63" Type="http://schemas.openxmlformats.org/officeDocument/2006/relationships/image" Target="../media/image187.png"/><Relationship Id="rId84" Type="http://schemas.openxmlformats.org/officeDocument/2006/relationships/image" Target="../media/image201.png"/><Relationship Id="rId138" Type="http://schemas.openxmlformats.org/officeDocument/2006/relationships/image" Target="../media/image217.png"/><Relationship Id="rId107" Type="http://schemas.openxmlformats.org/officeDocument/2006/relationships/hyperlink" Target="https://azure.microsoft.com/blog/security-and-compliance-in-azure-stack/" TargetMode="External"/><Relationship Id="rId11" Type="http://schemas.openxmlformats.org/officeDocument/2006/relationships/image" Target="../media/image155.svg"/><Relationship Id="rId32" Type="http://schemas.openxmlformats.org/officeDocument/2006/relationships/hyperlink" Target="https://docs.microsoft.com/azure/active-directory/" TargetMode="External"/><Relationship Id="rId53" Type="http://schemas.openxmlformats.org/officeDocument/2006/relationships/hyperlink" Target="https://docs.microsoft.com/azure-sphere/product-overview/what-is-azure-sphere" TargetMode="External"/><Relationship Id="rId74" Type="http://schemas.openxmlformats.org/officeDocument/2006/relationships/image" Target="../media/image191.png"/><Relationship Id="rId128" Type="http://schemas.openxmlformats.org/officeDocument/2006/relationships/hyperlink" Target="https://www.microsoft.com/misapartnercatalog?PartnerTypes=MSSP" TargetMode="External"/><Relationship Id="rId149" Type="http://schemas.openxmlformats.org/officeDocument/2006/relationships/hyperlink" Target="https://www.microsoft.com/en-us/security/threat-protection" TargetMode="External"/><Relationship Id="rId5" Type="http://schemas.openxmlformats.org/officeDocument/2006/relationships/image" Target="../media/image149.png"/><Relationship Id="rId95" Type="http://schemas.openxmlformats.org/officeDocument/2006/relationships/hyperlink" Target="https://docs.microsoft.com/azure/defender-for-iot/" TargetMode="External"/><Relationship Id="rId22" Type="http://schemas.openxmlformats.org/officeDocument/2006/relationships/image" Target="../media/image160.png"/><Relationship Id="rId27" Type="http://schemas.openxmlformats.org/officeDocument/2006/relationships/image" Target="../media/image165.png"/><Relationship Id="rId43" Type="http://schemas.openxmlformats.org/officeDocument/2006/relationships/hyperlink" Target="https://docs.microsoft.com/azure/key-vault/key-vault-overview" TargetMode="External"/><Relationship Id="rId48" Type="http://schemas.openxmlformats.org/officeDocument/2006/relationships/hyperlink" Target="https://azure.microsoft.com/services/site-recovery/" TargetMode="External"/><Relationship Id="rId64" Type="http://schemas.openxmlformats.org/officeDocument/2006/relationships/image" Target="../media/image188.png"/><Relationship Id="rId69" Type="http://schemas.openxmlformats.org/officeDocument/2006/relationships/hyperlink" Target="https://docs.microsoft.com/windows/security/threat-protection/microsoft-defender-atp/web-protection-overview" TargetMode="External"/><Relationship Id="rId113" Type="http://schemas.openxmlformats.org/officeDocument/2006/relationships/hyperlink" Target="https://docs.microsoft.com/mem/" TargetMode="External"/><Relationship Id="rId118" Type="http://schemas.openxmlformats.org/officeDocument/2006/relationships/hyperlink" Target="https://docs.microsoft.com/cloud-app-security/what-is-cloud-app-security" TargetMode="External"/><Relationship Id="rId134" Type="http://schemas.openxmlformats.org/officeDocument/2006/relationships/hyperlink" Target="https://learn.microsoft.com/azure/active-directory/external-identities/external-identities-overview" TargetMode="External"/><Relationship Id="rId139" Type="http://schemas.openxmlformats.org/officeDocument/2006/relationships/hyperlink" Target="https://docs.microsoft.com/windows/security/identity-protection/hello-for-business/" TargetMode="External"/><Relationship Id="rId80" Type="http://schemas.openxmlformats.org/officeDocument/2006/relationships/image" Target="../media/image197.png"/><Relationship Id="rId85" Type="http://schemas.openxmlformats.org/officeDocument/2006/relationships/image" Target="../media/image202.png"/><Relationship Id="rId150" Type="http://schemas.openxmlformats.org/officeDocument/2006/relationships/hyperlink" Target="https://aka.ms/AzureSentinel" TargetMode="External"/><Relationship Id="rId12" Type="http://schemas.openxmlformats.org/officeDocument/2006/relationships/image" Target="../media/image156.png"/><Relationship Id="rId17" Type="http://schemas.openxmlformats.org/officeDocument/2006/relationships/hyperlink" Target="https://learn.microsoft.com/en-us/purview/purview" TargetMode="External"/><Relationship Id="rId33" Type="http://schemas.openxmlformats.org/officeDocument/2006/relationships/image" Target="../media/image170.emf"/><Relationship Id="rId38" Type="http://schemas.openxmlformats.org/officeDocument/2006/relationships/hyperlink" Target="https://docs.microsoft.com/azure/azure-arc/" TargetMode="External"/><Relationship Id="rId59" Type="http://schemas.openxmlformats.org/officeDocument/2006/relationships/image" Target="../media/image184.svg"/><Relationship Id="rId103" Type="http://schemas.openxmlformats.org/officeDocument/2006/relationships/image" Target="../media/image206.png"/><Relationship Id="rId108" Type="http://schemas.openxmlformats.org/officeDocument/2006/relationships/hyperlink" Target="https://docs.microsoft.com/azure/active-directory/manage-apps/application-proxy" TargetMode="External"/><Relationship Id="rId124" Type="http://schemas.openxmlformats.org/officeDocument/2006/relationships/hyperlink" Target="https://www.microsoft.com/security/business/identity-access/microsoft-entra-internet-access" TargetMode="External"/><Relationship Id="rId129" Type="http://schemas.openxmlformats.org/officeDocument/2006/relationships/hyperlink" Target="https://aka.ms/DART" TargetMode="External"/><Relationship Id="rId54" Type="http://schemas.openxmlformats.org/officeDocument/2006/relationships/image" Target="../media/image181.png"/><Relationship Id="rId70" Type="http://schemas.openxmlformats.org/officeDocument/2006/relationships/hyperlink" Target="https://docs.microsoft.com/windows/security/threat-protection/microsoft-defender-atp/next-gen-threat-and-vuln-mgt" TargetMode="External"/><Relationship Id="rId75" Type="http://schemas.openxmlformats.org/officeDocument/2006/relationships/image" Target="../media/image192.png"/><Relationship Id="rId91" Type="http://schemas.openxmlformats.org/officeDocument/2006/relationships/hyperlink" Target="https://docs.microsoft.com/en-us/azure/bastion/bastion-overview" TargetMode="External"/><Relationship Id="rId96" Type="http://schemas.openxmlformats.org/officeDocument/2006/relationships/hyperlink" Target="http://www.microsoft.com/SDL" TargetMode="External"/><Relationship Id="rId140" Type="http://schemas.openxmlformats.org/officeDocument/2006/relationships/hyperlink" Target="https://docs.microsoft.com/azure/active-directory/governance/identity-governance-overview#:~:text=Azure%20Active%20Directory%20(Azure%20AD)%20Identity%20Governance%20allows,critical%20assets%20--%20while%20ensuring%20employee%20and" TargetMode="External"/><Relationship Id="rId145" Type="http://schemas.openxmlformats.org/officeDocument/2006/relationships/image" Target="../media/image220.svg"/><Relationship Id="rId1" Type="http://schemas.openxmlformats.org/officeDocument/2006/relationships/slideLayout" Target="../slideLayouts/slideLayout103.xml"/><Relationship Id="rId6" Type="http://schemas.openxmlformats.org/officeDocument/2006/relationships/image" Target="../media/image150.png"/><Relationship Id="rId23" Type="http://schemas.openxmlformats.org/officeDocument/2006/relationships/image" Target="../media/image161.png"/><Relationship Id="rId28" Type="http://schemas.openxmlformats.org/officeDocument/2006/relationships/image" Target="../media/image166.png"/><Relationship Id="rId49" Type="http://schemas.openxmlformats.org/officeDocument/2006/relationships/hyperlink" Target="https://docs.microsoft.com/azure/firewall/overview" TargetMode="External"/><Relationship Id="rId114" Type="http://schemas.openxmlformats.org/officeDocument/2006/relationships/hyperlink" Target="https://docs.microsoft.com/mem/intune/" TargetMode="External"/><Relationship Id="rId119" Type="http://schemas.openxmlformats.org/officeDocument/2006/relationships/image" Target="../media/image212.png"/><Relationship Id="rId44" Type="http://schemas.openxmlformats.org/officeDocument/2006/relationships/image" Target="../media/image178.png"/><Relationship Id="rId60" Type="http://schemas.openxmlformats.org/officeDocument/2006/relationships/hyperlink" Target="https://docs.microsoft.com/azure/active-directory/active-directory-conditional-access-azure-portal" TargetMode="External"/><Relationship Id="rId65" Type="http://schemas.openxmlformats.org/officeDocument/2006/relationships/hyperlink" Target="https://technet.microsoft.com/itpro/windows/keep-secure/windows-10-security-guide" TargetMode="External"/><Relationship Id="rId81" Type="http://schemas.openxmlformats.org/officeDocument/2006/relationships/image" Target="../media/image198.png"/><Relationship Id="rId86" Type="http://schemas.openxmlformats.org/officeDocument/2006/relationships/hyperlink" Target="https://docs.microsoft.com/microsoft-365/compliance/communication-compliance" TargetMode="External"/><Relationship Id="rId130" Type="http://schemas.openxmlformats.org/officeDocument/2006/relationships/hyperlink" Target="https://aka.ms/LAPS" TargetMode="External"/><Relationship Id="rId135" Type="http://schemas.openxmlformats.org/officeDocument/2006/relationships/hyperlink" Target="https://docs.microsoft.com/azure/active-directory/authentication/multi-factor-authentication" TargetMode="External"/><Relationship Id="rId151" Type="http://schemas.openxmlformats.org/officeDocument/2006/relationships/image" Target="../media/image223.svg"/><Relationship Id="rId13" Type="http://schemas.openxmlformats.org/officeDocument/2006/relationships/image" Target="../media/image157.png"/><Relationship Id="rId18" Type="http://schemas.openxmlformats.org/officeDocument/2006/relationships/hyperlink" Target="https://docs.microsoft.com/azure/information-protection/deploy-use/deploy-aip-scanner" TargetMode="External"/><Relationship Id="rId39" Type="http://schemas.openxmlformats.org/officeDocument/2006/relationships/image" Target="../media/image175.png"/><Relationship Id="rId109" Type="http://schemas.openxmlformats.org/officeDocument/2006/relationships/image" Target="../media/image210.svg"/><Relationship Id="rId34" Type="http://schemas.openxmlformats.org/officeDocument/2006/relationships/image" Target="../media/image171.svg"/><Relationship Id="rId50" Type="http://schemas.openxmlformats.org/officeDocument/2006/relationships/image" Target="../media/image180.svg"/><Relationship Id="rId55" Type="http://schemas.openxmlformats.org/officeDocument/2006/relationships/hyperlink" Target="https://aka.ms/STP" TargetMode="External"/><Relationship Id="rId76" Type="http://schemas.openxmlformats.org/officeDocument/2006/relationships/image" Target="../media/image193.png"/><Relationship Id="rId97" Type="http://schemas.openxmlformats.org/officeDocument/2006/relationships/hyperlink" Target="https://servicetrust.microsoft.com/" TargetMode="External"/><Relationship Id="rId104" Type="http://schemas.openxmlformats.org/officeDocument/2006/relationships/image" Target="../media/image207.png"/><Relationship Id="rId120" Type="http://schemas.openxmlformats.org/officeDocument/2006/relationships/image" Target="../media/image213.emf"/><Relationship Id="rId125" Type="http://schemas.openxmlformats.org/officeDocument/2006/relationships/image" Target="../media/image214.svg"/><Relationship Id="rId141" Type="http://schemas.openxmlformats.org/officeDocument/2006/relationships/image" Target="../media/image218.svg"/><Relationship Id="rId146" Type="http://schemas.openxmlformats.org/officeDocument/2006/relationships/hyperlink" Target="https://www.microsoft.com/security/business/ai-machine-learning/microsoft-security-copilot" TargetMode="External"/><Relationship Id="rId7" Type="http://schemas.openxmlformats.org/officeDocument/2006/relationships/image" Target="../media/image151.png"/><Relationship Id="rId71" Type="http://schemas.openxmlformats.org/officeDocument/2006/relationships/hyperlink" Target="https://docs.microsoft.com/azure/security-center/azure-defender" TargetMode="External"/><Relationship Id="rId92" Type="http://schemas.openxmlformats.org/officeDocument/2006/relationships/hyperlink" Target="https://docs.microsoft.com/azure/lighthouse/overview" TargetMode="External"/><Relationship Id="rId2" Type="http://schemas.openxmlformats.org/officeDocument/2006/relationships/notesSlide" Target="../notesSlides/notesSlide19.xml"/><Relationship Id="rId29" Type="http://schemas.openxmlformats.org/officeDocument/2006/relationships/image" Target="../media/image167.png"/><Relationship Id="rId24" Type="http://schemas.openxmlformats.org/officeDocument/2006/relationships/image" Target="../media/image162.svg"/><Relationship Id="rId40" Type="http://schemas.openxmlformats.org/officeDocument/2006/relationships/hyperlink" Target="https://azure.microsoft.com/en-us/services/security-center/" TargetMode="External"/><Relationship Id="rId45" Type="http://schemas.openxmlformats.org/officeDocument/2006/relationships/hyperlink" Target="https://docs.microsoft.com/azure/application-gateway/application-gateway-web-application-firewall-overview" TargetMode="External"/><Relationship Id="rId66" Type="http://schemas.openxmlformats.org/officeDocument/2006/relationships/image" Target="../media/image189.emf"/><Relationship Id="rId87" Type="http://schemas.openxmlformats.org/officeDocument/2006/relationships/hyperlink" Target="https://docs.microsoft.com/azure/security-center/security-center-intro" TargetMode="External"/><Relationship Id="rId110" Type="http://schemas.openxmlformats.org/officeDocument/2006/relationships/hyperlink" Target="https://docs.microsoft.com/azure/" TargetMode="External"/><Relationship Id="rId115" Type="http://schemas.openxmlformats.org/officeDocument/2006/relationships/hyperlink" Target="https://docs.microsoft.com/mem/configmgr/" TargetMode="External"/><Relationship Id="rId131" Type="http://schemas.openxmlformats.org/officeDocument/2006/relationships/hyperlink" Target="https://docs.microsoft.com/defender-for-identity/what-is" TargetMode="External"/><Relationship Id="rId136" Type="http://schemas.openxmlformats.org/officeDocument/2006/relationships/image" Target="../media/image216.jpeg"/><Relationship Id="rId61" Type="http://schemas.openxmlformats.org/officeDocument/2006/relationships/image" Target="../media/image185.png"/><Relationship Id="rId82" Type="http://schemas.openxmlformats.org/officeDocument/2006/relationships/image" Target="../media/image199.png"/><Relationship Id="rId152" Type="http://schemas.openxmlformats.org/officeDocument/2006/relationships/image" Target="../media/image224.svg"/><Relationship Id="rId19" Type="http://schemas.openxmlformats.org/officeDocument/2006/relationships/hyperlink" Target="https://docs.microsoft.com/en-us/information-protection/get-started/requirements-applications" TargetMode="External"/><Relationship Id="rId14" Type="http://schemas.openxmlformats.org/officeDocument/2006/relationships/hyperlink" Target="https://aka.ms/MCRA" TargetMode="External"/><Relationship Id="rId30" Type="http://schemas.openxmlformats.org/officeDocument/2006/relationships/image" Target="../media/image168.png"/><Relationship Id="rId35" Type="http://schemas.openxmlformats.org/officeDocument/2006/relationships/image" Target="../media/image172.svg"/><Relationship Id="rId56" Type="http://schemas.openxmlformats.org/officeDocument/2006/relationships/hyperlink" Target="https://docs.microsoft.com/azure/private-link/" TargetMode="External"/><Relationship Id="rId77" Type="http://schemas.openxmlformats.org/officeDocument/2006/relationships/image" Target="../media/image194.png"/><Relationship Id="rId100" Type="http://schemas.openxmlformats.org/officeDocument/2006/relationships/image" Target="../media/image204.png"/><Relationship Id="rId105" Type="http://schemas.openxmlformats.org/officeDocument/2006/relationships/image" Target="../media/image208.png"/><Relationship Id="rId126" Type="http://schemas.openxmlformats.org/officeDocument/2006/relationships/hyperlink" Target="https://aka.ms/GHSecurity" TargetMode="External"/><Relationship Id="rId147" Type="http://schemas.openxmlformats.org/officeDocument/2006/relationships/image" Target="../media/image221.png"/><Relationship Id="rId8" Type="http://schemas.openxmlformats.org/officeDocument/2006/relationships/image" Target="../media/image152.png"/><Relationship Id="rId51" Type="http://schemas.openxmlformats.org/officeDocument/2006/relationships/hyperlink" Target="https://docs.microsoft.com/microsoft-365/security/office-365-security/attack-simulator" TargetMode="External"/><Relationship Id="rId72" Type="http://schemas.openxmlformats.org/officeDocument/2006/relationships/hyperlink" Target="https://learn.microsoft.com/azure/defender-for-cloud/defender-for-cloud-introduction" TargetMode="External"/><Relationship Id="rId93" Type="http://schemas.openxmlformats.org/officeDocument/2006/relationships/hyperlink" Target="https://docs.microsoft.com/microsoft-365/compliance/ediscovery" TargetMode="External"/><Relationship Id="rId98" Type="http://schemas.openxmlformats.org/officeDocument/2006/relationships/hyperlink" Target="https://aka.ms/threatintelligence" TargetMode="External"/><Relationship Id="rId121" Type="http://schemas.openxmlformats.org/officeDocument/2006/relationships/hyperlink" Target="https://learn.microsoft.com/microsoft-365/security/office-365-security/mdo-about" TargetMode="External"/><Relationship Id="rId142" Type="http://schemas.openxmlformats.org/officeDocument/2006/relationships/hyperlink" Target="https://docs.microsoft.com/azure/active-directory/authentication/howto-authentication-passwordless-security-key#:~:text=User%20registration%20and%20management%20of%20FIDO2%20security%20keys,method%20and%20choosing%20Security%20key.%20More%20items...%20" TargetMode="External"/><Relationship Id="rId3" Type="http://schemas.openxmlformats.org/officeDocument/2006/relationships/image" Target="../media/image147.png"/><Relationship Id="rId25" Type="http://schemas.openxmlformats.org/officeDocument/2006/relationships/image" Target="../media/image163.svg"/><Relationship Id="rId46" Type="http://schemas.openxmlformats.org/officeDocument/2006/relationships/image" Target="../media/image179.png"/><Relationship Id="rId67" Type="http://schemas.openxmlformats.org/officeDocument/2006/relationships/hyperlink" Target="https://docs.microsoft.com/windows/security/threat-protection/windows-defender-atp/windows-defender-advanced-threat-protection" TargetMode="External"/><Relationship Id="rId116" Type="http://schemas.openxmlformats.org/officeDocument/2006/relationships/hyperlink" Target="https://aka.ms/spa" TargetMode="External"/><Relationship Id="rId137" Type="http://schemas.openxmlformats.org/officeDocument/2006/relationships/hyperlink" Target="https://learn.microsoft.com/entra/identity/authentication/how-to-enable-passkey-fido2" TargetMode="External"/><Relationship Id="rId20" Type="http://schemas.openxmlformats.org/officeDocument/2006/relationships/image" Target="../media/image159.jpeg"/><Relationship Id="rId41" Type="http://schemas.openxmlformats.org/officeDocument/2006/relationships/image" Target="../media/image176.png"/><Relationship Id="rId62" Type="http://schemas.openxmlformats.org/officeDocument/2006/relationships/image" Target="../media/image186.jpeg"/><Relationship Id="rId83" Type="http://schemas.openxmlformats.org/officeDocument/2006/relationships/image" Target="../media/image200.png"/><Relationship Id="rId88" Type="http://schemas.openxmlformats.org/officeDocument/2006/relationships/hyperlink" Target="https://azure.microsoft.com/blog/regulatory-compliance-dashboard-in-azure-security-center-now-available/" TargetMode="External"/><Relationship Id="rId111" Type="http://schemas.openxmlformats.org/officeDocument/2006/relationships/image" Target="../media/image211.png"/><Relationship Id="rId132" Type="http://schemas.openxmlformats.org/officeDocument/2006/relationships/hyperlink" Target="https://docs.microsoft.com/azure/active-directory/active-directory-privileged-identity-management-configure" TargetMode="External"/><Relationship Id="rId15" Type="http://schemas.openxmlformats.org/officeDocument/2006/relationships/image" Target="../media/image158.png"/><Relationship Id="rId36" Type="http://schemas.openxmlformats.org/officeDocument/2006/relationships/image" Target="../media/image173.png"/><Relationship Id="rId57" Type="http://schemas.openxmlformats.org/officeDocument/2006/relationships/image" Target="../media/image182.svg"/><Relationship Id="rId106" Type="http://schemas.openxmlformats.org/officeDocument/2006/relationships/image" Target="../media/image209.png"/><Relationship Id="rId127" Type="http://schemas.openxmlformats.org/officeDocument/2006/relationships/image" Target="../media/image215.jpeg"/><Relationship Id="rId10" Type="http://schemas.openxmlformats.org/officeDocument/2006/relationships/image" Target="../media/image154.png"/><Relationship Id="rId31" Type="http://schemas.openxmlformats.org/officeDocument/2006/relationships/image" Target="../media/image169.png"/><Relationship Id="rId52" Type="http://schemas.openxmlformats.org/officeDocument/2006/relationships/hyperlink" Target="https://docs.microsoft.com/microsoft-365/compliance/insider-risk-management" TargetMode="External"/><Relationship Id="rId73" Type="http://schemas.openxmlformats.org/officeDocument/2006/relationships/image" Target="../media/image190.png"/><Relationship Id="rId78" Type="http://schemas.openxmlformats.org/officeDocument/2006/relationships/image" Target="../media/image195.png"/><Relationship Id="rId94" Type="http://schemas.openxmlformats.org/officeDocument/2006/relationships/hyperlink" Target="https://support.office.com/article/Manage-data-governance-in-Office-365-48064107-fed2-4db0-9e5c-aa5ddd5ccb09" TargetMode="External"/><Relationship Id="rId99" Type="http://schemas.openxmlformats.org/officeDocument/2006/relationships/hyperlink" Target="https://azure.microsoft.com/en-us/services/expressroute/" TargetMode="External"/><Relationship Id="rId101" Type="http://schemas.openxmlformats.org/officeDocument/2006/relationships/hyperlink" Target="https://azure.microsoft.com/marketplace/" TargetMode="External"/><Relationship Id="rId122" Type="http://schemas.openxmlformats.org/officeDocument/2006/relationships/hyperlink" Target="https://go.microsoft.com/fwlink/p/?linkid=2134538" TargetMode="External"/><Relationship Id="rId143" Type="http://schemas.openxmlformats.org/officeDocument/2006/relationships/image" Target="../media/image219.png"/><Relationship Id="rId148" Type="http://schemas.openxmlformats.org/officeDocument/2006/relationships/image" Target="../media/image222.emf"/><Relationship Id="rId4" Type="http://schemas.openxmlformats.org/officeDocument/2006/relationships/image" Target="../media/image148.png"/><Relationship Id="rId9" Type="http://schemas.openxmlformats.org/officeDocument/2006/relationships/image" Target="../media/image153.png"/><Relationship Id="rId26" Type="http://schemas.openxmlformats.org/officeDocument/2006/relationships/image" Target="../media/image164.svg"/><Relationship Id="rId47" Type="http://schemas.openxmlformats.org/officeDocument/2006/relationships/hyperlink" Target="https://docs.microsoft.com/azure/virtual-network/ddos-protection-overview" TargetMode="External"/><Relationship Id="rId68" Type="http://schemas.openxmlformats.org/officeDocument/2006/relationships/hyperlink" Target="https://docs.microsoft.com/microsoft-365/compliance/endpoint-dlp-learn-about" TargetMode="External"/><Relationship Id="rId89" Type="http://schemas.openxmlformats.org/officeDocument/2006/relationships/hyperlink" Target="https://docs.microsoft.com/azure/security-center/secure-score-security-controls" TargetMode="External"/><Relationship Id="rId112" Type="http://schemas.openxmlformats.org/officeDocument/2006/relationships/hyperlink" Target="https://learn.microsoft.com/security-exposure-management/microsoft-security-exposure-management" TargetMode="External"/><Relationship Id="rId133" Type="http://schemas.openxmlformats.org/officeDocument/2006/relationships/hyperlink" Target="https://docs.microsoft.com/azure/active-directory/active-directory-identityprotection" TargetMode="External"/><Relationship Id="rId16" Type="http://schemas.openxmlformats.org/officeDocument/2006/relationships/hyperlink" Target="https://azure.microsoft.com/en-us/marketplace/" TargetMode="External"/><Relationship Id="rId37" Type="http://schemas.openxmlformats.org/officeDocument/2006/relationships/image" Target="../media/image174.png"/><Relationship Id="rId58" Type="http://schemas.openxmlformats.org/officeDocument/2006/relationships/image" Target="../media/image183.svg"/><Relationship Id="rId79" Type="http://schemas.openxmlformats.org/officeDocument/2006/relationships/image" Target="../media/image196.jpeg"/><Relationship Id="rId102" Type="http://schemas.openxmlformats.org/officeDocument/2006/relationships/image" Target="../media/image205.png"/><Relationship Id="rId123" Type="http://schemas.openxmlformats.org/officeDocument/2006/relationships/hyperlink" Target="https://aka.ms/PAW" TargetMode="External"/><Relationship Id="rId144" Type="http://schemas.openxmlformats.org/officeDocument/2006/relationships/hyperlink" Target="https://learn.microsoft.com/entra/verified-id/plan-verification-solution" TargetMode="External"/><Relationship Id="rId90" Type="http://schemas.openxmlformats.org/officeDocument/2006/relationships/image" Target="../media/image20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418794-1FB9-0F29-5305-FE6676F0E37C}"/>
              </a:ext>
            </a:extLst>
          </p:cNvPr>
          <p:cNvSpPr>
            <a:spLocks noGrp="1"/>
          </p:cNvSpPr>
          <p:nvPr>
            <p:ph type="title"/>
          </p:nvPr>
        </p:nvSpPr>
        <p:spPr>
          <a:xfrm>
            <a:off x="588263" y="2425541"/>
            <a:ext cx="4167887" cy="1107996"/>
          </a:xfrm>
        </p:spPr>
        <p:txBody>
          <a:bodyPr/>
          <a:lstStyle/>
          <a:p>
            <a:r>
              <a:rPr lang="en-US" sz="3600">
                <a:latin typeface="+mn-lt"/>
                <a:cs typeface="Segoe Sans Display"/>
              </a:rPr>
              <a:t>Microsoft Zero Trust </a:t>
            </a:r>
            <a:r>
              <a:rPr lang="en-US" altLang="zh-CN" sz="3600">
                <a:latin typeface="+mn-lt"/>
                <a:cs typeface="Segoe Sans Display"/>
              </a:rPr>
              <a:t>Workshop</a:t>
            </a:r>
            <a:r>
              <a:rPr lang="en-US" sz="3600">
                <a:latin typeface="+mn-lt"/>
                <a:cs typeface="Segoe Sans Display"/>
              </a:rPr>
              <a:t> </a:t>
            </a:r>
          </a:p>
        </p:txBody>
      </p:sp>
    </p:spTree>
    <p:extLst>
      <p:ext uri="{BB962C8B-B14F-4D97-AF65-F5344CB8AC3E}">
        <p14:creationId xmlns:p14="http://schemas.microsoft.com/office/powerpoint/2010/main" val="136271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AF748-72D5-FE5E-D75F-AA2A8A828A1E}"/>
              </a:ext>
            </a:extLst>
          </p:cNvPr>
          <p:cNvSpPr>
            <a:spLocks noGrp="1"/>
          </p:cNvSpPr>
          <p:nvPr>
            <p:ph type="title"/>
          </p:nvPr>
        </p:nvSpPr>
        <p:spPr>
          <a:xfrm>
            <a:off x="588263" y="2917984"/>
            <a:ext cx="4898137" cy="615553"/>
          </a:xfrm>
        </p:spPr>
        <p:txBody>
          <a:bodyPr/>
          <a:lstStyle/>
          <a:p>
            <a:r>
              <a:rPr lang="en-US">
                <a:latin typeface="+mn-lt"/>
              </a:rPr>
              <a:t>Why Zero Trust?</a:t>
            </a:r>
          </a:p>
        </p:txBody>
      </p:sp>
    </p:spTree>
    <p:extLst>
      <p:ext uri="{BB962C8B-B14F-4D97-AF65-F5344CB8AC3E}">
        <p14:creationId xmlns:p14="http://schemas.microsoft.com/office/powerpoint/2010/main" val="316255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A554D132-CBEE-25A8-3590-A3515C862E94}"/>
              </a:ext>
            </a:extLst>
          </p:cNvPr>
          <p:cNvSpPr txBox="1">
            <a:spLocks noGrp="1" noRot="1" noMove="1" noResize="1" noEditPoints="1" noAdjustHandles="1" noChangeArrowheads="1" noChangeShapeType="1"/>
          </p:cNvSpPr>
          <p:nvPr/>
        </p:nvSpPr>
        <p:spPr>
          <a:xfrm>
            <a:off x="588263" y="260433"/>
            <a:ext cx="11018520" cy="553998"/>
          </a:xfrm>
          <a:prstGeom prst="rect">
            <a:avLst/>
          </a:prstGeom>
        </p:spPr>
        <p:txBody>
          <a:bodyPr vert="horz" wrap="square" lIns="0" tIns="0" rIns="0" bIns="0" rtlCol="0" anchor="t">
            <a:spAutoFit/>
          </a:bodyPr>
          <a:lstStyle>
            <a:lvl1pPr marL="0" algn="ctr" defTabSz="932742" rtl="0" eaLnBrk="1" latinLnBrk="0" hangingPunct="1">
              <a:lnSpc>
                <a:spcPct val="100000"/>
              </a:lnSpc>
              <a:spcBef>
                <a:spcPct val="0"/>
              </a:spcBef>
              <a:buNone/>
              <a:defRPr lang="en-US" sz="3600" b="0" kern="1200" cap="none" spc="-50" baseline="0" dirty="0">
                <a:ln w="3175">
                  <a:noFill/>
                </a:ln>
                <a:solidFill>
                  <a:srgbClr val="183D4C"/>
                </a:solidFill>
                <a:effectLst/>
                <a:latin typeface="+mn-lt"/>
                <a:ea typeface="+mn-ea"/>
                <a:cs typeface="Segoe Sans Display Semibold" pitchFamily="2"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3600" b="0" i="0" u="none" strike="noStrike" kern="1200" cap="none" spc="-50" normalizeH="0" baseline="0" noProof="0">
              <a:ln w="3175">
                <a:noFill/>
              </a:ln>
              <a:solidFill>
                <a:srgbClr val="183D4C"/>
              </a:solidFill>
              <a:effectLst/>
              <a:uLnTx/>
              <a:uFillTx/>
              <a:latin typeface="Segoe Sans Display"/>
              <a:ea typeface="+mn-ea"/>
              <a:cs typeface="Segoe Sans Display Semibold" pitchFamily="2" charset="0"/>
            </a:endParaRPr>
          </a:p>
        </p:txBody>
      </p:sp>
      <p:sp>
        <p:nvSpPr>
          <p:cNvPr id="5" name="TextBox 4">
            <a:extLst>
              <a:ext uri="{FF2B5EF4-FFF2-40B4-BE49-F238E27FC236}">
                <a16:creationId xmlns:a16="http://schemas.microsoft.com/office/drawing/2014/main" id="{A73E0386-5438-233A-F362-C8239714267E}"/>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p:nvSpPr>
        <p:spPr>
          <a:xfrm>
            <a:off x="4277839" y="3321804"/>
            <a:ext cx="444155" cy="496418"/>
          </a:xfrm>
          <a:prstGeom prst="rect">
            <a:avLst/>
          </a:prstGeom>
          <a:noFill/>
        </p:spPr>
        <p:txBody>
          <a:bodyPr wrap="square">
            <a:sp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r>
              <a:rPr kumimoji="0" lang="en-US" sz="2626" b="0" i="0" u="none" strike="noStrike" kern="0" cap="none" spc="0" normalizeH="0" baseline="0" noProof="0">
                <a:ln>
                  <a:noFill/>
                </a:ln>
                <a:solidFill>
                  <a:srgbClr val="000000"/>
                </a:solidFill>
                <a:effectLst/>
                <a:uLnTx/>
                <a:uFillTx/>
                <a:latin typeface="Segoe UI Variable Display Semib" pitchFamily="2" charset="0"/>
                <a:ea typeface="+mn-ea"/>
                <a:cs typeface="Segoe UI" panose="020B0502040204020203" pitchFamily="34" charset="0"/>
              </a:rPr>
              <a:t>+</a:t>
            </a:r>
          </a:p>
        </p:txBody>
      </p:sp>
      <p:sp>
        <p:nvSpPr>
          <p:cNvPr id="6" name="TextBox 5">
            <a:extLst>
              <a:ext uri="{FF2B5EF4-FFF2-40B4-BE49-F238E27FC236}">
                <a16:creationId xmlns:a16="http://schemas.microsoft.com/office/drawing/2014/main" id="{DFBF327D-384E-495F-F0F1-1B0A16B1E025}"/>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p:nvSpPr>
        <p:spPr>
          <a:xfrm>
            <a:off x="7471376" y="3321804"/>
            <a:ext cx="444155" cy="496418"/>
          </a:xfrm>
          <a:prstGeom prst="rect">
            <a:avLst/>
          </a:prstGeom>
          <a:noFill/>
        </p:spPr>
        <p:txBody>
          <a:bodyPr wrap="square" anchor="ctr">
            <a:sp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r>
              <a:rPr kumimoji="0" lang="en-US" sz="2626" b="0" i="0" u="none" strike="noStrike" kern="0" cap="none" spc="0" normalizeH="0" baseline="0" noProof="0">
                <a:ln>
                  <a:noFill/>
                </a:ln>
                <a:solidFill>
                  <a:srgbClr val="000000"/>
                </a:solidFill>
                <a:effectLst/>
                <a:uLnTx/>
                <a:uFillTx/>
                <a:latin typeface="Segoe UI Variable Display Semib" pitchFamily="2" charset="0"/>
                <a:ea typeface="+mn-ea"/>
                <a:cs typeface="Segoe UI" panose="020B0502040204020203" pitchFamily="34" charset="0"/>
              </a:rPr>
              <a:t>+</a:t>
            </a:r>
          </a:p>
        </p:txBody>
      </p:sp>
      <p:sp>
        <p:nvSpPr>
          <p:cNvPr id="18" name="Agents">
            <a:extLst>
              <a:ext uri="{FF2B5EF4-FFF2-40B4-BE49-F238E27FC236}">
                <a16:creationId xmlns:a16="http://schemas.microsoft.com/office/drawing/2014/main" id="{82DBDD01-8F13-314E-552F-17A98DDE9F7F}"/>
              </a:ext>
              <a:ext uri="{C183D7F6-B498-43B3-948B-1728B52AA6E4}">
                <adec:decorative xmlns:adec="http://schemas.microsoft.com/office/drawing/2017/decorative" val="0"/>
              </a:ext>
            </a:extLst>
          </p:cNvPr>
          <p:cNvSpPr txBox="1">
            <a:spLocks noGrp="1" noRot="1" noMove="1" noResize="1" noEditPoints="1" noAdjustHandles="1" noChangeArrowheads="1" noChangeShapeType="1"/>
          </p:cNvSpPr>
          <p:nvPr/>
        </p:nvSpPr>
        <p:spPr>
          <a:xfrm>
            <a:off x="1371528" y="2731485"/>
            <a:ext cx="3064609" cy="1714832"/>
          </a:xfrm>
          <a:custGeom>
            <a:avLst/>
            <a:gdLst>
              <a:gd name="connsiteX0" fmla="*/ 181935 w 3301575"/>
              <a:gd name="connsiteY0" fmla="*/ 0 h 1847428"/>
              <a:gd name="connsiteX1" fmla="*/ 3119640 w 3301575"/>
              <a:gd name="connsiteY1" fmla="*/ 0 h 1847428"/>
              <a:gd name="connsiteX2" fmla="*/ 3301575 w 3301575"/>
              <a:gd name="connsiteY2" fmla="*/ 181935 h 1847428"/>
              <a:gd name="connsiteX3" fmla="*/ 3301575 w 3301575"/>
              <a:gd name="connsiteY3" fmla="*/ 700647 h 1847428"/>
              <a:gd name="connsiteX4" fmla="*/ 3266224 w 3301575"/>
              <a:gd name="connsiteY4" fmla="*/ 711620 h 1847428"/>
              <a:gd name="connsiteX5" fmla="*/ 3125638 w 3301575"/>
              <a:gd name="connsiteY5" fmla="*/ 923715 h 1847428"/>
              <a:gd name="connsiteX6" fmla="*/ 3266224 w 3301575"/>
              <a:gd name="connsiteY6" fmla="*/ 1135810 h 1847428"/>
              <a:gd name="connsiteX7" fmla="*/ 3301575 w 3301575"/>
              <a:gd name="connsiteY7" fmla="*/ 1146784 h 1847428"/>
              <a:gd name="connsiteX8" fmla="*/ 3301575 w 3301575"/>
              <a:gd name="connsiteY8" fmla="*/ 1665493 h 1847428"/>
              <a:gd name="connsiteX9" fmla="*/ 3119640 w 3301575"/>
              <a:gd name="connsiteY9" fmla="*/ 1847428 h 1847428"/>
              <a:gd name="connsiteX10" fmla="*/ 181935 w 3301575"/>
              <a:gd name="connsiteY10" fmla="*/ 1847428 h 1847428"/>
              <a:gd name="connsiteX11" fmla="*/ 0 w 3301575"/>
              <a:gd name="connsiteY11" fmla="*/ 1665493 h 1847428"/>
              <a:gd name="connsiteX12" fmla="*/ 0 w 3301575"/>
              <a:gd name="connsiteY12" fmla="*/ 181935 h 1847428"/>
              <a:gd name="connsiteX13" fmla="*/ 181935 w 3301575"/>
              <a:gd name="connsiteY13" fmla="*/ 0 h 184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1575" h="1847428">
                <a:moveTo>
                  <a:pt x="181935" y="0"/>
                </a:moveTo>
                <a:lnTo>
                  <a:pt x="3119640" y="0"/>
                </a:lnTo>
                <a:cubicBezTo>
                  <a:pt x="3220120" y="0"/>
                  <a:pt x="3301575" y="81455"/>
                  <a:pt x="3301575" y="181935"/>
                </a:cubicBezTo>
                <a:lnTo>
                  <a:pt x="3301575" y="700647"/>
                </a:lnTo>
                <a:lnTo>
                  <a:pt x="3266224" y="711620"/>
                </a:lnTo>
                <a:cubicBezTo>
                  <a:pt x="3183608" y="746564"/>
                  <a:pt x="3125638" y="828370"/>
                  <a:pt x="3125638" y="923715"/>
                </a:cubicBezTo>
                <a:cubicBezTo>
                  <a:pt x="3125638" y="1019060"/>
                  <a:pt x="3183608" y="1100866"/>
                  <a:pt x="3266224" y="1135810"/>
                </a:cubicBezTo>
                <a:lnTo>
                  <a:pt x="3301575" y="1146784"/>
                </a:lnTo>
                <a:lnTo>
                  <a:pt x="3301575" y="1665493"/>
                </a:lnTo>
                <a:cubicBezTo>
                  <a:pt x="3301575" y="1765973"/>
                  <a:pt x="3220120" y="1847428"/>
                  <a:pt x="3119640" y="1847428"/>
                </a:cubicBezTo>
                <a:lnTo>
                  <a:pt x="181935" y="1847428"/>
                </a:lnTo>
                <a:cubicBezTo>
                  <a:pt x="81455" y="1847428"/>
                  <a:pt x="0" y="1765973"/>
                  <a:pt x="0" y="1665493"/>
                </a:cubicBezTo>
                <a:lnTo>
                  <a:pt x="0" y="181935"/>
                </a:lnTo>
                <a:cubicBezTo>
                  <a:pt x="0" y="81455"/>
                  <a:pt x="81455" y="0"/>
                  <a:pt x="181935" y="0"/>
                </a:cubicBezTo>
                <a:close/>
              </a:path>
            </a:pathLst>
          </a:cu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marR="0" lvl="0" indent="0" defTabSz="932472" fontAlgn="base">
              <a:lnSpc>
                <a:spcPct val="100000"/>
              </a:lnSpc>
              <a:spcBef>
                <a:spcPct val="0"/>
              </a:spcBef>
              <a:spcAft>
                <a:spcPct val="0"/>
              </a:spcAft>
              <a:buClrTx/>
              <a:buSzTx/>
              <a:buFontTx/>
              <a:buNone/>
              <a:tabLst/>
              <a:defRPr kumimoji="0" sz="2400" b="0" i="0" u="none" strike="noStrike" cap="none" spc="0" normalizeH="0" baseline="0">
                <a:ln>
                  <a:noFill/>
                </a:ln>
                <a:solidFill>
                  <a:srgbClr val="091F2C"/>
                </a:solidFill>
                <a:effectLst/>
                <a:uLnTx/>
                <a:uFillTx/>
                <a:latin typeface="Arial"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br>
              <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rPr>
            </a:br>
            <a:r>
              <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rPr>
              <a:t>Human ambition</a:t>
            </a:r>
          </a:p>
        </p:txBody>
      </p:sp>
      <p:sp>
        <p:nvSpPr>
          <p:cNvPr id="19" name="Human ambition">
            <a:extLst>
              <a:ext uri="{FF2B5EF4-FFF2-40B4-BE49-F238E27FC236}">
                <a16:creationId xmlns:a16="http://schemas.microsoft.com/office/drawing/2014/main" id="{FD7F74F3-7D7A-6901-4251-192DBFEB3044}"/>
              </a:ext>
            </a:extLst>
          </p:cNvPr>
          <p:cNvSpPr txBox="1">
            <a:spLocks noGrp="1" noRot="1" noMove="1" noResize="1" noEditPoints="1" noAdjustHandles="1" noChangeArrowheads="1" noChangeShapeType="1"/>
          </p:cNvSpPr>
          <p:nvPr/>
        </p:nvSpPr>
        <p:spPr>
          <a:xfrm>
            <a:off x="7755864" y="2731485"/>
            <a:ext cx="3064609" cy="1714832"/>
          </a:xfrm>
          <a:custGeom>
            <a:avLst/>
            <a:gdLst>
              <a:gd name="connsiteX0" fmla="*/ 181935 w 3301575"/>
              <a:gd name="connsiteY0" fmla="*/ 0 h 1847428"/>
              <a:gd name="connsiteX1" fmla="*/ 3119640 w 3301575"/>
              <a:gd name="connsiteY1" fmla="*/ 0 h 1847428"/>
              <a:gd name="connsiteX2" fmla="*/ 3301575 w 3301575"/>
              <a:gd name="connsiteY2" fmla="*/ 181935 h 1847428"/>
              <a:gd name="connsiteX3" fmla="*/ 3301575 w 3301575"/>
              <a:gd name="connsiteY3" fmla="*/ 1665493 h 1847428"/>
              <a:gd name="connsiteX4" fmla="*/ 3119640 w 3301575"/>
              <a:gd name="connsiteY4" fmla="*/ 1847428 h 1847428"/>
              <a:gd name="connsiteX5" fmla="*/ 181935 w 3301575"/>
              <a:gd name="connsiteY5" fmla="*/ 1847428 h 1847428"/>
              <a:gd name="connsiteX6" fmla="*/ 0 w 3301575"/>
              <a:gd name="connsiteY6" fmla="*/ 1665493 h 1847428"/>
              <a:gd name="connsiteX7" fmla="*/ 0 w 3301575"/>
              <a:gd name="connsiteY7" fmla="*/ 1146205 h 1847428"/>
              <a:gd name="connsiteX8" fmla="*/ 33487 w 3301575"/>
              <a:gd name="connsiteY8" fmla="*/ 1135810 h 1847428"/>
              <a:gd name="connsiteX9" fmla="*/ 174073 w 3301575"/>
              <a:gd name="connsiteY9" fmla="*/ 923715 h 1847428"/>
              <a:gd name="connsiteX10" fmla="*/ 33487 w 3301575"/>
              <a:gd name="connsiteY10" fmla="*/ 711620 h 1847428"/>
              <a:gd name="connsiteX11" fmla="*/ 0 w 3301575"/>
              <a:gd name="connsiteY11" fmla="*/ 701225 h 1847428"/>
              <a:gd name="connsiteX12" fmla="*/ 0 w 3301575"/>
              <a:gd name="connsiteY12" fmla="*/ 181935 h 1847428"/>
              <a:gd name="connsiteX13" fmla="*/ 181935 w 3301575"/>
              <a:gd name="connsiteY13" fmla="*/ 0 h 184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1575" h="1847428">
                <a:moveTo>
                  <a:pt x="181935" y="0"/>
                </a:moveTo>
                <a:lnTo>
                  <a:pt x="3119640" y="0"/>
                </a:lnTo>
                <a:cubicBezTo>
                  <a:pt x="3220120" y="0"/>
                  <a:pt x="3301575" y="81455"/>
                  <a:pt x="3301575" y="181935"/>
                </a:cubicBezTo>
                <a:lnTo>
                  <a:pt x="3301575" y="1665493"/>
                </a:lnTo>
                <a:cubicBezTo>
                  <a:pt x="3301575" y="1765973"/>
                  <a:pt x="3220120" y="1847428"/>
                  <a:pt x="3119640" y="1847428"/>
                </a:cubicBezTo>
                <a:lnTo>
                  <a:pt x="181935" y="1847428"/>
                </a:lnTo>
                <a:cubicBezTo>
                  <a:pt x="81455" y="1847428"/>
                  <a:pt x="0" y="1765973"/>
                  <a:pt x="0" y="1665493"/>
                </a:cubicBezTo>
                <a:lnTo>
                  <a:pt x="0" y="1146205"/>
                </a:lnTo>
                <a:lnTo>
                  <a:pt x="33487" y="1135810"/>
                </a:lnTo>
                <a:cubicBezTo>
                  <a:pt x="116104" y="1100866"/>
                  <a:pt x="174073" y="1019060"/>
                  <a:pt x="174073" y="923715"/>
                </a:cubicBezTo>
                <a:cubicBezTo>
                  <a:pt x="174073" y="828370"/>
                  <a:pt x="116104" y="746564"/>
                  <a:pt x="33487" y="711620"/>
                </a:cubicBezTo>
                <a:lnTo>
                  <a:pt x="0" y="701225"/>
                </a:lnTo>
                <a:lnTo>
                  <a:pt x="0" y="181935"/>
                </a:lnTo>
                <a:cubicBezTo>
                  <a:pt x="0" y="81455"/>
                  <a:pt x="81455" y="0"/>
                  <a:pt x="181935" y="0"/>
                </a:cubicBezTo>
                <a:close/>
              </a:path>
            </a:pathLst>
          </a:cu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marR="0" lvl="0" indent="0" defTabSz="932472" fontAlgn="base">
              <a:lnSpc>
                <a:spcPct val="100000"/>
              </a:lnSpc>
              <a:spcBef>
                <a:spcPct val="0"/>
              </a:spcBef>
              <a:spcAft>
                <a:spcPct val="0"/>
              </a:spcAft>
              <a:buClrTx/>
              <a:buSzTx/>
              <a:buFontTx/>
              <a:buNone/>
              <a:tabLst/>
              <a:defRPr kumimoji="0" sz="2400" b="0" i="0" u="none" strike="noStrike" cap="none" spc="0" normalizeH="0" baseline="0">
                <a:ln>
                  <a:noFill/>
                </a:ln>
                <a:solidFill>
                  <a:srgbClr val="091F2C"/>
                </a:solidFill>
                <a:effectLst/>
                <a:uLnTx/>
                <a:uFillTx/>
                <a:latin typeface="Arial"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br>
              <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rPr>
            </a:br>
            <a:r>
              <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rPr>
              <a:t>Agent ecosystem</a:t>
            </a:r>
          </a:p>
        </p:txBody>
      </p:sp>
      <p:sp>
        <p:nvSpPr>
          <p:cNvPr id="20" name="Copilot">
            <a:extLst>
              <a:ext uri="{FF2B5EF4-FFF2-40B4-BE49-F238E27FC236}">
                <a16:creationId xmlns:a16="http://schemas.microsoft.com/office/drawing/2014/main" id="{B197E124-F29D-D058-E6AA-28387BF124DD}"/>
              </a:ext>
              <a:ext uri="{C183D7F6-B498-43B3-948B-1728B52AA6E4}">
                <adec:decorative xmlns:adec="http://schemas.microsoft.com/office/drawing/2017/decorative" val="0"/>
              </a:ext>
            </a:extLst>
          </p:cNvPr>
          <p:cNvSpPr txBox="1">
            <a:spLocks noGrp="1" noRot="1" noMove="1" noResize="1" noEditPoints="1" noAdjustHandles="1" noChangeArrowheads="1" noChangeShapeType="1"/>
          </p:cNvSpPr>
          <p:nvPr/>
        </p:nvSpPr>
        <p:spPr>
          <a:xfrm>
            <a:off x="4563696" y="2731485"/>
            <a:ext cx="3064609" cy="1714832"/>
          </a:xfrm>
          <a:custGeom>
            <a:avLst/>
            <a:gdLst>
              <a:gd name="connsiteX0" fmla="*/ 181935 w 3301575"/>
              <a:gd name="connsiteY0" fmla="*/ 0 h 1847428"/>
              <a:gd name="connsiteX1" fmla="*/ 3119640 w 3301575"/>
              <a:gd name="connsiteY1" fmla="*/ 0 h 1847428"/>
              <a:gd name="connsiteX2" fmla="*/ 3301575 w 3301575"/>
              <a:gd name="connsiteY2" fmla="*/ 181935 h 1847428"/>
              <a:gd name="connsiteX3" fmla="*/ 3301575 w 3301575"/>
              <a:gd name="connsiteY3" fmla="*/ 701226 h 1847428"/>
              <a:gd name="connsiteX4" fmla="*/ 3268091 w 3301575"/>
              <a:gd name="connsiteY4" fmla="*/ 711620 h 1847428"/>
              <a:gd name="connsiteX5" fmla="*/ 3127505 w 3301575"/>
              <a:gd name="connsiteY5" fmla="*/ 923715 h 1847428"/>
              <a:gd name="connsiteX6" fmla="*/ 3268091 w 3301575"/>
              <a:gd name="connsiteY6" fmla="*/ 1135810 h 1847428"/>
              <a:gd name="connsiteX7" fmla="*/ 3301575 w 3301575"/>
              <a:gd name="connsiteY7" fmla="*/ 1146204 h 1847428"/>
              <a:gd name="connsiteX8" fmla="*/ 3301575 w 3301575"/>
              <a:gd name="connsiteY8" fmla="*/ 1665493 h 1847428"/>
              <a:gd name="connsiteX9" fmla="*/ 3119640 w 3301575"/>
              <a:gd name="connsiteY9" fmla="*/ 1847428 h 1847428"/>
              <a:gd name="connsiteX10" fmla="*/ 181935 w 3301575"/>
              <a:gd name="connsiteY10" fmla="*/ 1847428 h 1847428"/>
              <a:gd name="connsiteX11" fmla="*/ 0 w 3301575"/>
              <a:gd name="connsiteY11" fmla="*/ 1665493 h 1847428"/>
              <a:gd name="connsiteX12" fmla="*/ 0 w 3301575"/>
              <a:gd name="connsiteY12" fmla="*/ 1145625 h 1847428"/>
              <a:gd name="connsiteX13" fmla="*/ 31620 w 3301575"/>
              <a:gd name="connsiteY13" fmla="*/ 1135810 h 1847428"/>
              <a:gd name="connsiteX14" fmla="*/ 172206 w 3301575"/>
              <a:gd name="connsiteY14" fmla="*/ 923715 h 1847428"/>
              <a:gd name="connsiteX15" fmla="*/ 31620 w 3301575"/>
              <a:gd name="connsiteY15" fmla="*/ 711620 h 1847428"/>
              <a:gd name="connsiteX16" fmla="*/ 0 w 3301575"/>
              <a:gd name="connsiteY16" fmla="*/ 701805 h 1847428"/>
              <a:gd name="connsiteX17" fmla="*/ 0 w 3301575"/>
              <a:gd name="connsiteY17" fmla="*/ 181935 h 1847428"/>
              <a:gd name="connsiteX18" fmla="*/ 181935 w 3301575"/>
              <a:gd name="connsiteY18" fmla="*/ 0 h 184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01575" h="1847428">
                <a:moveTo>
                  <a:pt x="181935" y="0"/>
                </a:moveTo>
                <a:lnTo>
                  <a:pt x="3119640" y="0"/>
                </a:lnTo>
                <a:cubicBezTo>
                  <a:pt x="3220120" y="0"/>
                  <a:pt x="3301575" y="81455"/>
                  <a:pt x="3301575" y="181935"/>
                </a:cubicBezTo>
                <a:lnTo>
                  <a:pt x="3301575" y="701226"/>
                </a:lnTo>
                <a:lnTo>
                  <a:pt x="3268091" y="711620"/>
                </a:lnTo>
                <a:cubicBezTo>
                  <a:pt x="3185475" y="746564"/>
                  <a:pt x="3127505" y="828370"/>
                  <a:pt x="3127505" y="923715"/>
                </a:cubicBezTo>
                <a:cubicBezTo>
                  <a:pt x="3127505" y="1019060"/>
                  <a:pt x="3185475" y="1100866"/>
                  <a:pt x="3268091" y="1135810"/>
                </a:cubicBezTo>
                <a:lnTo>
                  <a:pt x="3301575" y="1146204"/>
                </a:lnTo>
                <a:lnTo>
                  <a:pt x="3301575" y="1665493"/>
                </a:lnTo>
                <a:cubicBezTo>
                  <a:pt x="3301575" y="1765973"/>
                  <a:pt x="3220120" y="1847428"/>
                  <a:pt x="3119640" y="1847428"/>
                </a:cubicBezTo>
                <a:lnTo>
                  <a:pt x="181935" y="1847428"/>
                </a:lnTo>
                <a:cubicBezTo>
                  <a:pt x="81455" y="1847428"/>
                  <a:pt x="0" y="1765973"/>
                  <a:pt x="0" y="1665493"/>
                </a:cubicBezTo>
                <a:lnTo>
                  <a:pt x="0" y="1145625"/>
                </a:lnTo>
                <a:lnTo>
                  <a:pt x="31620" y="1135810"/>
                </a:lnTo>
                <a:cubicBezTo>
                  <a:pt x="114237" y="1100866"/>
                  <a:pt x="172206" y="1019060"/>
                  <a:pt x="172206" y="923715"/>
                </a:cubicBezTo>
                <a:cubicBezTo>
                  <a:pt x="172206" y="828370"/>
                  <a:pt x="114237" y="746564"/>
                  <a:pt x="31620" y="711620"/>
                </a:cubicBezTo>
                <a:lnTo>
                  <a:pt x="0" y="701805"/>
                </a:lnTo>
                <a:lnTo>
                  <a:pt x="0" y="181935"/>
                </a:lnTo>
                <a:cubicBezTo>
                  <a:pt x="0" y="81455"/>
                  <a:pt x="81455" y="0"/>
                  <a:pt x="181935" y="0"/>
                </a:cubicBezTo>
                <a:close/>
              </a:path>
            </a:pathLst>
          </a:cu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marR="0" lvl="0" indent="0" defTabSz="932472" fontAlgn="base">
              <a:lnSpc>
                <a:spcPct val="100000"/>
              </a:lnSpc>
              <a:spcBef>
                <a:spcPct val="0"/>
              </a:spcBef>
              <a:spcAft>
                <a:spcPct val="0"/>
              </a:spcAft>
              <a:buClrTx/>
              <a:buSzTx/>
              <a:buFontTx/>
              <a:buNone/>
              <a:tabLst/>
              <a:defRPr kumimoji="0" sz="2400" b="0" i="0" u="none" strike="noStrike" cap="none" spc="0" normalizeH="0" baseline="0">
                <a:ln>
                  <a:noFill/>
                </a:ln>
                <a:solidFill>
                  <a:srgbClr val="091F2C"/>
                </a:solidFill>
                <a:effectLst/>
                <a:uLnTx/>
                <a:uFillTx/>
                <a:latin typeface="Arial"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br>
              <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rPr>
            </a:br>
            <a:r>
              <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rPr>
              <a:t>Copilot</a:t>
            </a:r>
          </a:p>
        </p:txBody>
      </p:sp>
      <p:pic>
        <p:nvPicPr>
          <p:cNvPr id="21" name="Copilot logo">
            <a:extLst>
              <a:ext uri="{FF2B5EF4-FFF2-40B4-BE49-F238E27FC236}">
                <a16:creationId xmlns:a16="http://schemas.microsoft.com/office/drawing/2014/main" id="{1F132EE3-BC4C-A975-B6C3-3C813A2F382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bwMode="auto">
          <a:xfrm>
            <a:off x="5766068" y="2928406"/>
            <a:ext cx="659865" cy="659865"/>
          </a:xfrm>
          <a:prstGeom prst="rect">
            <a:avLst/>
          </a:prstGeom>
          <a:effectLst/>
          <a:extLst>
            <a:ext uri="{909E8E84-426E-40DD-AFC4-6F175D3DCCD1}">
              <a14:hiddenFill xmlns:a14="http://schemas.microsoft.com/office/drawing/2010/main">
                <a:solidFill>
                  <a:srgbClr val="FFFFFF"/>
                </a:solidFill>
              </a14:hiddenFill>
            </a:ext>
          </a:extLst>
        </p:spPr>
      </p:pic>
      <p:sp>
        <p:nvSpPr>
          <p:cNvPr id="4" name="Graphic 20">
            <a:extLst>
              <a:ext uri="{FF2B5EF4-FFF2-40B4-BE49-F238E27FC236}">
                <a16:creationId xmlns:a16="http://schemas.microsoft.com/office/drawing/2014/main" id="{276D1ED5-CA9C-818C-4C7B-C78EE0BA2D4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2664776" y="2988406"/>
            <a:ext cx="495948" cy="539865"/>
          </a:xfrm>
          <a:custGeom>
            <a:avLst/>
            <a:gdLst>
              <a:gd name="connsiteX0" fmla="*/ 125782 w 280336"/>
              <a:gd name="connsiteY0" fmla="*/ 0 h 305160"/>
              <a:gd name="connsiteX1" fmla="*/ 53907 w 280336"/>
              <a:gd name="connsiteY1" fmla="*/ 71876 h 305160"/>
              <a:gd name="connsiteX2" fmla="*/ 125782 w 280336"/>
              <a:gd name="connsiteY2" fmla="*/ 143751 h 305160"/>
              <a:gd name="connsiteX3" fmla="*/ 197658 w 280336"/>
              <a:gd name="connsiteY3" fmla="*/ 71876 h 305160"/>
              <a:gd name="connsiteX4" fmla="*/ 125782 w 280336"/>
              <a:gd name="connsiteY4" fmla="*/ 0 h 305160"/>
              <a:gd name="connsiteX5" fmla="*/ 36095 w 280336"/>
              <a:gd name="connsiteY5" fmla="*/ 161720 h 305160"/>
              <a:gd name="connsiteX6" fmla="*/ 0 w 280336"/>
              <a:gd name="connsiteY6" fmla="*/ 197658 h 305160"/>
              <a:gd name="connsiteX7" fmla="*/ 38363 w 280336"/>
              <a:gd name="connsiteY7" fmla="*/ 265879 h 305160"/>
              <a:gd name="connsiteX8" fmla="*/ 125782 w 280336"/>
              <a:gd name="connsiteY8" fmla="*/ 287502 h 305160"/>
              <a:gd name="connsiteX9" fmla="*/ 157255 w 280336"/>
              <a:gd name="connsiteY9" fmla="*/ 285292 h 305160"/>
              <a:gd name="connsiteX10" fmla="*/ 161195 w 280336"/>
              <a:gd name="connsiteY10" fmla="*/ 269534 h 305160"/>
              <a:gd name="connsiteX11" fmla="*/ 152764 w 280336"/>
              <a:gd name="connsiteY11" fmla="*/ 269534 h 305160"/>
              <a:gd name="connsiteX12" fmla="*/ 127883 w 280336"/>
              <a:gd name="connsiteY12" fmla="*/ 232214 h 305160"/>
              <a:gd name="connsiteX13" fmla="*/ 157257 w 280336"/>
              <a:gd name="connsiteY13" fmla="*/ 161720 h 305160"/>
              <a:gd name="connsiteX14" fmla="*/ 36095 w 280336"/>
              <a:gd name="connsiteY14" fmla="*/ 161720 h 305160"/>
              <a:gd name="connsiteX15" fmla="*/ 172719 w 280336"/>
              <a:gd name="connsiteY15" fmla="*/ 251565 h 305160"/>
              <a:gd name="connsiteX16" fmla="*/ 181436 w 280336"/>
              <a:gd name="connsiteY16" fmla="*/ 262729 h 305160"/>
              <a:gd name="connsiteX17" fmla="*/ 173628 w 280336"/>
              <a:gd name="connsiteY17" fmla="*/ 293957 h 305160"/>
              <a:gd name="connsiteX18" fmla="*/ 188474 w 280336"/>
              <a:gd name="connsiteY18" fmla="*/ 302704 h 305160"/>
              <a:gd name="connsiteX19" fmla="*/ 276027 w 280336"/>
              <a:gd name="connsiteY19" fmla="*/ 220987 h 305160"/>
              <a:gd name="connsiteX20" fmla="*/ 266833 w 280336"/>
              <a:gd name="connsiteY20" fmla="*/ 197658 h 305160"/>
              <a:gd name="connsiteX21" fmla="*/ 259582 w 280336"/>
              <a:gd name="connsiteY21" fmla="*/ 197658 h 305160"/>
              <a:gd name="connsiteX22" fmla="*/ 251058 w 280336"/>
              <a:gd name="connsiteY22" fmla="*/ 185833 h 305160"/>
              <a:gd name="connsiteX23" fmla="*/ 261144 w 280336"/>
              <a:gd name="connsiteY23" fmla="*/ 155577 h 305160"/>
              <a:gd name="connsiteX24" fmla="*/ 252621 w 280336"/>
              <a:gd name="connsiteY24" fmla="*/ 143751 h 305160"/>
              <a:gd name="connsiteX25" fmla="*/ 190215 w 280336"/>
              <a:gd name="connsiteY25" fmla="*/ 143751 h 305160"/>
              <a:gd name="connsiteX26" fmla="*/ 181923 w 280336"/>
              <a:gd name="connsiteY26" fmla="*/ 149280 h 305160"/>
              <a:gd name="connsiteX27" fmla="*/ 144486 w 280336"/>
              <a:gd name="connsiteY27" fmla="*/ 239125 h 305160"/>
              <a:gd name="connsiteX28" fmla="*/ 152781 w 280336"/>
              <a:gd name="connsiteY28" fmla="*/ 251565 h 305160"/>
              <a:gd name="connsiteX29" fmla="*/ 172719 w 280336"/>
              <a:gd name="connsiteY29" fmla="*/ 251565 h 30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80336" h="305160">
                <a:moveTo>
                  <a:pt x="125782" y="0"/>
                </a:moveTo>
                <a:cubicBezTo>
                  <a:pt x="86086" y="0"/>
                  <a:pt x="53907" y="32180"/>
                  <a:pt x="53907" y="71876"/>
                </a:cubicBezTo>
                <a:cubicBezTo>
                  <a:pt x="53907" y="111571"/>
                  <a:pt x="86086" y="143751"/>
                  <a:pt x="125782" y="143751"/>
                </a:cubicBezTo>
                <a:cubicBezTo>
                  <a:pt x="165477" y="143751"/>
                  <a:pt x="197658" y="111571"/>
                  <a:pt x="197658" y="71876"/>
                </a:cubicBezTo>
                <a:cubicBezTo>
                  <a:pt x="197658" y="32180"/>
                  <a:pt x="165477" y="0"/>
                  <a:pt x="125782" y="0"/>
                </a:cubicBezTo>
                <a:close/>
                <a:moveTo>
                  <a:pt x="36095" y="161720"/>
                </a:moveTo>
                <a:cubicBezTo>
                  <a:pt x="16229" y="161720"/>
                  <a:pt x="0" y="177657"/>
                  <a:pt x="0" y="197658"/>
                </a:cubicBezTo>
                <a:cubicBezTo>
                  <a:pt x="0" y="228047"/>
                  <a:pt x="14965" y="250959"/>
                  <a:pt x="38363" y="265879"/>
                </a:cubicBezTo>
                <a:cubicBezTo>
                  <a:pt x="61399" y="280566"/>
                  <a:pt x="92455" y="287502"/>
                  <a:pt x="125782" y="287502"/>
                </a:cubicBezTo>
                <a:cubicBezTo>
                  <a:pt x="136576" y="287502"/>
                  <a:pt x="147133" y="286775"/>
                  <a:pt x="157255" y="285292"/>
                </a:cubicBezTo>
                <a:lnTo>
                  <a:pt x="161195" y="269534"/>
                </a:lnTo>
                <a:lnTo>
                  <a:pt x="152764" y="269534"/>
                </a:lnTo>
                <a:cubicBezTo>
                  <a:pt x="133530" y="269534"/>
                  <a:pt x="120486" y="249967"/>
                  <a:pt x="127883" y="232214"/>
                </a:cubicBezTo>
                <a:lnTo>
                  <a:pt x="157257" y="161720"/>
                </a:lnTo>
                <a:lnTo>
                  <a:pt x="36095" y="161720"/>
                </a:lnTo>
                <a:close/>
                <a:moveTo>
                  <a:pt x="172719" y="251565"/>
                </a:moveTo>
                <a:cubicBezTo>
                  <a:pt x="178564" y="251565"/>
                  <a:pt x="182852" y="257058"/>
                  <a:pt x="181436" y="262729"/>
                </a:cubicBezTo>
                <a:lnTo>
                  <a:pt x="173628" y="293957"/>
                </a:lnTo>
                <a:cubicBezTo>
                  <a:pt x="171457" y="302639"/>
                  <a:pt x="181932" y="308812"/>
                  <a:pt x="188474" y="302704"/>
                </a:cubicBezTo>
                <a:lnTo>
                  <a:pt x="276027" y="220987"/>
                </a:lnTo>
                <a:cubicBezTo>
                  <a:pt x="284971" y="212640"/>
                  <a:pt x="279064" y="197658"/>
                  <a:pt x="266833" y="197658"/>
                </a:cubicBezTo>
                <a:lnTo>
                  <a:pt x="259582" y="197658"/>
                </a:lnTo>
                <a:cubicBezTo>
                  <a:pt x="253450" y="197658"/>
                  <a:pt x="249119" y="191651"/>
                  <a:pt x="251058" y="185833"/>
                </a:cubicBezTo>
                <a:lnTo>
                  <a:pt x="261144" y="155577"/>
                </a:lnTo>
                <a:cubicBezTo>
                  <a:pt x="263083" y="149758"/>
                  <a:pt x="258752" y="143751"/>
                  <a:pt x="252621" y="143751"/>
                </a:cubicBezTo>
                <a:lnTo>
                  <a:pt x="190215" y="143751"/>
                </a:lnTo>
                <a:cubicBezTo>
                  <a:pt x="186589" y="143751"/>
                  <a:pt x="183317" y="145933"/>
                  <a:pt x="181923" y="149280"/>
                </a:cubicBezTo>
                <a:lnTo>
                  <a:pt x="144486" y="239125"/>
                </a:lnTo>
                <a:cubicBezTo>
                  <a:pt x="142021" y="245042"/>
                  <a:pt x="146369" y="251565"/>
                  <a:pt x="152781" y="251565"/>
                </a:cubicBezTo>
                <a:lnTo>
                  <a:pt x="172719" y="251565"/>
                </a:lnTo>
                <a:close/>
              </a:path>
            </a:pathLst>
          </a:custGeom>
          <a:gradFill flip="none" rotWithShape="1">
            <a:gsLst>
              <a:gs pos="80000">
                <a:srgbClr val="41AFA1"/>
              </a:gs>
              <a:gs pos="0">
                <a:srgbClr val="46A1DC"/>
              </a:gs>
            </a:gsLst>
            <a:path path="circle">
              <a:fillToRect l="100000" t="100000"/>
            </a:path>
            <a:tileRect r="-100000" b="-100000"/>
          </a:gradFill>
          <a:ln w="3175">
            <a:noFill/>
          </a:ln>
          <a:effectLst/>
        </p:spPr>
        <p:txBody>
          <a:bodyPr rot="0" spcFirstLastPara="0" vertOverflow="overflow" horzOverflow="overflow" vert="horz" wrap="none" lIns="262597" tIns="60022" rIns="262597" bIns="120044" numCol="1" spcCol="0" rtlCol="0" fromWordArt="0" anchor="ctr" anchorCtr="0" forceAA="0" compatLnSpc="1">
            <a:prstTxWarp prst="textNoShape">
              <a:avLst/>
            </a:prstTxWarp>
            <a:noAutofit/>
          </a:bodyPr>
          <a:lstStyle/>
          <a:p>
            <a:pPr marL="0" marR="0" lvl="0" indent="0" algn="ctr" defTabSz="402942" rtl="0" eaLnBrk="1" fontAlgn="base" latinLnBrk="0" hangingPunct="1">
              <a:lnSpc>
                <a:spcPct val="100000"/>
              </a:lnSpc>
              <a:spcBef>
                <a:spcPct val="0"/>
              </a:spcBef>
              <a:spcAft>
                <a:spcPct val="0"/>
              </a:spcAft>
              <a:buClrTx/>
              <a:buSzTx/>
              <a:buFontTx/>
              <a:buNone/>
              <a:tabLst/>
              <a:defRPr/>
            </a:pPr>
            <a:endParaRPr kumimoji="0" lang="en-US" sz="3939" b="0" i="0" u="none" strike="noStrike" kern="1200" cap="none" spc="0" normalizeH="0" baseline="0" noProof="0">
              <a:ln>
                <a:noFill/>
              </a:ln>
              <a:gradFill>
                <a:gsLst>
                  <a:gs pos="46602">
                    <a:srgbClr val="000000"/>
                  </a:gs>
                  <a:gs pos="80000">
                    <a:srgbClr val="000000"/>
                  </a:gs>
                </a:gsLst>
                <a:path path="circle">
                  <a:fillToRect l="100000" t="100000"/>
                </a:path>
              </a:gradFill>
              <a:effectLst/>
              <a:uLnTx/>
              <a:uFillTx/>
              <a:latin typeface="Segoe UI Variable Display Semib" pitchFamily="2" charset="0"/>
              <a:ea typeface="+mn-ea"/>
              <a:cs typeface="Segoe Sans Display Semibold" pitchFamily="2" charset="0"/>
            </a:endParaRPr>
          </a:p>
        </p:txBody>
      </p:sp>
      <p:grpSp>
        <p:nvGrpSpPr>
          <p:cNvPr id="7" name="Group 6">
            <a:extLst>
              <a:ext uri="{FF2B5EF4-FFF2-40B4-BE49-F238E27FC236}">
                <a16:creationId xmlns:a16="http://schemas.microsoft.com/office/drawing/2014/main" id="{DB66933D-F331-FE75-574E-EAC52960F1A0}"/>
              </a:ext>
            </a:extLst>
          </p:cNvPr>
          <p:cNvGrpSpPr>
            <a:grpSpLocks noGrp="1" noUngrp="1" noRot="1" noMove="1" noResize="1"/>
          </p:cNvGrpSpPr>
          <p:nvPr/>
        </p:nvGrpSpPr>
        <p:grpSpPr>
          <a:xfrm>
            <a:off x="8980434" y="2950604"/>
            <a:ext cx="615468" cy="615468"/>
            <a:chOff x="9325461" y="3377393"/>
            <a:chExt cx="480849" cy="480849"/>
          </a:xfrm>
        </p:grpSpPr>
        <p:sp>
          <p:nvSpPr>
            <p:cNvPr id="8" name="Rectangle: Rounded Corners 7">
              <a:extLst>
                <a:ext uri="{FF2B5EF4-FFF2-40B4-BE49-F238E27FC236}">
                  <a16:creationId xmlns:a16="http://schemas.microsoft.com/office/drawing/2014/main" id="{679F82A8-6DD2-C6F5-0623-0DA7DA7A4173}"/>
                </a:ext>
              </a:extLst>
            </p:cNvPr>
            <p:cNvSpPr>
              <a:spLocks noGrp="1" noRot="1" noMove="1" noResize="1" noEditPoints="1" noAdjustHandles="1" noChangeArrowheads="1" noChangeShapeType="1"/>
            </p:cNvSpPr>
            <p:nvPr/>
          </p:nvSpPr>
          <p:spPr bwMode="auto">
            <a:xfrm>
              <a:off x="9325461" y="3377393"/>
              <a:ext cx="480849" cy="480849"/>
            </a:xfrm>
            <a:prstGeom prst="roundRect">
              <a:avLst/>
            </a:prstGeom>
            <a:gradFill flip="none" rotWithShape="1">
              <a:gsLst>
                <a:gs pos="80000">
                  <a:srgbClr val="41AFA1"/>
                </a:gs>
                <a:gs pos="0">
                  <a:srgbClr val="46A1DC"/>
                </a:gs>
              </a:gsLst>
              <a:path path="circle">
                <a:fillToRect l="100000" t="100000"/>
              </a:path>
              <a:tileRect r="-100000" b="-100000"/>
            </a:gradFill>
            <a:ln w="3175">
              <a:noFill/>
            </a:ln>
            <a:effectLst/>
          </p:spPr>
          <p:txBody>
            <a:bodyPr rot="0" spcFirstLastPara="0" vertOverflow="overflow" horzOverflow="overflow" vert="horz" wrap="none" lIns="262597" tIns="60022" rIns="262597" bIns="120044" numCol="1" spcCol="0" rtlCol="0" fromWordArt="0" anchor="ctr" anchorCtr="0" forceAA="0" compatLnSpc="1">
              <a:prstTxWarp prst="textNoShape">
                <a:avLst/>
              </a:prstTxWarp>
              <a:noAutofit/>
            </a:bodyPr>
            <a:lstStyle/>
            <a:p>
              <a:pPr marL="0" marR="0" lvl="0" indent="0" algn="ctr" defTabSz="402942" rtl="0" eaLnBrk="1" fontAlgn="base" latinLnBrk="0" hangingPunct="1">
                <a:lnSpc>
                  <a:spcPct val="100000"/>
                </a:lnSpc>
                <a:spcBef>
                  <a:spcPct val="0"/>
                </a:spcBef>
                <a:spcAft>
                  <a:spcPct val="0"/>
                </a:spcAft>
                <a:buClrTx/>
                <a:buSzTx/>
                <a:buFontTx/>
                <a:buNone/>
                <a:tabLst/>
                <a:defRPr/>
              </a:pPr>
              <a:endParaRPr kumimoji="0" lang="en-US" sz="3939" b="0" i="0" u="none" strike="noStrike" kern="1200" cap="none" spc="0" normalizeH="0" baseline="0" noProof="0" err="1">
                <a:ln>
                  <a:noFill/>
                </a:ln>
                <a:gradFill>
                  <a:gsLst>
                    <a:gs pos="46602">
                      <a:srgbClr val="000000"/>
                    </a:gs>
                    <a:gs pos="80000">
                      <a:srgbClr val="000000"/>
                    </a:gs>
                  </a:gsLst>
                  <a:path path="circle">
                    <a:fillToRect l="100000" t="100000"/>
                  </a:path>
                </a:gradFill>
                <a:effectLst/>
                <a:uLnTx/>
                <a:uFillTx/>
                <a:latin typeface="Segoe UI Variable Display Semib" pitchFamily="2" charset="0"/>
                <a:ea typeface="+mn-ea"/>
                <a:cs typeface="Segoe Sans Display Semibold" pitchFamily="2" charset="0"/>
              </a:endParaRPr>
            </a:p>
          </p:txBody>
        </p:sp>
        <p:pic>
          <p:nvPicPr>
            <p:cNvPr id="9" name="Graphic 8">
              <a:extLst>
                <a:ext uri="{FF2B5EF4-FFF2-40B4-BE49-F238E27FC236}">
                  <a16:creationId xmlns:a16="http://schemas.microsoft.com/office/drawing/2014/main" id="{DE65B7F3-B3DA-141A-C48A-3F045FAFE97E}"/>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382708" y="3443976"/>
              <a:ext cx="100086" cy="100086"/>
            </a:xfrm>
            <a:prstGeom prst="rect">
              <a:avLst/>
            </a:prstGeom>
          </p:spPr>
        </p:pic>
        <p:pic>
          <p:nvPicPr>
            <p:cNvPr id="10" name="Graphic 9">
              <a:extLst>
                <a:ext uri="{FF2B5EF4-FFF2-40B4-BE49-F238E27FC236}">
                  <a16:creationId xmlns:a16="http://schemas.microsoft.com/office/drawing/2014/main" id="{DEB95A4A-A678-F5A4-C904-FD21FF6BD68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8372" y="3446878"/>
              <a:ext cx="94282" cy="94282"/>
            </a:xfrm>
            <a:prstGeom prst="rect">
              <a:avLst/>
            </a:prstGeom>
          </p:spPr>
        </p:pic>
        <p:pic>
          <p:nvPicPr>
            <p:cNvPr id="11" name="Graphic 10">
              <a:extLst>
                <a:ext uri="{FF2B5EF4-FFF2-40B4-BE49-F238E27FC236}">
                  <a16:creationId xmlns:a16="http://schemas.microsoft.com/office/drawing/2014/main" id="{A458DB00-6245-FF64-0CB3-336A01E19EE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515348" y="3703395"/>
              <a:ext cx="104292" cy="104292"/>
            </a:xfrm>
            <a:prstGeom prst="rect">
              <a:avLst/>
            </a:prstGeom>
          </p:spPr>
        </p:pic>
        <p:pic>
          <p:nvPicPr>
            <p:cNvPr id="12" name="Graphic 11">
              <a:extLst>
                <a:ext uri="{FF2B5EF4-FFF2-40B4-BE49-F238E27FC236}">
                  <a16:creationId xmlns:a16="http://schemas.microsoft.com/office/drawing/2014/main" id="{7FAB41F2-42F6-8C1D-E67D-4EE9F6C5268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507654" y="3567476"/>
              <a:ext cx="119681" cy="119681"/>
            </a:xfrm>
            <a:prstGeom prst="rect">
              <a:avLst/>
            </a:prstGeom>
          </p:spPr>
        </p:pic>
        <p:pic>
          <p:nvPicPr>
            <p:cNvPr id="13" name="Graphic 12">
              <a:extLst>
                <a:ext uri="{FF2B5EF4-FFF2-40B4-BE49-F238E27FC236}">
                  <a16:creationId xmlns:a16="http://schemas.microsoft.com/office/drawing/2014/main" id="{E8414E76-824B-CEC4-4E90-5C54C76DAC2E}"/>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647260" y="3697288"/>
              <a:ext cx="116507" cy="116507"/>
            </a:xfrm>
            <a:prstGeom prst="rect">
              <a:avLst/>
            </a:prstGeom>
          </p:spPr>
        </p:pic>
        <p:pic>
          <p:nvPicPr>
            <p:cNvPr id="14" name="Graphic 13">
              <a:extLst>
                <a:ext uri="{FF2B5EF4-FFF2-40B4-BE49-F238E27FC236}">
                  <a16:creationId xmlns:a16="http://schemas.microsoft.com/office/drawing/2014/main" id="{9F891C7B-E54E-AADF-B49D-8278EA95BA9D}"/>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9384574" y="3575673"/>
              <a:ext cx="96354" cy="96354"/>
            </a:xfrm>
            <a:prstGeom prst="rect">
              <a:avLst/>
            </a:prstGeom>
          </p:spPr>
        </p:pic>
        <p:pic>
          <p:nvPicPr>
            <p:cNvPr id="15" name="Graphic 14">
              <a:extLst>
                <a:ext uri="{FF2B5EF4-FFF2-40B4-BE49-F238E27FC236}">
                  <a16:creationId xmlns:a16="http://schemas.microsoft.com/office/drawing/2014/main" id="{AE5221FB-F7EE-E70C-A100-D1620691BD8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9380848" y="3703638"/>
              <a:ext cx="103807" cy="103807"/>
            </a:xfrm>
            <a:prstGeom prst="rect">
              <a:avLst/>
            </a:prstGeom>
          </p:spPr>
        </p:pic>
        <p:pic>
          <p:nvPicPr>
            <p:cNvPr id="16" name="Graphic 15">
              <a:extLst>
                <a:ext uri="{FF2B5EF4-FFF2-40B4-BE49-F238E27FC236}">
                  <a16:creationId xmlns:a16="http://schemas.microsoft.com/office/drawing/2014/main" id="{2CBB251B-F822-711C-C301-12167ECE588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9510275" y="3436800"/>
              <a:ext cx="114438" cy="114438"/>
            </a:xfrm>
            <a:prstGeom prst="rect">
              <a:avLst/>
            </a:prstGeom>
          </p:spPr>
        </p:pic>
        <p:pic>
          <p:nvPicPr>
            <p:cNvPr id="17" name="Graphic 16">
              <a:extLst>
                <a:ext uri="{FF2B5EF4-FFF2-40B4-BE49-F238E27FC236}">
                  <a16:creationId xmlns:a16="http://schemas.microsoft.com/office/drawing/2014/main" id="{14D14D46-57D6-954B-4C4B-B1DA89FA85DD}"/>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9653127" y="3566837"/>
              <a:ext cx="104773" cy="104773"/>
            </a:xfrm>
            <a:prstGeom prst="rect">
              <a:avLst/>
            </a:prstGeom>
          </p:spPr>
        </p:pic>
      </p:grpSp>
      <p:sp>
        <p:nvSpPr>
          <p:cNvPr id="22" name="Title 21">
            <a:extLst>
              <a:ext uri="{FF2B5EF4-FFF2-40B4-BE49-F238E27FC236}">
                <a16:creationId xmlns:a16="http://schemas.microsoft.com/office/drawing/2014/main" id="{F62C2168-6C13-3BC0-4082-594FD4513D72}"/>
              </a:ext>
            </a:extLst>
          </p:cNvPr>
          <p:cNvSpPr>
            <a:spLocks noGrp="1" noRot="1" noMove="1" noResize="1" noEditPoints="1" noAdjustHandles="1" noChangeArrowheads="1" noChangeShapeType="1"/>
          </p:cNvSpPr>
          <p:nvPr>
            <p:ph type="title"/>
          </p:nvPr>
        </p:nvSpPr>
        <p:spPr>
          <a:xfrm>
            <a:off x="358774" y="254452"/>
            <a:ext cx="11472863" cy="553998"/>
          </a:xfrm>
        </p:spPr>
        <p:txBody>
          <a:bodyPr/>
          <a:lstStyle/>
          <a:p>
            <a:r>
              <a:rPr lang="en-US"/>
              <a:t>Democratizing intelligence​</a:t>
            </a:r>
            <a:br>
              <a:rPr lang="en-US"/>
            </a:br>
            <a:endParaRPr lang="en-US"/>
          </a:p>
        </p:txBody>
      </p:sp>
    </p:spTree>
    <p:extLst>
      <p:ext uri="{BB962C8B-B14F-4D97-AF65-F5344CB8AC3E}">
        <p14:creationId xmlns:p14="http://schemas.microsoft.com/office/powerpoint/2010/main" val="552319289"/>
      </p:ext>
    </p:extLst>
  </p:cSld>
  <p:clrMapOvr>
    <a:masterClrMapping/>
  </p:clrMapOvr>
  <p:transition>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00" fill="hold"/>
                                            <p:tgtEl>
                                              <p:spTgt spid="5"/>
                                            </p:tgtEl>
                                            <p:attrNameLst>
                                              <p:attrName>ppt_w</p:attrName>
                                            </p:attrNameLst>
                                          </p:cBhvr>
                                          <p:tavLst>
                                            <p:tav tm="0">
                                              <p:val>
                                                <p:fltVal val="0"/>
                                              </p:val>
                                            </p:tav>
                                            <p:tav tm="100000">
                                              <p:val>
                                                <p:strVal val="#ppt_w"/>
                                              </p:val>
                                            </p:tav>
                                          </p:tavLst>
                                        </p:anim>
                                        <p:anim calcmode="lin" valueType="num">
                                          <p:cBhvr>
                                            <p:cTn id="8" dur="200" fill="hold"/>
                                            <p:tgtEl>
                                              <p:spTgt spid="5"/>
                                            </p:tgtEl>
                                            <p:attrNameLst>
                                              <p:attrName>ppt_h</p:attrName>
                                            </p:attrNameLst>
                                          </p:cBhvr>
                                          <p:tavLst>
                                            <p:tav tm="0">
                                              <p:val>
                                                <p:fltVal val="0"/>
                                              </p:val>
                                            </p:tav>
                                            <p:tav tm="100000">
                                              <p:val>
                                                <p:strVal val="#ppt_h"/>
                                              </p:val>
                                            </p:tav>
                                          </p:tavLst>
                                        </p:anim>
                                      </p:childTnLst>
                                    </p:cTn>
                                  </p:par>
                                  <p:par>
                                    <p:cTn id="9" presetID="6" presetClass="emph" presetSubtype="0" fill="hold" grpId="1" nodeType="withEffect" p14:presetBounceEnd="99000">
                                      <p:stCondLst>
                                        <p:cond delay="0"/>
                                      </p:stCondLst>
                                      <p:childTnLst>
                                        <p:animScale p14:bounceEnd="99000">
                                          <p:cBhvr>
                                            <p:cTn id="10" dur="1000" fill="hold"/>
                                            <p:tgtEl>
                                              <p:spTgt spid="5"/>
                                            </p:tgtEl>
                                          </p:cBhvr>
                                          <p:by x="110000" y="110000"/>
                                        </p:animScale>
                                      </p:childTnLst>
                                    </p:cTn>
                                  </p:par>
                                  <p:par>
                                    <p:cTn id="11" presetID="6" presetClass="emph" presetSubtype="0" accel="50000" decel="50000" fill="hold" grpId="2" nodeType="withEffect">
                                      <p:stCondLst>
                                        <p:cond delay="0"/>
                                      </p:stCondLst>
                                      <p:childTnLst>
                                        <p:animScale>
                                          <p:cBhvr>
                                            <p:cTn id="12" dur="250" fill="hold"/>
                                            <p:tgtEl>
                                              <p:spTgt spid="5"/>
                                            </p:tgtEl>
                                          </p:cBhvr>
                                          <p:by x="91000" y="91000"/>
                                        </p:animScale>
                                      </p:childTnLst>
                                    </p:cTn>
                                  </p:par>
                                  <p:par>
                                    <p:cTn id="13" presetID="23"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200" fill="hold"/>
                                            <p:tgtEl>
                                              <p:spTgt spid="6"/>
                                            </p:tgtEl>
                                            <p:attrNameLst>
                                              <p:attrName>ppt_w</p:attrName>
                                            </p:attrNameLst>
                                          </p:cBhvr>
                                          <p:tavLst>
                                            <p:tav tm="0">
                                              <p:val>
                                                <p:fltVal val="0"/>
                                              </p:val>
                                            </p:tav>
                                            <p:tav tm="100000">
                                              <p:val>
                                                <p:strVal val="#ppt_w"/>
                                              </p:val>
                                            </p:tav>
                                          </p:tavLst>
                                        </p:anim>
                                        <p:anim calcmode="lin" valueType="num">
                                          <p:cBhvr>
                                            <p:cTn id="16" dur="200" fill="hold"/>
                                            <p:tgtEl>
                                              <p:spTgt spid="6"/>
                                            </p:tgtEl>
                                            <p:attrNameLst>
                                              <p:attrName>ppt_h</p:attrName>
                                            </p:attrNameLst>
                                          </p:cBhvr>
                                          <p:tavLst>
                                            <p:tav tm="0">
                                              <p:val>
                                                <p:fltVal val="0"/>
                                              </p:val>
                                            </p:tav>
                                            <p:tav tm="100000">
                                              <p:val>
                                                <p:strVal val="#ppt_h"/>
                                              </p:val>
                                            </p:tav>
                                          </p:tavLst>
                                        </p:anim>
                                      </p:childTnLst>
                                    </p:cTn>
                                  </p:par>
                                  <p:par>
                                    <p:cTn id="17" presetID="6" presetClass="emph" presetSubtype="0" fill="hold" grpId="1" nodeType="withEffect" p14:presetBounceEnd="99000">
                                      <p:stCondLst>
                                        <p:cond delay="0"/>
                                      </p:stCondLst>
                                      <p:childTnLst>
                                        <p:animScale p14:bounceEnd="99000">
                                          <p:cBhvr>
                                            <p:cTn id="18" dur="1000" fill="hold"/>
                                            <p:tgtEl>
                                              <p:spTgt spid="6"/>
                                            </p:tgtEl>
                                          </p:cBhvr>
                                          <p:by x="110000" y="110000"/>
                                        </p:animScale>
                                      </p:childTnLst>
                                    </p:cTn>
                                  </p:par>
                                  <p:par>
                                    <p:cTn id="19" presetID="6" presetClass="emph" presetSubtype="0" accel="50000" decel="50000" fill="hold" grpId="2" nodeType="withEffect">
                                      <p:stCondLst>
                                        <p:cond delay="0"/>
                                      </p:stCondLst>
                                      <p:childTnLst>
                                        <p:animScale>
                                          <p:cBhvr>
                                            <p:cTn id="20" dur="250" fill="hold"/>
                                            <p:tgtEl>
                                              <p:spTgt spid="6"/>
                                            </p:tgtEl>
                                          </p:cBhvr>
                                          <p:by x="91000" y="91000"/>
                                        </p:animScale>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42" presetClass="path" presetSubtype="0" decel="100000" fill="hold" nodeType="withEffect">
                                      <p:stCondLst>
                                        <p:cond delay="0"/>
                                      </p:stCondLst>
                                      <p:childTnLst>
                                        <p:animMotion origin="layout" path="M 0.02954 4.22619E-6 L 4.55357E-6 4.22619E-6 " pathEditMode="relative" rAng="0" ptsTypes="AA">
                                          <p:cBhvr>
                                            <p:cTn id="25" dur="700" fill="hold"/>
                                            <p:tgtEl>
                                              <p:spTgt spid="7"/>
                                            </p:tgtEl>
                                            <p:attrNameLst>
                                              <p:attrName>ppt_x</p:attrName>
                                              <p:attrName>ppt_y</p:attrName>
                                            </p:attrNameLst>
                                          </p:cBhvr>
                                          <p:rCtr x="-1479" y="0"/>
                                        </p:animMotion>
                                      </p:childTnLst>
                                    </p:cTn>
                                  </p:par>
                                  <p:par>
                                    <p:cTn id="26" presetID="10"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63" presetClass="path" presetSubtype="0" accel="50000" decel="50000" fill="hold" grpId="1" nodeType="withEffect">
                                      <p:stCondLst>
                                        <p:cond delay="0"/>
                                      </p:stCondLst>
                                      <p:childTnLst>
                                        <p:animMotion origin="layout" path="M -0.02955 -1.72619E-6 L 2.87698E-6 -1.72619E-6 " pathEditMode="relative" rAng="0" ptsTypes="AA">
                                          <p:cBhvr>
                                            <p:cTn id="30" dur="500" fill="hold"/>
                                            <p:tgtEl>
                                              <p:spTgt spid="4"/>
                                            </p:tgtEl>
                                            <p:attrNameLst>
                                              <p:attrName>ppt_x</p:attrName>
                                              <p:attrName>ppt_y</p:attrName>
                                            </p:attrNameLst>
                                          </p:cBhvr>
                                          <p:rCtr x="1476" y="0"/>
                                        </p:animMotion>
                                      </p:childTnLst>
                                    </p:cTn>
                                  </p:par>
                                  <p:par>
                                    <p:cTn id="31" presetID="10" presetClass="entr" presetSubtype="0" fill="hold" nodeType="withEffect">
                                      <p:stCondLst>
                                        <p:cond delay="20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5" grpId="2"/>
          <p:bldP spid="6" grpId="0"/>
          <p:bldP spid="6" grpId="1"/>
          <p:bldP spid="6" grpId="2"/>
          <p:bldP spid="4" grpId="0" animBg="1"/>
          <p:bldP spid="4"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00" fill="hold"/>
                                            <p:tgtEl>
                                              <p:spTgt spid="5"/>
                                            </p:tgtEl>
                                            <p:attrNameLst>
                                              <p:attrName>ppt_w</p:attrName>
                                            </p:attrNameLst>
                                          </p:cBhvr>
                                          <p:tavLst>
                                            <p:tav tm="0">
                                              <p:val>
                                                <p:fltVal val="0"/>
                                              </p:val>
                                            </p:tav>
                                            <p:tav tm="100000">
                                              <p:val>
                                                <p:strVal val="#ppt_w"/>
                                              </p:val>
                                            </p:tav>
                                          </p:tavLst>
                                        </p:anim>
                                        <p:anim calcmode="lin" valueType="num">
                                          <p:cBhvr>
                                            <p:cTn id="8" dur="200" fill="hold"/>
                                            <p:tgtEl>
                                              <p:spTgt spid="5"/>
                                            </p:tgtEl>
                                            <p:attrNameLst>
                                              <p:attrName>ppt_h</p:attrName>
                                            </p:attrNameLst>
                                          </p:cBhvr>
                                          <p:tavLst>
                                            <p:tav tm="0">
                                              <p:val>
                                                <p:fltVal val="0"/>
                                              </p:val>
                                            </p:tav>
                                            <p:tav tm="100000">
                                              <p:val>
                                                <p:strVal val="#ppt_h"/>
                                              </p:val>
                                            </p:tav>
                                          </p:tavLst>
                                        </p:anim>
                                      </p:childTnLst>
                                    </p:cTn>
                                  </p:par>
                                  <p:par>
                                    <p:cTn id="9" presetID="6" presetClass="emph" presetSubtype="0" fill="hold" grpId="1" nodeType="withEffect">
                                      <p:stCondLst>
                                        <p:cond delay="0"/>
                                      </p:stCondLst>
                                      <p:childTnLst>
                                        <p:animScale>
                                          <p:cBhvr>
                                            <p:cTn id="10" dur="1000" fill="hold"/>
                                            <p:tgtEl>
                                              <p:spTgt spid="5"/>
                                            </p:tgtEl>
                                          </p:cBhvr>
                                          <p:by x="110000" y="110000"/>
                                        </p:animScale>
                                      </p:childTnLst>
                                    </p:cTn>
                                  </p:par>
                                  <p:par>
                                    <p:cTn id="11" presetID="6" presetClass="emph" presetSubtype="0" accel="50000" decel="50000" fill="hold" grpId="2" nodeType="withEffect">
                                      <p:stCondLst>
                                        <p:cond delay="0"/>
                                      </p:stCondLst>
                                      <p:childTnLst>
                                        <p:animScale>
                                          <p:cBhvr>
                                            <p:cTn id="12" dur="250" fill="hold"/>
                                            <p:tgtEl>
                                              <p:spTgt spid="5"/>
                                            </p:tgtEl>
                                          </p:cBhvr>
                                          <p:by x="91000" y="91000"/>
                                        </p:animScale>
                                      </p:childTnLst>
                                    </p:cTn>
                                  </p:par>
                                  <p:par>
                                    <p:cTn id="13" presetID="23"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200" fill="hold"/>
                                            <p:tgtEl>
                                              <p:spTgt spid="6"/>
                                            </p:tgtEl>
                                            <p:attrNameLst>
                                              <p:attrName>ppt_w</p:attrName>
                                            </p:attrNameLst>
                                          </p:cBhvr>
                                          <p:tavLst>
                                            <p:tav tm="0">
                                              <p:val>
                                                <p:fltVal val="0"/>
                                              </p:val>
                                            </p:tav>
                                            <p:tav tm="100000">
                                              <p:val>
                                                <p:strVal val="#ppt_w"/>
                                              </p:val>
                                            </p:tav>
                                          </p:tavLst>
                                        </p:anim>
                                        <p:anim calcmode="lin" valueType="num">
                                          <p:cBhvr>
                                            <p:cTn id="16" dur="200" fill="hold"/>
                                            <p:tgtEl>
                                              <p:spTgt spid="6"/>
                                            </p:tgtEl>
                                            <p:attrNameLst>
                                              <p:attrName>ppt_h</p:attrName>
                                            </p:attrNameLst>
                                          </p:cBhvr>
                                          <p:tavLst>
                                            <p:tav tm="0">
                                              <p:val>
                                                <p:fltVal val="0"/>
                                              </p:val>
                                            </p:tav>
                                            <p:tav tm="100000">
                                              <p:val>
                                                <p:strVal val="#ppt_h"/>
                                              </p:val>
                                            </p:tav>
                                          </p:tavLst>
                                        </p:anim>
                                      </p:childTnLst>
                                    </p:cTn>
                                  </p:par>
                                  <p:par>
                                    <p:cTn id="17" presetID="6" presetClass="emph" presetSubtype="0" fill="hold" grpId="1" nodeType="withEffect">
                                      <p:stCondLst>
                                        <p:cond delay="0"/>
                                      </p:stCondLst>
                                      <p:childTnLst>
                                        <p:animScale>
                                          <p:cBhvr>
                                            <p:cTn id="18" dur="1000" fill="hold"/>
                                            <p:tgtEl>
                                              <p:spTgt spid="6"/>
                                            </p:tgtEl>
                                          </p:cBhvr>
                                          <p:by x="110000" y="110000"/>
                                        </p:animScale>
                                      </p:childTnLst>
                                    </p:cTn>
                                  </p:par>
                                  <p:par>
                                    <p:cTn id="19" presetID="6" presetClass="emph" presetSubtype="0" accel="50000" decel="50000" fill="hold" grpId="2" nodeType="withEffect">
                                      <p:stCondLst>
                                        <p:cond delay="0"/>
                                      </p:stCondLst>
                                      <p:childTnLst>
                                        <p:animScale>
                                          <p:cBhvr>
                                            <p:cTn id="20" dur="250" fill="hold"/>
                                            <p:tgtEl>
                                              <p:spTgt spid="6"/>
                                            </p:tgtEl>
                                          </p:cBhvr>
                                          <p:by x="91000" y="91000"/>
                                        </p:animScale>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42" presetClass="path" presetSubtype="0" decel="100000" fill="hold" nodeType="withEffect">
                                      <p:stCondLst>
                                        <p:cond delay="0"/>
                                      </p:stCondLst>
                                      <p:childTnLst>
                                        <p:animMotion origin="layout" path="M 0.02954 4.22619E-6 L 4.55357E-6 4.22619E-6 " pathEditMode="relative" rAng="0" ptsTypes="AA">
                                          <p:cBhvr>
                                            <p:cTn id="25" dur="700" fill="hold"/>
                                            <p:tgtEl>
                                              <p:spTgt spid="7"/>
                                            </p:tgtEl>
                                            <p:attrNameLst>
                                              <p:attrName>ppt_x</p:attrName>
                                              <p:attrName>ppt_y</p:attrName>
                                            </p:attrNameLst>
                                          </p:cBhvr>
                                          <p:rCtr x="-1479" y="0"/>
                                        </p:animMotion>
                                      </p:childTnLst>
                                    </p:cTn>
                                  </p:par>
                                  <p:par>
                                    <p:cTn id="26" presetID="10"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63" presetClass="path" presetSubtype="0" accel="50000" decel="50000" fill="hold" grpId="1" nodeType="withEffect">
                                      <p:stCondLst>
                                        <p:cond delay="0"/>
                                      </p:stCondLst>
                                      <p:childTnLst>
                                        <p:animMotion origin="layout" path="M -0.02955 -1.72619E-6 L 2.87698E-6 -1.72619E-6 " pathEditMode="relative" rAng="0" ptsTypes="AA">
                                          <p:cBhvr>
                                            <p:cTn id="30" dur="500" fill="hold"/>
                                            <p:tgtEl>
                                              <p:spTgt spid="4"/>
                                            </p:tgtEl>
                                            <p:attrNameLst>
                                              <p:attrName>ppt_x</p:attrName>
                                              <p:attrName>ppt_y</p:attrName>
                                            </p:attrNameLst>
                                          </p:cBhvr>
                                          <p:rCtr x="1476" y="0"/>
                                        </p:animMotion>
                                      </p:childTnLst>
                                    </p:cTn>
                                  </p:par>
                                  <p:par>
                                    <p:cTn id="31" presetID="10" presetClass="entr" presetSubtype="0" fill="hold" nodeType="withEffect">
                                      <p:stCondLst>
                                        <p:cond delay="20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5" grpId="2"/>
          <p:bldP spid="6" grpId="0"/>
          <p:bldP spid="6" grpId="1"/>
          <p:bldP spid="6" grpId="2"/>
          <p:bldP spid="4" grpId="0" animBg="1"/>
          <p:bldP spid="4" grpId="1"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40245-6D08-A0CE-76BB-7D2EBC3B16D2}"/>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87D7B4E0-95B8-E93C-A52C-76591BBE16FD}"/>
              </a:ext>
            </a:extLst>
          </p:cNvPr>
          <p:cNvSpPr txBox="1">
            <a:spLocks noGrp="1" noRot="1" noMove="1" noResize="1" noEditPoints="1" noAdjustHandles="1" noChangeArrowheads="1" noChangeShapeType="1"/>
          </p:cNvSpPr>
          <p:nvPr/>
        </p:nvSpPr>
        <p:spPr>
          <a:xfrm>
            <a:off x="588263" y="457199"/>
            <a:ext cx="11018520" cy="910559"/>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3600" b="0" i="0" u="none" strike="noStrike" kern="1200" cap="none" spc="-50" normalizeH="0" baseline="0" noProof="0">
              <a:ln w="3175">
                <a:noFill/>
              </a:ln>
              <a:solidFill>
                <a:srgbClr val="000000"/>
              </a:solidFill>
              <a:effectLst/>
              <a:uLnTx/>
              <a:uFillTx/>
              <a:latin typeface="Segoe UI Semibold"/>
              <a:ea typeface="+mn-ea"/>
              <a:cs typeface="Segoe UI" pitchFamily="34" charset="0"/>
            </a:endParaRPr>
          </a:p>
        </p:txBody>
      </p:sp>
      <p:sp>
        <p:nvSpPr>
          <p:cNvPr id="13" name="Rounded Rectangle 64">
            <a:extLst>
              <a:ext uri="{FF2B5EF4-FFF2-40B4-BE49-F238E27FC236}">
                <a16:creationId xmlns:a16="http://schemas.microsoft.com/office/drawing/2014/main" id="{1EC27B3B-DB35-3218-44D6-D3425A85608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2953922" y="1818206"/>
            <a:ext cx="2869351" cy="3221086"/>
          </a:xfrm>
          <a:prstGeom prst="roundRect">
            <a:avLst>
              <a:gd name="adj" fmla="val 5850"/>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endParaRPr>
          </a:p>
        </p:txBody>
      </p:sp>
      <p:sp>
        <p:nvSpPr>
          <p:cNvPr id="14" name="82%">
            <a:extLst>
              <a:ext uri="{FF2B5EF4-FFF2-40B4-BE49-F238E27FC236}">
                <a16:creationId xmlns:a16="http://schemas.microsoft.com/office/drawing/2014/main" id="{029A53B5-CF81-7A6C-D7A0-6802255D3AB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3169034" y="3408560"/>
            <a:ext cx="2439127" cy="98488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w="3175">
                  <a:noFill/>
                </a:ln>
                <a:solidFill>
                  <a:srgbClr val="091F2C"/>
                </a:solidFill>
                <a:effectLst/>
                <a:uLnTx/>
                <a:uFillTx/>
                <a:latin typeface="Segoe Sans Display"/>
                <a:ea typeface="+mn-ea"/>
                <a:cs typeface="+mn-cs"/>
              </a:rPr>
              <a:t>of leaders expect to use agents in the next 12-18 months to meet demand for workforce capacity*</a:t>
            </a:r>
          </a:p>
        </p:txBody>
      </p:sp>
      <p:sp>
        <p:nvSpPr>
          <p:cNvPr id="15" name="Rounded Rectangle 64">
            <a:extLst>
              <a:ext uri="{FF2B5EF4-FFF2-40B4-BE49-F238E27FC236}">
                <a16:creationId xmlns:a16="http://schemas.microsoft.com/office/drawing/2014/main" id="{42EDDC9D-9ABA-19DC-50FF-1890A71F0E7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349847" y="1818206"/>
            <a:ext cx="2869351" cy="3221086"/>
          </a:xfrm>
          <a:prstGeom prst="roundRect">
            <a:avLst>
              <a:gd name="adj" fmla="val 5850"/>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Arial" charset="0"/>
              <a:ea typeface="+mn-ea"/>
              <a:cs typeface="Segoe UI" pitchFamily="34" charset="0"/>
            </a:endParaRPr>
          </a:p>
        </p:txBody>
      </p:sp>
      <p:sp>
        <p:nvSpPr>
          <p:cNvPr id="30" name="TextBox 29">
            <a:extLst>
              <a:ext uri="{FF2B5EF4-FFF2-40B4-BE49-F238E27FC236}">
                <a16:creationId xmlns:a16="http://schemas.microsoft.com/office/drawing/2014/main" id="{6C8D907F-D226-BA1D-D6A7-996D322FC04E}"/>
              </a:ext>
            </a:extLst>
          </p:cNvPr>
          <p:cNvSpPr txBox="1">
            <a:spLocks noGrp="1" noRot="1" noMove="1" noResize="1" noEditPoints="1" noAdjustHandles="1" noChangeArrowheads="1" noChangeShapeType="1"/>
          </p:cNvSpPr>
          <p:nvPr/>
        </p:nvSpPr>
        <p:spPr>
          <a:xfrm>
            <a:off x="6680979" y="3408560"/>
            <a:ext cx="2207087"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w="3175">
                  <a:noFill/>
                </a:ln>
                <a:solidFill>
                  <a:srgbClr val="091F2C"/>
                </a:solidFill>
                <a:effectLst/>
                <a:uLnTx/>
                <a:uFillTx/>
                <a:latin typeface="Segoe Sans Display"/>
                <a:ea typeface="+mn-ea"/>
                <a:cs typeface="+mn-cs"/>
              </a:rPr>
              <a:t>projected agents that businesses will have by 2028**</a:t>
            </a:r>
          </a:p>
        </p:txBody>
      </p:sp>
      <p:sp>
        <p:nvSpPr>
          <p:cNvPr id="31" name="TextBox 30">
            <a:extLst>
              <a:ext uri="{FF2B5EF4-FFF2-40B4-BE49-F238E27FC236}">
                <a16:creationId xmlns:a16="http://schemas.microsoft.com/office/drawing/2014/main" id="{2F2359D3-47BA-58A9-FFE5-6A8CAC90B932}"/>
              </a:ext>
            </a:extLst>
          </p:cNvPr>
          <p:cNvSpPr txBox="1">
            <a:spLocks noGrp="1" noRot="1" noMove="1" noResize="1" noEditPoints="1" noAdjustHandles="1" noChangeArrowheads="1" noChangeShapeType="1"/>
          </p:cNvSpPr>
          <p:nvPr/>
        </p:nvSpPr>
        <p:spPr>
          <a:xfrm>
            <a:off x="351989" y="6198850"/>
            <a:ext cx="5060680" cy="246221"/>
          </a:xfrm>
          <a:prstGeom prst="rect">
            <a:avLst/>
          </a:prstGeom>
          <a:noFill/>
        </p:spPr>
        <p:txBody>
          <a:bodyPr wrap="none" lIns="0" tIns="0" rIns="0" bIns="0" rtlCol="0" anchor="t">
            <a:spAutoFit/>
          </a:bodyPr>
          <a:lstStyle>
            <a:defPPr>
              <a:defRPr lang="en-US"/>
            </a:defPPr>
            <a:lvl1pPr algn="ctr">
              <a:defRPr sz="800">
                <a:solidFill>
                  <a:schemeClr val="tx1">
                    <a:lumMod val="85000"/>
                    <a:lumOff val="15000"/>
                  </a:schemeClr>
                </a:solidFill>
                <a:latin typeface="Segoe UI Variable Display"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lumMod val="85000"/>
                    <a:lumOff val="15000"/>
                  </a:srgbClr>
                </a:solidFill>
                <a:effectLst/>
                <a:uLnTx/>
                <a:uFillTx/>
                <a:latin typeface="Segoe UI Variable Display"/>
                <a:ea typeface="+mn-ea"/>
                <a:cs typeface="Segoe UI Variable Display"/>
              </a:rPr>
              <a:t>*Source: Microsoft Work Trend Index Survey 2025*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lumMod val="85000"/>
                    <a:lumOff val="15000"/>
                  </a:srgbClr>
                </a:solidFill>
                <a:effectLst/>
                <a:uLnTx/>
                <a:uFillTx/>
                <a:latin typeface="Segoe UI Variable Display"/>
                <a:ea typeface="+mn-ea"/>
                <a:cs typeface="Segoe UI Variable Display"/>
              </a:rPr>
              <a:t>**Source: IDC Info Snapshot, Sponsored by Microsoft, </a:t>
            </a:r>
            <a:r>
              <a:rPr kumimoji="0" lang="en-US" sz="800" b="0" i="0" u="none" strike="noStrike" kern="1200" cap="none" spc="0" normalizeH="0" baseline="0" noProof="0">
                <a:ln>
                  <a:noFill/>
                </a:ln>
                <a:solidFill>
                  <a:srgbClr val="000000">
                    <a:lumMod val="85000"/>
                    <a:lumOff val="15000"/>
                  </a:srgbClr>
                </a:solidFill>
                <a:effectLst/>
                <a:uLnTx/>
                <a:uFillTx/>
                <a:latin typeface="Segoe UI Variable Display" pitchFamily="2" charset="0"/>
                <a:ea typeface="+mn-ea"/>
                <a:cs typeface="+mn-cs"/>
              </a:rPr>
              <a:t>1.3 Billion AI Agents by 2028</a:t>
            </a:r>
            <a:r>
              <a:rPr kumimoji="0" lang="en-US" sz="800" b="0" i="0" u="none" strike="noStrike" kern="1200" cap="none" spc="0" normalizeH="0" baseline="0" noProof="0">
                <a:ln>
                  <a:noFill/>
                </a:ln>
                <a:solidFill>
                  <a:srgbClr val="000000">
                    <a:lumMod val="85000"/>
                    <a:lumOff val="15000"/>
                  </a:srgbClr>
                </a:solidFill>
                <a:effectLst/>
                <a:uLnTx/>
                <a:uFillTx/>
                <a:latin typeface="Segoe UI Variable Display"/>
                <a:ea typeface="+mn-ea"/>
                <a:cs typeface="Segoe UI Variable Display"/>
              </a:rPr>
              <a:t>, Doc. </a:t>
            </a:r>
            <a:r>
              <a:rPr kumimoji="0" lang="en-US" sz="800" b="0" i="0" u="none" strike="noStrike" kern="1200" cap="none" spc="0" normalizeH="0" baseline="0" noProof="0">
                <a:ln>
                  <a:noFill/>
                </a:ln>
                <a:solidFill>
                  <a:srgbClr val="000000">
                    <a:lumMod val="85000"/>
                    <a:lumOff val="15000"/>
                  </a:srgbClr>
                </a:solidFill>
                <a:effectLst/>
                <a:uLnTx/>
                <a:uFillTx/>
                <a:latin typeface="Segoe UI Variable Display" pitchFamily="2" charset="0"/>
                <a:ea typeface="+mn-ea"/>
                <a:cs typeface="+mn-cs"/>
              </a:rPr>
              <a:t>#US53361825, May 2025</a:t>
            </a:r>
            <a:endParaRPr kumimoji="0" lang="en-US" sz="800" b="0" i="0" u="none" strike="noStrike" kern="1200" cap="none" spc="0" normalizeH="0" baseline="0" noProof="0">
              <a:ln>
                <a:noFill/>
              </a:ln>
              <a:solidFill>
                <a:srgbClr val="000000">
                  <a:lumMod val="85000"/>
                  <a:lumOff val="15000"/>
                </a:srgbClr>
              </a:solidFill>
              <a:effectLst/>
              <a:uLnTx/>
              <a:uFillTx/>
              <a:latin typeface="Segoe UI Variable Display"/>
              <a:ea typeface="+mn-ea"/>
              <a:cs typeface="Segoe UI Variable Display"/>
            </a:endParaRPr>
          </a:p>
        </p:txBody>
      </p:sp>
      <p:sp>
        <p:nvSpPr>
          <p:cNvPr id="32" name="Rectangle: Rounded Corners 31">
            <a:extLst>
              <a:ext uri="{FF2B5EF4-FFF2-40B4-BE49-F238E27FC236}">
                <a16:creationId xmlns:a16="http://schemas.microsoft.com/office/drawing/2014/main" id="{E041D745-8440-C9C3-BFE8-9F5E2D63F224}"/>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nvSpPr>
        <p:spPr bwMode="auto">
          <a:xfrm>
            <a:off x="3420383" y="2286049"/>
            <a:ext cx="1936428" cy="1034129"/>
          </a:xfrm>
          <a:prstGeom prst="roundRect">
            <a:avLst>
              <a:gd name="adj" fmla="val 0"/>
            </a:avLst>
          </a:prstGeom>
          <a:noFill/>
          <a:effectLst/>
        </p:spPr>
        <p:txBody>
          <a:bodyPr wrap="none" lIns="228600" tIns="18288" rIns="228600" bIns="91440"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sz="6000" b="1" i="0" u="none" strike="noStrike" kern="1200" cap="none" spc="-50" normalizeH="0" baseline="0" noProof="0">
                <a:ln w="3175">
                  <a:noFill/>
                </a:ln>
                <a:gradFill flip="none" rotWithShape="1">
                  <a:gsLst>
                    <a:gs pos="72500">
                      <a:srgbClr val="A653C6"/>
                    </a:gs>
                    <a:gs pos="83000">
                      <a:srgbClr val="C03BC4"/>
                    </a:gs>
                    <a:gs pos="0">
                      <a:srgbClr val="091F2C">
                        <a:lumMod val="50000"/>
                        <a:lumOff val="50000"/>
                      </a:srgbClr>
                    </a:gs>
                    <a:gs pos="55000">
                      <a:srgbClr val="C5B4E3">
                        <a:lumMod val="75000"/>
                      </a:srgbClr>
                    </a:gs>
                  </a:gsLst>
                  <a:path path="circle">
                    <a:fillToRect r="100000" b="100000"/>
                  </a:path>
                  <a:tileRect l="-100000" t="-100000"/>
                </a:gradFill>
                <a:effectLst/>
                <a:uLnTx/>
                <a:uFillTx/>
                <a:latin typeface="Segoe Sans Display Semibold" pitchFamily="2" charset="0"/>
                <a:ea typeface="+mn-ea"/>
                <a:cs typeface="Segoe Sans Display Semibold" pitchFamily="2" charset="0"/>
              </a:rPr>
              <a:t>82%</a:t>
            </a:r>
          </a:p>
        </p:txBody>
      </p:sp>
      <p:sp>
        <p:nvSpPr>
          <p:cNvPr id="33" name="Rectangle: Rounded Corners 32">
            <a:extLst>
              <a:ext uri="{FF2B5EF4-FFF2-40B4-BE49-F238E27FC236}">
                <a16:creationId xmlns:a16="http://schemas.microsoft.com/office/drawing/2014/main" id="{D85EEC3D-4001-868A-4D9E-562F41EEF9C4}"/>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nvSpPr>
        <p:spPr bwMode="auto">
          <a:xfrm>
            <a:off x="6876421" y="2286049"/>
            <a:ext cx="1816203" cy="1034129"/>
          </a:xfrm>
          <a:prstGeom prst="roundRect">
            <a:avLst>
              <a:gd name="adj" fmla="val 0"/>
            </a:avLst>
          </a:prstGeom>
          <a:noFill/>
          <a:ln>
            <a:noFill/>
          </a:ln>
          <a:effectLst/>
        </p:spPr>
        <p:txBody>
          <a:bodyPr wrap="none" lIns="228600" tIns="18288" rIns="228600" bIns="91440"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sz="6000" b="1" i="0" u="none" strike="noStrike" kern="1200" cap="none" spc="-50" normalizeH="0" baseline="0" noProof="0">
                <a:ln w="3175">
                  <a:noFill/>
                </a:ln>
                <a:gradFill flip="none" rotWithShape="1">
                  <a:gsLst>
                    <a:gs pos="72500">
                      <a:srgbClr val="A653C6"/>
                    </a:gs>
                    <a:gs pos="83000">
                      <a:srgbClr val="C03BC4"/>
                    </a:gs>
                    <a:gs pos="0">
                      <a:srgbClr val="091F2C">
                        <a:lumMod val="50000"/>
                        <a:lumOff val="50000"/>
                      </a:srgbClr>
                    </a:gs>
                    <a:gs pos="55000">
                      <a:srgbClr val="C5B4E3">
                        <a:lumMod val="75000"/>
                      </a:srgbClr>
                    </a:gs>
                  </a:gsLst>
                  <a:path path="circle">
                    <a:fillToRect r="100000" b="100000"/>
                  </a:path>
                  <a:tileRect l="-100000" t="-100000"/>
                </a:gradFill>
                <a:effectLst/>
                <a:uLnTx/>
                <a:uFillTx/>
                <a:latin typeface="Segoe Sans Display Semibold" pitchFamily="2" charset="0"/>
                <a:ea typeface="+mn-ea"/>
                <a:cs typeface="Segoe Sans Display Semibold" pitchFamily="2" charset="0"/>
              </a:rPr>
              <a:t>1.3B</a:t>
            </a:r>
          </a:p>
        </p:txBody>
      </p:sp>
      <p:sp>
        <p:nvSpPr>
          <p:cNvPr id="34" name="Title 7">
            <a:extLst>
              <a:ext uri="{FF2B5EF4-FFF2-40B4-BE49-F238E27FC236}">
                <a16:creationId xmlns:a16="http://schemas.microsoft.com/office/drawing/2014/main" id="{C428B2BC-CA2F-0EC9-0181-0D48AE0AB307}"/>
              </a:ext>
            </a:extLst>
          </p:cNvPr>
          <p:cNvSpPr>
            <a:spLocks noGrp="1" noRot="1" noMove="1" noResize="1" noEditPoints="1" noAdjustHandles="1" noChangeArrowheads="1" noChangeShapeType="1"/>
          </p:cNvSpPr>
          <p:nvPr>
            <p:ph type="title"/>
          </p:nvPr>
        </p:nvSpPr>
        <p:spPr>
          <a:xfrm>
            <a:off x="358774" y="254452"/>
            <a:ext cx="11472863" cy="553998"/>
          </a:xfrm>
        </p:spPr>
        <p:txBody>
          <a:bodyPr/>
          <a:lstStyle/>
          <a:p>
            <a:r>
              <a:rPr lang="en-US">
                <a:latin typeface="+mj-lt"/>
              </a:rPr>
              <a:t>Frontier transformation</a:t>
            </a:r>
          </a:p>
        </p:txBody>
      </p:sp>
    </p:spTree>
    <p:custDataLst>
      <p:tags r:id="rId1"/>
    </p:custDataLst>
    <p:extLst>
      <p:ext uri="{BB962C8B-B14F-4D97-AF65-F5344CB8AC3E}">
        <p14:creationId xmlns:p14="http://schemas.microsoft.com/office/powerpoint/2010/main" val="296382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2.08333E-7 -4.44444E-6 L -2.08333E-7 0.03542 " pathEditMode="relative" rAng="0" ptsTypes="AA">
                                      <p:cBhvr>
                                        <p:cTn id="9" dur="700" spd="-100000" fill="hold"/>
                                        <p:tgtEl>
                                          <p:spTgt spid="12"/>
                                        </p:tgtEl>
                                        <p:attrNameLst>
                                          <p:attrName>ppt_x</p:attrName>
                                          <p:attrName>ppt_y</p:attrName>
                                        </p:attrNameLst>
                                      </p:cBhvr>
                                      <p:rCtr x="0" y="1759"/>
                                    </p:animMotion>
                                  </p:childTnLst>
                                </p:cTn>
                              </p:par>
                              <p:par>
                                <p:cTn id="10" presetID="10" presetClass="entr" presetSubtype="0" fill="hold" grpId="0" nodeType="withEffect">
                                  <p:stCondLst>
                                    <p:cond delay="10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D2B80-10D2-DA1D-3173-BC559F84D00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B618507-8628-089A-4311-56704F0EE86A}"/>
              </a:ext>
            </a:extLst>
          </p:cNvPr>
          <p:cNvSpPr txBox="1">
            <a:spLocks noGrp="1" noRot="1" noMove="1" noResize="1" noEditPoints="1" noAdjustHandles="1" noChangeArrowheads="1" noChangeShapeType="1"/>
          </p:cNvSpPr>
          <p:nvPr/>
        </p:nvSpPr>
        <p:spPr>
          <a:xfrm>
            <a:off x="662183" y="5924452"/>
            <a:ext cx="9414933" cy="559127"/>
          </a:xfrm>
          <a:prstGeom prst="rect">
            <a:avLst/>
          </a:prstGeom>
          <a:noFill/>
        </p:spPr>
        <p:txBody>
          <a:bodyPr wrap="square">
            <a:spAutoFit/>
          </a:bodyPr>
          <a:lstStyle/>
          <a:p>
            <a:pPr marL="114300" marR="0" lvl="0" indent="-114300" algn="l" defTabSz="914400" rtl="0" eaLnBrk="1" fontAlgn="auto" latinLnBrk="0" hangingPunct="1">
              <a:lnSpc>
                <a:spcPct val="100000"/>
              </a:lnSpc>
              <a:spcBef>
                <a:spcPts val="200"/>
              </a:spcBef>
              <a:spcAft>
                <a:spcPts val="0"/>
              </a:spcAft>
              <a:buClr>
                <a:srgbClr val="091F2C"/>
              </a:buClr>
              <a:buSzTx/>
              <a:buFontTx/>
              <a:buAutoNum type="arabicPeriod"/>
              <a:tabLst/>
              <a:defRPr/>
            </a:pPr>
            <a:r>
              <a:rPr kumimoji="0" lang="en-US" sz="900" b="0" i="0" u="none" strike="noStrike" kern="1200" cap="none" spc="0" normalizeH="0" baseline="0" noProof="0">
                <a:ln>
                  <a:noFill/>
                </a:ln>
                <a:solidFill>
                  <a:srgbClr val="091F2C"/>
                </a:solidFill>
                <a:effectLst/>
                <a:uLnTx/>
                <a:uFillTx/>
                <a:latin typeface="Segoe UI"/>
                <a:ea typeface="+mn-ea"/>
                <a:cs typeface="+mn-cs"/>
              </a:rPr>
              <a:t>First Annual Generative AI study: Business Rewards vs. Security Risks, , Q3 2023, ISMG, N=400</a:t>
            </a:r>
            <a:endParaRPr kumimoji="0" lang="en-US" sz="2000" b="0" i="0" u="none" strike="noStrike" kern="1200" cap="none" spc="0" normalizeH="0" baseline="0" noProof="0">
              <a:ln>
                <a:noFill/>
              </a:ln>
              <a:solidFill>
                <a:srgbClr val="091F2C"/>
              </a:solidFill>
              <a:effectLst/>
              <a:uLnTx/>
              <a:uFillTx/>
              <a:latin typeface="Segoe UI"/>
              <a:ea typeface="+mn-ea"/>
              <a:cs typeface="+mn-cs"/>
            </a:endParaRPr>
          </a:p>
          <a:p>
            <a:pPr marL="114300" marR="0" lvl="0" indent="-114300" algn="l" defTabSz="914400" rtl="0" eaLnBrk="1" fontAlgn="auto" latinLnBrk="0" hangingPunct="1">
              <a:lnSpc>
                <a:spcPct val="100000"/>
              </a:lnSpc>
              <a:spcBef>
                <a:spcPts val="200"/>
              </a:spcBef>
              <a:spcAft>
                <a:spcPts val="0"/>
              </a:spcAft>
              <a:buClr>
                <a:srgbClr val="091F2C"/>
              </a:buClr>
              <a:buSzTx/>
              <a:buFontTx/>
              <a:buAutoNum type="arabicPeriod"/>
              <a:tabLst/>
              <a:defRPr/>
            </a:pPr>
            <a:r>
              <a:rPr kumimoji="0" lang="en-US" sz="900" b="0" i="0" u="none" strike="noStrike" kern="1200" cap="none" spc="0" normalizeH="0" baseline="0" noProof="0">
                <a:ln>
                  <a:noFill/>
                </a:ln>
                <a:solidFill>
                  <a:srgbClr val="091F2C"/>
                </a:solidFill>
                <a:effectLst/>
                <a:uLnTx/>
                <a:uFillTx/>
                <a:latin typeface="Segoe UI"/>
                <a:ea typeface="+mn-ea"/>
                <a:cs typeface="+mn-cs"/>
              </a:rPr>
              <a:t>How to Secure Custom-Built AI Agents, Gartner, 17 March 2025, Dionisio </a:t>
            </a:r>
            <a:r>
              <a:rPr kumimoji="0" lang="en-US" sz="900" b="0" i="0" u="none" strike="noStrike" kern="1200" cap="none" spc="0" normalizeH="0" baseline="0" noProof="0" err="1">
                <a:ln>
                  <a:noFill/>
                </a:ln>
                <a:solidFill>
                  <a:srgbClr val="091F2C"/>
                </a:solidFill>
                <a:effectLst/>
                <a:uLnTx/>
                <a:uFillTx/>
                <a:latin typeface="Segoe UI"/>
                <a:ea typeface="+mn-ea"/>
                <a:cs typeface="+mn-cs"/>
              </a:rPr>
              <a:t>Zumerle</a:t>
            </a:r>
            <a:r>
              <a:rPr kumimoji="0" lang="en-US" sz="900" b="0" i="0" u="none" strike="noStrike" kern="1200" cap="none" spc="0" normalizeH="0" baseline="0" noProof="0">
                <a:ln>
                  <a:noFill/>
                </a:ln>
                <a:solidFill>
                  <a:srgbClr val="091F2C"/>
                </a:solidFill>
                <a:effectLst/>
                <a:uLnTx/>
                <a:uFillTx/>
                <a:latin typeface="Segoe UI"/>
                <a:ea typeface="+mn-ea"/>
                <a:cs typeface="+mn-cs"/>
              </a:rPr>
              <a:t>, Jeremy </a:t>
            </a:r>
            <a:r>
              <a:rPr kumimoji="0" lang="en-US" sz="900" b="0" i="0" u="none" strike="noStrike" kern="1200" cap="none" spc="0" normalizeH="0" baseline="0" noProof="0" err="1">
                <a:ln>
                  <a:noFill/>
                </a:ln>
                <a:solidFill>
                  <a:srgbClr val="091F2C"/>
                </a:solidFill>
                <a:effectLst/>
                <a:uLnTx/>
                <a:uFillTx/>
                <a:latin typeface="Segoe UI"/>
                <a:ea typeface="+mn-ea"/>
                <a:cs typeface="+mn-cs"/>
              </a:rPr>
              <a:t>D’Hoinne</a:t>
            </a:r>
            <a:endParaRPr kumimoji="0" lang="en-US" sz="900" b="0" i="0" u="none" strike="noStrike" kern="1200" cap="none" spc="0" normalizeH="0" baseline="0" noProof="0">
              <a:ln>
                <a:noFill/>
              </a:ln>
              <a:solidFill>
                <a:srgbClr val="091F2C"/>
              </a:solidFill>
              <a:effectLst/>
              <a:uLnTx/>
              <a:uFillTx/>
              <a:latin typeface="Segoe UI"/>
              <a:ea typeface="+mn-ea"/>
              <a:cs typeface="Segoe UI"/>
            </a:endParaRPr>
          </a:p>
          <a:p>
            <a:pPr marL="114300" marR="0" lvl="0" indent="-114300" algn="l" defTabSz="914400" rtl="0" eaLnBrk="1" fontAlgn="auto" latinLnBrk="0" hangingPunct="1">
              <a:lnSpc>
                <a:spcPct val="100000"/>
              </a:lnSpc>
              <a:spcBef>
                <a:spcPts val="200"/>
              </a:spcBef>
              <a:spcAft>
                <a:spcPts val="0"/>
              </a:spcAft>
              <a:buClr>
                <a:srgbClr val="091F2C"/>
              </a:buClr>
              <a:buSzTx/>
              <a:buFontTx/>
              <a:buAutoNum type="arabicPeriod"/>
              <a:tabLst/>
              <a:defRPr/>
            </a:pPr>
            <a:r>
              <a:rPr kumimoji="0" lang="en-US" sz="900" b="0" i="0" u="none" strike="noStrike" kern="1200" cap="none" spc="0" normalizeH="0" baseline="0" noProof="0">
                <a:ln>
                  <a:noFill/>
                </a:ln>
                <a:solidFill>
                  <a:srgbClr val="091F2C"/>
                </a:solidFill>
                <a:effectLst/>
                <a:uLnTx/>
                <a:uFillTx/>
                <a:latin typeface="Segoe UI"/>
                <a:ea typeface="+mn-ea"/>
                <a:cs typeface="+mn-cs"/>
              </a:rPr>
              <a:t>Microsoft Work Trend Index Survey 2025</a:t>
            </a:r>
            <a:endParaRPr kumimoji="0" lang="en-US" sz="900" b="0" i="0" u="none" strike="noStrike" kern="1200" cap="none" spc="0" normalizeH="0" baseline="0" noProof="0">
              <a:ln>
                <a:noFill/>
              </a:ln>
              <a:solidFill>
                <a:srgbClr val="091F2C"/>
              </a:solidFill>
              <a:effectLst/>
              <a:uLnTx/>
              <a:uFillTx/>
              <a:latin typeface="Segoe UI"/>
              <a:ea typeface="+mn-ea"/>
              <a:cs typeface="Segoe UI"/>
            </a:endParaRPr>
          </a:p>
        </p:txBody>
      </p:sp>
      <p:sp>
        <p:nvSpPr>
          <p:cNvPr id="16" name="Title 7">
            <a:extLst>
              <a:ext uri="{FF2B5EF4-FFF2-40B4-BE49-F238E27FC236}">
                <a16:creationId xmlns:a16="http://schemas.microsoft.com/office/drawing/2014/main" id="{DDEE1449-0554-49CC-7D5F-A46B4F48BD83}"/>
              </a:ext>
            </a:extLst>
          </p:cNvPr>
          <p:cNvSpPr txBox="1">
            <a:spLocks noGrp="1" noRot="1" noMove="1" noResize="1" noEditPoints="1" noAdjustHandles="1" noChangeArrowheads="1" noChangeShapeType="1"/>
          </p:cNvSpPr>
          <p:nvPr/>
        </p:nvSpPr>
        <p:spPr>
          <a:xfrm>
            <a:off x="586740" y="257505"/>
            <a:ext cx="11018520" cy="553998"/>
          </a:xfrm>
          <a:prstGeom prst="rect">
            <a:avLst/>
          </a:prstGeom>
        </p:spPr>
        <p:txBody>
          <a:bodyPr vert="horz" wrap="square" lIns="0" tIns="0" rIns="0" bIns="0" rtlCol="0" anchor="t">
            <a:spAutoFit/>
          </a:bodyPr>
          <a:lstStyle>
            <a:lvl1pPr algn="ctr"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3600" b="0" i="0" u="none" strike="noStrike" kern="1200" cap="none" spc="-50" normalizeH="0" baseline="0" noProof="0">
              <a:ln w="3175">
                <a:noFill/>
              </a:ln>
              <a:solidFill>
                <a:srgbClr val="091F2C"/>
              </a:solidFill>
              <a:effectLst/>
              <a:uLnTx/>
              <a:uFillTx/>
              <a:latin typeface="Segoe Sans Display"/>
              <a:ea typeface="+mn-ea"/>
              <a:cs typeface="Segoe UI"/>
            </a:endParaRPr>
          </a:p>
        </p:txBody>
      </p:sp>
      <p:sp>
        <p:nvSpPr>
          <p:cNvPr id="19" name="Title 18">
            <a:extLst>
              <a:ext uri="{FF2B5EF4-FFF2-40B4-BE49-F238E27FC236}">
                <a16:creationId xmlns:a16="http://schemas.microsoft.com/office/drawing/2014/main" id="{92F749F6-7853-A9C9-DF11-51F9F4DBF0C7}"/>
              </a:ext>
            </a:extLst>
          </p:cNvPr>
          <p:cNvSpPr>
            <a:spLocks noGrp="1" noRot="1" noMove="1" noResize="1" noEditPoints="1" noAdjustHandles="1" noChangeArrowheads="1" noChangeShapeType="1"/>
          </p:cNvSpPr>
          <p:nvPr>
            <p:ph type="title"/>
          </p:nvPr>
        </p:nvSpPr>
        <p:spPr/>
        <p:txBody>
          <a:bodyPr/>
          <a:lstStyle/>
          <a:p>
            <a:r>
              <a:rPr lang="en-US"/>
              <a:t>AI introduces new security challenges</a:t>
            </a:r>
          </a:p>
        </p:txBody>
      </p:sp>
      <p:sp>
        <p:nvSpPr>
          <p:cNvPr id="7" name="Rectangle: Rounded Corners 6">
            <a:extLst>
              <a:ext uri="{FF2B5EF4-FFF2-40B4-BE49-F238E27FC236}">
                <a16:creationId xmlns:a16="http://schemas.microsoft.com/office/drawing/2014/main" id="{CC8DC5D7-F5FC-FB28-D662-AA4CBDA98F4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51493" y="1477059"/>
            <a:ext cx="2615761" cy="3885070"/>
          </a:xfrm>
          <a:prstGeom prst="roundRect">
            <a:avLst>
              <a:gd name="adj" fmla="val 5365"/>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endParaRPr>
          </a:p>
        </p:txBody>
      </p:sp>
      <p:sp>
        <p:nvSpPr>
          <p:cNvPr id="8" name="Rounded Rectangle 2">
            <a:extLst>
              <a:ext uri="{FF2B5EF4-FFF2-40B4-BE49-F238E27FC236}">
                <a16:creationId xmlns:a16="http://schemas.microsoft.com/office/drawing/2014/main" id="{50CD55DD-6842-4D3C-9168-D38D627178D4}"/>
              </a:ext>
            </a:extLst>
          </p:cNvPr>
          <p:cNvSpPr>
            <a:spLocks noGrp="1" noRot="1" noMove="1" noResize="1" noEditPoints="1" noAdjustHandles="1" noChangeArrowheads="1" noChangeShapeType="1"/>
          </p:cNvSpPr>
          <p:nvPr/>
        </p:nvSpPr>
        <p:spPr bwMode="auto">
          <a:xfrm>
            <a:off x="624275" y="1548178"/>
            <a:ext cx="2470198" cy="1079159"/>
          </a:xfrm>
          <a:prstGeom prst="roundRect">
            <a:avLst>
              <a:gd name="adj" fmla="val 8799"/>
            </a:avLst>
          </a:prstGeom>
          <a:gradFill>
            <a:gsLst>
              <a:gs pos="80000">
                <a:srgbClr val="0A6BBA"/>
              </a:gs>
              <a:gs pos="0">
                <a:srgbClr val="C03BC4"/>
              </a:gs>
            </a:gsLst>
            <a:path path="circle">
              <a:fillToRect l="100000" t="100000"/>
            </a:path>
          </a:gradFill>
        </p:spPr>
        <p:txBody>
          <a:bodyPr wrap="squar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FFFFFF"/>
                </a:solidFill>
                <a:effectLst/>
                <a:uLnTx/>
                <a:uFillTx/>
                <a:latin typeface="Segoe UI Semibold"/>
                <a:ea typeface="+mn-ea"/>
                <a:cs typeface="+mn-cs"/>
              </a:rPr>
              <a:t>Agent sprawl </a:t>
            </a:r>
            <a:br>
              <a:rPr kumimoji="0" lang="en-US" sz="1800" b="1" i="0" u="none" strike="noStrike" kern="1200" cap="none" spc="0" normalizeH="0" baseline="0" noProof="0">
                <a:ln w="3175">
                  <a:noFill/>
                </a:ln>
                <a:solidFill>
                  <a:srgbClr val="FFFFFF"/>
                </a:solidFill>
                <a:effectLst/>
                <a:uLnTx/>
                <a:uFillTx/>
                <a:latin typeface="Segoe UI Semibold"/>
                <a:ea typeface="+mn-ea"/>
                <a:cs typeface="+mn-cs"/>
              </a:rPr>
            </a:br>
            <a:r>
              <a:rPr kumimoji="0" lang="en-US" sz="1800" b="1" i="0" u="none" strike="noStrike" kern="1200" cap="none" spc="0" normalizeH="0" baseline="0" noProof="0">
                <a:ln w="3175">
                  <a:noFill/>
                </a:ln>
                <a:solidFill>
                  <a:srgbClr val="FFFFFF"/>
                </a:solidFill>
                <a:effectLst/>
                <a:uLnTx/>
                <a:uFillTx/>
                <a:latin typeface="Segoe UI Semibold"/>
                <a:ea typeface="+mn-ea"/>
                <a:cs typeface="+mn-cs"/>
              </a:rPr>
              <a:t>&amp; resource access</a:t>
            </a:r>
          </a:p>
        </p:txBody>
      </p:sp>
      <p:sp>
        <p:nvSpPr>
          <p:cNvPr id="9" name="Content Placeholder 2">
            <a:extLst>
              <a:ext uri="{FF2B5EF4-FFF2-40B4-BE49-F238E27FC236}">
                <a16:creationId xmlns:a16="http://schemas.microsoft.com/office/drawing/2014/main" id="{C91215A3-E421-D31A-4E0D-5F9EC4A85AD9}"/>
              </a:ext>
            </a:extLst>
          </p:cNvPr>
          <p:cNvSpPr txBox="1">
            <a:spLocks noGrp="1" noRot="1" noMove="1" noResize="1" noEditPoints="1" noAdjustHandles="1" noChangeArrowheads="1" noChangeShapeType="1"/>
          </p:cNvSpPr>
          <p:nvPr/>
        </p:nvSpPr>
        <p:spPr>
          <a:xfrm>
            <a:off x="954444" y="2795135"/>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1" indent="0" algn="ctr" defTabSz="2275850" rtl="0" eaLnBrk="1" fontAlgn="base" latinLnBrk="0" hangingPunct="1">
              <a:lnSpc>
                <a:spcPct val="100000"/>
              </a:lnSpc>
              <a:spcBef>
                <a:spcPct val="0"/>
              </a:spcBef>
              <a:spcAft>
                <a:spcPts val="2987"/>
              </a:spcAft>
              <a:buClrTx/>
              <a:buSzPct val="90000"/>
              <a:buFont typeface="Wingdings" panose="05000000000000000000" pitchFamily="2" charset="2"/>
              <a:buNone/>
              <a:tabLst/>
              <a:defRPr/>
            </a:pPr>
            <a:r>
              <a:rPr kumimoji="0" lang="en-US" sz="5400" b="1" i="0" u="none" strike="noStrike" kern="1200" cap="none" spc="0" normalizeH="0" baseline="0" noProof="0">
                <a:ln w="3175">
                  <a:noFill/>
                </a:ln>
                <a:gradFill>
                  <a:gsLst>
                    <a:gs pos="80000">
                      <a:srgbClr val="46A0DE"/>
                    </a:gs>
                    <a:gs pos="0">
                      <a:srgbClr val="C03BC4">
                        <a:lumMod val="70000"/>
                        <a:lumOff val="30000"/>
                      </a:srgbClr>
                    </a:gs>
                  </a:gsLst>
                  <a:path path="circle">
                    <a:fillToRect l="100000" t="100000"/>
                  </a:path>
                </a:gradFill>
                <a:effectLst/>
                <a:uLnTx/>
                <a:uFillTx/>
                <a:latin typeface="Segoe UI"/>
                <a:ea typeface="+mn-ea"/>
                <a:cs typeface="+mn-cs"/>
              </a:rPr>
              <a:t>82%</a:t>
            </a:r>
          </a:p>
        </p:txBody>
      </p:sp>
      <p:sp>
        <p:nvSpPr>
          <p:cNvPr id="10" name="Google Shape;3000;p241">
            <a:extLst>
              <a:ext uri="{FF2B5EF4-FFF2-40B4-BE49-F238E27FC236}">
                <a16:creationId xmlns:a16="http://schemas.microsoft.com/office/drawing/2014/main" id="{9D1F7E39-DEBC-EA1E-02BD-2BD6775A8396}"/>
              </a:ext>
            </a:extLst>
          </p:cNvPr>
          <p:cNvSpPr txBox="1">
            <a:spLocks noGrp="1" noRot="1" noMove="1" noResize="1" noEditPoints="1" noAdjustHandles="1" noChangeArrowheads="1" noChangeShapeType="1"/>
          </p:cNvSpPr>
          <p:nvPr/>
        </p:nvSpPr>
        <p:spPr>
          <a:xfrm>
            <a:off x="711596" y="3736054"/>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of leaders expect to use agents in the next 12–18 months to meet demand for workforce capacity</a:t>
            </a:r>
            <a:r>
              <a:rPr kumimoji="0" lang="en-US" sz="1600" b="0" i="0" u="none" strike="noStrike" kern="1200" cap="none" spc="0" normalizeH="0" baseline="30000" noProof="0">
                <a:ln>
                  <a:noFill/>
                </a:ln>
                <a:solidFill>
                  <a:srgbClr val="091F2C"/>
                </a:solidFill>
                <a:effectLst/>
                <a:uLnTx/>
                <a:uFillTx/>
                <a:latin typeface="Segoe Sans Display Semilight"/>
                <a:ea typeface="+mn-ea"/>
                <a:cs typeface="+mn-cs"/>
              </a:rPr>
              <a:t>3</a:t>
            </a: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 </a:t>
            </a:r>
            <a:endParaRPr kumimoji="0" lang="en-US" sz="2400" b="0" i="0" u="none" strike="noStrike" kern="1200" cap="none" spc="0" normalizeH="0" baseline="0" noProof="0">
              <a:ln>
                <a:noFill/>
              </a:ln>
              <a:solidFill>
                <a:srgbClr val="091F2C"/>
              </a:solidFill>
              <a:effectLst/>
              <a:uLnTx/>
              <a:uFillTx/>
              <a:latin typeface="Segoe Sans Display Semilight"/>
              <a:ea typeface="+mn-ea"/>
              <a:cs typeface="+mn-cs"/>
            </a:endParaRPr>
          </a:p>
        </p:txBody>
      </p:sp>
      <p:sp>
        <p:nvSpPr>
          <p:cNvPr id="11" name="Rectangle: Rounded Corners 10">
            <a:extLst>
              <a:ext uri="{FF2B5EF4-FFF2-40B4-BE49-F238E27FC236}">
                <a16:creationId xmlns:a16="http://schemas.microsoft.com/office/drawing/2014/main" id="{5C826700-0CE0-7D2A-4679-12623ECABAF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3403380" y="1477059"/>
            <a:ext cx="2615761" cy="3885070"/>
          </a:xfrm>
          <a:prstGeom prst="roundRect">
            <a:avLst>
              <a:gd name="adj" fmla="val 5365"/>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endParaRPr>
          </a:p>
        </p:txBody>
      </p:sp>
      <p:sp>
        <p:nvSpPr>
          <p:cNvPr id="12" name="Rectangle: Rounded Corners 11">
            <a:extLst>
              <a:ext uri="{FF2B5EF4-FFF2-40B4-BE49-F238E27FC236}">
                <a16:creationId xmlns:a16="http://schemas.microsoft.com/office/drawing/2014/main" id="{07941C99-6044-BB9D-BB15-4480FADE1CA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278410" y="1477059"/>
            <a:ext cx="2615761" cy="3885070"/>
          </a:xfrm>
          <a:prstGeom prst="roundRect">
            <a:avLst>
              <a:gd name="adj" fmla="val 5365"/>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endParaRPr>
          </a:p>
        </p:txBody>
      </p:sp>
      <p:sp>
        <p:nvSpPr>
          <p:cNvPr id="13" name="Rounded Rectangle 2">
            <a:extLst>
              <a:ext uri="{FF2B5EF4-FFF2-40B4-BE49-F238E27FC236}">
                <a16:creationId xmlns:a16="http://schemas.microsoft.com/office/drawing/2014/main" id="{C86600F8-A6E3-73BA-640B-C235A9175EA6}"/>
              </a:ext>
            </a:extLst>
          </p:cNvPr>
          <p:cNvSpPr>
            <a:spLocks noGrp="1" noRot="1" noMove="1" noResize="1" noEditPoints="1" noAdjustHandles="1" noChangeArrowheads="1" noChangeShapeType="1"/>
          </p:cNvSpPr>
          <p:nvPr/>
        </p:nvSpPr>
        <p:spPr bwMode="auto">
          <a:xfrm>
            <a:off x="3476162" y="1548178"/>
            <a:ext cx="2470198" cy="1079159"/>
          </a:xfrm>
          <a:prstGeom prst="roundRect">
            <a:avLst>
              <a:gd name="adj" fmla="val 8799"/>
            </a:avLst>
          </a:prstGeom>
          <a:gradFill>
            <a:gsLst>
              <a:gs pos="80000">
                <a:srgbClr val="0A6BBA"/>
              </a:gs>
              <a:gs pos="0">
                <a:srgbClr val="C03BC4"/>
              </a:gs>
            </a:gsLst>
            <a:path path="circle">
              <a:fillToRect l="100000" t="100000"/>
            </a:path>
          </a:gradFill>
        </p:spPr>
        <p:txBody>
          <a:bodyPr wrap="squar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FFFFFF"/>
                </a:solidFill>
                <a:effectLst/>
                <a:uLnTx/>
                <a:uFillTx/>
                <a:latin typeface="Segoe UI Semibold"/>
                <a:ea typeface="+mn-ea"/>
                <a:cs typeface="+mn-cs"/>
              </a:rPr>
              <a:t>Data leaks &amp; oversharing</a:t>
            </a:r>
          </a:p>
        </p:txBody>
      </p:sp>
      <p:sp>
        <p:nvSpPr>
          <p:cNvPr id="14" name="Content Placeholder 2">
            <a:extLst>
              <a:ext uri="{FF2B5EF4-FFF2-40B4-BE49-F238E27FC236}">
                <a16:creationId xmlns:a16="http://schemas.microsoft.com/office/drawing/2014/main" id="{17E369BF-0217-1686-CDEB-DF4A359C1B5A}"/>
              </a:ext>
            </a:extLst>
          </p:cNvPr>
          <p:cNvSpPr txBox="1">
            <a:spLocks noGrp="1" noRot="1" noMove="1" noResize="1" noEditPoints="1" noAdjustHandles="1" noChangeArrowheads="1" noChangeShapeType="1"/>
          </p:cNvSpPr>
          <p:nvPr/>
        </p:nvSpPr>
        <p:spPr>
          <a:xfrm>
            <a:off x="3806331" y="2795135"/>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2275850" rtl="0" eaLnBrk="1" fontAlgn="base" latinLnBrk="0" hangingPunct="1">
              <a:lnSpc>
                <a:spcPct val="100000"/>
              </a:lnSpc>
              <a:spcBef>
                <a:spcPct val="0"/>
              </a:spcBef>
              <a:spcAft>
                <a:spcPts val="2987"/>
              </a:spcAft>
              <a:buClrTx/>
              <a:buSzPct val="90000"/>
              <a:buFont typeface="Wingdings" panose="05000000000000000000" pitchFamily="2" charset="2"/>
              <a:buNone/>
              <a:tabLst/>
              <a:defRPr/>
            </a:pPr>
            <a:r>
              <a:rPr kumimoji="0" lang="en-US" sz="5400" b="1" i="0" u="none" strike="noStrike" kern="1200" cap="none" spc="0" normalizeH="0" baseline="0" noProof="0">
                <a:ln w="3175">
                  <a:noFill/>
                </a:ln>
                <a:gradFill>
                  <a:gsLst>
                    <a:gs pos="80000">
                      <a:srgbClr val="46A0DE"/>
                    </a:gs>
                    <a:gs pos="0">
                      <a:srgbClr val="C03BC4">
                        <a:lumMod val="70000"/>
                        <a:lumOff val="30000"/>
                      </a:srgbClr>
                    </a:gs>
                  </a:gsLst>
                  <a:path path="circle">
                    <a:fillToRect l="100000" t="100000"/>
                  </a:path>
                </a:gradFill>
                <a:effectLst/>
                <a:uLnTx/>
                <a:uFillTx/>
                <a:latin typeface="Segoe UI"/>
                <a:ea typeface="+mn-ea"/>
                <a:cs typeface="Segoe UI" panose="020B0502040204020203" pitchFamily="34" charset="0"/>
              </a:rPr>
              <a:t>80%</a:t>
            </a:r>
          </a:p>
        </p:txBody>
      </p:sp>
      <p:sp>
        <p:nvSpPr>
          <p:cNvPr id="23" name="Google Shape;3000;p241">
            <a:extLst>
              <a:ext uri="{FF2B5EF4-FFF2-40B4-BE49-F238E27FC236}">
                <a16:creationId xmlns:a16="http://schemas.microsoft.com/office/drawing/2014/main" id="{F5BB03C5-C58E-3EDD-A574-CE307C31D237}"/>
              </a:ext>
            </a:extLst>
          </p:cNvPr>
          <p:cNvSpPr txBox="1">
            <a:spLocks noGrp="1" noRot="1" noMove="1" noResize="1" noEditPoints="1" noAdjustHandles="1" noChangeArrowheads="1" noChangeShapeType="1"/>
          </p:cNvSpPr>
          <p:nvPr/>
        </p:nvSpPr>
        <p:spPr>
          <a:xfrm>
            <a:off x="3563483" y="3736054"/>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of leaders cited</a:t>
            </a:r>
            <a:b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b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leakage of sensitive</a:t>
            </a:r>
            <a:b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b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data as their main concern</a:t>
            </a:r>
            <a:r>
              <a:rPr kumimoji="0" lang="en-US" sz="1600" b="0" i="0" u="none" strike="noStrike" kern="1200" cap="none" spc="0" normalizeH="0" baseline="30000" noProof="0">
                <a:ln>
                  <a:noFill/>
                </a:ln>
                <a:solidFill>
                  <a:srgbClr val="091F2C"/>
                </a:solidFill>
                <a:effectLst/>
                <a:uLnTx/>
                <a:uFillTx/>
                <a:latin typeface="Segoe Sans Display Semilight"/>
                <a:ea typeface="+mn-ea"/>
                <a:cs typeface="+mn-cs"/>
              </a:rPr>
              <a:t>1</a:t>
            </a:r>
            <a:endParaRPr kumimoji="0" lang="en-US" sz="1600" b="0" i="0" u="none" strike="noStrike" kern="1200" cap="none" spc="0" normalizeH="0" baseline="30000" noProof="0">
              <a:ln w="3175">
                <a:noFill/>
              </a:ln>
              <a:solidFill>
                <a:srgbClr val="091F2C"/>
              </a:solidFill>
              <a:effectLst/>
              <a:uLnTx/>
              <a:uFillTx/>
              <a:latin typeface="Segoe Sans Display Semilight"/>
              <a:ea typeface="+mn-ea"/>
              <a:cs typeface="+mn-cs"/>
            </a:endParaRPr>
          </a:p>
        </p:txBody>
      </p:sp>
      <p:sp>
        <p:nvSpPr>
          <p:cNvPr id="24" name="Rectangle: Rounded Corners 23">
            <a:extLst>
              <a:ext uri="{FF2B5EF4-FFF2-40B4-BE49-F238E27FC236}">
                <a16:creationId xmlns:a16="http://schemas.microsoft.com/office/drawing/2014/main" id="{13B8FD58-064E-DA19-40E5-528F2A4B8A36}"/>
              </a:ext>
            </a:extLst>
          </p:cNvPr>
          <p:cNvSpPr>
            <a:spLocks noGrp="1" noRot="1" noMove="1" noResize="1" noEditPoints="1" noAdjustHandles="1" noChangeArrowheads="1" noChangeShapeType="1"/>
          </p:cNvSpPr>
          <p:nvPr/>
        </p:nvSpPr>
        <p:spPr bwMode="auto">
          <a:xfrm>
            <a:off x="6351192" y="1548178"/>
            <a:ext cx="2470198" cy="1079159"/>
          </a:xfrm>
          <a:prstGeom prst="roundRect">
            <a:avLst>
              <a:gd name="adj" fmla="val 8799"/>
            </a:avLst>
          </a:prstGeom>
          <a:gradFill>
            <a:gsLst>
              <a:gs pos="80000">
                <a:srgbClr val="0A6BBA"/>
              </a:gs>
              <a:gs pos="0">
                <a:srgbClr val="C03BC4"/>
              </a:gs>
            </a:gsLst>
            <a:path path="circle">
              <a:fillToRect l="100000" t="100000"/>
            </a:path>
          </a:gradFill>
        </p:spPr>
        <p:txBody>
          <a:bodyPr wrap="squar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FFFFFF"/>
                </a:solidFill>
                <a:effectLst/>
                <a:uLnTx/>
                <a:uFillTx/>
                <a:latin typeface="Segoe UI Semibold"/>
                <a:ea typeface="+mn-ea"/>
                <a:cs typeface="+mn-cs"/>
              </a:rPr>
              <a:t>New AI threats &amp; vulnerabilities</a:t>
            </a:r>
          </a:p>
        </p:txBody>
      </p:sp>
      <p:sp>
        <p:nvSpPr>
          <p:cNvPr id="25" name="Content Placeholder 2">
            <a:extLst>
              <a:ext uri="{FF2B5EF4-FFF2-40B4-BE49-F238E27FC236}">
                <a16:creationId xmlns:a16="http://schemas.microsoft.com/office/drawing/2014/main" id="{90CA53A9-6D2B-9D9A-F3C8-EB9D790FAD54}"/>
              </a:ext>
            </a:extLst>
          </p:cNvPr>
          <p:cNvSpPr txBox="1">
            <a:spLocks noGrp="1" noRot="1" noMove="1" noResize="1" noEditPoints="1" noAdjustHandles="1" noChangeArrowheads="1" noChangeShapeType="1"/>
          </p:cNvSpPr>
          <p:nvPr/>
        </p:nvSpPr>
        <p:spPr>
          <a:xfrm>
            <a:off x="6643670" y="2795135"/>
            <a:ext cx="1885242"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2275850" rtl="0" eaLnBrk="1" fontAlgn="base" latinLnBrk="0" hangingPunct="1">
              <a:lnSpc>
                <a:spcPct val="100000"/>
              </a:lnSpc>
              <a:spcBef>
                <a:spcPct val="0"/>
              </a:spcBef>
              <a:spcAft>
                <a:spcPts val="2987"/>
              </a:spcAft>
              <a:buClrTx/>
              <a:buSzPct val="90000"/>
              <a:buFont typeface="Wingdings" panose="05000000000000000000" pitchFamily="2" charset="2"/>
              <a:buNone/>
              <a:tabLst/>
              <a:defRPr/>
            </a:pPr>
            <a:r>
              <a:rPr kumimoji="0" lang="en-US" sz="5400" b="1" i="0" u="none" strike="noStrike" kern="1200" cap="none" spc="0" normalizeH="0" baseline="0" noProof="0">
                <a:ln w="3175">
                  <a:noFill/>
                </a:ln>
                <a:gradFill>
                  <a:gsLst>
                    <a:gs pos="80000">
                      <a:srgbClr val="46A0DE"/>
                    </a:gs>
                    <a:gs pos="0">
                      <a:srgbClr val="C03BC4">
                        <a:lumMod val="70000"/>
                        <a:lumOff val="30000"/>
                      </a:srgbClr>
                    </a:gs>
                  </a:gsLst>
                  <a:path path="circle">
                    <a:fillToRect l="100000" t="100000"/>
                  </a:path>
                </a:gradFill>
                <a:effectLst/>
                <a:uLnTx/>
                <a:uFillTx/>
                <a:latin typeface="Segoe UI"/>
                <a:ea typeface="+mn-ea"/>
                <a:cs typeface="Segoe UI" panose="020B0502040204020203" pitchFamily="34" charset="0"/>
              </a:rPr>
              <a:t>88%</a:t>
            </a:r>
          </a:p>
        </p:txBody>
      </p:sp>
      <p:sp>
        <p:nvSpPr>
          <p:cNvPr id="26" name="Google Shape;3000;p241">
            <a:extLst>
              <a:ext uri="{FF2B5EF4-FFF2-40B4-BE49-F238E27FC236}">
                <a16:creationId xmlns:a16="http://schemas.microsoft.com/office/drawing/2014/main" id="{47F09264-6829-8EE9-0A81-256D39FD4986}"/>
              </a:ext>
            </a:extLst>
          </p:cNvPr>
          <p:cNvSpPr txBox="1">
            <a:spLocks noGrp="1" noRot="1" noMove="1" noResize="1" noEditPoints="1" noAdjustHandles="1" noChangeArrowheads="1" noChangeShapeType="1"/>
          </p:cNvSpPr>
          <p:nvPr/>
        </p:nvSpPr>
        <p:spPr>
          <a:xfrm>
            <a:off x="6438513" y="3736054"/>
            <a:ext cx="2295556" cy="738664"/>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of organizations are</a:t>
            </a:r>
            <a:b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b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concerned about indirect</a:t>
            </a:r>
            <a:b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b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prompt injection attacks</a:t>
            </a:r>
            <a:r>
              <a:rPr kumimoji="0" lang="en-US" sz="1600" b="0" i="0" u="none" strike="noStrike" kern="1200" cap="none" spc="0" normalizeH="0" baseline="30000" noProof="0">
                <a:ln>
                  <a:noFill/>
                </a:ln>
                <a:solidFill>
                  <a:srgbClr val="091F2C"/>
                </a:solidFill>
                <a:effectLst/>
                <a:uLnTx/>
                <a:uFillTx/>
                <a:latin typeface="Segoe Sans Display Semilight"/>
                <a:ea typeface="+mn-ea"/>
                <a:cs typeface="+mn-cs"/>
              </a:rPr>
              <a:t>2</a:t>
            </a:r>
            <a:endParaRPr kumimoji="0" lang="en-US" sz="1600" b="0" i="0" u="none" strike="noStrike" kern="1200" cap="none" spc="0" normalizeH="0" baseline="0" noProof="0">
              <a:ln>
                <a:noFill/>
              </a:ln>
              <a:solidFill>
                <a:srgbClr val="091F2C"/>
              </a:solidFill>
              <a:effectLst/>
              <a:uLnTx/>
              <a:uFillTx/>
              <a:latin typeface="Segoe Sans Display Semilight"/>
              <a:ea typeface="+mn-ea"/>
              <a:cs typeface="+mn-cs"/>
            </a:endParaRPr>
          </a:p>
        </p:txBody>
      </p:sp>
      <p:sp>
        <p:nvSpPr>
          <p:cNvPr id="2" name="Rectangle: Rounded Corners 1">
            <a:extLst>
              <a:ext uri="{FF2B5EF4-FFF2-40B4-BE49-F238E27FC236}">
                <a16:creationId xmlns:a16="http://schemas.microsoft.com/office/drawing/2014/main" id="{C616CB25-F618-76F5-AAAD-C7E397961EB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9132626" y="1477059"/>
            <a:ext cx="2615761" cy="3885070"/>
          </a:xfrm>
          <a:prstGeom prst="roundRect">
            <a:avLst>
              <a:gd name="adj" fmla="val 5365"/>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endParaRPr>
          </a:p>
        </p:txBody>
      </p:sp>
      <p:sp>
        <p:nvSpPr>
          <p:cNvPr id="3" name="Rectangle: Rounded Corners 17">
            <a:extLst>
              <a:ext uri="{FF2B5EF4-FFF2-40B4-BE49-F238E27FC236}">
                <a16:creationId xmlns:a16="http://schemas.microsoft.com/office/drawing/2014/main" id="{7FE6881B-8443-C756-8924-1C31B020EEEF}"/>
              </a:ext>
            </a:extLst>
          </p:cNvPr>
          <p:cNvSpPr>
            <a:spLocks noGrp="1" noRot="1" noMove="1" noResize="1" noEditPoints="1" noAdjustHandles="1" noChangeArrowheads="1" noChangeShapeType="1"/>
          </p:cNvSpPr>
          <p:nvPr/>
        </p:nvSpPr>
        <p:spPr bwMode="auto">
          <a:xfrm>
            <a:off x="9205407" y="1548178"/>
            <a:ext cx="2470198" cy="1079159"/>
          </a:xfrm>
          <a:prstGeom prst="roundRect">
            <a:avLst>
              <a:gd name="adj" fmla="val 8799"/>
            </a:avLst>
          </a:prstGeom>
          <a:gradFill>
            <a:gsLst>
              <a:gs pos="80000">
                <a:srgbClr val="0A6BBA"/>
              </a:gs>
              <a:gs pos="0">
                <a:srgbClr val="C03BC4"/>
              </a:gs>
            </a:gsLst>
            <a:path path="circle">
              <a:fillToRect l="100000" t="100000"/>
            </a:path>
          </a:gradFill>
        </p:spPr>
        <p:txBody>
          <a:bodyPr wrap="squar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FFFFFF"/>
                </a:solidFill>
                <a:effectLst/>
                <a:uLnTx/>
                <a:uFillTx/>
                <a:latin typeface="Segoe UI Semibold"/>
                <a:ea typeface="+mn-ea"/>
                <a:cs typeface="+mn-cs"/>
              </a:rPr>
              <a:t>Regulatory</a:t>
            </a:r>
            <a:br>
              <a:rPr kumimoji="0" lang="en-US" sz="1800" b="1" i="0" u="none" strike="noStrike" kern="1200" cap="none" spc="0" normalizeH="0" baseline="0" noProof="0">
                <a:ln w="3175">
                  <a:noFill/>
                </a:ln>
                <a:solidFill>
                  <a:srgbClr val="FFFFFF"/>
                </a:solidFill>
                <a:effectLst/>
                <a:uLnTx/>
                <a:uFillTx/>
                <a:latin typeface="Segoe UI Semibold"/>
                <a:ea typeface="+mn-ea"/>
                <a:cs typeface="+mn-cs"/>
              </a:rPr>
            </a:br>
            <a:r>
              <a:rPr kumimoji="0" lang="en-US" sz="1800" b="1" i="0" u="none" strike="noStrike" kern="1200" cap="none" spc="0" normalizeH="0" baseline="0" noProof="0">
                <a:ln w="3175">
                  <a:noFill/>
                </a:ln>
                <a:solidFill>
                  <a:srgbClr val="FFFFFF"/>
                </a:solidFill>
                <a:effectLst/>
                <a:uLnTx/>
                <a:uFillTx/>
                <a:latin typeface="Segoe UI Semibold"/>
                <a:ea typeface="+mn-ea"/>
                <a:cs typeface="+mn-cs"/>
              </a:rPr>
              <a:t>compliance</a:t>
            </a:r>
          </a:p>
        </p:txBody>
      </p:sp>
      <p:sp>
        <p:nvSpPr>
          <p:cNvPr id="4" name="Content Placeholder 2">
            <a:extLst>
              <a:ext uri="{FF2B5EF4-FFF2-40B4-BE49-F238E27FC236}">
                <a16:creationId xmlns:a16="http://schemas.microsoft.com/office/drawing/2014/main" id="{5ABBBEE4-4C45-5143-4567-F2B648AE28C5}"/>
              </a:ext>
            </a:extLst>
          </p:cNvPr>
          <p:cNvSpPr txBox="1">
            <a:spLocks noGrp="1" noRot="1" noMove="1" noResize="1" noEditPoints="1" noAdjustHandles="1" noChangeArrowheads="1" noChangeShapeType="1"/>
          </p:cNvSpPr>
          <p:nvPr/>
        </p:nvSpPr>
        <p:spPr>
          <a:xfrm>
            <a:off x="9476741" y="2795135"/>
            <a:ext cx="1927528" cy="830997"/>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2275850" rtl="0" eaLnBrk="1" fontAlgn="base" latinLnBrk="0" hangingPunct="1">
              <a:lnSpc>
                <a:spcPct val="100000"/>
              </a:lnSpc>
              <a:spcBef>
                <a:spcPct val="0"/>
              </a:spcBef>
              <a:spcAft>
                <a:spcPts val="2987"/>
              </a:spcAft>
              <a:buClrTx/>
              <a:buSzPct val="90000"/>
              <a:buFont typeface="Wingdings" panose="05000000000000000000" pitchFamily="2" charset="2"/>
              <a:buNone/>
              <a:tabLst/>
              <a:defRPr/>
            </a:pPr>
            <a:r>
              <a:rPr kumimoji="0" lang="en-US" sz="5400" b="1" i="0" u="none" strike="noStrike" kern="1200" cap="none" spc="0" normalizeH="0" baseline="0" noProof="0">
                <a:ln w="3175">
                  <a:noFill/>
                </a:ln>
                <a:gradFill>
                  <a:gsLst>
                    <a:gs pos="80000">
                      <a:srgbClr val="46A0DE"/>
                    </a:gs>
                    <a:gs pos="0">
                      <a:srgbClr val="C03BC4">
                        <a:lumMod val="70000"/>
                        <a:lumOff val="30000"/>
                      </a:srgbClr>
                    </a:gs>
                  </a:gsLst>
                  <a:path path="circle">
                    <a:fillToRect l="100000" t="100000"/>
                  </a:path>
                </a:gradFill>
                <a:effectLst/>
                <a:uLnTx/>
                <a:uFillTx/>
                <a:latin typeface="Segoe Sans Display"/>
                <a:ea typeface="+mn-ea"/>
                <a:cs typeface="Segoe UI" panose="020B0502040204020203" pitchFamily="34" charset="0"/>
              </a:rPr>
              <a:t>55%</a:t>
            </a:r>
          </a:p>
        </p:txBody>
      </p:sp>
      <p:sp>
        <p:nvSpPr>
          <p:cNvPr id="6" name="Google Shape;3000;p241">
            <a:extLst>
              <a:ext uri="{FF2B5EF4-FFF2-40B4-BE49-F238E27FC236}">
                <a16:creationId xmlns:a16="http://schemas.microsoft.com/office/drawing/2014/main" id="{EBA34204-1A7C-884F-D79C-A5B8BDA5B8DB}"/>
              </a:ext>
            </a:extLst>
          </p:cNvPr>
          <p:cNvSpPr txBox="1">
            <a:spLocks noGrp="1" noRot="1" noMove="1" noResize="1" noEditPoints="1" noAdjustHandles="1" noChangeArrowheads="1" noChangeShapeType="1"/>
          </p:cNvSpPr>
          <p:nvPr/>
        </p:nvSpPr>
        <p:spPr>
          <a:xfrm>
            <a:off x="9292727" y="3736054"/>
            <a:ext cx="2295556" cy="1231106"/>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of leaders lack understanding</a:t>
            </a:r>
          </a:p>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of how​ AI is and will be</a:t>
            </a:r>
            <a:b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b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regulated and are seeking guidance</a:t>
            </a:r>
            <a:r>
              <a:rPr kumimoji="0" lang="en-US" sz="1600" b="0" i="0" u="none" strike="noStrike" kern="1200" cap="none" spc="0" normalizeH="0" baseline="30000" noProof="0">
                <a:ln>
                  <a:noFill/>
                </a:ln>
                <a:solidFill>
                  <a:srgbClr val="091F2C"/>
                </a:solidFill>
                <a:effectLst/>
                <a:uLnTx/>
                <a:uFillTx/>
                <a:latin typeface="Segoe Sans Display Semilight"/>
                <a:ea typeface="+mn-ea"/>
                <a:cs typeface="+mn-cs"/>
              </a:rPr>
              <a:t>1</a:t>
            </a:r>
            <a:endParaRPr kumimoji="0" lang="en-US" sz="1600" b="0" i="0" u="none" strike="noStrike" kern="1200" cap="none" spc="0" normalizeH="0" baseline="0" noProof="0">
              <a:ln>
                <a:noFill/>
              </a:ln>
              <a:solidFill>
                <a:srgbClr val="091F2C"/>
              </a:solidFill>
              <a:effectLst/>
              <a:uLnTx/>
              <a:uFillTx/>
              <a:latin typeface="Segoe Sans Display Semilight"/>
              <a:ea typeface="+mn-ea"/>
              <a:cs typeface="+mn-cs"/>
            </a:endParaRPr>
          </a:p>
        </p:txBody>
      </p:sp>
    </p:spTree>
    <p:custDataLst>
      <p:tags r:id="rId1"/>
    </p:custDataLst>
    <p:extLst>
      <p:ext uri="{BB962C8B-B14F-4D97-AF65-F5344CB8AC3E}">
        <p14:creationId xmlns:p14="http://schemas.microsoft.com/office/powerpoint/2010/main" val="28275150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42" presetClass="path" presetSubtype="0" decel="100000" fill="hold" grpId="1" nodeType="withEffect">
                                  <p:stCondLst>
                                    <p:cond delay="0"/>
                                  </p:stCondLst>
                                  <p:childTnLst>
                                    <p:animMotion origin="layout" path="M -3.95833E-6 -1.11111E-6 L -3.95833E-6 0.03542 " pathEditMode="relative" rAng="0" ptsTypes="AA">
                                      <p:cBhvr>
                                        <p:cTn id="12" dur="700" spd="-100000" fill="hold"/>
                                        <p:tgtEl>
                                          <p:spTgt spid="7"/>
                                        </p:tgtEl>
                                        <p:attrNameLst>
                                          <p:attrName>ppt_x</p:attrName>
                                          <p:attrName>ppt_y</p:attrName>
                                        </p:attrNameLst>
                                      </p:cBhvr>
                                      <p:rCtr x="0" y="1759"/>
                                    </p:animMotion>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42" presetClass="path" presetSubtype="0" decel="100000" fill="hold" grpId="1" nodeType="withEffect">
                                  <p:stCondLst>
                                    <p:cond delay="0"/>
                                  </p:stCondLst>
                                  <p:childTnLst>
                                    <p:animMotion origin="layout" path="M -3.95833E-6 1.85185E-6 L -3.95833E-6 0.03541 " pathEditMode="relative" rAng="0" ptsTypes="AA">
                                      <p:cBhvr>
                                        <p:cTn id="17" dur="700" spd="-100000" fill="hold"/>
                                        <p:tgtEl>
                                          <p:spTgt spid="8"/>
                                        </p:tgtEl>
                                        <p:attrNameLst>
                                          <p:attrName>ppt_x</p:attrName>
                                          <p:attrName>ppt_y</p:attrName>
                                        </p:attrNameLst>
                                      </p:cBhvr>
                                      <p:rCtr x="0" y="1759"/>
                                    </p:animMotion>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42" presetClass="path" presetSubtype="0" decel="100000" fill="hold" grpId="1" nodeType="withEffect">
                                  <p:stCondLst>
                                    <p:cond delay="0"/>
                                  </p:stCondLst>
                                  <p:childTnLst>
                                    <p:animMotion origin="layout" path="M -3.95833E-6 4.81481E-6 L -3.95833E-6 0.03541 " pathEditMode="relative" rAng="0" ptsTypes="AA">
                                      <p:cBhvr>
                                        <p:cTn id="22" dur="700" spd="-100000" fill="hold"/>
                                        <p:tgtEl>
                                          <p:spTgt spid="10"/>
                                        </p:tgtEl>
                                        <p:attrNameLst>
                                          <p:attrName>ppt_x</p:attrName>
                                          <p:attrName>ppt_y</p:attrName>
                                        </p:attrNameLst>
                                      </p:cBhvr>
                                      <p:rCtr x="0" y="1759"/>
                                    </p:animMotion>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42" presetClass="path" presetSubtype="0" decel="100000" fill="hold" grpId="1" nodeType="withEffect">
                                  <p:stCondLst>
                                    <p:cond delay="0"/>
                                  </p:stCondLst>
                                  <p:childTnLst>
                                    <p:animMotion origin="layout" path="M -3.95833E-6 4.44444E-6 L -3.95833E-6 0.03541 " pathEditMode="relative" rAng="0" ptsTypes="AA">
                                      <p:cBhvr>
                                        <p:cTn id="27" dur="700" spd="-100000" fill="hold"/>
                                        <p:tgtEl>
                                          <p:spTgt spid="9"/>
                                        </p:tgtEl>
                                        <p:attrNameLst>
                                          <p:attrName>ppt_x</p:attrName>
                                          <p:attrName>ppt_y</p:attrName>
                                        </p:attrNameLst>
                                      </p:cBhvr>
                                      <p:rCtr x="0" y="1759"/>
                                    </p:animMotion>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42" presetClass="path" presetSubtype="0" decel="100000" fill="hold" grpId="1" nodeType="withEffect">
                                  <p:stCondLst>
                                    <p:cond delay="0"/>
                                  </p:stCondLst>
                                  <p:childTnLst>
                                    <p:animMotion origin="layout" path="M 1.66667E-6 -1.11111E-6 L 1.66667E-6 0.03542 " pathEditMode="relative" rAng="0" ptsTypes="AA">
                                      <p:cBhvr>
                                        <p:cTn id="32" dur="700" spd="-100000" fill="hold"/>
                                        <p:tgtEl>
                                          <p:spTgt spid="11"/>
                                        </p:tgtEl>
                                        <p:attrNameLst>
                                          <p:attrName>ppt_x</p:attrName>
                                          <p:attrName>ppt_y</p:attrName>
                                        </p:attrNameLst>
                                      </p:cBhvr>
                                      <p:rCtr x="0" y="1759"/>
                                    </p:animMotion>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42" presetClass="path" presetSubtype="0" decel="100000" fill="hold" grpId="1" nodeType="withEffect">
                                  <p:stCondLst>
                                    <p:cond delay="0"/>
                                  </p:stCondLst>
                                  <p:childTnLst>
                                    <p:animMotion origin="layout" path="M 4.375E-6 -1.11111E-6 L 4.375E-6 0.03542 " pathEditMode="relative" rAng="0" ptsTypes="AA">
                                      <p:cBhvr>
                                        <p:cTn id="37" dur="700" spd="-100000" fill="hold"/>
                                        <p:tgtEl>
                                          <p:spTgt spid="12"/>
                                        </p:tgtEl>
                                        <p:attrNameLst>
                                          <p:attrName>ppt_x</p:attrName>
                                          <p:attrName>ppt_y</p:attrName>
                                        </p:attrNameLst>
                                      </p:cBhvr>
                                      <p:rCtr x="0" y="1759"/>
                                    </p:animMotion>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42" presetClass="path" presetSubtype="0" decel="100000" fill="hold" grpId="1" nodeType="withEffect">
                                  <p:stCondLst>
                                    <p:cond delay="0"/>
                                  </p:stCondLst>
                                  <p:childTnLst>
                                    <p:animMotion origin="layout" path="M 1.66667E-6 4.44444E-6 L 1.66667E-6 0.03541 " pathEditMode="relative" rAng="0" ptsTypes="AA">
                                      <p:cBhvr>
                                        <p:cTn id="42" dur="700" spd="-100000" fill="hold"/>
                                        <p:tgtEl>
                                          <p:spTgt spid="14"/>
                                        </p:tgtEl>
                                        <p:attrNameLst>
                                          <p:attrName>ppt_x</p:attrName>
                                          <p:attrName>ppt_y</p:attrName>
                                        </p:attrNameLst>
                                      </p:cBhvr>
                                      <p:rCtr x="0" y="1759"/>
                                    </p:animMotion>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42" presetClass="path" presetSubtype="0" decel="100000" fill="hold" grpId="1" nodeType="withEffect">
                                  <p:stCondLst>
                                    <p:cond delay="0"/>
                                  </p:stCondLst>
                                  <p:childTnLst>
                                    <p:animMotion origin="layout" path="M 1.66667E-6 1.85185E-6 L 1.66667E-6 0.03541 " pathEditMode="relative" rAng="0" ptsTypes="AA">
                                      <p:cBhvr>
                                        <p:cTn id="47" dur="700" spd="-100000" fill="hold"/>
                                        <p:tgtEl>
                                          <p:spTgt spid="13"/>
                                        </p:tgtEl>
                                        <p:attrNameLst>
                                          <p:attrName>ppt_x</p:attrName>
                                          <p:attrName>ppt_y</p:attrName>
                                        </p:attrNameLst>
                                      </p:cBhvr>
                                      <p:rCtr x="0" y="1759"/>
                                    </p:animMotion>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par>
                                <p:cTn id="51" presetID="42" presetClass="path" presetSubtype="0" decel="100000" fill="hold" grpId="1" nodeType="withEffect">
                                  <p:stCondLst>
                                    <p:cond delay="0"/>
                                  </p:stCondLst>
                                  <p:childTnLst>
                                    <p:animMotion origin="layout" path="M 1.66667E-6 4.81481E-6 L 1.66667E-6 0.03541 " pathEditMode="relative" rAng="0" ptsTypes="AA">
                                      <p:cBhvr>
                                        <p:cTn id="52" dur="700" spd="-100000" fill="hold"/>
                                        <p:tgtEl>
                                          <p:spTgt spid="23"/>
                                        </p:tgtEl>
                                        <p:attrNameLst>
                                          <p:attrName>ppt_x</p:attrName>
                                          <p:attrName>ppt_y</p:attrName>
                                        </p:attrNameLst>
                                      </p:cBhvr>
                                      <p:rCtr x="0" y="1759"/>
                                    </p:animMotion>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6" presetID="42" presetClass="path" presetSubtype="0" decel="100000" fill="hold" grpId="1" nodeType="withEffect">
                                  <p:stCondLst>
                                    <p:cond delay="0"/>
                                  </p:stCondLst>
                                  <p:childTnLst>
                                    <p:animMotion origin="layout" path="M 4.375E-6 4.44444E-6 L 4.375E-6 0.03541 " pathEditMode="relative" rAng="0" ptsTypes="AA">
                                      <p:cBhvr>
                                        <p:cTn id="57" dur="700" spd="-100000" fill="hold"/>
                                        <p:tgtEl>
                                          <p:spTgt spid="25"/>
                                        </p:tgtEl>
                                        <p:attrNameLst>
                                          <p:attrName>ppt_x</p:attrName>
                                          <p:attrName>ppt_y</p:attrName>
                                        </p:attrNameLst>
                                      </p:cBhvr>
                                      <p:rCtr x="0" y="1759"/>
                                    </p:animMotion>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42" presetClass="path" presetSubtype="0" decel="100000" fill="hold" grpId="1" nodeType="withEffect">
                                  <p:stCondLst>
                                    <p:cond delay="0"/>
                                  </p:stCondLst>
                                  <p:childTnLst>
                                    <p:animMotion origin="layout" path="M 4.375E-6 1.85185E-6 L 4.375E-6 0.03541 " pathEditMode="relative" rAng="0" ptsTypes="AA">
                                      <p:cBhvr>
                                        <p:cTn id="62" dur="700" spd="-100000" fill="hold"/>
                                        <p:tgtEl>
                                          <p:spTgt spid="24"/>
                                        </p:tgtEl>
                                        <p:attrNameLst>
                                          <p:attrName>ppt_x</p:attrName>
                                          <p:attrName>ppt_y</p:attrName>
                                        </p:attrNameLst>
                                      </p:cBhvr>
                                      <p:rCtr x="0" y="1759"/>
                                    </p:animMotion>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42" presetClass="path" presetSubtype="0" decel="100000" fill="hold" grpId="1" nodeType="withEffect">
                                  <p:stCondLst>
                                    <p:cond delay="0"/>
                                  </p:stCondLst>
                                  <p:childTnLst>
                                    <p:animMotion origin="layout" path="M 4.375E-6 -1.11111E-6 L 4.375E-6 0.03542 " pathEditMode="relative" rAng="0" ptsTypes="AA">
                                      <p:cBhvr>
                                        <p:cTn id="67" dur="700" spd="-100000" fill="hold"/>
                                        <p:tgtEl>
                                          <p:spTgt spid="26"/>
                                        </p:tgtEl>
                                        <p:attrNameLst>
                                          <p:attrName>ppt_x</p:attrName>
                                          <p:attrName>ppt_y</p:attrName>
                                        </p:attrNameLst>
                                      </p:cBhvr>
                                      <p:rCtr x="0" y="1759"/>
                                    </p:animMotion>
                                  </p:childTnLst>
                                </p:cTn>
                              </p:par>
                              <p:par>
                                <p:cTn id="68" presetID="10" presetClass="entr" presetSubtype="0" fill="hold" grpId="0" nodeType="withEffect">
                                  <p:stCondLst>
                                    <p:cond delay="0"/>
                                  </p:stCondLst>
                                  <p:childTnLst>
                                    <p:set>
                                      <p:cBhvr>
                                        <p:cTn id="69" dur="1" fill="hold">
                                          <p:stCondLst>
                                            <p:cond delay="0"/>
                                          </p:stCondLst>
                                        </p:cTn>
                                        <p:tgtEl>
                                          <p:spTgt spid="2"/>
                                        </p:tgtEl>
                                        <p:attrNameLst>
                                          <p:attrName>style.visibility</p:attrName>
                                        </p:attrNameLst>
                                      </p:cBhvr>
                                      <p:to>
                                        <p:strVal val="visible"/>
                                      </p:to>
                                    </p:set>
                                    <p:animEffect transition="in" filter="fade">
                                      <p:cBhvr>
                                        <p:cTn id="70" dur="500"/>
                                        <p:tgtEl>
                                          <p:spTgt spid="2"/>
                                        </p:tgtEl>
                                      </p:cBhvr>
                                    </p:animEffect>
                                  </p:childTnLst>
                                </p:cTn>
                              </p:par>
                              <p:par>
                                <p:cTn id="71" presetID="42" presetClass="path" presetSubtype="0" decel="100000" fill="hold" grpId="1" nodeType="withEffect">
                                  <p:stCondLst>
                                    <p:cond delay="0"/>
                                  </p:stCondLst>
                                  <p:childTnLst>
                                    <p:animMotion origin="layout" path="M -2.08333E-7 -1.11111E-6 L -2.08333E-7 0.03542 " pathEditMode="relative" rAng="0" ptsTypes="AA">
                                      <p:cBhvr>
                                        <p:cTn id="72" dur="700" spd="-100000" fill="hold"/>
                                        <p:tgtEl>
                                          <p:spTgt spid="2"/>
                                        </p:tgtEl>
                                        <p:attrNameLst>
                                          <p:attrName>ppt_x</p:attrName>
                                          <p:attrName>ppt_y</p:attrName>
                                        </p:attrNameLst>
                                      </p:cBhvr>
                                      <p:rCtr x="0" y="1759"/>
                                    </p:animMotion>
                                  </p:childTnLst>
                                </p:cTn>
                              </p:par>
                              <p:par>
                                <p:cTn id="73" presetID="10" presetClass="entr" presetSubtype="0" fill="hold" grpId="0" nodeType="with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fade">
                                      <p:cBhvr>
                                        <p:cTn id="75" dur="500"/>
                                        <p:tgtEl>
                                          <p:spTgt spid="4"/>
                                        </p:tgtEl>
                                      </p:cBhvr>
                                    </p:animEffect>
                                  </p:childTnLst>
                                </p:cTn>
                              </p:par>
                              <p:par>
                                <p:cTn id="76" presetID="42" presetClass="path" presetSubtype="0" decel="100000" fill="hold" grpId="1" nodeType="withEffect">
                                  <p:stCondLst>
                                    <p:cond delay="0"/>
                                  </p:stCondLst>
                                  <p:childTnLst>
                                    <p:animMotion origin="layout" path="M -2.08333E-7 4.44444E-6 L -2.08333E-7 0.03541 " pathEditMode="relative" rAng="0" ptsTypes="AA">
                                      <p:cBhvr>
                                        <p:cTn id="77" dur="700" spd="-100000" fill="hold"/>
                                        <p:tgtEl>
                                          <p:spTgt spid="4"/>
                                        </p:tgtEl>
                                        <p:attrNameLst>
                                          <p:attrName>ppt_x</p:attrName>
                                          <p:attrName>ppt_y</p:attrName>
                                        </p:attrNameLst>
                                      </p:cBhvr>
                                      <p:rCtr x="0" y="1759"/>
                                    </p:animMotion>
                                  </p:childTnLst>
                                </p:cTn>
                              </p:par>
                              <p:par>
                                <p:cTn id="78" presetID="10" presetClass="entr" presetSubtype="0" fill="hold" grpId="0" nodeType="withEffect">
                                  <p:stCondLst>
                                    <p:cond delay="0"/>
                                  </p:stCondLst>
                                  <p:childTnLst>
                                    <p:set>
                                      <p:cBhvr>
                                        <p:cTn id="79" dur="1" fill="hold">
                                          <p:stCondLst>
                                            <p:cond delay="0"/>
                                          </p:stCondLst>
                                        </p:cTn>
                                        <p:tgtEl>
                                          <p:spTgt spid="3"/>
                                        </p:tgtEl>
                                        <p:attrNameLst>
                                          <p:attrName>style.visibility</p:attrName>
                                        </p:attrNameLst>
                                      </p:cBhvr>
                                      <p:to>
                                        <p:strVal val="visible"/>
                                      </p:to>
                                    </p:set>
                                    <p:animEffect transition="in" filter="fade">
                                      <p:cBhvr>
                                        <p:cTn id="80" dur="500"/>
                                        <p:tgtEl>
                                          <p:spTgt spid="3"/>
                                        </p:tgtEl>
                                      </p:cBhvr>
                                    </p:animEffect>
                                  </p:childTnLst>
                                </p:cTn>
                              </p:par>
                              <p:par>
                                <p:cTn id="81" presetID="42" presetClass="path" presetSubtype="0" decel="100000" fill="hold" grpId="1" nodeType="withEffect">
                                  <p:stCondLst>
                                    <p:cond delay="0"/>
                                  </p:stCondLst>
                                  <p:childTnLst>
                                    <p:animMotion origin="layout" path="M -2.08333E-7 1.85185E-6 L -2.08333E-7 0.03541 " pathEditMode="relative" rAng="0" ptsTypes="AA">
                                      <p:cBhvr>
                                        <p:cTn id="82" dur="700" spd="-100000" fill="hold"/>
                                        <p:tgtEl>
                                          <p:spTgt spid="3"/>
                                        </p:tgtEl>
                                        <p:attrNameLst>
                                          <p:attrName>ppt_x</p:attrName>
                                          <p:attrName>ppt_y</p:attrName>
                                        </p:attrNameLst>
                                      </p:cBhvr>
                                      <p:rCtr x="0" y="1759"/>
                                    </p:animMotion>
                                  </p:childTnLst>
                                </p:cTn>
                              </p:par>
                              <p:par>
                                <p:cTn id="83" presetID="10" presetClass="entr" presetSubtype="0" fill="hold" grpId="0" nodeType="with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fade">
                                      <p:cBhvr>
                                        <p:cTn id="85" dur="500"/>
                                        <p:tgtEl>
                                          <p:spTgt spid="6"/>
                                        </p:tgtEl>
                                      </p:cBhvr>
                                    </p:animEffect>
                                  </p:childTnLst>
                                </p:cTn>
                              </p:par>
                              <p:par>
                                <p:cTn id="86" presetID="42" presetClass="path" presetSubtype="0" decel="100000" fill="hold" grpId="1" nodeType="withEffect">
                                  <p:stCondLst>
                                    <p:cond delay="0"/>
                                  </p:stCondLst>
                                  <p:childTnLst>
                                    <p:animMotion origin="layout" path="M -2.08333E-7 -7.40741E-7 L -2.08333E-7 0.03542 " pathEditMode="relative" rAng="0" ptsTypes="AA">
                                      <p:cBhvr>
                                        <p:cTn id="87" dur="700" spd="-100000" fill="hold"/>
                                        <p:tgtEl>
                                          <p:spTgt spid="6"/>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7" grpId="1" animBg="1"/>
      <p:bldP spid="8" grpId="0" animBg="1"/>
      <p:bldP spid="8" grpId="1" animBg="1"/>
      <p:bldP spid="9" grpId="0"/>
      <p:bldP spid="9" grpId="1"/>
      <p:bldP spid="10" grpId="0"/>
      <p:bldP spid="10" grpId="1"/>
      <p:bldP spid="11" grpId="0" animBg="1"/>
      <p:bldP spid="11" grpId="1" animBg="1"/>
      <p:bldP spid="12" grpId="0" animBg="1"/>
      <p:bldP spid="12" grpId="1" animBg="1"/>
      <p:bldP spid="13" grpId="0" animBg="1"/>
      <p:bldP spid="13" grpId="1" animBg="1"/>
      <p:bldP spid="14" grpId="0"/>
      <p:bldP spid="14" grpId="1"/>
      <p:bldP spid="23" grpId="0"/>
      <p:bldP spid="23" grpId="1"/>
      <p:bldP spid="24" grpId="0" animBg="1"/>
      <p:bldP spid="24" grpId="1" animBg="1"/>
      <p:bldP spid="25" grpId="0"/>
      <p:bldP spid="25" grpId="1"/>
      <p:bldP spid="26" grpId="0"/>
      <p:bldP spid="26" grpId="1"/>
      <p:bldP spid="2" grpId="0" animBg="1"/>
      <p:bldP spid="2" grpId="1" animBg="1"/>
      <p:bldP spid="3" grpId="0" animBg="1"/>
      <p:bldP spid="3" grpId="1" animBg="1"/>
      <p:bldP spid="4" grpId="0"/>
      <p:bldP spid="4" grpId="1"/>
      <p:bldP spid="6" grpId="0"/>
      <p:bldP spid="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A2345-53EF-683B-E077-413546906255}"/>
              </a:ext>
            </a:extLst>
          </p:cNvPr>
          <p:cNvSpPr>
            <a:spLocks noGrp="1" noRot="1" noMove="1" noResize="1" noEditPoints="1" noAdjustHandles="1" noChangeArrowheads="1" noChangeShapeType="1"/>
          </p:cNvSpPr>
          <p:nvPr>
            <p:ph type="title"/>
          </p:nvPr>
        </p:nvSpPr>
        <p:spPr>
          <a:xfrm>
            <a:off x="358774" y="254452"/>
            <a:ext cx="11472863" cy="553998"/>
          </a:xfrm>
        </p:spPr>
        <p:txBody>
          <a:bodyPr/>
          <a:lstStyle/>
          <a:p>
            <a:r>
              <a:rPr lang="en-US"/>
              <a:t>AI creates new attack surfaces</a:t>
            </a:r>
          </a:p>
        </p:txBody>
      </p:sp>
      <p:sp>
        <p:nvSpPr>
          <p:cNvPr id="5" name="TextBox 4">
            <a:extLst>
              <a:ext uri="{FF2B5EF4-FFF2-40B4-BE49-F238E27FC236}">
                <a16:creationId xmlns:a16="http://schemas.microsoft.com/office/drawing/2014/main" id="{ECDBDCEC-9C52-FFCB-0417-870CB997300E}"/>
              </a:ext>
            </a:extLst>
          </p:cNvPr>
          <p:cNvSpPr txBox="1">
            <a:spLocks noGrp="1" noRot="1" noMove="1" noResize="1" noEditPoints="1" noAdjustHandles="1" noChangeArrowheads="1" noChangeShapeType="1"/>
          </p:cNvSpPr>
          <p:nvPr/>
        </p:nvSpPr>
        <p:spPr>
          <a:xfrm>
            <a:off x="1230892" y="2265716"/>
            <a:ext cx="2574328" cy="738664"/>
          </a:xfrm>
          <a:prstGeom prst="rect">
            <a:avLst/>
          </a:prstGeom>
          <a:noFill/>
        </p:spPr>
        <p:txBody>
          <a:bodyPr wrap="square" lIns="0" tIns="0" rIns="0" bIns="0" rtlCol="0">
            <a:spAutoFit/>
          </a:bodyPr>
          <a:lstStyle/>
          <a:p>
            <a:pPr marL="0" marR="0" lvl="0" indent="0" algn="r" defTabSz="28681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New AI  </a:t>
            </a:r>
            <a:br>
              <a:rPr kumimoji="0" lang="en-US" sz="2400" b="1" i="0" u="none" strike="noStrike" kern="120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br>
            <a:r>
              <a:rPr kumimoji="0" lang="en-US" sz="2400" b="1" i="0" u="none" strike="noStrike" kern="120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attack surfaces</a:t>
            </a:r>
          </a:p>
        </p:txBody>
      </p:sp>
      <p:cxnSp>
        <p:nvCxnSpPr>
          <p:cNvPr id="8" name="Straight Connector 7" descr="Line to top half of diagram">
            <a:extLst>
              <a:ext uri="{FF2B5EF4-FFF2-40B4-BE49-F238E27FC236}">
                <a16:creationId xmlns:a16="http://schemas.microsoft.com/office/drawing/2014/main" id="{24C7794A-B4F9-6A1A-7E25-E9D120424CCF}"/>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a:xfrm>
            <a:off x="1806235" y="3200620"/>
            <a:ext cx="2189210" cy="0"/>
          </a:xfrm>
          <a:prstGeom prst="line">
            <a:avLst/>
          </a:prstGeom>
          <a:noFill/>
          <a:ln w="15875" cap="rnd">
            <a:solidFill>
              <a:srgbClr val="0070C4"/>
            </a:solidFill>
            <a:headEnd type="none" w="med" len="med"/>
            <a:tailEnd type="oval" w="med" len="med"/>
          </a:ln>
          <a:effectLst/>
        </p:spPr>
        <p:style>
          <a:lnRef idx="1">
            <a:schemeClr val="accent2"/>
          </a:lnRef>
          <a:fillRef idx="3">
            <a:schemeClr val="accent2"/>
          </a:fillRef>
          <a:effectRef idx="2">
            <a:schemeClr val="accent2"/>
          </a:effectRef>
          <a:fontRef idx="minor">
            <a:schemeClr val="lt1"/>
          </a:fontRef>
        </p:style>
      </p:cxnSp>
      <p:sp>
        <p:nvSpPr>
          <p:cNvPr id="9" name="Freeform 14" descr="Top half of circle connected to &quot;New AI attack surfaces&quot;">
            <a:extLst>
              <a:ext uri="{FF2B5EF4-FFF2-40B4-BE49-F238E27FC236}">
                <a16:creationId xmlns:a16="http://schemas.microsoft.com/office/drawing/2014/main" id="{27A2B335-ABBD-C756-3FFE-C0DFB8CF7A3A}"/>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nvSpPr>
        <p:spPr bwMode="auto">
          <a:xfrm>
            <a:off x="4098195" y="1647702"/>
            <a:ext cx="3996951" cy="2064872"/>
          </a:xfrm>
          <a:custGeom>
            <a:avLst/>
            <a:gdLst>
              <a:gd name="connsiteX0" fmla="*/ 2442358 w 4884716"/>
              <a:gd name="connsiteY0" fmla="*/ 0 h 2470153"/>
              <a:gd name="connsiteX1" fmla="*/ 4884716 w 4884716"/>
              <a:gd name="connsiteY1" fmla="*/ 2442358 h 2470153"/>
              <a:gd name="connsiteX2" fmla="*/ 4883312 w 4884716"/>
              <a:gd name="connsiteY2" fmla="*/ 2470153 h 2470153"/>
              <a:gd name="connsiteX3" fmla="*/ 1404 w 4884716"/>
              <a:gd name="connsiteY3" fmla="*/ 2470153 h 2470153"/>
              <a:gd name="connsiteX4" fmla="*/ 0 w 4884716"/>
              <a:gd name="connsiteY4" fmla="*/ 2442358 h 2470153"/>
              <a:gd name="connsiteX5" fmla="*/ 2442358 w 4884716"/>
              <a:gd name="connsiteY5" fmla="*/ 0 h 247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4716" h="2470153">
                <a:moveTo>
                  <a:pt x="2442358" y="0"/>
                </a:moveTo>
                <a:cubicBezTo>
                  <a:pt x="3791235" y="0"/>
                  <a:pt x="4884716" y="1093481"/>
                  <a:pt x="4884716" y="2442358"/>
                </a:cubicBezTo>
                <a:lnTo>
                  <a:pt x="4883312" y="2470153"/>
                </a:lnTo>
                <a:lnTo>
                  <a:pt x="1404" y="2470153"/>
                </a:lnTo>
                <a:lnTo>
                  <a:pt x="0" y="2442358"/>
                </a:lnTo>
                <a:cubicBezTo>
                  <a:pt x="0" y="1093481"/>
                  <a:pt x="1093481" y="0"/>
                  <a:pt x="2442358" y="0"/>
                </a:cubicBezTo>
                <a:close/>
              </a:path>
            </a:pathLst>
          </a:custGeom>
          <a:gradFill>
            <a:gsLst>
              <a:gs pos="100000">
                <a:srgbClr val="C5B4E3"/>
              </a:gs>
              <a:gs pos="34000">
                <a:srgbClr val="8661C5"/>
              </a:gs>
              <a:gs pos="0">
                <a:srgbClr val="1A75A9"/>
              </a:gs>
            </a:gsLst>
            <a:lin ang="16200000" scaled="0"/>
          </a:gradFill>
          <a:ln w="10795" cap="flat" cmpd="sng" algn="ctr">
            <a:noFill/>
            <a:prstDash val="solid"/>
            <a:headEnd type="none" w="med" len="med"/>
            <a:tailEnd type="none" w="med" len="med"/>
          </a:ln>
          <a:effectLst/>
        </p:spPr>
        <p:txBody>
          <a:bodyPr vert="horz" wrap="square" lIns="44815" tIns="44815" rIns="44815" bIns="15536" numCol="1" rtlCol="0" anchor="ctr" anchorCtr="0" compatLnSpc="1">
            <a:prstTxWarp prst="textNoShape">
              <a:avLst/>
            </a:prstTxWarp>
          </a:bodyPr>
          <a:lstStyle/>
          <a:p>
            <a:pPr marL="0" marR="0" lvl="0" indent="0" algn="ctr" defTabSz="304734" rtl="0" eaLnBrk="1" fontAlgn="auto" latinLnBrk="0" hangingPunct="1">
              <a:lnSpc>
                <a:spcPct val="100000"/>
              </a:lnSpc>
              <a:spcBef>
                <a:spcPct val="0"/>
              </a:spcBef>
              <a:spcAft>
                <a:spcPts val="196"/>
              </a:spcAft>
              <a:buClrTx/>
              <a:buSzTx/>
              <a:buFontTx/>
              <a:buNone/>
              <a:tabLst/>
              <a:defRPr/>
            </a:pPr>
            <a:endParaRPr kumimoji="0" lang="en-US" sz="392" b="0" i="0" u="none" strike="noStrike" kern="1200" cap="none" spc="0" normalizeH="0" baseline="0" noProof="0" err="1">
              <a:ln w="3175">
                <a:noFill/>
              </a:ln>
              <a:gradFill>
                <a:gsLst>
                  <a:gs pos="0">
                    <a:srgbClr val="6C6E6C"/>
                  </a:gs>
                  <a:gs pos="100000">
                    <a:srgbClr val="6C6E6C"/>
                  </a:gs>
                </a:gsLst>
                <a:lin ang="5400000" scaled="0"/>
              </a:gradFill>
              <a:effectLst/>
              <a:uLnTx/>
              <a:uFillTx/>
              <a:latin typeface="Segoe Sans Display Semibold" pitchFamily="2" charset="0"/>
              <a:ea typeface="+mn-ea"/>
              <a:cs typeface="Segoe Sans Display Semibold" pitchFamily="2" charset="0"/>
            </a:endParaRPr>
          </a:p>
        </p:txBody>
      </p:sp>
      <p:sp>
        <p:nvSpPr>
          <p:cNvPr id="10" name="TextBox 9">
            <a:extLst>
              <a:ext uri="{FF2B5EF4-FFF2-40B4-BE49-F238E27FC236}">
                <a16:creationId xmlns:a16="http://schemas.microsoft.com/office/drawing/2014/main" id="{EFC3269D-F351-EC4B-0967-7F829CC670B4}"/>
              </a:ext>
            </a:extLst>
          </p:cNvPr>
          <p:cNvSpPr txBox="1">
            <a:spLocks noGrp="1" noRot="1" noMove="1" noResize="1" noEditPoints="1" noAdjustHandles="1" noChangeArrowheads="1" noChangeShapeType="1"/>
          </p:cNvSpPr>
          <p:nvPr/>
        </p:nvSpPr>
        <p:spPr>
          <a:xfrm flipH="1">
            <a:off x="6304654" y="2449425"/>
            <a:ext cx="1306395" cy="498598"/>
          </a:xfrm>
          <a:prstGeom prst="rect">
            <a:avLst/>
          </a:prstGeom>
          <a:noFill/>
          <a:effectLst/>
        </p:spPr>
        <p:txBody>
          <a:bodyPr wrap="square" lIns="0" tIns="0" rIns="0" bIns="0" rtlCol="0">
            <a:spAutoFit/>
          </a:bodyPr>
          <a:lstStyle>
            <a:defPPr>
              <a:defRPr lang="en-US"/>
            </a:defPPr>
            <a:lvl1pPr>
              <a:defRPr>
                <a:solidFill>
                  <a:schemeClr val="bg1"/>
                </a:solidFill>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Generative AI prompts and responses</a:t>
            </a:r>
          </a:p>
        </p:txBody>
      </p:sp>
      <p:sp>
        <p:nvSpPr>
          <p:cNvPr id="11" name="TextBox 10">
            <a:extLst>
              <a:ext uri="{FF2B5EF4-FFF2-40B4-BE49-F238E27FC236}">
                <a16:creationId xmlns:a16="http://schemas.microsoft.com/office/drawing/2014/main" id="{D97420B4-18DE-6A0B-57DA-AB541E432AFB}"/>
              </a:ext>
            </a:extLst>
          </p:cNvPr>
          <p:cNvSpPr txBox="1">
            <a:spLocks noGrp="1" noRot="1" noMove="1" noResize="1" noEditPoints="1" noAdjustHandles="1" noChangeArrowheads="1" noChangeShapeType="1"/>
          </p:cNvSpPr>
          <p:nvPr/>
        </p:nvSpPr>
        <p:spPr>
          <a:xfrm flipH="1">
            <a:off x="4468039" y="2435709"/>
            <a:ext cx="1543641" cy="332399"/>
          </a:xfrm>
          <a:prstGeom prst="rect">
            <a:avLst/>
          </a:prstGeom>
          <a:noFill/>
          <a:effectLst/>
        </p:spPr>
        <p:txBody>
          <a:bodyPr wrap="square" lIns="0" tIns="0" rIns="0" bIns="0" rtlCol="0">
            <a:spAutoFit/>
          </a:bodyPr>
          <a:lstStyle>
            <a:defPPr>
              <a:defRPr lang="en-US"/>
            </a:defPPr>
            <a:lvl1pPr>
              <a:defRPr>
                <a:solidFill>
                  <a:schemeClr val="bg1"/>
                </a:solidFill>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AI data and  orchestration</a:t>
            </a:r>
          </a:p>
        </p:txBody>
      </p:sp>
      <p:sp>
        <p:nvSpPr>
          <p:cNvPr id="12" name="TextBox 11">
            <a:extLst>
              <a:ext uri="{FF2B5EF4-FFF2-40B4-BE49-F238E27FC236}">
                <a16:creationId xmlns:a16="http://schemas.microsoft.com/office/drawing/2014/main" id="{2FA40426-882B-E82F-FAD8-7F82DE3FFD94}"/>
              </a:ext>
            </a:extLst>
          </p:cNvPr>
          <p:cNvSpPr txBox="1">
            <a:spLocks noGrp="1" noRot="1" noMove="1" noResize="1" noEditPoints="1" noAdjustHandles="1" noChangeArrowheads="1" noChangeShapeType="1"/>
          </p:cNvSpPr>
          <p:nvPr/>
        </p:nvSpPr>
        <p:spPr>
          <a:xfrm flipH="1">
            <a:off x="6788626" y="3080999"/>
            <a:ext cx="1232874" cy="332399"/>
          </a:xfrm>
          <a:prstGeom prst="rect">
            <a:avLst/>
          </a:prstGeom>
          <a:noFill/>
          <a:effectLst/>
        </p:spPr>
        <p:txBody>
          <a:bodyPr wrap="square" lIns="0" tIns="0" rIns="0" bIns="0" rtlCol="0">
            <a:spAutoFit/>
          </a:bodyPr>
          <a:lstStyle>
            <a:defPPr>
              <a:defRPr lang="en-US"/>
            </a:defPPr>
            <a:lvl1pPr>
              <a:defRPr>
                <a:solidFill>
                  <a:schemeClr val="bg1"/>
                </a:solidFill>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Plug-ins </a:t>
            </a:r>
            <a:br>
              <a:rPr kumimoji="0" lang="en-US" sz="1200" b="0" i="0" u="none" strike="noStrike" kern="1200" cap="none" spc="0" normalizeH="0" baseline="0" noProof="0">
                <a:ln>
                  <a:noFill/>
                </a:ln>
                <a:solidFill>
                  <a:srgbClr val="FFFFFF"/>
                </a:solidFill>
                <a:effectLst/>
                <a:uLnTx/>
                <a:uFillTx/>
                <a:latin typeface="Segoe UI Semibold"/>
                <a:ea typeface="+mn-ea"/>
                <a:cs typeface="+mn-cs"/>
              </a:rPr>
            </a:br>
            <a:r>
              <a:rPr kumimoji="0" lang="en-US" sz="1200" b="0" i="0" u="none" strike="noStrike" kern="1200" cap="none" spc="0" normalizeH="0" baseline="0" noProof="0">
                <a:ln>
                  <a:noFill/>
                </a:ln>
                <a:solidFill>
                  <a:srgbClr val="FFFFFF"/>
                </a:solidFill>
                <a:effectLst/>
                <a:uLnTx/>
                <a:uFillTx/>
                <a:latin typeface="Segoe UI Semibold"/>
                <a:ea typeface="+mn-ea"/>
                <a:cs typeface="+mn-cs"/>
              </a:rPr>
              <a:t>and functions</a:t>
            </a:r>
          </a:p>
        </p:txBody>
      </p:sp>
      <p:sp>
        <p:nvSpPr>
          <p:cNvPr id="13" name="TextBox 12">
            <a:extLst>
              <a:ext uri="{FF2B5EF4-FFF2-40B4-BE49-F238E27FC236}">
                <a16:creationId xmlns:a16="http://schemas.microsoft.com/office/drawing/2014/main" id="{86655E7E-A024-864F-819C-C3509414CA89}"/>
              </a:ext>
            </a:extLst>
          </p:cNvPr>
          <p:cNvSpPr txBox="1">
            <a:spLocks noGrp="1" noRot="1" noMove="1" noResize="1" noEditPoints="1" noAdjustHandles="1" noChangeArrowheads="1" noChangeShapeType="1"/>
          </p:cNvSpPr>
          <p:nvPr/>
        </p:nvSpPr>
        <p:spPr>
          <a:xfrm flipH="1">
            <a:off x="4024184" y="3101129"/>
            <a:ext cx="1566814" cy="332399"/>
          </a:xfrm>
          <a:prstGeom prst="rect">
            <a:avLst/>
          </a:prstGeom>
          <a:noFill/>
          <a:effectLst/>
        </p:spPr>
        <p:txBody>
          <a:bodyPr wrap="square" lIns="0" tIns="0" rIns="0" bIns="0" rtlCol="0">
            <a:spAutoFit/>
          </a:bodyPr>
          <a:lstStyle>
            <a:defPPr>
              <a:defRPr lang="en-US"/>
            </a:defPPr>
            <a:lvl1pPr>
              <a:defRPr>
                <a:solidFill>
                  <a:schemeClr val="bg1"/>
                </a:solidFill>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Web data and </a:t>
            </a:r>
            <a:br>
              <a:rPr kumimoji="0" lang="en-US" sz="1200" b="0" i="0" u="none" strike="noStrike" kern="1200" cap="none" spc="0" normalizeH="0" baseline="0" noProof="0">
                <a:ln>
                  <a:noFill/>
                </a:ln>
                <a:solidFill>
                  <a:srgbClr val="FFFFFF"/>
                </a:solidFill>
                <a:effectLst/>
                <a:uLnTx/>
                <a:uFillTx/>
                <a:latin typeface="Segoe UI Semibold"/>
                <a:ea typeface="+mn-ea"/>
                <a:cs typeface="+mn-cs"/>
              </a:rPr>
            </a:br>
            <a:r>
              <a:rPr kumimoji="0" lang="en-US" sz="1200" b="0" i="0" u="none" strike="noStrike" kern="1200" cap="none" spc="0" normalizeH="0" baseline="0" noProof="0">
                <a:ln>
                  <a:noFill/>
                </a:ln>
                <a:solidFill>
                  <a:srgbClr val="FFFFFF"/>
                </a:solidFill>
                <a:effectLst/>
                <a:uLnTx/>
                <a:uFillTx/>
                <a:latin typeface="Segoe UI Semibold"/>
                <a:ea typeface="+mn-ea"/>
                <a:cs typeface="+mn-cs"/>
              </a:rPr>
              <a:t>source context </a:t>
            </a:r>
          </a:p>
        </p:txBody>
      </p:sp>
      <p:sp>
        <p:nvSpPr>
          <p:cNvPr id="14" name="TextBox 13">
            <a:extLst>
              <a:ext uri="{FF2B5EF4-FFF2-40B4-BE49-F238E27FC236}">
                <a16:creationId xmlns:a16="http://schemas.microsoft.com/office/drawing/2014/main" id="{9F29EAC9-2718-E0C9-39FB-A5A8C8B2B677}"/>
              </a:ext>
            </a:extLst>
          </p:cNvPr>
          <p:cNvSpPr txBox="1">
            <a:spLocks noGrp="1" noRot="1" noMove="1" noResize="1" noEditPoints="1" noAdjustHandles="1" noChangeArrowheads="1" noChangeShapeType="1"/>
          </p:cNvSpPr>
          <p:nvPr/>
        </p:nvSpPr>
        <p:spPr>
          <a:xfrm flipH="1">
            <a:off x="5516989" y="3081000"/>
            <a:ext cx="1232875" cy="332399"/>
          </a:xfrm>
          <a:prstGeom prst="rect">
            <a:avLst/>
          </a:prstGeom>
          <a:noFill/>
          <a:effectLst/>
        </p:spPr>
        <p:txBody>
          <a:bodyPr wrap="square" lIns="0" tIns="0" rIns="0" bIns="0" rtlCol="0">
            <a:spAutoFit/>
          </a:bodyPr>
          <a:lstStyle>
            <a:defPPr>
              <a:defRPr lang="en-US"/>
            </a:defPPr>
            <a:lvl1pPr>
              <a:defRPr>
                <a:solidFill>
                  <a:schemeClr val="bg1"/>
                </a:solidFill>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AI </a:t>
            </a:r>
            <a:br>
              <a:rPr kumimoji="0" lang="en-US" sz="1200" b="0" i="0" u="none" strike="noStrike" kern="1200" cap="none" spc="0" normalizeH="0" baseline="0" noProof="0">
                <a:ln>
                  <a:noFill/>
                </a:ln>
                <a:solidFill>
                  <a:srgbClr val="FFFFFF"/>
                </a:solidFill>
                <a:effectLst/>
                <a:uLnTx/>
                <a:uFillTx/>
                <a:latin typeface="Segoe UI Semibold"/>
                <a:ea typeface="+mn-ea"/>
                <a:cs typeface="+mn-cs"/>
              </a:rPr>
            </a:br>
            <a:r>
              <a:rPr kumimoji="0" lang="en-US" sz="1200" b="0" i="0" u="none" strike="noStrike" kern="1200" cap="none" spc="0" normalizeH="0" baseline="0" noProof="0">
                <a:ln>
                  <a:noFill/>
                </a:ln>
                <a:solidFill>
                  <a:srgbClr val="FFFFFF"/>
                </a:solidFill>
                <a:effectLst/>
                <a:uLnTx/>
                <a:uFillTx/>
                <a:latin typeface="Segoe UI Semibold"/>
                <a:ea typeface="+mn-ea"/>
                <a:cs typeface="+mn-cs"/>
              </a:rPr>
              <a:t>models</a:t>
            </a:r>
          </a:p>
        </p:txBody>
      </p:sp>
      <p:sp>
        <p:nvSpPr>
          <p:cNvPr id="15" name="Freeform 15" descr="Bottom half of circle connected to &quot;Traditional threat vectors&quot;">
            <a:extLst>
              <a:ext uri="{FF2B5EF4-FFF2-40B4-BE49-F238E27FC236}">
                <a16:creationId xmlns:a16="http://schemas.microsoft.com/office/drawing/2014/main" id="{2A116CFE-D3E9-FA7A-EB24-9D3C95435287}"/>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nvSpPr>
        <p:spPr bwMode="auto">
          <a:xfrm rot="10800000" flipH="1">
            <a:off x="4098195" y="3729675"/>
            <a:ext cx="3996951" cy="2064872"/>
          </a:xfrm>
          <a:custGeom>
            <a:avLst/>
            <a:gdLst>
              <a:gd name="connsiteX0" fmla="*/ 2442358 w 4884716"/>
              <a:gd name="connsiteY0" fmla="*/ 0 h 2470153"/>
              <a:gd name="connsiteX1" fmla="*/ 4884716 w 4884716"/>
              <a:gd name="connsiteY1" fmla="*/ 2442358 h 2470153"/>
              <a:gd name="connsiteX2" fmla="*/ 4883312 w 4884716"/>
              <a:gd name="connsiteY2" fmla="*/ 2470153 h 2470153"/>
              <a:gd name="connsiteX3" fmla="*/ 1404 w 4884716"/>
              <a:gd name="connsiteY3" fmla="*/ 2470153 h 2470153"/>
              <a:gd name="connsiteX4" fmla="*/ 0 w 4884716"/>
              <a:gd name="connsiteY4" fmla="*/ 2442358 h 2470153"/>
              <a:gd name="connsiteX5" fmla="*/ 2442358 w 4884716"/>
              <a:gd name="connsiteY5" fmla="*/ 0 h 247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4716" h="2470153">
                <a:moveTo>
                  <a:pt x="2442358" y="0"/>
                </a:moveTo>
                <a:cubicBezTo>
                  <a:pt x="3791235" y="0"/>
                  <a:pt x="4884716" y="1093481"/>
                  <a:pt x="4884716" y="2442358"/>
                </a:cubicBezTo>
                <a:lnTo>
                  <a:pt x="4883312" y="2470153"/>
                </a:lnTo>
                <a:lnTo>
                  <a:pt x="1404" y="2470153"/>
                </a:lnTo>
                <a:lnTo>
                  <a:pt x="0" y="2442358"/>
                </a:lnTo>
                <a:cubicBezTo>
                  <a:pt x="0" y="1093481"/>
                  <a:pt x="1093481" y="0"/>
                  <a:pt x="2442358" y="0"/>
                </a:cubicBezTo>
                <a:close/>
              </a:path>
            </a:pathLst>
          </a:custGeom>
          <a:gradFill>
            <a:gsLst>
              <a:gs pos="0">
                <a:srgbClr val="1572AA"/>
              </a:gs>
              <a:gs pos="100000">
                <a:srgbClr val="2A446F"/>
              </a:gs>
            </a:gsLst>
            <a:lin ang="16200000" scaled="0"/>
          </a:gradFill>
          <a:ln w="10795" cap="flat" cmpd="sng" algn="ctr">
            <a:noFill/>
            <a:prstDash val="solid"/>
            <a:headEnd type="none" w="med" len="med"/>
            <a:tailEnd type="none" w="med" len="med"/>
          </a:ln>
          <a:effectLst/>
        </p:spPr>
        <p:txBody>
          <a:bodyPr vert="horz" wrap="square" lIns="44815" tIns="44815" rIns="44815" bIns="15536" numCol="1" rtlCol="0" anchor="ctr" anchorCtr="0" compatLnSpc="1">
            <a:prstTxWarp prst="textNoShape">
              <a:avLst/>
            </a:prstTxWarp>
          </a:bodyPr>
          <a:lstStyle/>
          <a:p>
            <a:pPr marL="0" marR="0" lvl="0" indent="0" algn="ctr" defTabSz="304734" rtl="0" eaLnBrk="1" fontAlgn="auto" latinLnBrk="0" hangingPunct="1">
              <a:lnSpc>
                <a:spcPct val="100000"/>
              </a:lnSpc>
              <a:spcBef>
                <a:spcPct val="0"/>
              </a:spcBef>
              <a:spcAft>
                <a:spcPts val="196"/>
              </a:spcAft>
              <a:buClrTx/>
              <a:buSzTx/>
              <a:buFontTx/>
              <a:buNone/>
              <a:tabLst/>
              <a:defRPr/>
            </a:pPr>
            <a:endParaRPr kumimoji="0" lang="en-US" sz="392" b="0" i="0" u="none" strike="noStrike" kern="1200" cap="none" spc="0" normalizeH="0" baseline="0" noProof="0" err="1">
              <a:ln w="3175">
                <a:noFill/>
              </a:ln>
              <a:gradFill>
                <a:gsLst>
                  <a:gs pos="0">
                    <a:srgbClr val="6C6E6C"/>
                  </a:gs>
                  <a:gs pos="100000">
                    <a:srgbClr val="6C6E6C"/>
                  </a:gs>
                </a:gsLst>
                <a:lin ang="5400000" scaled="0"/>
              </a:gradFill>
              <a:effectLst/>
              <a:uLnTx/>
              <a:uFillTx/>
              <a:latin typeface="Segoe Sans Display Semibold" pitchFamily="2" charset="0"/>
              <a:ea typeface="+mn-ea"/>
              <a:cs typeface="Segoe Sans Display Semibold" pitchFamily="2" charset="0"/>
            </a:endParaRPr>
          </a:p>
        </p:txBody>
      </p:sp>
      <p:sp>
        <p:nvSpPr>
          <p:cNvPr id="16" name="TextBox 15">
            <a:extLst>
              <a:ext uri="{FF2B5EF4-FFF2-40B4-BE49-F238E27FC236}">
                <a16:creationId xmlns:a16="http://schemas.microsoft.com/office/drawing/2014/main" id="{7B809ECC-611F-ABC7-C276-25909A9DF81C}"/>
              </a:ext>
            </a:extLst>
          </p:cNvPr>
          <p:cNvSpPr txBox="1">
            <a:spLocks noGrp="1" noRot="1" noMove="1" noResize="1" noEditPoints="1" noAdjustHandles="1" noChangeArrowheads="1" noChangeShapeType="1"/>
          </p:cNvSpPr>
          <p:nvPr/>
        </p:nvSpPr>
        <p:spPr>
          <a:xfrm flipH="1">
            <a:off x="4223559" y="4092045"/>
            <a:ext cx="1232874" cy="166200"/>
          </a:xfrm>
          <a:prstGeom prst="rect">
            <a:avLst/>
          </a:prstGeom>
          <a:noFill/>
          <a:effectLst/>
        </p:spPr>
        <p:txBody>
          <a:bodyPr wrap="square" lIns="0" tIns="0" rIns="0" bIns="0" rtlCol="0">
            <a:spAutoFit/>
          </a:bodyPr>
          <a:lstStyle>
            <a:defPPr>
              <a:defRPr lang="en-US"/>
            </a:defPPr>
            <a:lvl1pPr algn="ctr">
              <a:lnSpc>
                <a:spcPct val="90000"/>
              </a:lnSpc>
              <a:defRPr sz="1600">
                <a:solidFill>
                  <a:schemeClr val="bg1"/>
                </a:solidFill>
                <a:effectLst>
                  <a:outerShdw blurRad="337718" algn="ctr" rotWithShape="0">
                    <a:schemeClr val="bg1">
                      <a:alpha val="45000"/>
                    </a:schemeClr>
                  </a:outerShdw>
                </a:effectLst>
                <a:latin typeface="+mj-lt"/>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Application</a:t>
            </a:r>
          </a:p>
        </p:txBody>
      </p:sp>
      <p:sp>
        <p:nvSpPr>
          <p:cNvPr id="17" name="TextBox 16">
            <a:extLst>
              <a:ext uri="{FF2B5EF4-FFF2-40B4-BE49-F238E27FC236}">
                <a16:creationId xmlns:a16="http://schemas.microsoft.com/office/drawing/2014/main" id="{A78C90CD-5CE7-E0D2-B0C6-DBF8A9BB78B3}"/>
              </a:ext>
            </a:extLst>
          </p:cNvPr>
          <p:cNvSpPr txBox="1">
            <a:spLocks noGrp="1" noRot="1" noMove="1" noResize="1" noEditPoints="1" noAdjustHandles="1" noChangeArrowheads="1" noChangeShapeType="1"/>
          </p:cNvSpPr>
          <p:nvPr/>
        </p:nvSpPr>
        <p:spPr>
          <a:xfrm flipH="1">
            <a:off x="5533006" y="4092045"/>
            <a:ext cx="1232874" cy="166200"/>
          </a:xfrm>
          <a:prstGeom prst="rect">
            <a:avLst/>
          </a:prstGeom>
          <a:noFill/>
          <a:effectLst/>
        </p:spPr>
        <p:txBody>
          <a:bodyPr wrap="square" lIns="0" tIns="0" rIns="0" bIns="0" rtlCol="0">
            <a:spAutoFit/>
          </a:bodyPr>
          <a:lstStyle>
            <a:defPPr>
              <a:defRPr lang="en-US"/>
            </a:defPPr>
            <a:lvl1pPr algn="ctr">
              <a:lnSpc>
                <a:spcPct val="90000"/>
              </a:lnSpc>
              <a:defRPr sz="1600">
                <a:solidFill>
                  <a:schemeClr val="bg1"/>
                </a:solidFill>
                <a:effectLst>
                  <a:outerShdw blurRad="337718" algn="ctr" rotWithShape="0">
                    <a:schemeClr val="bg1">
                      <a:alpha val="45000"/>
                    </a:schemeClr>
                  </a:outerShdw>
                </a:effectLst>
                <a:latin typeface="+mj-lt"/>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Cloud</a:t>
            </a:r>
          </a:p>
        </p:txBody>
      </p:sp>
      <p:sp>
        <p:nvSpPr>
          <p:cNvPr id="18" name="TextBox 17">
            <a:extLst>
              <a:ext uri="{FF2B5EF4-FFF2-40B4-BE49-F238E27FC236}">
                <a16:creationId xmlns:a16="http://schemas.microsoft.com/office/drawing/2014/main" id="{4A9A9FE2-9ACC-FB83-2BA9-907DF3FF7C42}"/>
              </a:ext>
            </a:extLst>
          </p:cNvPr>
          <p:cNvSpPr txBox="1">
            <a:spLocks noGrp="1" noRot="1" noMove="1" noResize="1" noEditPoints="1" noAdjustHandles="1" noChangeArrowheads="1" noChangeShapeType="1"/>
          </p:cNvSpPr>
          <p:nvPr/>
        </p:nvSpPr>
        <p:spPr>
          <a:xfrm flipH="1">
            <a:off x="6637542" y="4092045"/>
            <a:ext cx="1232874" cy="166200"/>
          </a:xfrm>
          <a:prstGeom prst="rect">
            <a:avLst/>
          </a:prstGeom>
          <a:noFill/>
          <a:effectLst/>
        </p:spPr>
        <p:txBody>
          <a:bodyPr wrap="square" lIns="0" tIns="0" rIns="0" bIns="0" rtlCol="0" anchor="t">
            <a:spAutoFit/>
          </a:bodyPr>
          <a:lstStyle>
            <a:defPPr>
              <a:defRPr lang="en-US"/>
            </a:defPPr>
            <a:lvl1pPr algn="ctr">
              <a:lnSpc>
                <a:spcPct val="90000"/>
              </a:lnSpc>
              <a:defRPr sz="1600">
                <a:solidFill>
                  <a:schemeClr val="bg1"/>
                </a:solidFill>
                <a:effectLst>
                  <a:outerShdw blurRad="337718" algn="ctr" rotWithShape="0">
                    <a:schemeClr val="bg1">
                      <a:alpha val="45000"/>
                    </a:schemeClr>
                  </a:outerShdw>
                </a:effectLst>
                <a:latin typeface="+mj-lt"/>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Network</a:t>
            </a:r>
          </a:p>
        </p:txBody>
      </p:sp>
      <p:sp>
        <p:nvSpPr>
          <p:cNvPr id="19" name="TextBox 18">
            <a:extLst>
              <a:ext uri="{FF2B5EF4-FFF2-40B4-BE49-F238E27FC236}">
                <a16:creationId xmlns:a16="http://schemas.microsoft.com/office/drawing/2014/main" id="{F9FFBA30-F004-092C-4352-E1E877EACC2E}"/>
              </a:ext>
            </a:extLst>
          </p:cNvPr>
          <p:cNvSpPr txBox="1">
            <a:spLocks noGrp="1" noRot="1" noMove="1" noResize="1" noEditPoints="1" noAdjustHandles="1" noChangeArrowheads="1" noChangeShapeType="1"/>
          </p:cNvSpPr>
          <p:nvPr/>
        </p:nvSpPr>
        <p:spPr>
          <a:xfrm flipH="1">
            <a:off x="4874842" y="4648408"/>
            <a:ext cx="1232874" cy="166200"/>
          </a:xfrm>
          <a:prstGeom prst="rect">
            <a:avLst/>
          </a:prstGeom>
          <a:noFill/>
          <a:effectLst/>
        </p:spPr>
        <p:txBody>
          <a:bodyPr wrap="square" lIns="0" tIns="0" rIns="0" bIns="0" rtlCol="0">
            <a:spAutoFit/>
          </a:bodyPr>
          <a:lstStyle>
            <a:defPPr>
              <a:defRPr lang="en-US"/>
            </a:defPPr>
            <a:lvl1pPr algn="ctr">
              <a:lnSpc>
                <a:spcPct val="90000"/>
              </a:lnSpc>
              <a:defRPr sz="1600">
                <a:solidFill>
                  <a:schemeClr val="bg1"/>
                </a:solidFill>
                <a:effectLst>
                  <a:outerShdw blurRad="337718" algn="ctr" rotWithShape="0">
                    <a:schemeClr val="bg1">
                      <a:alpha val="45000"/>
                    </a:schemeClr>
                  </a:outerShdw>
                </a:effectLst>
                <a:latin typeface="+mj-lt"/>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Identity</a:t>
            </a:r>
          </a:p>
        </p:txBody>
      </p:sp>
      <p:sp>
        <p:nvSpPr>
          <p:cNvPr id="20" name="TextBox 19">
            <a:extLst>
              <a:ext uri="{FF2B5EF4-FFF2-40B4-BE49-F238E27FC236}">
                <a16:creationId xmlns:a16="http://schemas.microsoft.com/office/drawing/2014/main" id="{B3BF8ED9-2FE0-1863-9779-180F8ABC80FD}"/>
              </a:ext>
            </a:extLst>
          </p:cNvPr>
          <p:cNvSpPr txBox="1">
            <a:spLocks noGrp="1" noRot="1" noMove="1" noResize="1" noEditPoints="1" noAdjustHandles="1" noChangeArrowheads="1" noChangeShapeType="1"/>
          </p:cNvSpPr>
          <p:nvPr/>
        </p:nvSpPr>
        <p:spPr>
          <a:xfrm flipH="1">
            <a:off x="6169427" y="4648408"/>
            <a:ext cx="1232874" cy="166200"/>
          </a:xfrm>
          <a:prstGeom prst="rect">
            <a:avLst/>
          </a:prstGeom>
          <a:noFill/>
          <a:effectLst/>
        </p:spPr>
        <p:txBody>
          <a:bodyPr wrap="square" lIns="0" tIns="0" rIns="0" bIns="0" rtlCol="0">
            <a:spAutoFit/>
          </a:bodyPr>
          <a:lstStyle>
            <a:defPPr>
              <a:defRPr lang="en-US"/>
            </a:defPPr>
            <a:lvl1pPr algn="ctr">
              <a:lnSpc>
                <a:spcPct val="90000"/>
              </a:lnSpc>
              <a:defRPr sz="1600">
                <a:solidFill>
                  <a:schemeClr val="bg1"/>
                </a:solidFill>
                <a:effectLst>
                  <a:outerShdw blurRad="337718" algn="ctr" rotWithShape="0">
                    <a:schemeClr val="bg1">
                      <a:alpha val="45000"/>
                    </a:schemeClr>
                  </a:outerShdw>
                </a:effectLst>
                <a:latin typeface="+mj-lt"/>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Data</a:t>
            </a:r>
          </a:p>
        </p:txBody>
      </p:sp>
      <p:sp>
        <p:nvSpPr>
          <p:cNvPr id="21" name="TextBox 20">
            <a:extLst>
              <a:ext uri="{FF2B5EF4-FFF2-40B4-BE49-F238E27FC236}">
                <a16:creationId xmlns:a16="http://schemas.microsoft.com/office/drawing/2014/main" id="{1F991860-F519-042D-2047-2C1F630D1E0A}"/>
              </a:ext>
            </a:extLst>
          </p:cNvPr>
          <p:cNvSpPr txBox="1">
            <a:spLocks noGrp="1" noRot="1" noMove="1" noResize="1" noEditPoints="1" noAdjustHandles="1" noChangeArrowheads="1" noChangeShapeType="1"/>
          </p:cNvSpPr>
          <p:nvPr/>
        </p:nvSpPr>
        <p:spPr>
          <a:xfrm flipH="1">
            <a:off x="5480689" y="5229153"/>
            <a:ext cx="1232874" cy="166200"/>
          </a:xfrm>
          <a:prstGeom prst="rect">
            <a:avLst/>
          </a:prstGeom>
          <a:noFill/>
          <a:effectLst/>
        </p:spPr>
        <p:txBody>
          <a:bodyPr wrap="square" lIns="0" tIns="0" rIns="0" bIns="0" rtlCol="0">
            <a:spAutoFit/>
          </a:bodyPr>
          <a:lstStyle>
            <a:defPPr>
              <a:defRPr lang="en-US"/>
            </a:defPPr>
            <a:lvl1pPr algn="ctr">
              <a:lnSpc>
                <a:spcPct val="90000"/>
              </a:lnSpc>
              <a:defRPr sz="1600">
                <a:solidFill>
                  <a:schemeClr val="bg1"/>
                </a:solidFill>
                <a:effectLst>
                  <a:outerShdw blurRad="337718" algn="ctr" rotWithShape="0">
                    <a:schemeClr val="bg1">
                      <a:alpha val="45000"/>
                    </a:schemeClr>
                  </a:outerShdw>
                </a:effectLst>
                <a:latin typeface="+mj-lt"/>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Endpoints</a:t>
            </a:r>
          </a:p>
        </p:txBody>
      </p:sp>
      <p:cxnSp>
        <p:nvCxnSpPr>
          <p:cNvPr id="22" name="Straight Connector 21" descr="Line to bottom half of diagram">
            <a:extLst>
              <a:ext uri="{FF2B5EF4-FFF2-40B4-BE49-F238E27FC236}">
                <a16:creationId xmlns:a16="http://schemas.microsoft.com/office/drawing/2014/main" id="{7335313F-159B-7C39-A704-7701AEFA3823}"/>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a:xfrm flipH="1">
            <a:off x="8205137" y="4151213"/>
            <a:ext cx="2054354" cy="0"/>
          </a:xfrm>
          <a:prstGeom prst="line">
            <a:avLst/>
          </a:prstGeom>
          <a:noFill/>
          <a:ln w="15875" cap="rnd">
            <a:solidFill>
              <a:srgbClr val="2D8386"/>
            </a:solidFill>
            <a:headEnd type="none" w="med" len="med"/>
            <a:tailEnd type="oval" w="med" len="med"/>
          </a:ln>
          <a:effectLst/>
        </p:spPr>
        <p:style>
          <a:lnRef idx="1">
            <a:schemeClr val="accent2"/>
          </a:lnRef>
          <a:fillRef idx="3">
            <a:schemeClr val="accent2"/>
          </a:fillRef>
          <a:effectRef idx="2">
            <a:schemeClr val="accent2"/>
          </a:effectRef>
          <a:fontRef idx="minor">
            <a:schemeClr val="lt1"/>
          </a:fontRef>
        </p:style>
      </p:cxnSp>
      <p:sp>
        <p:nvSpPr>
          <p:cNvPr id="26" name="TextBox 25">
            <a:extLst>
              <a:ext uri="{FF2B5EF4-FFF2-40B4-BE49-F238E27FC236}">
                <a16:creationId xmlns:a16="http://schemas.microsoft.com/office/drawing/2014/main" id="{C156B8F5-1C4C-0176-50D6-CC4306650B98}"/>
              </a:ext>
            </a:extLst>
          </p:cNvPr>
          <p:cNvSpPr txBox="1">
            <a:spLocks noGrp="1" noRot="1" noMove="1" noResize="1" noEditPoints="1" noAdjustHandles="1" noChangeArrowheads="1" noChangeShapeType="1"/>
          </p:cNvSpPr>
          <p:nvPr/>
        </p:nvSpPr>
        <p:spPr>
          <a:xfrm>
            <a:off x="8536000" y="4258245"/>
            <a:ext cx="2425108" cy="738664"/>
          </a:xfrm>
          <a:prstGeom prst="rect">
            <a:avLst/>
          </a:prstGeom>
          <a:noFill/>
        </p:spPr>
        <p:txBody>
          <a:bodyPr wrap="square" lIns="0" tIns="0" rIns="0" bIns="0" rtlCol="0" anchor="t">
            <a:spAutoFit/>
          </a:bodyPr>
          <a:lstStyle/>
          <a:p>
            <a:pPr marL="0" marR="0" lvl="0" indent="0" algn="l" defTabSz="28681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rgbClr val="0078D4"/>
                </a:solidFill>
                <a:effectLst/>
                <a:uLnTx/>
                <a:uFillTx/>
                <a:latin typeface="Segoe Sans Display Semibold" pitchFamily="2" charset="0"/>
                <a:ea typeface="+mn-ea"/>
                <a:cs typeface="Segoe Sans Display Semibold" pitchFamily="2" charset="0"/>
              </a:rPr>
              <a:t>Traditional </a:t>
            </a:r>
            <a:br>
              <a:rPr kumimoji="0" lang="en-US" sz="2400" b="1" i="0" u="none" strike="noStrike" kern="1200" cap="none" spc="0" normalizeH="0" baseline="0" noProof="0">
                <a:ln>
                  <a:noFill/>
                </a:ln>
                <a:solidFill>
                  <a:srgbClr val="0078D4"/>
                </a:solidFill>
                <a:effectLst/>
                <a:uLnTx/>
                <a:uFillTx/>
                <a:latin typeface="Segoe Sans Display Semibold" pitchFamily="2" charset="0"/>
                <a:ea typeface="+mn-ea"/>
                <a:cs typeface="Segoe Sans Display Semibold" pitchFamily="2" charset="0"/>
              </a:rPr>
            </a:br>
            <a:r>
              <a:rPr kumimoji="0" lang="en-US" sz="2400" b="1" i="0" u="none" strike="noStrike" kern="1200" cap="none" spc="0" normalizeH="0" baseline="0" noProof="0">
                <a:ln>
                  <a:noFill/>
                </a:ln>
                <a:solidFill>
                  <a:srgbClr val="0078D4"/>
                </a:solidFill>
                <a:effectLst/>
                <a:uLnTx/>
                <a:uFillTx/>
                <a:latin typeface="Segoe Sans Display Semibold" pitchFamily="2" charset="0"/>
                <a:ea typeface="+mn-ea"/>
                <a:cs typeface="Segoe Sans Display Semibold" pitchFamily="2" charset="0"/>
              </a:rPr>
              <a:t>threat vectors</a:t>
            </a:r>
          </a:p>
        </p:txBody>
      </p:sp>
      <p:sp>
        <p:nvSpPr>
          <p:cNvPr id="27" name="TextBox 26">
            <a:extLst>
              <a:ext uri="{FF2B5EF4-FFF2-40B4-BE49-F238E27FC236}">
                <a16:creationId xmlns:a16="http://schemas.microsoft.com/office/drawing/2014/main" id="{E5096095-BD78-24BB-15FB-C69D7696430F}"/>
              </a:ext>
            </a:extLst>
          </p:cNvPr>
          <p:cNvSpPr txBox="1">
            <a:spLocks noGrp="1" noRot="1" noMove="1" noResize="1" noEditPoints="1" noAdjustHandles="1" noChangeArrowheads="1" noChangeShapeType="1"/>
          </p:cNvSpPr>
          <p:nvPr/>
        </p:nvSpPr>
        <p:spPr>
          <a:xfrm flipH="1">
            <a:off x="5491280" y="2008850"/>
            <a:ext cx="1232875" cy="166199"/>
          </a:xfrm>
          <a:prstGeom prst="rect">
            <a:avLst/>
          </a:prstGeom>
          <a:noFill/>
          <a:effectLst/>
        </p:spPr>
        <p:txBody>
          <a:bodyPr wrap="square" lIns="0" tIns="0" rIns="0" bIns="0" rtlCol="0">
            <a:spAutoFit/>
          </a:bodyPr>
          <a:lstStyle>
            <a:defPPr>
              <a:defRPr lang="en-US"/>
            </a:defPPr>
            <a:lvl1pPr>
              <a:defRPr>
                <a:solidFill>
                  <a:schemeClr val="bg1"/>
                </a:solidFill>
              </a:defRPr>
            </a:lvl1pPr>
          </a:lstStyle>
          <a:p>
            <a:pPr marL="0" marR="0" lvl="0" indent="0" algn="ctr" defTabSz="40640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Agents</a:t>
            </a:r>
          </a:p>
        </p:txBody>
      </p:sp>
    </p:spTree>
    <p:extLst>
      <p:ext uri="{BB962C8B-B14F-4D97-AF65-F5344CB8AC3E}">
        <p14:creationId xmlns:p14="http://schemas.microsoft.com/office/powerpoint/2010/main" val="196887315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0E04E-A0EF-D26E-3BAB-79258CCE7299}"/>
              </a:ext>
            </a:extLst>
          </p:cNvPr>
          <p:cNvSpPr>
            <a:spLocks noGrp="1" noRot="1" noMove="1" noResize="1" noEditPoints="1" noAdjustHandles="1" noChangeArrowheads="1" noChangeShapeType="1"/>
          </p:cNvSpPr>
          <p:nvPr>
            <p:ph type="title"/>
          </p:nvPr>
        </p:nvSpPr>
        <p:spPr>
          <a:xfrm>
            <a:off x="405073" y="2505670"/>
            <a:ext cx="4402800" cy="1846659"/>
          </a:xfrm>
        </p:spPr>
        <p:txBody>
          <a:bodyPr/>
          <a:lstStyle/>
          <a:p>
            <a:r>
              <a:rPr lang="en-US">
                <a:cs typeface="Segoe UI"/>
              </a:rPr>
              <a:t>Microsoft’s</a:t>
            </a:r>
            <a:br>
              <a:rPr lang="en-US">
                <a:cs typeface="Segoe UI"/>
              </a:rPr>
            </a:br>
            <a:r>
              <a:rPr lang="en-US">
                <a:cs typeface="Segoe UI"/>
              </a:rPr>
              <a:t>approach</a:t>
            </a:r>
            <a:br>
              <a:rPr lang="en-US">
                <a:cs typeface="Segoe UI"/>
              </a:rPr>
            </a:br>
            <a:r>
              <a:rPr lang="en-US">
                <a:cs typeface="Segoe UI"/>
              </a:rPr>
              <a:t>to Zero Trust</a:t>
            </a:r>
            <a:endParaRPr lang="en-US"/>
          </a:p>
        </p:txBody>
      </p:sp>
      <p:grpSp>
        <p:nvGrpSpPr>
          <p:cNvPr id="3" name="Group 2">
            <a:extLst>
              <a:ext uri="{FF2B5EF4-FFF2-40B4-BE49-F238E27FC236}">
                <a16:creationId xmlns:a16="http://schemas.microsoft.com/office/drawing/2014/main" id="{6601FDC9-DAF0-94B9-CC4C-8D6F9FE35803}"/>
              </a:ext>
            </a:extLst>
          </p:cNvPr>
          <p:cNvGrpSpPr>
            <a:grpSpLocks noGrp="1" noUngrp="1" noRot="1" noMove="1" noResize="1"/>
          </p:cNvGrpSpPr>
          <p:nvPr/>
        </p:nvGrpSpPr>
        <p:grpSpPr>
          <a:xfrm>
            <a:off x="4602663" y="2721312"/>
            <a:ext cx="1443719" cy="1443719"/>
            <a:chOff x="3038007" y="2902764"/>
            <a:chExt cx="972267" cy="972267"/>
          </a:xfrm>
        </p:grpSpPr>
        <p:sp>
          <p:nvSpPr>
            <p:cNvPr id="4" name="Oval 3">
              <a:extLst>
                <a:ext uri="{FF2B5EF4-FFF2-40B4-BE49-F238E27FC236}">
                  <a16:creationId xmlns:a16="http://schemas.microsoft.com/office/drawing/2014/main" id="{BDC1200D-B2CA-46EA-BD09-A89534C85CC7}"/>
                </a:ext>
              </a:extLst>
            </p:cNvPr>
            <p:cNvSpPr>
              <a:spLocks noGrp="1" noRot="1" noMove="1" noResize="1" noEditPoints="1" noAdjustHandles="1" noChangeArrowheads="1" noChangeShapeType="1"/>
            </p:cNvSpPr>
            <p:nvPr/>
          </p:nvSpPr>
          <p:spPr bwMode="auto">
            <a:xfrm>
              <a:off x="3038007" y="2902764"/>
              <a:ext cx="972267" cy="972267"/>
            </a:xfrm>
            <a:prstGeom prst="ellipse">
              <a:avLst/>
            </a:prstGeom>
            <a:solidFill>
              <a:srgbClr val="253F6F"/>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5" name="Picture 5" descr="Firewall formed with different blocks with lock in blue, teal, and green color">
              <a:extLst>
                <a:ext uri="{FF2B5EF4-FFF2-40B4-BE49-F238E27FC236}">
                  <a16:creationId xmlns:a16="http://schemas.microsoft.com/office/drawing/2014/main" id="{DB704E7B-1DF1-BC49-00FD-6D49B70A348A}"/>
                </a:ext>
              </a:extLst>
            </p:cNvPr>
            <p:cNvPicPr>
              <a:picLocks noGrp="1" noRot="1" noChangeAspect="1" noMove="1" noResize="1" noEditPoints="1" noAdjustHandles="1" noChangeArrowheads="1" noChangeShapeType="1" noCrop="1"/>
            </p:cNvPicPr>
            <p:nvPr/>
          </p:nvPicPr>
          <p:blipFill>
            <a:blip r:embed="rId3"/>
            <a:stretch>
              <a:fillRect/>
            </a:stretch>
          </p:blipFill>
          <p:spPr>
            <a:xfrm>
              <a:off x="3201329" y="3066086"/>
              <a:ext cx="645622" cy="645622"/>
            </a:xfrm>
            <a:prstGeom prst="rect">
              <a:avLst/>
            </a:prstGeom>
          </p:spPr>
        </p:pic>
      </p:grpSp>
    </p:spTree>
    <p:extLst>
      <p:ext uri="{BB962C8B-B14F-4D97-AF65-F5344CB8AC3E}">
        <p14:creationId xmlns:p14="http://schemas.microsoft.com/office/powerpoint/2010/main" val="3005990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A5704-618C-CAC9-7842-F520B6B5465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593146A-CA90-2A38-3EC7-F3E5D2DC8474}"/>
              </a:ext>
            </a:extLst>
          </p:cNvPr>
          <p:cNvSpPr txBox="1">
            <a:spLocks noGrp="1" noRot="1" noMove="1" noResize="1" noEditPoints="1" noAdjustHandles="1" noChangeArrowheads="1" noChangeShapeType="1"/>
          </p:cNvSpPr>
          <p:nvPr>
            <p:ph type="title" idx="4294967295"/>
          </p:nvPr>
        </p:nvSpPr>
        <p:spPr>
          <a:xfrm>
            <a:off x="982386" y="2667597"/>
            <a:ext cx="3156346" cy="1292662"/>
          </a:xfr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a:r>
              <a:rPr lang="en-US" sz="2800">
                <a:solidFill>
                  <a:srgbClr val="091F2C"/>
                </a:solidFill>
              </a:rPr>
              <a:t>Securing our customers with a Zero Trust approach</a:t>
            </a:r>
          </a:p>
        </p:txBody>
      </p:sp>
      <p:sp>
        <p:nvSpPr>
          <p:cNvPr id="26" name="Rectangle 25">
            <a:extLst>
              <a:ext uri="{FF2B5EF4-FFF2-40B4-BE49-F238E27FC236}">
                <a16:creationId xmlns:a16="http://schemas.microsoft.com/office/drawing/2014/main" id="{F748F2DF-E287-F086-AF6A-F37E3F97661A}"/>
              </a:ext>
            </a:extLst>
          </p:cNvPr>
          <p:cNvSpPr>
            <a:spLocks noGrp="1" noRot="1" noMove="1" noResize="1" noEditPoints="1" noAdjustHandles="1" noChangeArrowheads="1" noChangeShapeType="1"/>
          </p:cNvSpPr>
          <p:nvPr/>
        </p:nvSpPr>
        <p:spPr>
          <a:xfrm>
            <a:off x="10062816" y="3136612"/>
            <a:ext cx="1340547" cy="584775"/>
          </a:xfrm>
          <a:prstGeom prst="rect">
            <a:avLst/>
          </a:prstGeom>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UI" pitchFamily="34" charset="0"/>
              </a:rPr>
              <a:t>Verify</a:t>
            </a:r>
            <a:br>
              <a:rPr kumimoji="0" lang="en-US" sz="1600" b="0" i="0" u="none" strike="noStrike" kern="1200" cap="none" spc="0" normalizeH="0" baseline="0" noProof="0">
                <a:ln>
                  <a:noFill/>
                </a:ln>
                <a:solidFill>
                  <a:srgbClr val="091F2C"/>
                </a:solidFill>
                <a:effectLst/>
                <a:uLnTx/>
                <a:uFillTx/>
                <a:latin typeface="Segoe UI Semibold"/>
                <a:ea typeface="+mn-ea"/>
                <a:cs typeface="Segoe UI" pitchFamily="34" charset="0"/>
              </a:rPr>
            </a:br>
            <a:r>
              <a:rPr kumimoji="0" lang="en-US" sz="1600" b="0" i="0" u="none" strike="noStrike" kern="1200" cap="none" spc="0" normalizeH="0" baseline="0" noProof="0">
                <a:ln>
                  <a:noFill/>
                </a:ln>
                <a:solidFill>
                  <a:srgbClr val="091F2C"/>
                </a:solidFill>
                <a:effectLst/>
                <a:uLnTx/>
                <a:uFillTx/>
                <a:latin typeface="Segoe UI Semibold"/>
                <a:ea typeface="+mn-ea"/>
                <a:cs typeface="Segoe UI" pitchFamily="34" charset="0"/>
              </a:rPr>
              <a:t>explicitly </a:t>
            </a: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7" name="Rectangle 26">
            <a:extLst>
              <a:ext uri="{FF2B5EF4-FFF2-40B4-BE49-F238E27FC236}">
                <a16:creationId xmlns:a16="http://schemas.microsoft.com/office/drawing/2014/main" id="{D907B57C-C3B9-269E-80CF-669BA63A48D5}"/>
              </a:ext>
            </a:extLst>
          </p:cNvPr>
          <p:cNvSpPr>
            <a:spLocks noGrp="1" noRot="1" noMove="1" noResize="1" noEditPoints="1" noAdjustHandles="1" noChangeArrowheads="1" noChangeShapeType="1"/>
          </p:cNvSpPr>
          <p:nvPr/>
        </p:nvSpPr>
        <p:spPr>
          <a:xfrm>
            <a:off x="6826524" y="5426820"/>
            <a:ext cx="2301414" cy="338554"/>
          </a:xfrm>
          <a:prstGeom prst="rect">
            <a:avLst/>
          </a:prstGeom>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UI" pitchFamily="34" charset="0"/>
              </a:rPr>
              <a:t>Least-privilege access </a:t>
            </a: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8" name="Rectangle 27">
            <a:extLst>
              <a:ext uri="{FF2B5EF4-FFF2-40B4-BE49-F238E27FC236}">
                <a16:creationId xmlns:a16="http://schemas.microsoft.com/office/drawing/2014/main" id="{A4E41E19-B599-C720-5A57-029BB4D6EB95}"/>
              </a:ext>
            </a:extLst>
          </p:cNvPr>
          <p:cNvSpPr>
            <a:spLocks noGrp="1" noRot="1" noMove="1" noResize="1" noEditPoints="1" noAdjustHandles="1" noChangeArrowheads="1" noChangeShapeType="1"/>
          </p:cNvSpPr>
          <p:nvPr/>
        </p:nvSpPr>
        <p:spPr>
          <a:xfrm>
            <a:off x="4644188" y="3136612"/>
            <a:ext cx="1158013" cy="584775"/>
          </a:xfrm>
          <a:prstGeom prst="rect">
            <a:avLst/>
          </a:prstGeom>
        </p:spPr>
        <p:txBody>
          <a:bodyPr wrap="square">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UI" pitchFamily="34" charset="0"/>
              </a:rPr>
              <a:t>Assume</a:t>
            </a:r>
            <a:br>
              <a:rPr kumimoji="0" lang="en-US" sz="1600" b="0" i="0" u="none" strike="noStrike" kern="1200" cap="none" spc="0" normalizeH="0" baseline="0" noProof="0">
                <a:ln>
                  <a:noFill/>
                </a:ln>
                <a:solidFill>
                  <a:srgbClr val="091F2C"/>
                </a:solidFill>
                <a:effectLst/>
                <a:uLnTx/>
                <a:uFillTx/>
                <a:latin typeface="Segoe UI Semibold"/>
                <a:ea typeface="+mn-ea"/>
                <a:cs typeface="Segoe UI" pitchFamily="34" charset="0"/>
              </a:rPr>
            </a:br>
            <a:r>
              <a:rPr kumimoji="0" lang="en-US" sz="1600" b="0" i="0" u="none" strike="noStrike" kern="1200" cap="none" spc="0" normalizeH="0" baseline="0" noProof="0">
                <a:ln>
                  <a:noFill/>
                </a:ln>
                <a:solidFill>
                  <a:srgbClr val="091F2C"/>
                </a:solidFill>
                <a:effectLst/>
                <a:uLnTx/>
                <a:uFillTx/>
                <a:latin typeface="Segoe UI Semibold"/>
                <a:ea typeface="+mn-ea"/>
                <a:cs typeface="Segoe UI" pitchFamily="34" charset="0"/>
              </a:rPr>
              <a:t>breach</a:t>
            </a: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51" name="Oval 50">
            <a:extLst>
              <a:ext uri="{FF2B5EF4-FFF2-40B4-BE49-F238E27FC236}">
                <a16:creationId xmlns:a16="http://schemas.microsoft.com/office/drawing/2014/main" id="{2E882226-646C-4017-A269-4663E9B59BC0}"/>
              </a:ext>
            </a:extLst>
          </p:cNvPr>
          <p:cNvSpPr>
            <a:spLocks noGrp="1" noRot="1" noMove="1" noResize="1" noEditPoints="1" noAdjustHandles="1" noChangeArrowheads="1" noChangeShapeType="1"/>
          </p:cNvSpPr>
          <p:nvPr/>
        </p:nvSpPr>
        <p:spPr bwMode="auto">
          <a:xfrm>
            <a:off x="6425066" y="1911435"/>
            <a:ext cx="3035560" cy="3035556"/>
          </a:xfrm>
          <a:prstGeom prst="ellipse">
            <a:avLst/>
          </a:prstGeom>
          <a:blipFill dpi="0" rotWithShape="1">
            <a:blip r:embed="rId3"/>
            <a:srcRect/>
            <a:stretch>
              <a:fillRect l="-15527" t="-132601" r="-177737" b="-60663"/>
            </a:stretch>
          </a:blipFill>
          <a:ln>
            <a:noFill/>
            <a:headEnd type="none" w="med" len="med"/>
            <a:tailEnd type="none" w="med" len="med"/>
          </a:ln>
          <a:effectLst>
            <a:glow rad="431800">
              <a:schemeClr val="tx1">
                <a:alpha val="40000"/>
              </a:schemeClr>
            </a:glo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53" name="Picture 52" descr="A blue sky with white clouds&#10;&#10;AI-generated content may be incorrect.">
            <a:extLst>
              <a:ext uri="{FF2B5EF4-FFF2-40B4-BE49-F238E27FC236}">
                <a16:creationId xmlns:a16="http://schemas.microsoft.com/office/drawing/2014/main" id="{49766065-3AB8-E2F3-EF39-EA15DB111E92}"/>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38604" t="29740" r="38603" b="29740"/>
          <a:stretch>
            <a:fillRect/>
          </a:stretch>
        </p:blipFill>
        <p:spPr>
          <a:xfrm>
            <a:off x="6553415" y="2039788"/>
            <a:ext cx="2778863" cy="2778851"/>
          </a:xfrm>
          <a:prstGeom prst="ellipse">
            <a:avLst/>
          </a:prstGeom>
          <a:effectLst>
            <a:innerShdw blurRad="292100">
              <a:prstClr val="black">
                <a:alpha val="38000"/>
              </a:prstClr>
            </a:innerShdw>
          </a:effectLst>
        </p:spPr>
      </p:pic>
      <p:grpSp>
        <p:nvGrpSpPr>
          <p:cNvPr id="4" name="Group 3">
            <a:extLst>
              <a:ext uri="{FF2B5EF4-FFF2-40B4-BE49-F238E27FC236}">
                <a16:creationId xmlns:a16="http://schemas.microsoft.com/office/drawing/2014/main" id="{16067596-7679-D33F-3C17-E5142A5F64FA}"/>
              </a:ext>
            </a:extLst>
          </p:cNvPr>
          <p:cNvGrpSpPr>
            <a:grpSpLocks noGrp="1" noUngrp="1" noRot="1" noMove="1" noResize="1"/>
          </p:cNvGrpSpPr>
          <p:nvPr/>
        </p:nvGrpSpPr>
        <p:grpSpPr>
          <a:xfrm>
            <a:off x="7473356" y="1527175"/>
            <a:ext cx="938980" cy="938980"/>
            <a:chOff x="7473356" y="1527175"/>
            <a:chExt cx="938980" cy="938980"/>
          </a:xfrm>
        </p:grpSpPr>
        <p:sp>
          <p:nvSpPr>
            <p:cNvPr id="54" name="Oval 53">
              <a:extLst>
                <a:ext uri="{FF2B5EF4-FFF2-40B4-BE49-F238E27FC236}">
                  <a16:creationId xmlns:a16="http://schemas.microsoft.com/office/drawing/2014/main" id="{E1F8EB24-87B2-6D8A-E069-BC2C125F3222}"/>
                </a:ext>
              </a:extLst>
            </p:cNvPr>
            <p:cNvSpPr>
              <a:spLocks noGrp="1" noRot="1" noMove="1" noResize="1" noEditPoints="1" noAdjustHandles="1" noChangeArrowheads="1" noChangeShapeType="1"/>
            </p:cNvSpPr>
            <p:nvPr/>
          </p:nvSpPr>
          <p:spPr bwMode="auto">
            <a:xfrm>
              <a:off x="7473356" y="1527175"/>
              <a:ext cx="938980" cy="938980"/>
            </a:xfrm>
            <a:prstGeom prst="ellipse">
              <a:avLst/>
            </a:prstGeom>
            <a:solidFill>
              <a:schemeClr val="tx1">
                <a:alpha val="74000"/>
              </a:scheme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88" name="Picture 15" descr="Laptop with bar chart and light bulb in purple and yellow color">
              <a:extLst>
                <a:ext uri="{FF2B5EF4-FFF2-40B4-BE49-F238E27FC236}">
                  <a16:creationId xmlns:a16="http://schemas.microsoft.com/office/drawing/2014/main" id="{14B6DCF6-FCA2-05AB-5FA8-6459006ED081}"/>
                </a:ext>
              </a:extLst>
            </p:cNvPr>
            <p:cNvPicPr>
              <a:picLocks noGrp="1" noRot="1" noChangeAspect="1" noMove="1" noResize="1" noEditPoints="1" noAdjustHandles="1" noChangeArrowheads="1" noChangeShapeType="1" noCrop="1"/>
            </p:cNvPicPr>
            <p:nvPr/>
          </p:nvPicPr>
          <p:blipFill>
            <a:blip r:embed="rId5"/>
            <a:stretch>
              <a:fillRect/>
            </a:stretch>
          </p:blipFill>
          <p:spPr>
            <a:xfrm>
              <a:off x="7571059" y="1593147"/>
              <a:ext cx="743574" cy="743574"/>
            </a:xfrm>
            <a:prstGeom prst="rect">
              <a:avLst/>
            </a:prstGeom>
          </p:spPr>
        </p:pic>
      </p:grpSp>
      <p:grpSp>
        <p:nvGrpSpPr>
          <p:cNvPr id="7" name="Group 6">
            <a:extLst>
              <a:ext uri="{FF2B5EF4-FFF2-40B4-BE49-F238E27FC236}">
                <a16:creationId xmlns:a16="http://schemas.microsoft.com/office/drawing/2014/main" id="{66C9A57B-CF1E-9086-36A8-4169AE59047F}"/>
              </a:ext>
            </a:extLst>
          </p:cNvPr>
          <p:cNvGrpSpPr>
            <a:grpSpLocks noGrp="1" noUngrp="1" noRot="1" noMove="1" noResize="1"/>
          </p:cNvGrpSpPr>
          <p:nvPr/>
        </p:nvGrpSpPr>
        <p:grpSpPr>
          <a:xfrm>
            <a:off x="7473356" y="4378195"/>
            <a:ext cx="938980" cy="938980"/>
            <a:chOff x="7473356" y="4378195"/>
            <a:chExt cx="938980" cy="938980"/>
          </a:xfrm>
        </p:grpSpPr>
        <p:sp>
          <p:nvSpPr>
            <p:cNvPr id="56" name="Oval 55">
              <a:extLst>
                <a:ext uri="{FF2B5EF4-FFF2-40B4-BE49-F238E27FC236}">
                  <a16:creationId xmlns:a16="http://schemas.microsoft.com/office/drawing/2014/main" id="{63E70932-89CE-082E-2493-573535915696}"/>
                </a:ext>
              </a:extLst>
            </p:cNvPr>
            <p:cNvSpPr>
              <a:spLocks noGrp="1" noRot="1" noMove="1" noResize="1" noEditPoints="1" noAdjustHandles="1" noChangeArrowheads="1" noChangeShapeType="1"/>
            </p:cNvSpPr>
            <p:nvPr/>
          </p:nvSpPr>
          <p:spPr bwMode="auto">
            <a:xfrm>
              <a:off x="7473356" y="4378195"/>
              <a:ext cx="938980" cy="938980"/>
            </a:xfrm>
            <a:prstGeom prst="ellipse">
              <a:avLst/>
            </a:prstGeom>
            <a:solidFill>
              <a:schemeClr val="tx1">
                <a:alpha val="74000"/>
              </a:scheme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89" name="Picture 7" descr="Lock with ID card in blue, teal, and green color">
              <a:extLst>
                <a:ext uri="{FF2B5EF4-FFF2-40B4-BE49-F238E27FC236}">
                  <a16:creationId xmlns:a16="http://schemas.microsoft.com/office/drawing/2014/main" id="{8EC6E282-1CA2-AFF7-6EED-D80D5DF8FB8A}"/>
                </a:ext>
              </a:extLst>
            </p:cNvPr>
            <p:cNvPicPr>
              <a:picLocks noGrp="1" noRot="1" noChangeAspect="1" noMove="1" noResize="1" noEditPoints="1" noAdjustHandles="1" noChangeArrowheads="1" noChangeShapeType="1" noCrop="1"/>
            </p:cNvPicPr>
            <p:nvPr/>
          </p:nvPicPr>
          <p:blipFill>
            <a:blip r:embed="rId6"/>
            <a:stretch>
              <a:fillRect/>
            </a:stretch>
          </p:blipFill>
          <p:spPr>
            <a:xfrm>
              <a:off x="7633082" y="4525667"/>
              <a:ext cx="619528" cy="619528"/>
            </a:xfrm>
            <a:prstGeom prst="rect">
              <a:avLst/>
            </a:prstGeom>
          </p:spPr>
        </p:pic>
      </p:grpSp>
      <p:grpSp>
        <p:nvGrpSpPr>
          <p:cNvPr id="10" name="Group 9">
            <a:extLst>
              <a:ext uri="{FF2B5EF4-FFF2-40B4-BE49-F238E27FC236}">
                <a16:creationId xmlns:a16="http://schemas.microsoft.com/office/drawing/2014/main" id="{AA54FC32-73BA-698F-60FD-0B231B96C215}"/>
              </a:ext>
            </a:extLst>
          </p:cNvPr>
          <p:cNvGrpSpPr>
            <a:grpSpLocks noGrp="1" noUngrp="1" noRot="1" noMove="1" noResize="1"/>
          </p:cNvGrpSpPr>
          <p:nvPr/>
        </p:nvGrpSpPr>
        <p:grpSpPr>
          <a:xfrm>
            <a:off x="5986986" y="2959723"/>
            <a:ext cx="938980" cy="938980"/>
            <a:chOff x="5986986" y="2959723"/>
            <a:chExt cx="938980" cy="938980"/>
          </a:xfrm>
        </p:grpSpPr>
        <p:sp>
          <p:nvSpPr>
            <p:cNvPr id="50" name="Oval 49">
              <a:extLst>
                <a:ext uri="{FF2B5EF4-FFF2-40B4-BE49-F238E27FC236}">
                  <a16:creationId xmlns:a16="http://schemas.microsoft.com/office/drawing/2014/main" id="{2FC46BEA-B224-9E0D-1E5F-EAFF3465D530}"/>
                </a:ext>
              </a:extLst>
            </p:cNvPr>
            <p:cNvSpPr>
              <a:spLocks noGrp="1" noRot="1" noMove="1" noResize="1" noEditPoints="1" noAdjustHandles="1" noChangeArrowheads="1" noChangeShapeType="1"/>
            </p:cNvSpPr>
            <p:nvPr/>
          </p:nvSpPr>
          <p:spPr bwMode="auto">
            <a:xfrm>
              <a:off x="5986986" y="2959723"/>
              <a:ext cx="938980" cy="938980"/>
            </a:xfrm>
            <a:prstGeom prst="ellipse">
              <a:avLst/>
            </a:prstGeom>
            <a:solidFill>
              <a:schemeClr val="tx1">
                <a:alpha val="74000"/>
              </a:scheme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90" name="Picture 11" descr="Laptop with bug and warning sign in blue and yellow color">
              <a:extLst>
                <a:ext uri="{FF2B5EF4-FFF2-40B4-BE49-F238E27FC236}">
                  <a16:creationId xmlns:a16="http://schemas.microsoft.com/office/drawing/2014/main" id="{FE0ED5EC-6ADF-2B4B-F8F0-8082974210E8}"/>
                </a:ext>
              </a:extLst>
            </p:cNvPr>
            <p:cNvPicPr>
              <a:picLocks noGrp="1" noRot="1" noChangeAspect="1" noMove="1" noResize="1" noEditPoints="1" noAdjustHandles="1" noChangeArrowheads="1" noChangeShapeType="1" noCrop="1"/>
            </p:cNvPicPr>
            <p:nvPr/>
          </p:nvPicPr>
          <p:blipFill>
            <a:blip r:embed="rId7"/>
            <a:stretch>
              <a:fillRect/>
            </a:stretch>
          </p:blipFill>
          <p:spPr>
            <a:xfrm>
              <a:off x="6119925" y="3061444"/>
              <a:ext cx="673101" cy="673101"/>
            </a:xfrm>
            <a:prstGeom prst="rect">
              <a:avLst/>
            </a:prstGeom>
          </p:spPr>
        </p:pic>
      </p:grpSp>
      <p:grpSp>
        <p:nvGrpSpPr>
          <p:cNvPr id="6" name="Group 5">
            <a:extLst>
              <a:ext uri="{FF2B5EF4-FFF2-40B4-BE49-F238E27FC236}">
                <a16:creationId xmlns:a16="http://schemas.microsoft.com/office/drawing/2014/main" id="{2DA29140-2D0B-7285-472C-5ACB9419020F}"/>
              </a:ext>
            </a:extLst>
          </p:cNvPr>
          <p:cNvGrpSpPr>
            <a:grpSpLocks noGrp="1" noUngrp="1" noRot="1" noMove="1" noResize="1"/>
          </p:cNvGrpSpPr>
          <p:nvPr/>
        </p:nvGrpSpPr>
        <p:grpSpPr>
          <a:xfrm>
            <a:off x="8900236" y="2959723"/>
            <a:ext cx="938980" cy="938980"/>
            <a:chOff x="8900236" y="2959723"/>
            <a:chExt cx="938980" cy="938980"/>
          </a:xfrm>
        </p:grpSpPr>
        <p:sp>
          <p:nvSpPr>
            <p:cNvPr id="55" name="Oval 54">
              <a:extLst>
                <a:ext uri="{FF2B5EF4-FFF2-40B4-BE49-F238E27FC236}">
                  <a16:creationId xmlns:a16="http://schemas.microsoft.com/office/drawing/2014/main" id="{74D508A4-CF10-DFFF-A196-4FC0406BEE5B}"/>
                </a:ext>
              </a:extLst>
            </p:cNvPr>
            <p:cNvSpPr>
              <a:spLocks noGrp="1" noRot="1" noMove="1" noResize="1" noEditPoints="1" noAdjustHandles="1" noChangeArrowheads="1" noChangeShapeType="1"/>
            </p:cNvSpPr>
            <p:nvPr/>
          </p:nvSpPr>
          <p:spPr bwMode="auto">
            <a:xfrm>
              <a:off x="8900236" y="2959723"/>
              <a:ext cx="938980" cy="938980"/>
            </a:xfrm>
            <a:prstGeom prst="ellipse">
              <a:avLst/>
            </a:prstGeom>
            <a:solidFill>
              <a:schemeClr val="tx1">
                <a:alpha val="74000"/>
              </a:scheme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91" name="Picture 5" descr="Personal ID card and a lock in blue and teal color">
              <a:extLst>
                <a:ext uri="{FF2B5EF4-FFF2-40B4-BE49-F238E27FC236}">
                  <a16:creationId xmlns:a16="http://schemas.microsoft.com/office/drawing/2014/main" id="{24A4CBBA-C4F1-0A5D-B79F-D2AAABAF3069}"/>
                </a:ext>
              </a:extLst>
            </p:cNvPr>
            <p:cNvPicPr>
              <a:picLocks noGrp="1" noRot="1" noChangeAspect="1" noMove="1" noResize="1" noEditPoints="1" noAdjustHandles="1" noChangeArrowheads="1" noChangeShapeType="1" noCrop="1"/>
            </p:cNvPicPr>
            <p:nvPr/>
          </p:nvPicPr>
          <p:blipFill>
            <a:blip r:embed="rId8"/>
            <a:stretch>
              <a:fillRect/>
            </a:stretch>
          </p:blipFill>
          <p:spPr>
            <a:xfrm>
              <a:off x="9071718" y="3093194"/>
              <a:ext cx="559723" cy="559723"/>
            </a:xfrm>
            <a:prstGeom prst="rect">
              <a:avLst/>
            </a:prstGeom>
          </p:spPr>
        </p:pic>
      </p:grpSp>
      <p:pic>
        <p:nvPicPr>
          <p:cNvPr id="92" name="Picture 6" descr="Shield with layered shapes in blue, teal, and green color">
            <a:extLst>
              <a:ext uri="{FF2B5EF4-FFF2-40B4-BE49-F238E27FC236}">
                <a16:creationId xmlns:a16="http://schemas.microsoft.com/office/drawing/2014/main" id="{667835D5-8ED8-6FA0-8AB0-626DC091EB71}"/>
              </a:ext>
            </a:extLst>
          </p:cNvPr>
          <p:cNvPicPr>
            <a:picLocks noGrp="1" noRot="1" noChangeAspect="1" noMove="1" noResize="1" noEditPoints="1" noAdjustHandles="1" noChangeArrowheads="1" noChangeShapeType="1" noCrop="1"/>
          </p:cNvPicPr>
          <p:nvPr/>
        </p:nvPicPr>
        <p:blipFill>
          <a:blip r:embed="rId9"/>
          <a:stretch>
            <a:fillRect/>
          </a:stretch>
        </p:blipFill>
        <p:spPr>
          <a:xfrm>
            <a:off x="7359789" y="2861420"/>
            <a:ext cx="1166114" cy="1166114"/>
          </a:xfrm>
          <a:prstGeom prst="rect">
            <a:avLst/>
          </a:prstGeom>
        </p:spPr>
      </p:pic>
      <p:grpSp>
        <p:nvGrpSpPr>
          <p:cNvPr id="9" name="Group 8">
            <a:extLst>
              <a:ext uri="{FF2B5EF4-FFF2-40B4-BE49-F238E27FC236}">
                <a16:creationId xmlns:a16="http://schemas.microsoft.com/office/drawing/2014/main" id="{5076F317-9953-DF0C-887F-B8CB79CD11AE}"/>
              </a:ext>
            </a:extLst>
          </p:cNvPr>
          <p:cNvGrpSpPr>
            <a:grpSpLocks noGrp="1" noUngrp="1" noRot="1" noMove="1" noResize="1"/>
          </p:cNvGrpSpPr>
          <p:nvPr/>
        </p:nvGrpSpPr>
        <p:grpSpPr>
          <a:xfrm>
            <a:off x="6507068" y="3021854"/>
            <a:ext cx="968927" cy="814289"/>
            <a:chOff x="6507068" y="3021854"/>
            <a:chExt cx="968927" cy="814289"/>
          </a:xfrm>
        </p:grpSpPr>
        <p:sp>
          <p:nvSpPr>
            <p:cNvPr id="94" name="Oval 93">
              <a:extLst>
                <a:ext uri="{FF2B5EF4-FFF2-40B4-BE49-F238E27FC236}">
                  <a16:creationId xmlns:a16="http://schemas.microsoft.com/office/drawing/2014/main" id="{EBAA3B1E-ADEC-5AE9-A8BF-CC7760BCF74F}"/>
                </a:ext>
              </a:extLst>
            </p:cNvPr>
            <p:cNvSpPr>
              <a:spLocks noGrp="1" noRot="1" noMove="1" noResize="1" noEditPoints="1" noAdjustHandles="1" noChangeArrowheads="1" noChangeShapeType="1"/>
            </p:cNvSpPr>
            <p:nvPr/>
          </p:nvSpPr>
          <p:spPr bwMode="auto">
            <a:xfrm>
              <a:off x="6507068" y="3021854"/>
              <a:ext cx="814289" cy="814289"/>
            </a:xfrm>
            <a:prstGeom prst="ellipse">
              <a:avLst/>
            </a:prstGeom>
            <a:gradFill flip="none" rotWithShape="1">
              <a:gsLst>
                <a:gs pos="17000">
                  <a:srgbClr val="FAF9FA">
                    <a:alpha val="60000"/>
                  </a:srgbClr>
                </a:gs>
                <a:gs pos="0">
                  <a:schemeClr val="accent6"/>
                </a:gs>
                <a:gs pos="21000">
                  <a:srgbClr val="FFFFFF">
                    <a:alpha val="25000"/>
                  </a:srgbClr>
                </a:gs>
                <a:gs pos="26000">
                  <a:schemeClr val="accent6">
                    <a:alpha val="0"/>
                  </a:schemeClr>
                </a:gs>
              </a:gsLst>
              <a:path path="circle">
                <a:fillToRect l="50000" t="50000" r="50000" b="50000"/>
              </a:path>
              <a:tileRect/>
            </a:gradFill>
            <a:ln w="3175" cap="flat">
              <a:noFill/>
              <a:prstDash val="solid"/>
              <a:miter/>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37"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F4F3F5"/>
                </a:solidFill>
                <a:effectLst/>
                <a:uLnTx/>
                <a:uFillTx/>
                <a:latin typeface="Segoe Sans Display Semibold"/>
                <a:ea typeface="+mn-ea"/>
                <a:cs typeface="+mn-cs"/>
              </a:endParaRPr>
            </a:p>
          </p:txBody>
        </p:sp>
        <p:cxnSp>
          <p:nvCxnSpPr>
            <p:cNvPr id="93" name="Straight Connector 92">
              <a:extLst>
                <a:ext uri="{FF2B5EF4-FFF2-40B4-BE49-F238E27FC236}">
                  <a16:creationId xmlns:a16="http://schemas.microsoft.com/office/drawing/2014/main" id="{F430AD99-6914-3209-1081-75A16337CDBA}"/>
                </a:ext>
              </a:extLst>
            </p:cNvPr>
            <p:cNvCxnSpPr>
              <a:cxnSpLocks noGrp="1" noRot="1" noMove="1" noResize="1" noEditPoints="1" noAdjustHandles="1" noChangeArrowheads="1" noChangeShapeType="1"/>
            </p:cNvCxnSpPr>
            <p:nvPr/>
          </p:nvCxnSpPr>
          <p:spPr>
            <a:xfrm>
              <a:off x="6873881" y="3429213"/>
              <a:ext cx="602114" cy="1724"/>
            </a:xfrm>
            <a:prstGeom prst="line">
              <a:avLst/>
            </a:prstGeom>
            <a:gradFill>
              <a:gsLst>
                <a:gs pos="68000">
                  <a:schemeClr val="bg1">
                    <a:alpha val="34000"/>
                  </a:schemeClr>
                </a:gs>
                <a:gs pos="100000">
                  <a:schemeClr val="bg1">
                    <a:alpha val="60000"/>
                  </a:schemeClr>
                </a:gs>
              </a:gsLst>
              <a:path path="circle">
                <a:fillToRect l="100000" t="100000"/>
              </a:path>
            </a:gradFill>
            <a:ln w="15875" cap="rnd">
              <a:gradFill flip="none" rotWithShape="1">
                <a:gsLst>
                  <a:gs pos="11000">
                    <a:srgbClr val="F4364C">
                      <a:alpha val="0"/>
                    </a:srgbClr>
                  </a:gs>
                  <a:gs pos="42000">
                    <a:srgbClr val="A58AD4"/>
                  </a:gs>
                  <a:gs pos="68000">
                    <a:srgbClr val="46A0DE"/>
                  </a:gs>
                  <a:gs pos="100000">
                    <a:srgbClr val="41AFA1">
                      <a:alpha val="0"/>
                    </a:srgbClr>
                  </a:gs>
                </a:gsLst>
                <a:lin ang="10800000" scaled="1"/>
                <a:tileRect/>
              </a:gradFill>
              <a:prstDash val="solid"/>
              <a:round/>
            </a:ln>
            <a:effectLst/>
          </p:spPr>
        </p:cxnSp>
      </p:grpSp>
      <p:grpSp>
        <p:nvGrpSpPr>
          <p:cNvPr id="2" name="Group 1">
            <a:extLst>
              <a:ext uri="{FF2B5EF4-FFF2-40B4-BE49-F238E27FC236}">
                <a16:creationId xmlns:a16="http://schemas.microsoft.com/office/drawing/2014/main" id="{BDD93355-5678-FB0B-525F-37CE3B04B63E}"/>
              </a:ext>
            </a:extLst>
          </p:cNvPr>
          <p:cNvGrpSpPr>
            <a:grpSpLocks noGrp="1" noUngrp="1" noRot="1" noMove="1" noResize="1"/>
          </p:cNvGrpSpPr>
          <p:nvPr/>
        </p:nvGrpSpPr>
        <p:grpSpPr>
          <a:xfrm>
            <a:off x="7535702" y="2053973"/>
            <a:ext cx="814289" cy="814289"/>
            <a:chOff x="7535702" y="2053973"/>
            <a:chExt cx="814289" cy="814289"/>
          </a:xfrm>
        </p:grpSpPr>
        <p:sp>
          <p:nvSpPr>
            <p:cNvPr id="103" name="Oval 102">
              <a:extLst>
                <a:ext uri="{FF2B5EF4-FFF2-40B4-BE49-F238E27FC236}">
                  <a16:creationId xmlns:a16="http://schemas.microsoft.com/office/drawing/2014/main" id="{39EDCFCC-EAB7-A834-63D5-49FA88C1020B}"/>
                </a:ext>
              </a:extLst>
            </p:cNvPr>
            <p:cNvSpPr>
              <a:spLocks noGrp="1" noRot="1" noMove="1" noResize="1" noEditPoints="1" noAdjustHandles="1" noChangeArrowheads="1" noChangeShapeType="1"/>
            </p:cNvSpPr>
            <p:nvPr/>
          </p:nvSpPr>
          <p:spPr bwMode="auto">
            <a:xfrm>
              <a:off x="7535702" y="2053973"/>
              <a:ext cx="814289" cy="814289"/>
            </a:xfrm>
            <a:prstGeom prst="ellipse">
              <a:avLst/>
            </a:prstGeom>
            <a:gradFill flip="none" rotWithShape="1">
              <a:gsLst>
                <a:gs pos="17000">
                  <a:srgbClr val="FAF9FA">
                    <a:alpha val="60000"/>
                  </a:srgbClr>
                </a:gs>
                <a:gs pos="0">
                  <a:schemeClr val="accent6"/>
                </a:gs>
                <a:gs pos="21000">
                  <a:srgbClr val="FFFFFF">
                    <a:alpha val="25000"/>
                  </a:srgbClr>
                </a:gs>
                <a:gs pos="26000">
                  <a:schemeClr val="accent6">
                    <a:alpha val="0"/>
                  </a:schemeClr>
                </a:gs>
              </a:gsLst>
              <a:path path="circle">
                <a:fillToRect l="50000" t="50000" r="50000" b="50000"/>
              </a:path>
              <a:tileRect/>
            </a:gradFill>
            <a:ln w="3175" cap="flat">
              <a:noFill/>
              <a:prstDash val="solid"/>
              <a:miter/>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37"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F4F3F5"/>
                </a:solidFill>
                <a:effectLst/>
                <a:uLnTx/>
                <a:uFillTx/>
                <a:latin typeface="Segoe Sans Display Semibold"/>
                <a:ea typeface="+mn-ea"/>
                <a:cs typeface="+mn-cs"/>
              </a:endParaRPr>
            </a:p>
          </p:txBody>
        </p:sp>
        <p:cxnSp>
          <p:nvCxnSpPr>
            <p:cNvPr id="104" name="Straight Connector 103">
              <a:extLst>
                <a:ext uri="{FF2B5EF4-FFF2-40B4-BE49-F238E27FC236}">
                  <a16:creationId xmlns:a16="http://schemas.microsoft.com/office/drawing/2014/main" id="{797826C5-51E7-AEE2-6B6B-1383DB01BF76}"/>
                </a:ext>
              </a:extLst>
            </p:cNvPr>
            <p:cNvCxnSpPr>
              <a:cxnSpLocks noGrp="1" noRot="1" noMove="1" noResize="1" noEditPoints="1" noAdjustHandles="1" noChangeArrowheads="1" noChangeShapeType="1"/>
            </p:cNvCxnSpPr>
            <p:nvPr/>
          </p:nvCxnSpPr>
          <p:spPr>
            <a:xfrm>
              <a:off x="7942846" y="2465074"/>
              <a:ext cx="3174" cy="399660"/>
            </a:xfrm>
            <a:prstGeom prst="line">
              <a:avLst/>
            </a:prstGeom>
            <a:gradFill>
              <a:gsLst>
                <a:gs pos="68000">
                  <a:schemeClr val="bg1">
                    <a:alpha val="34000"/>
                  </a:schemeClr>
                </a:gs>
                <a:gs pos="100000">
                  <a:schemeClr val="bg1">
                    <a:alpha val="60000"/>
                  </a:schemeClr>
                </a:gs>
              </a:gsLst>
              <a:path path="circle">
                <a:fillToRect l="100000" t="100000"/>
              </a:path>
            </a:gradFill>
            <a:ln w="15875" cap="rnd">
              <a:gradFill flip="none" rotWithShape="1">
                <a:gsLst>
                  <a:gs pos="11000">
                    <a:srgbClr val="F4364C">
                      <a:alpha val="0"/>
                    </a:srgbClr>
                  </a:gs>
                  <a:gs pos="42000">
                    <a:srgbClr val="A58AD4"/>
                  </a:gs>
                  <a:gs pos="68000">
                    <a:srgbClr val="46A0DE"/>
                  </a:gs>
                  <a:gs pos="100000">
                    <a:srgbClr val="41AFA1">
                      <a:alpha val="0"/>
                    </a:srgbClr>
                  </a:gs>
                </a:gsLst>
                <a:lin ang="5400000" scaled="0"/>
                <a:tileRect/>
              </a:gradFill>
              <a:prstDash val="solid"/>
              <a:round/>
            </a:ln>
            <a:effectLst/>
          </p:spPr>
        </p:cxnSp>
      </p:grpSp>
      <p:grpSp>
        <p:nvGrpSpPr>
          <p:cNvPr id="3" name="Group 2">
            <a:extLst>
              <a:ext uri="{FF2B5EF4-FFF2-40B4-BE49-F238E27FC236}">
                <a16:creationId xmlns:a16="http://schemas.microsoft.com/office/drawing/2014/main" id="{C5AF081A-E6DC-03DB-D26A-53270AE237BB}"/>
              </a:ext>
            </a:extLst>
          </p:cNvPr>
          <p:cNvGrpSpPr>
            <a:grpSpLocks noGrp="1" noUngrp="1" noRot="1" noMove="1" noResize="1"/>
          </p:cNvGrpSpPr>
          <p:nvPr/>
        </p:nvGrpSpPr>
        <p:grpSpPr>
          <a:xfrm>
            <a:off x="8417517" y="3037332"/>
            <a:ext cx="910667" cy="814289"/>
            <a:chOff x="8417517" y="3037332"/>
            <a:chExt cx="910667" cy="814289"/>
          </a:xfrm>
        </p:grpSpPr>
        <p:sp>
          <p:nvSpPr>
            <p:cNvPr id="108" name="Oval 107">
              <a:extLst>
                <a:ext uri="{FF2B5EF4-FFF2-40B4-BE49-F238E27FC236}">
                  <a16:creationId xmlns:a16="http://schemas.microsoft.com/office/drawing/2014/main" id="{33354B58-BFAC-903A-ACF7-EC1E742373D9}"/>
                </a:ext>
              </a:extLst>
            </p:cNvPr>
            <p:cNvSpPr>
              <a:spLocks noGrp="1" noRot="1" noMove="1" noResize="1" noEditPoints="1" noAdjustHandles="1" noChangeArrowheads="1" noChangeShapeType="1"/>
            </p:cNvSpPr>
            <p:nvPr/>
          </p:nvSpPr>
          <p:spPr bwMode="auto">
            <a:xfrm>
              <a:off x="8513895" y="3037332"/>
              <a:ext cx="814289" cy="814289"/>
            </a:xfrm>
            <a:prstGeom prst="ellipse">
              <a:avLst/>
            </a:prstGeom>
            <a:gradFill flip="none" rotWithShape="1">
              <a:gsLst>
                <a:gs pos="17000">
                  <a:srgbClr val="FAF9FA">
                    <a:alpha val="60000"/>
                  </a:srgbClr>
                </a:gs>
                <a:gs pos="0">
                  <a:schemeClr val="accent6"/>
                </a:gs>
                <a:gs pos="21000">
                  <a:srgbClr val="FFFFFF">
                    <a:alpha val="25000"/>
                  </a:srgbClr>
                </a:gs>
                <a:gs pos="26000">
                  <a:schemeClr val="accent6">
                    <a:alpha val="0"/>
                  </a:schemeClr>
                </a:gs>
              </a:gsLst>
              <a:path path="circle">
                <a:fillToRect l="50000" t="50000" r="50000" b="50000"/>
              </a:path>
              <a:tileRect/>
            </a:gradFill>
            <a:ln w="3175" cap="flat">
              <a:noFill/>
              <a:prstDash val="solid"/>
              <a:miter/>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37"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F4F3F5"/>
                </a:solidFill>
                <a:effectLst/>
                <a:uLnTx/>
                <a:uFillTx/>
                <a:latin typeface="Segoe Sans Display Semibold"/>
                <a:ea typeface="+mn-ea"/>
                <a:cs typeface="+mn-cs"/>
              </a:endParaRPr>
            </a:p>
          </p:txBody>
        </p:sp>
        <p:cxnSp>
          <p:nvCxnSpPr>
            <p:cNvPr id="110" name="Straight Connector 109">
              <a:extLst>
                <a:ext uri="{FF2B5EF4-FFF2-40B4-BE49-F238E27FC236}">
                  <a16:creationId xmlns:a16="http://schemas.microsoft.com/office/drawing/2014/main" id="{D8ACAA59-0BEF-F352-9D6E-DBDDD6F7BB60}"/>
                </a:ext>
              </a:extLst>
            </p:cNvPr>
            <p:cNvCxnSpPr>
              <a:cxnSpLocks noGrp="1" noRot="1" noMove="1" noResize="1" noEditPoints="1" noAdjustHandles="1" noChangeArrowheads="1" noChangeShapeType="1"/>
            </p:cNvCxnSpPr>
            <p:nvPr/>
          </p:nvCxnSpPr>
          <p:spPr>
            <a:xfrm>
              <a:off x="8417517" y="3434812"/>
              <a:ext cx="459488" cy="1750"/>
            </a:xfrm>
            <a:prstGeom prst="line">
              <a:avLst/>
            </a:prstGeom>
            <a:gradFill>
              <a:gsLst>
                <a:gs pos="68000">
                  <a:schemeClr val="bg1">
                    <a:alpha val="34000"/>
                  </a:schemeClr>
                </a:gs>
                <a:gs pos="100000">
                  <a:schemeClr val="bg1">
                    <a:alpha val="60000"/>
                  </a:schemeClr>
                </a:gs>
              </a:gsLst>
              <a:path path="circle">
                <a:fillToRect l="100000" t="100000"/>
              </a:path>
            </a:gradFill>
            <a:ln w="15875" cap="rnd">
              <a:gradFill flip="none" rotWithShape="1">
                <a:gsLst>
                  <a:gs pos="0">
                    <a:srgbClr val="F4364C">
                      <a:alpha val="0"/>
                    </a:srgbClr>
                  </a:gs>
                  <a:gs pos="42000">
                    <a:srgbClr val="A58AD4"/>
                  </a:gs>
                  <a:gs pos="68000">
                    <a:srgbClr val="46A0DE"/>
                  </a:gs>
                  <a:gs pos="91000">
                    <a:srgbClr val="41AFA1">
                      <a:alpha val="0"/>
                    </a:srgbClr>
                  </a:gs>
                </a:gsLst>
                <a:lin ang="10800000" scaled="1"/>
                <a:tileRect/>
              </a:gradFill>
              <a:prstDash val="solid"/>
              <a:round/>
            </a:ln>
            <a:effectLst/>
          </p:spPr>
        </p:cxnSp>
      </p:grpSp>
      <p:grpSp>
        <p:nvGrpSpPr>
          <p:cNvPr id="8" name="Group 7">
            <a:extLst>
              <a:ext uri="{FF2B5EF4-FFF2-40B4-BE49-F238E27FC236}">
                <a16:creationId xmlns:a16="http://schemas.microsoft.com/office/drawing/2014/main" id="{E6B450E4-0452-5C65-D0E8-BFB8A0B5AD2A}"/>
              </a:ext>
            </a:extLst>
          </p:cNvPr>
          <p:cNvGrpSpPr>
            <a:grpSpLocks noGrp="1" noUngrp="1" noRot="1" noMove="1" noResize="1"/>
          </p:cNvGrpSpPr>
          <p:nvPr/>
        </p:nvGrpSpPr>
        <p:grpSpPr>
          <a:xfrm>
            <a:off x="7535702" y="3981849"/>
            <a:ext cx="814289" cy="816126"/>
            <a:chOff x="7535702" y="3981849"/>
            <a:chExt cx="814289" cy="816126"/>
          </a:xfrm>
        </p:grpSpPr>
        <p:cxnSp>
          <p:nvCxnSpPr>
            <p:cNvPr id="107" name="Straight Connector 106">
              <a:extLst>
                <a:ext uri="{FF2B5EF4-FFF2-40B4-BE49-F238E27FC236}">
                  <a16:creationId xmlns:a16="http://schemas.microsoft.com/office/drawing/2014/main" id="{548224FF-6C75-F109-79C2-571654DC0D51}"/>
                </a:ext>
              </a:extLst>
            </p:cNvPr>
            <p:cNvCxnSpPr>
              <a:cxnSpLocks noGrp="1" noRot="1" noMove="1" noResize="1" noEditPoints="1" noAdjustHandles="1" noChangeArrowheads="1" noChangeShapeType="1"/>
            </p:cNvCxnSpPr>
            <p:nvPr/>
          </p:nvCxnSpPr>
          <p:spPr>
            <a:xfrm>
              <a:off x="7942846" y="3981849"/>
              <a:ext cx="0" cy="396346"/>
            </a:xfrm>
            <a:prstGeom prst="line">
              <a:avLst/>
            </a:prstGeom>
            <a:gradFill>
              <a:gsLst>
                <a:gs pos="68000">
                  <a:schemeClr val="bg1">
                    <a:alpha val="34000"/>
                  </a:schemeClr>
                </a:gs>
                <a:gs pos="100000">
                  <a:schemeClr val="bg1">
                    <a:alpha val="60000"/>
                  </a:schemeClr>
                </a:gs>
              </a:gsLst>
              <a:path path="circle">
                <a:fillToRect l="100000" t="100000"/>
              </a:path>
            </a:gradFill>
            <a:ln w="15875" cap="rnd">
              <a:gradFill flip="none" rotWithShape="1">
                <a:gsLst>
                  <a:gs pos="11000">
                    <a:srgbClr val="F4364C">
                      <a:alpha val="0"/>
                    </a:srgbClr>
                  </a:gs>
                  <a:gs pos="42000">
                    <a:srgbClr val="A58AD4"/>
                  </a:gs>
                  <a:gs pos="68000">
                    <a:srgbClr val="46A0DE"/>
                  </a:gs>
                  <a:gs pos="100000">
                    <a:srgbClr val="41AFA1">
                      <a:alpha val="0"/>
                    </a:srgbClr>
                  </a:gs>
                </a:gsLst>
                <a:lin ang="5400000" scaled="0"/>
                <a:tileRect/>
              </a:gradFill>
              <a:prstDash val="solid"/>
              <a:round/>
            </a:ln>
            <a:effectLst/>
          </p:spPr>
        </p:cxnSp>
        <p:sp>
          <p:nvSpPr>
            <p:cNvPr id="111" name="Oval 110">
              <a:extLst>
                <a:ext uri="{FF2B5EF4-FFF2-40B4-BE49-F238E27FC236}">
                  <a16:creationId xmlns:a16="http://schemas.microsoft.com/office/drawing/2014/main" id="{2BB855FC-3876-F14D-2273-0A1BCB1BCDB0}"/>
                </a:ext>
              </a:extLst>
            </p:cNvPr>
            <p:cNvSpPr>
              <a:spLocks noGrp="1" noRot="1" noMove="1" noResize="1" noEditPoints="1" noAdjustHandles="1" noChangeArrowheads="1" noChangeShapeType="1"/>
            </p:cNvSpPr>
            <p:nvPr/>
          </p:nvSpPr>
          <p:spPr bwMode="auto">
            <a:xfrm>
              <a:off x="7535702" y="3983686"/>
              <a:ext cx="814289" cy="814289"/>
            </a:xfrm>
            <a:prstGeom prst="ellipse">
              <a:avLst/>
            </a:prstGeom>
            <a:gradFill flip="none" rotWithShape="1">
              <a:gsLst>
                <a:gs pos="17000">
                  <a:srgbClr val="FAF9FA">
                    <a:alpha val="60000"/>
                  </a:srgbClr>
                </a:gs>
                <a:gs pos="0">
                  <a:schemeClr val="accent6"/>
                </a:gs>
                <a:gs pos="21000">
                  <a:srgbClr val="FFFFFF">
                    <a:alpha val="25000"/>
                  </a:srgbClr>
                </a:gs>
                <a:gs pos="26000">
                  <a:schemeClr val="accent6">
                    <a:alpha val="0"/>
                  </a:schemeClr>
                </a:gs>
              </a:gsLst>
              <a:path path="circle">
                <a:fillToRect l="50000" t="50000" r="50000" b="50000"/>
              </a:path>
              <a:tileRect/>
            </a:gradFill>
            <a:ln w="3175" cap="flat">
              <a:noFill/>
              <a:prstDash val="solid"/>
              <a:miter/>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37"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F4F3F5"/>
                </a:solidFill>
                <a:effectLst/>
                <a:uLnTx/>
                <a:uFillTx/>
                <a:latin typeface="Segoe Sans Display Semibold"/>
                <a:ea typeface="+mn-ea"/>
                <a:cs typeface="+mn-cs"/>
              </a:endParaRPr>
            </a:p>
          </p:txBody>
        </p:sp>
      </p:grpSp>
      <p:sp>
        <p:nvSpPr>
          <p:cNvPr id="11" name="Rectangle 10">
            <a:extLst>
              <a:ext uri="{FF2B5EF4-FFF2-40B4-BE49-F238E27FC236}">
                <a16:creationId xmlns:a16="http://schemas.microsoft.com/office/drawing/2014/main" id="{46922518-091E-D430-C5A7-E1892C5198CA}"/>
              </a:ext>
            </a:extLst>
          </p:cNvPr>
          <p:cNvSpPr/>
          <p:nvPr/>
        </p:nvSpPr>
        <p:spPr bwMode="auto">
          <a:xfrm>
            <a:off x="6300769" y="936297"/>
            <a:ext cx="3277667" cy="502024"/>
          </a:xfrm>
          <a:prstGeom prst="rect">
            <a:avLst/>
          </a:prstGeom>
          <a:gradFill>
            <a:gsLst>
              <a:gs pos="32000">
                <a:schemeClr val="tx1">
                  <a:alpha val="80000"/>
                </a:schemeClr>
              </a:gs>
              <a:gs pos="0">
                <a:schemeClr val="tx1">
                  <a:alpha val="0"/>
                </a:schemeClr>
              </a:gs>
              <a:gs pos="73000">
                <a:schemeClr val="tx1">
                  <a:alpha val="80000"/>
                </a:schemeClr>
              </a:gs>
              <a:gs pos="100000">
                <a:schemeClr val="tx1">
                  <a:alpha val="0"/>
                </a:schemeClr>
              </a:gs>
            </a:gsLst>
            <a:lin ang="0" scaled="0"/>
          </a:gradFill>
          <a:ln>
            <a:noFill/>
            <a:headEnd type="none" w="med" len="med"/>
            <a:tailEnd type="none" w="med" len="med"/>
          </a:ln>
          <a:effectLst>
            <a:softEdge rad="635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25" name="Rectangle 24">
            <a:extLst>
              <a:ext uri="{FF2B5EF4-FFF2-40B4-BE49-F238E27FC236}">
                <a16:creationId xmlns:a16="http://schemas.microsoft.com/office/drawing/2014/main" id="{FBEF01C3-64F9-7DA5-6904-9D10CF5460DF}"/>
              </a:ext>
            </a:extLst>
          </p:cNvPr>
          <p:cNvSpPr>
            <a:spLocks/>
          </p:cNvSpPr>
          <p:nvPr/>
        </p:nvSpPr>
        <p:spPr>
          <a:xfrm>
            <a:off x="6594129" y="1015579"/>
            <a:ext cx="2690949" cy="341632"/>
          </a:xfrm>
          <a:prstGeom prst="rect">
            <a:avLst/>
          </a:prstGeom>
          <a:noFill/>
        </p:spPr>
        <p:txBody>
          <a:bodyPr wrap="square">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50" normalizeH="0" baseline="0" noProof="0">
                <a:ln w="3175">
                  <a:noFill/>
                </a:ln>
                <a:solidFill>
                  <a:srgbClr val="091F2C"/>
                </a:solidFill>
                <a:effectLst/>
                <a:uLnTx/>
                <a:uFillTx/>
                <a:latin typeface="Segoe Sans Display Semibold" pitchFamily="2" charset="0"/>
                <a:ea typeface="+mn-ea"/>
                <a:cs typeface="Segoe Sans Display Semibold" pitchFamily="2" charset="0"/>
              </a:rPr>
              <a:t>Business enablement </a:t>
            </a:r>
          </a:p>
        </p:txBody>
      </p:sp>
    </p:spTree>
    <p:extLst>
      <p:ext uri="{BB962C8B-B14F-4D97-AF65-F5344CB8AC3E}">
        <p14:creationId xmlns:p14="http://schemas.microsoft.com/office/powerpoint/2010/main" val="22998862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path" presetSubtype="0" decel="100000" fill="hold" grpId="1" nodeType="withEffect">
                                  <p:stCondLst>
                                    <p:cond delay="0"/>
                                  </p:stCondLst>
                                  <p:childTnLst>
                                    <p:animMotion origin="layout" path="M -3.95833E-6 4.44444E-6 L -3.95833E-6 0.03541 " pathEditMode="relative" rAng="0" ptsTypes="AA">
                                      <p:cBhvr>
                                        <p:cTn id="9" dur="700" spd="-100000" fill="hold"/>
                                        <p:tgtEl>
                                          <p:spTgt spid="5"/>
                                        </p:tgtEl>
                                        <p:attrNameLst>
                                          <p:attrName>ppt_x</p:attrName>
                                          <p:attrName>ppt_y</p:attrName>
                                        </p:attrNameLst>
                                      </p:cBhvr>
                                      <p:rCtr x="0" y="1759"/>
                                    </p:animMotion>
                                  </p:childTnLst>
                                </p:cTn>
                              </p:par>
                              <p:par>
                                <p:cTn id="10" presetID="53" presetClass="entr" presetSubtype="16" fill="hold" grpId="0" nodeType="with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500" fill="hold"/>
                                        <p:tgtEl>
                                          <p:spTgt spid="51"/>
                                        </p:tgtEl>
                                        <p:attrNameLst>
                                          <p:attrName>ppt_w</p:attrName>
                                        </p:attrNameLst>
                                      </p:cBhvr>
                                      <p:tavLst>
                                        <p:tav tm="0">
                                          <p:val>
                                            <p:fltVal val="0"/>
                                          </p:val>
                                        </p:tav>
                                        <p:tav tm="100000">
                                          <p:val>
                                            <p:strVal val="#ppt_w"/>
                                          </p:val>
                                        </p:tav>
                                      </p:tavLst>
                                    </p:anim>
                                    <p:anim calcmode="lin" valueType="num">
                                      <p:cBhvr>
                                        <p:cTn id="13" dur="500" fill="hold"/>
                                        <p:tgtEl>
                                          <p:spTgt spid="51"/>
                                        </p:tgtEl>
                                        <p:attrNameLst>
                                          <p:attrName>ppt_h</p:attrName>
                                        </p:attrNameLst>
                                      </p:cBhvr>
                                      <p:tavLst>
                                        <p:tav tm="0">
                                          <p:val>
                                            <p:fltVal val="0"/>
                                          </p:val>
                                        </p:tav>
                                        <p:tav tm="100000">
                                          <p:val>
                                            <p:strVal val="#ppt_h"/>
                                          </p:val>
                                        </p:tav>
                                      </p:tavLst>
                                    </p:anim>
                                    <p:animEffect transition="in" filter="fade">
                                      <p:cBhvr>
                                        <p:cTn id="14" dur="500"/>
                                        <p:tgtEl>
                                          <p:spTgt spid="51"/>
                                        </p:tgtEl>
                                      </p:cBhvr>
                                    </p:animEffect>
                                  </p:childTnLst>
                                </p:cTn>
                              </p:par>
                              <p:par>
                                <p:cTn id="15" presetID="53" presetClass="entr" presetSubtype="16" fill="hold" nodeType="withEffect">
                                  <p:stCondLst>
                                    <p:cond delay="0"/>
                                  </p:stCondLst>
                                  <p:childTnLst>
                                    <p:set>
                                      <p:cBhvr>
                                        <p:cTn id="16" dur="1" fill="hold">
                                          <p:stCondLst>
                                            <p:cond delay="0"/>
                                          </p:stCondLst>
                                        </p:cTn>
                                        <p:tgtEl>
                                          <p:spTgt spid="53"/>
                                        </p:tgtEl>
                                        <p:attrNameLst>
                                          <p:attrName>style.visibility</p:attrName>
                                        </p:attrNameLst>
                                      </p:cBhvr>
                                      <p:to>
                                        <p:strVal val="visible"/>
                                      </p:to>
                                    </p:set>
                                    <p:anim calcmode="lin" valueType="num">
                                      <p:cBhvr>
                                        <p:cTn id="17" dur="500" fill="hold"/>
                                        <p:tgtEl>
                                          <p:spTgt spid="53"/>
                                        </p:tgtEl>
                                        <p:attrNameLst>
                                          <p:attrName>ppt_w</p:attrName>
                                        </p:attrNameLst>
                                      </p:cBhvr>
                                      <p:tavLst>
                                        <p:tav tm="0">
                                          <p:val>
                                            <p:fltVal val="0"/>
                                          </p:val>
                                        </p:tav>
                                        <p:tav tm="100000">
                                          <p:val>
                                            <p:strVal val="#ppt_w"/>
                                          </p:val>
                                        </p:tav>
                                      </p:tavLst>
                                    </p:anim>
                                    <p:anim calcmode="lin" valueType="num">
                                      <p:cBhvr>
                                        <p:cTn id="18" dur="500" fill="hold"/>
                                        <p:tgtEl>
                                          <p:spTgt spid="53"/>
                                        </p:tgtEl>
                                        <p:attrNameLst>
                                          <p:attrName>ppt_h</p:attrName>
                                        </p:attrNameLst>
                                      </p:cBhvr>
                                      <p:tavLst>
                                        <p:tav tm="0">
                                          <p:val>
                                            <p:fltVal val="0"/>
                                          </p:val>
                                        </p:tav>
                                        <p:tav tm="100000">
                                          <p:val>
                                            <p:strVal val="#ppt_h"/>
                                          </p:val>
                                        </p:tav>
                                      </p:tavLst>
                                    </p:anim>
                                    <p:animEffect transition="in" filter="fade">
                                      <p:cBhvr>
                                        <p:cTn id="19" dur="500"/>
                                        <p:tgtEl>
                                          <p:spTgt spid="53"/>
                                        </p:tgtEl>
                                      </p:cBhvr>
                                    </p:animEffect>
                                  </p:childTnLst>
                                </p:cTn>
                              </p:par>
                              <p:par>
                                <p:cTn id="20" presetID="10" presetClass="entr" presetSubtype="0" fill="hold" nodeType="withEffect">
                                  <p:stCondLst>
                                    <p:cond delay="250"/>
                                  </p:stCondLst>
                                  <p:childTnLst>
                                    <p:set>
                                      <p:cBhvr>
                                        <p:cTn id="21" dur="1" fill="hold">
                                          <p:stCondLst>
                                            <p:cond delay="0"/>
                                          </p:stCondLst>
                                        </p:cTn>
                                        <p:tgtEl>
                                          <p:spTgt spid="92"/>
                                        </p:tgtEl>
                                        <p:attrNameLst>
                                          <p:attrName>style.visibility</p:attrName>
                                        </p:attrNameLst>
                                      </p:cBhvr>
                                      <p:to>
                                        <p:strVal val="visible"/>
                                      </p:to>
                                    </p:set>
                                    <p:animEffect transition="in" filter="fade">
                                      <p:cBhvr>
                                        <p:cTn id="22" dur="500"/>
                                        <p:tgtEl>
                                          <p:spTgt spid="92"/>
                                        </p:tgtEl>
                                      </p:cBhvr>
                                    </p:animEffect>
                                  </p:childTnLst>
                                </p:cTn>
                              </p:par>
                              <p:par>
                                <p:cTn id="23" presetID="22" presetClass="entr" presetSubtype="4" fill="hold" nodeType="withEffect">
                                  <p:stCondLst>
                                    <p:cond delay="50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00"/>
                                        <p:tgtEl>
                                          <p:spTgt spid="2"/>
                                        </p:tgtEl>
                                      </p:cBhvr>
                                    </p:animEffect>
                                  </p:childTnLst>
                                </p:cTn>
                              </p:par>
                              <p:par>
                                <p:cTn id="26" presetID="10" presetClass="entr" presetSubtype="0" fill="hold" nodeType="withEffect">
                                  <p:stCondLst>
                                    <p:cond delay="5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22" presetClass="entr" presetSubtype="8" fill="hold" nodeType="withEffect">
                                  <p:stCondLst>
                                    <p:cond delay="75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par>
                                <p:cTn id="35" presetID="10" presetClass="entr" presetSubtype="0" fill="hold" nodeType="withEffect">
                                  <p:stCondLst>
                                    <p:cond delay="75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10" presetClass="entr" presetSubtype="0" fill="hold" grpId="0" nodeType="withEffect">
                                  <p:stCondLst>
                                    <p:cond delay="75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par>
                                <p:cTn id="41" presetID="22" presetClass="entr" presetSubtype="1" fill="hold" nodeType="withEffect">
                                  <p:stCondLst>
                                    <p:cond delay="1000"/>
                                  </p:stCondLst>
                                  <p:childTnLst>
                                    <p:set>
                                      <p:cBhvr>
                                        <p:cTn id="42" dur="1" fill="hold">
                                          <p:stCondLst>
                                            <p:cond delay="0"/>
                                          </p:stCondLst>
                                        </p:cTn>
                                        <p:tgtEl>
                                          <p:spTgt spid="8"/>
                                        </p:tgtEl>
                                        <p:attrNameLst>
                                          <p:attrName>style.visibility</p:attrName>
                                        </p:attrNameLst>
                                      </p:cBhvr>
                                      <p:to>
                                        <p:strVal val="visible"/>
                                      </p:to>
                                    </p:set>
                                    <p:animEffect transition="in" filter="wipe(up)">
                                      <p:cBhvr>
                                        <p:cTn id="43" dur="500"/>
                                        <p:tgtEl>
                                          <p:spTgt spid="8"/>
                                        </p:tgtEl>
                                      </p:cBhvr>
                                    </p:animEffect>
                                  </p:childTnLst>
                                </p:cTn>
                              </p:par>
                              <p:par>
                                <p:cTn id="44" presetID="10" presetClass="entr" presetSubtype="0" fill="hold" nodeType="withEffect">
                                  <p:stCondLst>
                                    <p:cond delay="100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par>
                                <p:cTn id="47" presetID="10" presetClass="entr" presetSubtype="0" fill="hold" grpId="0" nodeType="withEffect">
                                  <p:stCondLst>
                                    <p:cond delay="100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par>
                                <p:cTn id="50" presetID="22" presetClass="entr" presetSubtype="2" fill="hold" nodeType="withEffect">
                                  <p:stCondLst>
                                    <p:cond delay="1250"/>
                                  </p:stCondLst>
                                  <p:childTnLst>
                                    <p:set>
                                      <p:cBhvr>
                                        <p:cTn id="51" dur="1" fill="hold">
                                          <p:stCondLst>
                                            <p:cond delay="0"/>
                                          </p:stCondLst>
                                        </p:cTn>
                                        <p:tgtEl>
                                          <p:spTgt spid="9"/>
                                        </p:tgtEl>
                                        <p:attrNameLst>
                                          <p:attrName>style.visibility</p:attrName>
                                        </p:attrNameLst>
                                      </p:cBhvr>
                                      <p:to>
                                        <p:strVal val="visible"/>
                                      </p:to>
                                    </p:set>
                                    <p:animEffect transition="in" filter="wipe(right)">
                                      <p:cBhvr>
                                        <p:cTn id="52" dur="500"/>
                                        <p:tgtEl>
                                          <p:spTgt spid="9"/>
                                        </p:tgtEl>
                                      </p:cBhvr>
                                    </p:animEffect>
                                  </p:childTnLst>
                                </p:cTn>
                              </p:par>
                              <p:par>
                                <p:cTn id="53" presetID="10" presetClass="entr" presetSubtype="0" fill="hold" nodeType="withEffect">
                                  <p:stCondLst>
                                    <p:cond delay="12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par>
                                <p:cTn id="56" presetID="10" presetClass="entr" presetSubtype="0" fill="hold" grpId="0" nodeType="withEffect">
                                  <p:stCondLst>
                                    <p:cond delay="125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26" grpId="0"/>
      <p:bldP spid="27" grpId="0"/>
      <p:bldP spid="28" grpId="0"/>
      <p:bldP spid="51" grpId="0" animBg="1"/>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25862C5-A36E-5CE7-0159-E1F6BEFCED61}"/>
              </a:ext>
            </a:extLst>
          </p:cNvPr>
          <p:cNvSpPr/>
          <p:nvPr/>
        </p:nvSpPr>
        <p:spPr bwMode="auto">
          <a:xfrm>
            <a:off x="1635638" y="1159164"/>
            <a:ext cx="7933307" cy="4539671"/>
          </a:xfrm>
          <a:custGeom>
            <a:avLst/>
            <a:gdLst>
              <a:gd name="csX0" fmla="*/ 10104699 w 10104699"/>
              <a:gd name="csY0" fmla="*/ 0 h 2571787"/>
              <a:gd name="csX1" fmla="*/ 10104699 w 10104699"/>
              <a:gd name="csY1" fmla="*/ 2571787 h 2571787"/>
              <a:gd name="csX2" fmla="*/ 10063585 w 10104699"/>
              <a:gd name="csY2" fmla="*/ 2571787 h 2571787"/>
              <a:gd name="csX3" fmla="*/ 10035727 w 10104699"/>
              <a:gd name="csY3" fmla="*/ 2547451 h 2571787"/>
              <a:gd name="csX4" fmla="*/ 4950193 w 10104699"/>
              <a:gd name="csY4" fmla="*/ 1497370 h 2571787"/>
              <a:gd name="csX5" fmla="*/ 70020 w 10104699"/>
              <a:gd name="csY5" fmla="*/ 2403890 h 2571787"/>
              <a:gd name="csX6" fmla="*/ 0 w 10104699"/>
              <a:gd name="csY6" fmla="*/ 2449670 h 2571787"/>
              <a:gd name="csX7" fmla="*/ 0 w 10104699"/>
              <a:gd name="csY7" fmla="*/ 158033 h 2571787"/>
              <a:gd name="csX8" fmla="*/ 70020 w 10104699"/>
              <a:gd name="csY8" fmla="*/ 203813 h 2571787"/>
              <a:gd name="csX9" fmla="*/ 4950193 w 10104699"/>
              <a:gd name="csY9" fmla="*/ 1110333 h 2571787"/>
              <a:gd name="csX10" fmla="*/ 10035727 w 10104699"/>
              <a:gd name="csY10" fmla="*/ 60252 h 2571787"/>
              <a:gd name="csX11" fmla="*/ 10104699 w 10104699"/>
              <a:gd name="csY11" fmla="*/ 0 h 25717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104699" h="2571787">
                <a:moveTo>
                  <a:pt x="10104699" y="0"/>
                </a:moveTo>
                <a:lnTo>
                  <a:pt x="10104699" y="2571787"/>
                </a:lnTo>
                <a:lnTo>
                  <a:pt x="10063585" y="2571787"/>
                </a:lnTo>
                <a:lnTo>
                  <a:pt x="10035727" y="2547451"/>
                </a:lnTo>
                <a:cubicBezTo>
                  <a:pt x="9276679" y="1934682"/>
                  <a:pt x="7286210" y="1497370"/>
                  <a:pt x="4950193" y="1497370"/>
                </a:cubicBezTo>
                <a:cubicBezTo>
                  <a:pt x="2801057" y="1497370"/>
                  <a:pt x="944393" y="1867511"/>
                  <a:pt x="70020" y="2403890"/>
                </a:cubicBezTo>
                <a:lnTo>
                  <a:pt x="0" y="2449670"/>
                </a:lnTo>
                <a:lnTo>
                  <a:pt x="0" y="158033"/>
                </a:lnTo>
                <a:lnTo>
                  <a:pt x="70020" y="203813"/>
                </a:lnTo>
                <a:cubicBezTo>
                  <a:pt x="944393" y="740193"/>
                  <a:pt x="2801057" y="1110333"/>
                  <a:pt x="4950193" y="1110333"/>
                </a:cubicBezTo>
                <a:cubicBezTo>
                  <a:pt x="7286210" y="1110333"/>
                  <a:pt x="9276679" y="673022"/>
                  <a:pt x="10035727" y="60252"/>
                </a:cubicBezTo>
                <a:lnTo>
                  <a:pt x="10104699" y="0"/>
                </a:lnTo>
                <a:close/>
              </a:path>
            </a:pathLst>
          </a:custGeom>
          <a:gradFill flip="none" rotWithShape="1">
            <a:gsLst>
              <a:gs pos="1000">
                <a:schemeClr val="tx1"/>
              </a:gs>
              <a:gs pos="89000">
                <a:schemeClr val="tx1">
                  <a:alpha val="0"/>
                </a:schemeClr>
              </a:gs>
              <a:gs pos="68000">
                <a:schemeClr val="tx1">
                  <a:alpha val="3000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grpSp>
        <p:nvGrpSpPr>
          <p:cNvPr id="20" name="Group 19">
            <a:extLst>
              <a:ext uri="{FF2B5EF4-FFF2-40B4-BE49-F238E27FC236}">
                <a16:creationId xmlns:a16="http://schemas.microsoft.com/office/drawing/2014/main" id="{D167EA68-1DB8-8AA6-5FF6-66529DFE6A20}"/>
              </a:ext>
            </a:extLst>
          </p:cNvPr>
          <p:cNvGrpSpPr>
            <a:grpSpLocks noGrp="1" noUngrp="1" noRot="1" noMove="1" noResize="1"/>
          </p:cNvGrpSpPr>
          <p:nvPr/>
        </p:nvGrpSpPr>
        <p:grpSpPr>
          <a:xfrm>
            <a:off x="499337" y="1415411"/>
            <a:ext cx="1776768" cy="604370"/>
            <a:chOff x="1827200" y="2872318"/>
            <a:chExt cx="1776768" cy="604370"/>
          </a:xfrm>
        </p:grpSpPr>
        <p:sp>
          <p:nvSpPr>
            <p:cNvPr id="21" name="Rounded Rectangle 14">
              <a:extLst>
                <a:ext uri="{FF2B5EF4-FFF2-40B4-BE49-F238E27FC236}">
                  <a16:creationId xmlns:a16="http://schemas.microsoft.com/office/drawing/2014/main" id="{927D3330-E976-1A67-EE95-64E1DEC8956C}"/>
                </a:ext>
              </a:extLst>
            </p:cNvPr>
            <p:cNvSpPr>
              <a:spLocks noGrp="1" noRot="1" noMove="1" noResize="1" noEditPoints="1" noAdjustHandles="1" noChangeArrowheads="1" noChangeShapeType="1"/>
            </p:cNvSpPr>
            <p:nvPr/>
          </p:nvSpPr>
          <p:spPr>
            <a:xfrm>
              <a:off x="2558178" y="3038296"/>
              <a:ext cx="1045790" cy="272415"/>
            </a:xfrm>
            <a:prstGeom prst="round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Identities</a:t>
              </a:r>
            </a:p>
          </p:txBody>
        </p:sp>
        <p:sp>
          <p:nvSpPr>
            <p:cNvPr id="22" name="Oval 21">
              <a:extLst>
                <a:ext uri="{FF2B5EF4-FFF2-40B4-BE49-F238E27FC236}">
                  <a16:creationId xmlns:a16="http://schemas.microsoft.com/office/drawing/2014/main" id="{1F588E0E-6F8E-7217-0390-E66B43C65B5C}"/>
                </a:ext>
              </a:extLst>
            </p:cNvPr>
            <p:cNvSpPr>
              <a:spLocks noGrp="1" noRot="1" noMove="1" noResize="1" noEditPoints="1" noAdjustHandles="1" noChangeArrowheads="1" noChangeShapeType="1"/>
            </p:cNvSpPr>
            <p:nvPr/>
          </p:nvSpPr>
          <p:spPr bwMode="auto">
            <a:xfrm>
              <a:off x="1827200" y="2872318"/>
              <a:ext cx="604370" cy="604370"/>
            </a:xfrm>
            <a:prstGeom prst="ellipse">
              <a:avLst/>
            </a:prstGeom>
            <a:solidFill>
              <a:srgbClr val="FFFFFF">
                <a:alpha val="74000"/>
              </a:srgb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23" name="Picture 22" descr="Laptop and Teams window in orange and purple color">
              <a:extLst>
                <a:ext uri="{FF2B5EF4-FFF2-40B4-BE49-F238E27FC236}">
                  <a16:creationId xmlns:a16="http://schemas.microsoft.com/office/drawing/2014/main" id="{69DDAF2E-EB1D-6996-8FFC-1A5D2C8DE7B7}"/>
                </a:ext>
              </a:extLst>
            </p:cNvPr>
            <p:cNvPicPr>
              <a:picLocks noGrp="1" noRot="1" noChangeAspect="1" noMove="1" noResize="1" noEditPoints="1" noAdjustHandles="1" noChangeArrowheads="1" noChangeShapeType="1" noCrop="1"/>
            </p:cNvPicPr>
            <p:nvPr/>
          </p:nvPicPr>
          <p:blipFill>
            <a:blip r:embed="rId3"/>
            <a:stretch>
              <a:fillRect/>
            </a:stretch>
          </p:blipFill>
          <p:spPr>
            <a:xfrm>
              <a:off x="1926039" y="2970581"/>
              <a:ext cx="406691" cy="406691"/>
            </a:xfrm>
            <a:prstGeom prst="rect">
              <a:avLst/>
            </a:prstGeom>
          </p:spPr>
        </p:pic>
      </p:grpSp>
      <p:grpSp>
        <p:nvGrpSpPr>
          <p:cNvPr id="24" name="Group 23">
            <a:extLst>
              <a:ext uri="{FF2B5EF4-FFF2-40B4-BE49-F238E27FC236}">
                <a16:creationId xmlns:a16="http://schemas.microsoft.com/office/drawing/2014/main" id="{93CD0600-B094-17DF-8599-3A91A123B0C2}"/>
              </a:ext>
            </a:extLst>
          </p:cNvPr>
          <p:cNvGrpSpPr>
            <a:grpSpLocks noGrp="1" noUngrp="1" noRot="1" noMove="1" noResize="1"/>
          </p:cNvGrpSpPr>
          <p:nvPr/>
        </p:nvGrpSpPr>
        <p:grpSpPr>
          <a:xfrm>
            <a:off x="499337" y="3476651"/>
            <a:ext cx="1753321" cy="604370"/>
            <a:chOff x="1827200" y="3788106"/>
            <a:chExt cx="1753321" cy="604370"/>
          </a:xfrm>
        </p:grpSpPr>
        <p:sp>
          <p:nvSpPr>
            <p:cNvPr id="25" name="Rounded Rectangle 14">
              <a:extLst>
                <a:ext uri="{FF2B5EF4-FFF2-40B4-BE49-F238E27FC236}">
                  <a16:creationId xmlns:a16="http://schemas.microsoft.com/office/drawing/2014/main" id="{179E6A9F-CC82-3EEA-7190-2BD68986B7B7}"/>
                </a:ext>
              </a:extLst>
            </p:cNvPr>
            <p:cNvSpPr>
              <a:spLocks noGrp="1" noRot="1" noMove="1" noResize="1" noEditPoints="1" noAdjustHandles="1" noChangeArrowheads="1" noChangeShapeType="1"/>
            </p:cNvSpPr>
            <p:nvPr/>
          </p:nvSpPr>
          <p:spPr>
            <a:xfrm>
              <a:off x="2534731" y="3954084"/>
              <a:ext cx="1045790" cy="272415"/>
            </a:xfrm>
            <a:prstGeom prst="round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Endpoints</a:t>
              </a:r>
            </a:p>
          </p:txBody>
        </p:sp>
        <p:sp>
          <p:nvSpPr>
            <p:cNvPr id="26" name="Oval 25">
              <a:extLst>
                <a:ext uri="{FF2B5EF4-FFF2-40B4-BE49-F238E27FC236}">
                  <a16:creationId xmlns:a16="http://schemas.microsoft.com/office/drawing/2014/main" id="{6A21F842-7B58-0111-5261-1C3E85DA7AD1}"/>
                </a:ext>
              </a:extLst>
            </p:cNvPr>
            <p:cNvSpPr>
              <a:spLocks noGrp="1" noRot="1" noMove="1" noResize="1" noEditPoints="1" noAdjustHandles="1" noChangeArrowheads="1" noChangeShapeType="1"/>
            </p:cNvSpPr>
            <p:nvPr/>
          </p:nvSpPr>
          <p:spPr bwMode="auto">
            <a:xfrm>
              <a:off x="1827200" y="3788106"/>
              <a:ext cx="604370" cy="604370"/>
            </a:xfrm>
            <a:prstGeom prst="ellipse">
              <a:avLst/>
            </a:prstGeom>
            <a:solidFill>
              <a:srgbClr val="FFFFFF">
                <a:alpha val="74000"/>
              </a:srgb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27" name="Picture 26" descr="Monitor and lock in blue and green color">
              <a:extLst>
                <a:ext uri="{FF2B5EF4-FFF2-40B4-BE49-F238E27FC236}">
                  <a16:creationId xmlns:a16="http://schemas.microsoft.com/office/drawing/2014/main" id="{30026FBA-0776-8889-35B9-C88E948BB8AE}"/>
                </a:ext>
              </a:extLst>
            </p:cNvPr>
            <p:cNvPicPr>
              <a:picLocks noGrp="1" noRot="1" noChangeAspect="1" noMove="1" noResize="1" noEditPoints="1" noAdjustHandles="1" noChangeArrowheads="1" noChangeShapeType="1" noCrop="1"/>
            </p:cNvPicPr>
            <p:nvPr/>
          </p:nvPicPr>
          <p:blipFill>
            <a:blip r:embed="rId4"/>
            <a:stretch>
              <a:fillRect/>
            </a:stretch>
          </p:blipFill>
          <p:spPr>
            <a:xfrm>
              <a:off x="1902154" y="3871815"/>
              <a:ext cx="445910" cy="445910"/>
            </a:xfrm>
            <a:prstGeom prst="rect">
              <a:avLst/>
            </a:prstGeom>
          </p:spPr>
        </p:pic>
      </p:grpSp>
      <p:sp>
        <p:nvSpPr>
          <p:cNvPr id="33" name="Rectangle: Rounded Corners 32">
            <a:extLst>
              <a:ext uri="{FF2B5EF4-FFF2-40B4-BE49-F238E27FC236}">
                <a16:creationId xmlns:a16="http://schemas.microsoft.com/office/drawing/2014/main" id="{68D7392D-2715-8083-FE6B-EE2F2EC72A28}"/>
              </a:ext>
            </a:extLst>
          </p:cNvPr>
          <p:cNvSpPr>
            <a:spLocks noGrp="1" noRot="1" noMove="1" noResize="1" noEditPoints="1" noAdjustHandles="1" noChangeArrowheads="1" noChangeShapeType="1"/>
          </p:cNvSpPr>
          <p:nvPr/>
        </p:nvSpPr>
        <p:spPr bwMode="auto">
          <a:xfrm>
            <a:off x="3610444" y="1918708"/>
            <a:ext cx="3744982" cy="514231"/>
          </a:xfrm>
          <a:prstGeom prst="roundRect">
            <a:avLst/>
          </a:prstGeom>
          <a:gradFill>
            <a:gsLst>
              <a:gs pos="100000">
                <a:srgbClr val="1F709B">
                  <a:alpha val="60000"/>
                </a:srgbClr>
              </a:gs>
              <a:gs pos="0">
                <a:schemeClr val="accent4">
                  <a:lumMod val="50000"/>
                  <a:alpha val="57000"/>
                </a:schemeClr>
              </a:gs>
              <a:gs pos="59000">
                <a:schemeClr val="accent4">
                  <a:lumMod val="50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rPr>
              <a:t>Posture and Governance</a:t>
            </a:r>
          </a:p>
        </p:txBody>
      </p:sp>
      <p:sp>
        <p:nvSpPr>
          <p:cNvPr id="34" name="Rectangle: Rounded Corners 33">
            <a:extLst>
              <a:ext uri="{FF2B5EF4-FFF2-40B4-BE49-F238E27FC236}">
                <a16:creationId xmlns:a16="http://schemas.microsoft.com/office/drawing/2014/main" id="{C76FEF05-FCE9-64B4-BB8F-FE670FA8DE9E}"/>
              </a:ext>
            </a:extLst>
          </p:cNvPr>
          <p:cNvSpPr>
            <a:spLocks noGrp="1" noRot="1" noMove="1" noResize="1" noEditPoints="1" noAdjustHandles="1" noChangeArrowheads="1" noChangeShapeType="1"/>
          </p:cNvSpPr>
          <p:nvPr/>
        </p:nvSpPr>
        <p:spPr bwMode="auto">
          <a:xfrm>
            <a:off x="3610444" y="4437028"/>
            <a:ext cx="3744982" cy="514231"/>
          </a:xfrm>
          <a:prstGeom prst="roundRect">
            <a:avLst/>
          </a:prstGeom>
          <a:gradFill>
            <a:gsLst>
              <a:gs pos="100000">
                <a:srgbClr val="1F709B">
                  <a:alpha val="60000"/>
                </a:srgbClr>
              </a:gs>
              <a:gs pos="0">
                <a:schemeClr val="accent4">
                  <a:lumMod val="50000"/>
                  <a:alpha val="57000"/>
                </a:schemeClr>
              </a:gs>
              <a:gs pos="59000">
                <a:schemeClr val="accent4">
                  <a:lumMod val="50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rPr>
              <a:t>Threat Protection</a:t>
            </a:r>
          </a:p>
        </p:txBody>
      </p:sp>
      <p:grpSp>
        <p:nvGrpSpPr>
          <p:cNvPr id="57" name="Group 56">
            <a:extLst>
              <a:ext uri="{FF2B5EF4-FFF2-40B4-BE49-F238E27FC236}">
                <a16:creationId xmlns:a16="http://schemas.microsoft.com/office/drawing/2014/main" id="{98A2F327-701D-B3DB-128B-58BA76FBC8AB}"/>
              </a:ext>
            </a:extLst>
          </p:cNvPr>
          <p:cNvGrpSpPr>
            <a:grpSpLocks noGrp="1" noUngrp="1" noRot="1" noMove="1" noResize="1"/>
          </p:cNvGrpSpPr>
          <p:nvPr/>
        </p:nvGrpSpPr>
        <p:grpSpPr>
          <a:xfrm>
            <a:off x="1009888" y="1874063"/>
            <a:ext cx="1271239" cy="1199908"/>
            <a:chOff x="1009888" y="1838623"/>
            <a:chExt cx="1271239" cy="1199908"/>
          </a:xfrm>
        </p:grpSpPr>
        <p:sp>
          <p:nvSpPr>
            <p:cNvPr id="58" name="Rounded Rectangle 38">
              <a:extLst>
                <a:ext uri="{FF2B5EF4-FFF2-40B4-BE49-F238E27FC236}">
                  <a16:creationId xmlns:a16="http://schemas.microsoft.com/office/drawing/2014/main" id="{9DEC7BE8-483A-65D7-EB43-E82C40B78B0D}"/>
                </a:ext>
              </a:extLst>
            </p:cNvPr>
            <p:cNvSpPr>
              <a:spLocks noGrp="1" noRot="1" noMove="1" noResize="1" noEditPoints="1" noAdjustHandles="1" noChangeArrowheads="1" noChangeShapeType="1"/>
            </p:cNvSpPr>
            <p:nvPr/>
          </p:nvSpPr>
          <p:spPr bwMode="auto">
            <a:xfrm>
              <a:off x="1009888" y="1838623"/>
              <a:ext cx="1271239" cy="1199908"/>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endPar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endParaRPr>
            </a:p>
          </p:txBody>
        </p:sp>
        <p:sp>
          <p:nvSpPr>
            <p:cNvPr id="59" name="Rounded Rectangle 38">
              <a:extLst>
                <a:ext uri="{FF2B5EF4-FFF2-40B4-BE49-F238E27FC236}">
                  <a16:creationId xmlns:a16="http://schemas.microsoft.com/office/drawing/2014/main" id="{8516943F-725B-DBF0-5976-F21BE27FDBAE}"/>
                </a:ext>
              </a:extLst>
            </p:cNvPr>
            <p:cNvSpPr>
              <a:spLocks noGrp="1" noRot="1" noMove="1" noResize="1" noEditPoints="1" noAdjustHandles="1" noChangeArrowheads="1" noChangeShapeType="1"/>
            </p:cNvSpPr>
            <p:nvPr/>
          </p:nvSpPr>
          <p:spPr bwMode="auto">
            <a:xfrm>
              <a:off x="1148598" y="1933529"/>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Human</a:t>
              </a:r>
            </a:p>
          </p:txBody>
        </p:sp>
        <p:sp>
          <p:nvSpPr>
            <p:cNvPr id="60" name="Rounded Rectangle 38">
              <a:extLst>
                <a:ext uri="{FF2B5EF4-FFF2-40B4-BE49-F238E27FC236}">
                  <a16:creationId xmlns:a16="http://schemas.microsoft.com/office/drawing/2014/main" id="{89464848-0BCD-B33F-BDB5-2A76B0E75676}"/>
                </a:ext>
              </a:extLst>
            </p:cNvPr>
            <p:cNvSpPr>
              <a:spLocks noGrp="1" noRot="1" noMove="1" noResize="1" noEditPoints="1" noAdjustHandles="1" noChangeArrowheads="1" noChangeShapeType="1"/>
            </p:cNvSpPr>
            <p:nvPr/>
          </p:nvSpPr>
          <p:spPr bwMode="auto">
            <a:xfrm>
              <a:off x="1145593" y="2288537"/>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Agent</a:t>
              </a:r>
            </a:p>
          </p:txBody>
        </p:sp>
        <p:sp>
          <p:nvSpPr>
            <p:cNvPr id="61" name="Rounded Rectangle 38">
              <a:extLst>
                <a:ext uri="{FF2B5EF4-FFF2-40B4-BE49-F238E27FC236}">
                  <a16:creationId xmlns:a16="http://schemas.microsoft.com/office/drawing/2014/main" id="{F3E9C3E3-59C9-3E3D-F113-A9E93B01F8D8}"/>
                </a:ext>
              </a:extLst>
            </p:cNvPr>
            <p:cNvSpPr>
              <a:spLocks noGrp="1" noRot="1" noMove="1" noResize="1" noEditPoints="1" noAdjustHandles="1" noChangeArrowheads="1" noChangeShapeType="1"/>
            </p:cNvSpPr>
            <p:nvPr/>
          </p:nvSpPr>
          <p:spPr bwMode="auto">
            <a:xfrm>
              <a:off x="1145593" y="2643546"/>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Workload</a:t>
              </a:r>
            </a:p>
          </p:txBody>
        </p:sp>
      </p:grpSp>
      <p:grpSp>
        <p:nvGrpSpPr>
          <p:cNvPr id="62" name="Group 61">
            <a:extLst>
              <a:ext uri="{FF2B5EF4-FFF2-40B4-BE49-F238E27FC236}">
                <a16:creationId xmlns:a16="http://schemas.microsoft.com/office/drawing/2014/main" id="{F2742C75-830D-D45D-00BF-2782DB1F6EEF}"/>
              </a:ext>
            </a:extLst>
          </p:cNvPr>
          <p:cNvGrpSpPr>
            <a:grpSpLocks noGrp="1" noUngrp="1" noRot="1" noMove="1" noResize="1"/>
          </p:cNvGrpSpPr>
          <p:nvPr/>
        </p:nvGrpSpPr>
        <p:grpSpPr>
          <a:xfrm>
            <a:off x="1011954" y="3934239"/>
            <a:ext cx="1271239" cy="1199908"/>
            <a:chOff x="1011954" y="3983855"/>
            <a:chExt cx="1271239" cy="1199908"/>
          </a:xfrm>
        </p:grpSpPr>
        <p:sp>
          <p:nvSpPr>
            <p:cNvPr id="63" name="Rounded Rectangle 38">
              <a:extLst>
                <a:ext uri="{FF2B5EF4-FFF2-40B4-BE49-F238E27FC236}">
                  <a16:creationId xmlns:a16="http://schemas.microsoft.com/office/drawing/2014/main" id="{CB165F44-A5D4-8C1B-2906-916D756546CD}"/>
                </a:ext>
              </a:extLst>
            </p:cNvPr>
            <p:cNvSpPr>
              <a:spLocks noGrp="1" noRot="1" noMove="1" noResize="1" noEditPoints="1" noAdjustHandles="1" noChangeArrowheads="1" noChangeShapeType="1"/>
            </p:cNvSpPr>
            <p:nvPr/>
          </p:nvSpPr>
          <p:spPr bwMode="auto">
            <a:xfrm>
              <a:off x="1011954" y="3983855"/>
              <a:ext cx="1271239" cy="1199908"/>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endPar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endParaRPr>
            </a:p>
          </p:txBody>
        </p:sp>
        <p:sp>
          <p:nvSpPr>
            <p:cNvPr id="64" name="Rounded Rectangle 38">
              <a:extLst>
                <a:ext uri="{FF2B5EF4-FFF2-40B4-BE49-F238E27FC236}">
                  <a16:creationId xmlns:a16="http://schemas.microsoft.com/office/drawing/2014/main" id="{E7FF0308-89CA-3115-E4B6-33C1377F421C}"/>
                </a:ext>
              </a:extLst>
            </p:cNvPr>
            <p:cNvSpPr>
              <a:spLocks noGrp="1" noRot="1" noMove="1" noResize="1" noEditPoints="1" noAdjustHandles="1" noChangeArrowheads="1" noChangeShapeType="1"/>
            </p:cNvSpPr>
            <p:nvPr/>
          </p:nvSpPr>
          <p:spPr bwMode="auto">
            <a:xfrm>
              <a:off x="1145593" y="4098179"/>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Corporate</a:t>
              </a:r>
            </a:p>
          </p:txBody>
        </p:sp>
        <p:sp>
          <p:nvSpPr>
            <p:cNvPr id="65" name="Rounded Rectangle 38">
              <a:extLst>
                <a:ext uri="{FF2B5EF4-FFF2-40B4-BE49-F238E27FC236}">
                  <a16:creationId xmlns:a16="http://schemas.microsoft.com/office/drawing/2014/main" id="{2E534D74-CEBD-EFE2-8A3B-DD59F6C90028}"/>
                </a:ext>
              </a:extLst>
            </p:cNvPr>
            <p:cNvSpPr>
              <a:spLocks noGrp="1" noRot="1" noMove="1" noResize="1" noEditPoints="1" noAdjustHandles="1" noChangeArrowheads="1" noChangeShapeType="1"/>
            </p:cNvSpPr>
            <p:nvPr/>
          </p:nvSpPr>
          <p:spPr bwMode="auto">
            <a:xfrm>
              <a:off x="1142588" y="4453187"/>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Personal</a:t>
              </a:r>
            </a:p>
          </p:txBody>
        </p:sp>
        <p:sp>
          <p:nvSpPr>
            <p:cNvPr id="66" name="Rounded Rectangle 38">
              <a:extLst>
                <a:ext uri="{FF2B5EF4-FFF2-40B4-BE49-F238E27FC236}">
                  <a16:creationId xmlns:a16="http://schemas.microsoft.com/office/drawing/2014/main" id="{057B504E-91D2-AD95-B883-A511FE1EF15F}"/>
                </a:ext>
              </a:extLst>
            </p:cNvPr>
            <p:cNvSpPr>
              <a:spLocks noGrp="1" noRot="1" noMove="1" noResize="1" noEditPoints="1" noAdjustHandles="1" noChangeArrowheads="1" noChangeShapeType="1"/>
            </p:cNvSpPr>
            <p:nvPr/>
          </p:nvSpPr>
          <p:spPr bwMode="auto">
            <a:xfrm>
              <a:off x="1142588" y="4808196"/>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External</a:t>
              </a:r>
            </a:p>
          </p:txBody>
        </p:sp>
      </p:grpSp>
      <p:grpSp>
        <p:nvGrpSpPr>
          <p:cNvPr id="19" name="Group 18">
            <a:extLst>
              <a:ext uri="{FF2B5EF4-FFF2-40B4-BE49-F238E27FC236}">
                <a16:creationId xmlns:a16="http://schemas.microsoft.com/office/drawing/2014/main" id="{B84D8434-B580-3438-C572-23067AEA3C57}"/>
              </a:ext>
            </a:extLst>
          </p:cNvPr>
          <p:cNvGrpSpPr>
            <a:grpSpLocks noGrp="1" noUngrp="1" noRot="1" noMove="1" noResize="1"/>
          </p:cNvGrpSpPr>
          <p:nvPr/>
        </p:nvGrpSpPr>
        <p:grpSpPr>
          <a:xfrm>
            <a:off x="9962254" y="747046"/>
            <a:ext cx="1797355" cy="849553"/>
            <a:chOff x="9962254" y="809126"/>
            <a:chExt cx="1271239" cy="849553"/>
          </a:xfrm>
        </p:grpSpPr>
        <p:sp>
          <p:nvSpPr>
            <p:cNvPr id="85" name="Rounded Rectangle 38">
              <a:extLst>
                <a:ext uri="{FF2B5EF4-FFF2-40B4-BE49-F238E27FC236}">
                  <a16:creationId xmlns:a16="http://schemas.microsoft.com/office/drawing/2014/main" id="{8F02DF80-8E1B-AD39-B9B6-736FBFF26A9E}"/>
                </a:ext>
              </a:extLst>
            </p:cNvPr>
            <p:cNvSpPr>
              <a:spLocks noGrp="1" noRot="1" noMove="1" noResize="1" noEditPoints="1" noAdjustHandles="1" noChangeArrowheads="1" noChangeShapeType="1"/>
            </p:cNvSpPr>
            <p:nvPr/>
          </p:nvSpPr>
          <p:spPr bwMode="auto">
            <a:xfrm>
              <a:off x="9962254" y="809126"/>
              <a:ext cx="1271239" cy="849553"/>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endPar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endParaRPr>
            </a:p>
          </p:txBody>
        </p:sp>
        <p:sp>
          <p:nvSpPr>
            <p:cNvPr id="86" name="Rounded Rectangle 38">
              <a:extLst>
                <a:ext uri="{FF2B5EF4-FFF2-40B4-BE49-F238E27FC236}">
                  <a16:creationId xmlns:a16="http://schemas.microsoft.com/office/drawing/2014/main" id="{678B613A-D62B-E080-6009-ADE8E2B55D3C}"/>
                </a:ext>
              </a:extLst>
            </p:cNvPr>
            <p:cNvSpPr>
              <a:spLocks noGrp="1" noRot="1" noMove="1" noResize="1" noEditPoints="1" noAdjustHandles="1" noChangeArrowheads="1" noChangeShapeType="1"/>
            </p:cNvSpPr>
            <p:nvPr/>
          </p:nvSpPr>
          <p:spPr bwMode="auto">
            <a:xfrm>
              <a:off x="10100964" y="904032"/>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Email &amp; documents</a:t>
              </a:r>
            </a:p>
          </p:txBody>
        </p:sp>
        <p:sp>
          <p:nvSpPr>
            <p:cNvPr id="87" name="Rounded Rectangle 38">
              <a:extLst>
                <a:ext uri="{FF2B5EF4-FFF2-40B4-BE49-F238E27FC236}">
                  <a16:creationId xmlns:a16="http://schemas.microsoft.com/office/drawing/2014/main" id="{EF93D46A-B2C2-B494-A5E9-6C1B830C83AD}"/>
                </a:ext>
              </a:extLst>
            </p:cNvPr>
            <p:cNvSpPr>
              <a:spLocks noGrp="1" noRot="1" noMove="1" noResize="1" noEditPoints="1" noAdjustHandles="1" noChangeArrowheads="1" noChangeShapeType="1"/>
            </p:cNvSpPr>
            <p:nvPr/>
          </p:nvSpPr>
          <p:spPr bwMode="auto">
            <a:xfrm>
              <a:off x="10097959" y="1259040"/>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Structured data</a:t>
              </a:r>
            </a:p>
          </p:txBody>
        </p:sp>
      </p:grpSp>
      <p:grpSp>
        <p:nvGrpSpPr>
          <p:cNvPr id="88" name="Group 87">
            <a:extLst>
              <a:ext uri="{FF2B5EF4-FFF2-40B4-BE49-F238E27FC236}">
                <a16:creationId xmlns:a16="http://schemas.microsoft.com/office/drawing/2014/main" id="{708FA2D1-73D0-2F2E-6DA9-6FFCBE16ACCF}"/>
              </a:ext>
            </a:extLst>
          </p:cNvPr>
          <p:cNvGrpSpPr>
            <a:grpSpLocks noGrp="1" noUngrp="1" noRot="1" noMove="1" noResize="1"/>
          </p:cNvGrpSpPr>
          <p:nvPr/>
        </p:nvGrpSpPr>
        <p:grpSpPr>
          <a:xfrm>
            <a:off x="9958894" y="2152833"/>
            <a:ext cx="1797355" cy="849553"/>
            <a:chOff x="9962254" y="809126"/>
            <a:chExt cx="1271239" cy="849553"/>
          </a:xfrm>
        </p:grpSpPr>
        <p:sp>
          <p:nvSpPr>
            <p:cNvPr id="89" name="Rounded Rectangle 38">
              <a:extLst>
                <a:ext uri="{FF2B5EF4-FFF2-40B4-BE49-F238E27FC236}">
                  <a16:creationId xmlns:a16="http://schemas.microsoft.com/office/drawing/2014/main" id="{A7FCE8F0-2B18-C3F3-DD07-134A63E2B107}"/>
                </a:ext>
              </a:extLst>
            </p:cNvPr>
            <p:cNvSpPr>
              <a:spLocks noGrp="1" noRot="1" noMove="1" noResize="1" noEditPoints="1" noAdjustHandles="1" noChangeArrowheads="1" noChangeShapeType="1"/>
            </p:cNvSpPr>
            <p:nvPr/>
          </p:nvSpPr>
          <p:spPr bwMode="auto">
            <a:xfrm>
              <a:off x="9962254" y="809126"/>
              <a:ext cx="1271239" cy="849553"/>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endPar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endParaRPr>
            </a:p>
          </p:txBody>
        </p:sp>
        <p:sp>
          <p:nvSpPr>
            <p:cNvPr id="90" name="Rounded Rectangle 38">
              <a:extLst>
                <a:ext uri="{FF2B5EF4-FFF2-40B4-BE49-F238E27FC236}">
                  <a16:creationId xmlns:a16="http://schemas.microsoft.com/office/drawing/2014/main" id="{CC4B4A5F-F4FC-D242-6647-6FE498952669}"/>
                </a:ext>
              </a:extLst>
            </p:cNvPr>
            <p:cNvSpPr>
              <a:spLocks noGrp="1" noRot="1" noMove="1" noResize="1" noEditPoints="1" noAdjustHandles="1" noChangeArrowheads="1" noChangeShapeType="1"/>
            </p:cNvSpPr>
            <p:nvPr/>
          </p:nvSpPr>
          <p:spPr bwMode="auto">
            <a:xfrm>
              <a:off x="10100964" y="904032"/>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Agents</a:t>
              </a:r>
            </a:p>
          </p:txBody>
        </p:sp>
        <p:sp>
          <p:nvSpPr>
            <p:cNvPr id="91" name="Rounded Rectangle 38">
              <a:extLst>
                <a:ext uri="{FF2B5EF4-FFF2-40B4-BE49-F238E27FC236}">
                  <a16:creationId xmlns:a16="http://schemas.microsoft.com/office/drawing/2014/main" id="{F0027DAC-0FA2-8E85-4315-D419F43E10FC}"/>
                </a:ext>
              </a:extLst>
            </p:cNvPr>
            <p:cNvSpPr>
              <a:spLocks noGrp="1" noRot="1" noMove="1" noResize="1" noEditPoints="1" noAdjustHandles="1" noChangeArrowheads="1" noChangeShapeType="1"/>
            </p:cNvSpPr>
            <p:nvPr/>
          </p:nvSpPr>
          <p:spPr bwMode="auto">
            <a:xfrm>
              <a:off x="10097959" y="1259040"/>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MCP servers</a:t>
              </a:r>
            </a:p>
          </p:txBody>
        </p:sp>
      </p:grpSp>
      <p:grpSp>
        <p:nvGrpSpPr>
          <p:cNvPr id="92" name="Group 91">
            <a:extLst>
              <a:ext uri="{FF2B5EF4-FFF2-40B4-BE49-F238E27FC236}">
                <a16:creationId xmlns:a16="http://schemas.microsoft.com/office/drawing/2014/main" id="{DFC7569B-503A-E32C-F6C8-541260FFD5EF}"/>
              </a:ext>
            </a:extLst>
          </p:cNvPr>
          <p:cNvGrpSpPr>
            <a:grpSpLocks noGrp="1" noUngrp="1" noRot="1" noMove="1" noResize="1"/>
          </p:cNvGrpSpPr>
          <p:nvPr/>
        </p:nvGrpSpPr>
        <p:grpSpPr>
          <a:xfrm>
            <a:off x="9965257" y="3569878"/>
            <a:ext cx="1797355" cy="849553"/>
            <a:chOff x="9962254" y="809126"/>
            <a:chExt cx="1271239" cy="849553"/>
          </a:xfrm>
        </p:grpSpPr>
        <p:sp>
          <p:nvSpPr>
            <p:cNvPr id="93" name="Rounded Rectangle 38">
              <a:extLst>
                <a:ext uri="{FF2B5EF4-FFF2-40B4-BE49-F238E27FC236}">
                  <a16:creationId xmlns:a16="http://schemas.microsoft.com/office/drawing/2014/main" id="{31185465-86AC-4806-5E6E-8E88E734E02E}"/>
                </a:ext>
              </a:extLst>
            </p:cNvPr>
            <p:cNvSpPr>
              <a:spLocks noGrp="1" noRot="1" noMove="1" noResize="1" noEditPoints="1" noAdjustHandles="1" noChangeArrowheads="1" noChangeShapeType="1"/>
            </p:cNvSpPr>
            <p:nvPr/>
          </p:nvSpPr>
          <p:spPr bwMode="auto">
            <a:xfrm>
              <a:off x="9962254" y="809126"/>
              <a:ext cx="1271239" cy="849553"/>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endPar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endParaRPr>
            </a:p>
          </p:txBody>
        </p:sp>
        <p:sp>
          <p:nvSpPr>
            <p:cNvPr id="94" name="Rounded Rectangle 38">
              <a:extLst>
                <a:ext uri="{FF2B5EF4-FFF2-40B4-BE49-F238E27FC236}">
                  <a16:creationId xmlns:a16="http://schemas.microsoft.com/office/drawing/2014/main" id="{0E99C9E0-4086-F333-3E83-33B1826BA9AE}"/>
                </a:ext>
              </a:extLst>
            </p:cNvPr>
            <p:cNvSpPr>
              <a:spLocks noGrp="1" noRot="1" noMove="1" noResize="1" noEditPoints="1" noAdjustHandles="1" noChangeArrowheads="1" noChangeShapeType="1"/>
            </p:cNvSpPr>
            <p:nvPr/>
          </p:nvSpPr>
          <p:spPr bwMode="auto">
            <a:xfrm>
              <a:off x="10100964" y="904032"/>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Cloud-based</a:t>
              </a:r>
            </a:p>
          </p:txBody>
        </p:sp>
        <p:sp>
          <p:nvSpPr>
            <p:cNvPr id="95" name="Rounded Rectangle 38">
              <a:extLst>
                <a:ext uri="{FF2B5EF4-FFF2-40B4-BE49-F238E27FC236}">
                  <a16:creationId xmlns:a16="http://schemas.microsoft.com/office/drawing/2014/main" id="{B9DE7B36-6F84-0FB6-3428-0900B6BF2661}"/>
                </a:ext>
              </a:extLst>
            </p:cNvPr>
            <p:cNvSpPr>
              <a:spLocks noGrp="1" noRot="1" noMove="1" noResize="1" noEditPoints="1" noAdjustHandles="1" noChangeArrowheads="1" noChangeShapeType="1"/>
            </p:cNvSpPr>
            <p:nvPr/>
          </p:nvSpPr>
          <p:spPr bwMode="auto">
            <a:xfrm>
              <a:off x="10097959" y="1259040"/>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On-premises</a:t>
              </a:r>
            </a:p>
          </p:txBody>
        </p:sp>
      </p:grpSp>
      <p:grpSp>
        <p:nvGrpSpPr>
          <p:cNvPr id="96" name="Group 95">
            <a:extLst>
              <a:ext uri="{FF2B5EF4-FFF2-40B4-BE49-F238E27FC236}">
                <a16:creationId xmlns:a16="http://schemas.microsoft.com/office/drawing/2014/main" id="{82F961A4-8F0E-7004-7E99-6050EFC276FA}"/>
              </a:ext>
            </a:extLst>
          </p:cNvPr>
          <p:cNvGrpSpPr>
            <a:grpSpLocks noGrp="1" noUngrp="1" noRot="1" noMove="1" noResize="1"/>
          </p:cNvGrpSpPr>
          <p:nvPr/>
        </p:nvGrpSpPr>
        <p:grpSpPr>
          <a:xfrm>
            <a:off x="9965258" y="5010597"/>
            <a:ext cx="1797355" cy="1586597"/>
            <a:chOff x="9965258" y="4838766"/>
            <a:chExt cx="1271239" cy="1586597"/>
          </a:xfrm>
        </p:grpSpPr>
        <p:sp>
          <p:nvSpPr>
            <p:cNvPr id="97" name="Rounded Rectangle 38">
              <a:extLst>
                <a:ext uri="{FF2B5EF4-FFF2-40B4-BE49-F238E27FC236}">
                  <a16:creationId xmlns:a16="http://schemas.microsoft.com/office/drawing/2014/main" id="{FA4E9A95-C54A-7E04-D7C0-BF779ABC0DF4}"/>
                </a:ext>
              </a:extLst>
            </p:cNvPr>
            <p:cNvSpPr>
              <a:spLocks noGrp="1" noRot="1" noMove="1" noResize="1" noEditPoints="1" noAdjustHandles="1" noChangeArrowheads="1" noChangeShapeType="1"/>
            </p:cNvSpPr>
            <p:nvPr/>
          </p:nvSpPr>
          <p:spPr bwMode="auto">
            <a:xfrm>
              <a:off x="9965258" y="4838766"/>
              <a:ext cx="1271239" cy="1586597"/>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endPar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endParaRPr>
            </a:p>
          </p:txBody>
        </p:sp>
        <p:sp>
          <p:nvSpPr>
            <p:cNvPr id="98" name="Rounded Rectangle 38">
              <a:extLst>
                <a:ext uri="{FF2B5EF4-FFF2-40B4-BE49-F238E27FC236}">
                  <a16:creationId xmlns:a16="http://schemas.microsoft.com/office/drawing/2014/main" id="{C6070CBC-BBDC-6B41-77C6-DC061D74AE36}"/>
                </a:ext>
              </a:extLst>
            </p:cNvPr>
            <p:cNvSpPr>
              <a:spLocks noGrp="1" noRot="1" noMove="1" noResize="1" noEditPoints="1" noAdjustHandles="1" noChangeArrowheads="1" noChangeShapeType="1"/>
            </p:cNvSpPr>
            <p:nvPr/>
          </p:nvSpPr>
          <p:spPr bwMode="auto">
            <a:xfrm>
              <a:off x="10094599" y="4933672"/>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Serverless</a:t>
              </a:r>
            </a:p>
          </p:txBody>
        </p:sp>
        <p:sp>
          <p:nvSpPr>
            <p:cNvPr id="99" name="Rounded Rectangle 38">
              <a:extLst>
                <a:ext uri="{FF2B5EF4-FFF2-40B4-BE49-F238E27FC236}">
                  <a16:creationId xmlns:a16="http://schemas.microsoft.com/office/drawing/2014/main" id="{3200DF80-9677-8FA9-DCBC-6D53EF9551A6}"/>
                </a:ext>
              </a:extLst>
            </p:cNvPr>
            <p:cNvSpPr>
              <a:spLocks noGrp="1" noRot="1" noMove="1" noResize="1" noEditPoints="1" noAdjustHandles="1" noChangeArrowheads="1" noChangeShapeType="1"/>
            </p:cNvSpPr>
            <p:nvPr/>
          </p:nvSpPr>
          <p:spPr bwMode="auto">
            <a:xfrm>
              <a:off x="10094599" y="5288111"/>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Containers</a:t>
              </a:r>
            </a:p>
          </p:txBody>
        </p:sp>
        <p:sp>
          <p:nvSpPr>
            <p:cNvPr id="100" name="Rounded Rectangle 38">
              <a:extLst>
                <a:ext uri="{FF2B5EF4-FFF2-40B4-BE49-F238E27FC236}">
                  <a16:creationId xmlns:a16="http://schemas.microsoft.com/office/drawing/2014/main" id="{E3ED8A23-159C-6A6D-3BB1-C5994384CD48}"/>
                </a:ext>
              </a:extLst>
            </p:cNvPr>
            <p:cNvSpPr>
              <a:spLocks noGrp="1" noRot="1" noMove="1" noResize="1" noEditPoints="1" noAdjustHandles="1" noChangeArrowheads="1" noChangeShapeType="1"/>
            </p:cNvSpPr>
            <p:nvPr/>
          </p:nvSpPr>
          <p:spPr bwMode="auto">
            <a:xfrm>
              <a:off x="10094599" y="5642550"/>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PaaS</a:t>
              </a:r>
            </a:p>
          </p:txBody>
        </p:sp>
        <p:sp>
          <p:nvSpPr>
            <p:cNvPr id="101" name="Rounded Rectangle 38">
              <a:extLst>
                <a:ext uri="{FF2B5EF4-FFF2-40B4-BE49-F238E27FC236}">
                  <a16:creationId xmlns:a16="http://schemas.microsoft.com/office/drawing/2014/main" id="{964DE9E0-38D5-0F9E-024D-B3DA3D1D764B}"/>
                </a:ext>
              </a:extLst>
            </p:cNvPr>
            <p:cNvSpPr>
              <a:spLocks noGrp="1" noRot="1" noMove="1" noResize="1" noEditPoints="1" noAdjustHandles="1" noChangeArrowheads="1" noChangeShapeType="1"/>
            </p:cNvSpPr>
            <p:nvPr/>
          </p:nvSpPr>
          <p:spPr bwMode="auto">
            <a:xfrm>
              <a:off x="10094599" y="5996989"/>
              <a:ext cx="1005840" cy="274320"/>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r>
                <a:rPr kumimoji="0" lang="en-US" sz="1100" b="0" i="0" u="none" strike="noStrike" kern="0" cap="none" spc="0" normalizeH="0" baseline="0" noProof="0">
                  <a:ln>
                    <a:noFill/>
                  </a:ln>
                  <a:solidFill>
                    <a:srgbClr val="333333"/>
                  </a:solidFill>
                  <a:effectLst/>
                  <a:uLnTx/>
                  <a:uFillTx/>
                  <a:latin typeface="Segoe UI" panose="020B0502040204020203" pitchFamily="34" charset="0"/>
                  <a:ea typeface="+mn-ea"/>
                  <a:cs typeface="Segoe UI" panose="020B0502040204020203" pitchFamily="34" charset="0"/>
                </a:rPr>
                <a:t>IaaS</a:t>
              </a:r>
            </a:p>
          </p:txBody>
        </p:sp>
      </p:grpSp>
      <p:grpSp>
        <p:nvGrpSpPr>
          <p:cNvPr id="124" name="Group 123">
            <a:extLst>
              <a:ext uri="{FF2B5EF4-FFF2-40B4-BE49-F238E27FC236}">
                <a16:creationId xmlns:a16="http://schemas.microsoft.com/office/drawing/2014/main" id="{990A9934-75A6-611B-51DC-7ECAD4CEBB9D}"/>
              </a:ext>
            </a:extLst>
          </p:cNvPr>
          <p:cNvGrpSpPr>
            <a:grpSpLocks noGrp="1" noUngrp="1" noRot="1" noMove="1" noResize="1"/>
          </p:cNvGrpSpPr>
          <p:nvPr/>
        </p:nvGrpSpPr>
        <p:grpSpPr>
          <a:xfrm>
            <a:off x="9492197" y="4554127"/>
            <a:ext cx="2017077" cy="604370"/>
            <a:chOff x="8849838" y="4358682"/>
            <a:chExt cx="2017077" cy="604370"/>
          </a:xfrm>
        </p:grpSpPr>
        <p:sp>
          <p:nvSpPr>
            <p:cNvPr id="125" name="Rounded Rectangle 14">
              <a:extLst>
                <a:ext uri="{FF2B5EF4-FFF2-40B4-BE49-F238E27FC236}">
                  <a16:creationId xmlns:a16="http://schemas.microsoft.com/office/drawing/2014/main" id="{86D7DA47-57BD-2CBF-1E4B-A0D5AD70F8EF}"/>
                </a:ext>
              </a:extLst>
            </p:cNvPr>
            <p:cNvSpPr>
              <a:spLocks noGrp="1" noRot="1" noMove="1" noResize="1" noEditPoints="1" noAdjustHandles="1" noChangeArrowheads="1" noChangeShapeType="1"/>
            </p:cNvSpPr>
            <p:nvPr/>
          </p:nvSpPr>
          <p:spPr>
            <a:xfrm>
              <a:off x="9550061" y="4507377"/>
              <a:ext cx="1316854" cy="272415"/>
            </a:xfrm>
            <a:prstGeom prst="round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Infrastructure</a:t>
              </a:r>
            </a:p>
          </p:txBody>
        </p:sp>
        <p:sp>
          <p:nvSpPr>
            <p:cNvPr id="126" name="Oval 125">
              <a:extLst>
                <a:ext uri="{FF2B5EF4-FFF2-40B4-BE49-F238E27FC236}">
                  <a16:creationId xmlns:a16="http://schemas.microsoft.com/office/drawing/2014/main" id="{A308621D-60F5-E5FB-E8AF-78B79FE14226}"/>
                </a:ext>
              </a:extLst>
            </p:cNvPr>
            <p:cNvSpPr>
              <a:spLocks noGrp="1" noRot="1" noMove="1" noResize="1" noEditPoints="1" noAdjustHandles="1" noChangeArrowheads="1" noChangeShapeType="1"/>
            </p:cNvSpPr>
            <p:nvPr/>
          </p:nvSpPr>
          <p:spPr bwMode="auto">
            <a:xfrm>
              <a:off x="8849838" y="4358682"/>
              <a:ext cx="604370" cy="604370"/>
            </a:xfrm>
            <a:prstGeom prst="ellipse">
              <a:avLst/>
            </a:prstGeom>
            <a:solidFill>
              <a:srgbClr val="FFFFFF">
                <a:alpha val="74000"/>
              </a:srgb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127" name="Picture 4" descr="Globe and shield in blue and teal color">
              <a:extLst>
                <a:ext uri="{FF2B5EF4-FFF2-40B4-BE49-F238E27FC236}">
                  <a16:creationId xmlns:a16="http://schemas.microsoft.com/office/drawing/2014/main" id="{ED357368-C93C-84C4-AEEB-6180C71D2C7F}"/>
                </a:ext>
              </a:extLst>
            </p:cNvPr>
            <p:cNvPicPr>
              <a:picLocks noGrp="1" noRot="1" noChangeAspect="1" noMove="1" noResize="1" noEditPoints="1" noAdjustHandles="1" noChangeArrowheads="1" noChangeShapeType="1" noCrop="1"/>
            </p:cNvPicPr>
            <p:nvPr/>
          </p:nvPicPr>
          <p:blipFill>
            <a:blip r:embed="rId5"/>
            <a:stretch>
              <a:fillRect/>
            </a:stretch>
          </p:blipFill>
          <p:spPr>
            <a:xfrm>
              <a:off x="8938089" y="4453515"/>
              <a:ext cx="444301" cy="444301"/>
            </a:xfrm>
            <a:prstGeom prst="rect">
              <a:avLst/>
            </a:prstGeom>
          </p:spPr>
        </p:pic>
      </p:grpSp>
      <p:grpSp>
        <p:nvGrpSpPr>
          <p:cNvPr id="128" name="Group 127">
            <a:extLst>
              <a:ext uri="{FF2B5EF4-FFF2-40B4-BE49-F238E27FC236}">
                <a16:creationId xmlns:a16="http://schemas.microsoft.com/office/drawing/2014/main" id="{1CEB18A3-3F4F-62A6-057F-24B6E69E8F49}"/>
              </a:ext>
            </a:extLst>
          </p:cNvPr>
          <p:cNvGrpSpPr>
            <a:grpSpLocks noGrp="1" noUngrp="1" noRot="1" noMove="1" noResize="1"/>
          </p:cNvGrpSpPr>
          <p:nvPr/>
        </p:nvGrpSpPr>
        <p:grpSpPr>
          <a:xfrm>
            <a:off x="9404797" y="294891"/>
            <a:ext cx="1635026" cy="604370"/>
            <a:chOff x="8849838" y="2319668"/>
            <a:chExt cx="1635026" cy="604370"/>
          </a:xfrm>
        </p:grpSpPr>
        <p:sp>
          <p:nvSpPr>
            <p:cNvPr id="129" name="Rounded Rectangle 14">
              <a:extLst>
                <a:ext uri="{FF2B5EF4-FFF2-40B4-BE49-F238E27FC236}">
                  <a16:creationId xmlns:a16="http://schemas.microsoft.com/office/drawing/2014/main" id="{D1291D13-605F-2526-CD73-84300B57E19A}"/>
                </a:ext>
              </a:extLst>
            </p:cNvPr>
            <p:cNvSpPr>
              <a:spLocks noGrp="1" noRot="1" noMove="1" noResize="1" noEditPoints="1" noAdjustHandles="1" noChangeArrowheads="1" noChangeShapeType="1"/>
            </p:cNvSpPr>
            <p:nvPr/>
          </p:nvSpPr>
          <p:spPr>
            <a:xfrm>
              <a:off x="9550061" y="2468363"/>
              <a:ext cx="934803" cy="272415"/>
            </a:xfrm>
            <a:prstGeom prst="round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Data</a:t>
              </a:r>
            </a:p>
          </p:txBody>
        </p:sp>
        <p:sp>
          <p:nvSpPr>
            <p:cNvPr id="130" name="Oval 129">
              <a:extLst>
                <a:ext uri="{FF2B5EF4-FFF2-40B4-BE49-F238E27FC236}">
                  <a16:creationId xmlns:a16="http://schemas.microsoft.com/office/drawing/2014/main" id="{49C75A51-A641-3EF1-DAF1-052CFEB2FD37}"/>
                </a:ext>
              </a:extLst>
            </p:cNvPr>
            <p:cNvSpPr>
              <a:spLocks noGrp="1" noRot="1" noMove="1" noResize="1" noEditPoints="1" noAdjustHandles="1" noChangeArrowheads="1" noChangeShapeType="1"/>
            </p:cNvSpPr>
            <p:nvPr/>
          </p:nvSpPr>
          <p:spPr bwMode="auto">
            <a:xfrm>
              <a:off x="8849838" y="2319668"/>
              <a:ext cx="604370" cy="604370"/>
            </a:xfrm>
            <a:prstGeom prst="ellipse">
              <a:avLst/>
            </a:prstGeom>
            <a:solidFill>
              <a:srgbClr val="FFFFFF">
                <a:alpha val="74000"/>
              </a:srgb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131" name="Picture 3" descr="Data center and shield in blue color">
              <a:extLst>
                <a:ext uri="{FF2B5EF4-FFF2-40B4-BE49-F238E27FC236}">
                  <a16:creationId xmlns:a16="http://schemas.microsoft.com/office/drawing/2014/main" id="{AF960592-FDF7-AC5B-8088-F0A01B99CE71}"/>
                </a:ext>
              </a:extLst>
            </p:cNvPr>
            <p:cNvPicPr>
              <a:picLocks noGrp="1" noRot="1" noChangeAspect="1" noMove="1" noResize="1" noEditPoints="1" noAdjustHandles="1" noChangeArrowheads="1" noChangeShapeType="1" noCrop="1"/>
            </p:cNvPicPr>
            <p:nvPr/>
          </p:nvPicPr>
          <p:blipFill>
            <a:blip r:embed="rId6"/>
            <a:stretch>
              <a:fillRect/>
            </a:stretch>
          </p:blipFill>
          <p:spPr>
            <a:xfrm>
              <a:off x="8971858" y="2447676"/>
              <a:ext cx="385361" cy="385361"/>
            </a:xfrm>
            <a:prstGeom prst="rect">
              <a:avLst/>
            </a:prstGeom>
          </p:spPr>
        </p:pic>
      </p:grpSp>
      <p:grpSp>
        <p:nvGrpSpPr>
          <p:cNvPr id="132" name="Group 131">
            <a:extLst>
              <a:ext uri="{FF2B5EF4-FFF2-40B4-BE49-F238E27FC236}">
                <a16:creationId xmlns:a16="http://schemas.microsoft.com/office/drawing/2014/main" id="{CE23CEC0-4235-DCFB-DA5C-8207ABE66190}"/>
              </a:ext>
            </a:extLst>
          </p:cNvPr>
          <p:cNvGrpSpPr>
            <a:grpSpLocks noGrp="1" noUngrp="1" noRot="1" noMove="1" noResize="1"/>
          </p:cNvGrpSpPr>
          <p:nvPr/>
        </p:nvGrpSpPr>
        <p:grpSpPr>
          <a:xfrm>
            <a:off x="9413265" y="3116610"/>
            <a:ext cx="2017077" cy="604370"/>
            <a:chOff x="8849838" y="3673589"/>
            <a:chExt cx="2017077" cy="604370"/>
          </a:xfrm>
        </p:grpSpPr>
        <p:sp>
          <p:nvSpPr>
            <p:cNvPr id="133" name="Rounded Rectangle 14">
              <a:extLst>
                <a:ext uri="{FF2B5EF4-FFF2-40B4-BE49-F238E27FC236}">
                  <a16:creationId xmlns:a16="http://schemas.microsoft.com/office/drawing/2014/main" id="{2BC18B82-D12B-7299-C02B-A9354BE26309}"/>
                </a:ext>
              </a:extLst>
            </p:cNvPr>
            <p:cNvSpPr>
              <a:spLocks noGrp="1" noRot="1" noMove="1" noResize="1" noEditPoints="1" noAdjustHandles="1" noChangeArrowheads="1" noChangeShapeType="1"/>
            </p:cNvSpPr>
            <p:nvPr/>
          </p:nvSpPr>
          <p:spPr>
            <a:xfrm>
              <a:off x="9550061" y="3822284"/>
              <a:ext cx="1316854" cy="272415"/>
            </a:xfrm>
            <a:prstGeom prst="round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Applications</a:t>
              </a:r>
            </a:p>
          </p:txBody>
        </p:sp>
        <p:sp>
          <p:nvSpPr>
            <p:cNvPr id="134" name="Oval 133">
              <a:extLst>
                <a:ext uri="{FF2B5EF4-FFF2-40B4-BE49-F238E27FC236}">
                  <a16:creationId xmlns:a16="http://schemas.microsoft.com/office/drawing/2014/main" id="{93F1F82F-66DD-1ED5-AAE2-52CE8AE28B61}"/>
                </a:ext>
              </a:extLst>
            </p:cNvPr>
            <p:cNvSpPr>
              <a:spLocks noGrp="1" noRot="1" noMove="1" noResize="1" noEditPoints="1" noAdjustHandles="1" noChangeArrowheads="1" noChangeShapeType="1"/>
            </p:cNvSpPr>
            <p:nvPr/>
          </p:nvSpPr>
          <p:spPr bwMode="auto">
            <a:xfrm>
              <a:off x="8849838" y="3673589"/>
              <a:ext cx="604370" cy="604370"/>
            </a:xfrm>
            <a:prstGeom prst="ellipse">
              <a:avLst/>
            </a:prstGeom>
            <a:solidFill>
              <a:srgbClr val="FFFFFF">
                <a:alpha val="74000"/>
              </a:srgb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135" name="Picture 4" descr="Asterisk code transforming into circles and squares in blue, teal, and green color">
              <a:extLst>
                <a:ext uri="{FF2B5EF4-FFF2-40B4-BE49-F238E27FC236}">
                  <a16:creationId xmlns:a16="http://schemas.microsoft.com/office/drawing/2014/main" id="{56E05E54-A5A8-C5D3-225E-1C18F14FCD3D}"/>
                </a:ext>
              </a:extLst>
            </p:cNvPr>
            <p:cNvPicPr>
              <a:picLocks noGrp="1" noRot="1" noChangeAspect="1" noMove="1" noResize="1" noEditPoints="1" noAdjustHandles="1" noChangeArrowheads="1" noChangeShapeType="1" noCrop="1"/>
            </p:cNvPicPr>
            <p:nvPr/>
          </p:nvPicPr>
          <p:blipFill>
            <a:blip r:embed="rId7"/>
            <a:stretch>
              <a:fillRect/>
            </a:stretch>
          </p:blipFill>
          <p:spPr>
            <a:xfrm>
              <a:off x="8908262" y="3729430"/>
              <a:ext cx="487521" cy="487521"/>
            </a:xfrm>
            <a:prstGeom prst="rect">
              <a:avLst/>
            </a:prstGeom>
          </p:spPr>
        </p:pic>
      </p:grpSp>
      <p:grpSp>
        <p:nvGrpSpPr>
          <p:cNvPr id="136" name="Group 135">
            <a:extLst>
              <a:ext uri="{FF2B5EF4-FFF2-40B4-BE49-F238E27FC236}">
                <a16:creationId xmlns:a16="http://schemas.microsoft.com/office/drawing/2014/main" id="{8AD771B5-1AD8-306E-F982-217E0841DBC2}"/>
              </a:ext>
            </a:extLst>
          </p:cNvPr>
          <p:cNvGrpSpPr>
            <a:grpSpLocks noGrp="1" noUngrp="1" noRot="1" noMove="1" noResize="1"/>
          </p:cNvGrpSpPr>
          <p:nvPr/>
        </p:nvGrpSpPr>
        <p:grpSpPr>
          <a:xfrm>
            <a:off x="9402680" y="1707865"/>
            <a:ext cx="2017077" cy="604370"/>
            <a:chOff x="8849838" y="3008648"/>
            <a:chExt cx="2017077" cy="604370"/>
          </a:xfrm>
        </p:grpSpPr>
        <p:sp>
          <p:nvSpPr>
            <p:cNvPr id="137" name="Rounded Rectangle 14">
              <a:extLst>
                <a:ext uri="{FF2B5EF4-FFF2-40B4-BE49-F238E27FC236}">
                  <a16:creationId xmlns:a16="http://schemas.microsoft.com/office/drawing/2014/main" id="{BE80EB09-EB26-9EA2-4148-243C7A7B2905}"/>
                </a:ext>
              </a:extLst>
            </p:cNvPr>
            <p:cNvSpPr>
              <a:spLocks noGrp="1" noRot="1" noMove="1" noResize="1" noEditPoints="1" noAdjustHandles="1" noChangeArrowheads="1" noChangeShapeType="1"/>
            </p:cNvSpPr>
            <p:nvPr/>
          </p:nvSpPr>
          <p:spPr>
            <a:xfrm>
              <a:off x="9550061" y="3157343"/>
              <a:ext cx="1316854" cy="272415"/>
            </a:xfrm>
            <a:prstGeom prst="round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AI Resources</a:t>
              </a:r>
            </a:p>
          </p:txBody>
        </p:sp>
        <p:sp>
          <p:nvSpPr>
            <p:cNvPr id="138" name="Oval 137">
              <a:extLst>
                <a:ext uri="{FF2B5EF4-FFF2-40B4-BE49-F238E27FC236}">
                  <a16:creationId xmlns:a16="http://schemas.microsoft.com/office/drawing/2014/main" id="{7AB824A6-99D2-A25E-BE51-B32A8C1ED25C}"/>
                </a:ext>
              </a:extLst>
            </p:cNvPr>
            <p:cNvSpPr>
              <a:spLocks noGrp="1" noRot="1" noMove="1" noResize="1" noEditPoints="1" noAdjustHandles="1" noChangeArrowheads="1" noChangeShapeType="1"/>
            </p:cNvSpPr>
            <p:nvPr/>
          </p:nvSpPr>
          <p:spPr bwMode="auto">
            <a:xfrm>
              <a:off x="8849838" y="3008648"/>
              <a:ext cx="604370" cy="604370"/>
            </a:xfrm>
            <a:prstGeom prst="ellipse">
              <a:avLst/>
            </a:prstGeom>
            <a:solidFill>
              <a:srgbClr val="FFFFFF">
                <a:alpha val="74000"/>
              </a:srgb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139" name="Picture 11" descr="Circle formed with lines in orange, yellow, magenta and green color  ">
              <a:extLst>
                <a:ext uri="{FF2B5EF4-FFF2-40B4-BE49-F238E27FC236}">
                  <a16:creationId xmlns:a16="http://schemas.microsoft.com/office/drawing/2014/main" id="{ADA5E78F-7202-255D-DEDA-03E0BA1CB493}"/>
                </a:ext>
              </a:extLst>
            </p:cNvPr>
            <p:cNvPicPr>
              <a:picLocks noGrp="1" noRot="1" noChangeAspect="1" noMove="1" noResize="1" noEditPoints="1" noAdjustHandles="1" noChangeArrowheads="1" noChangeShapeType="1" noCrop="1"/>
            </p:cNvPicPr>
            <p:nvPr/>
          </p:nvPicPr>
          <p:blipFill>
            <a:blip r:embed="rId8"/>
            <a:stretch>
              <a:fillRect/>
            </a:stretch>
          </p:blipFill>
          <p:spPr>
            <a:xfrm>
              <a:off x="8905749" y="3069021"/>
              <a:ext cx="495821" cy="495821"/>
            </a:xfrm>
            <a:prstGeom prst="rect">
              <a:avLst/>
            </a:prstGeom>
          </p:spPr>
        </p:pic>
      </p:grpSp>
      <p:grpSp>
        <p:nvGrpSpPr>
          <p:cNvPr id="140" name="Group 139">
            <a:extLst>
              <a:ext uri="{FF2B5EF4-FFF2-40B4-BE49-F238E27FC236}">
                <a16:creationId xmlns:a16="http://schemas.microsoft.com/office/drawing/2014/main" id="{1686D4C6-0DEB-00C0-1B3C-CC003515C11F}"/>
              </a:ext>
            </a:extLst>
          </p:cNvPr>
          <p:cNvGrpSpPr>
            <a:grpSpLocks noGrp="1" noUngrp="1" noRot="1" noMove="1" noResize="1"/>
          </p:cNvGrpSpPr>
          <p:nvPr/>
        </p:nvGrpSpPr>
        <p:grpSpPr>
          <a:xfrm>
            <a:off x="3610444" y="3041790"/>
            <a:ext cx="1619170" cy="786386"/>
            <a:chOff x="4076475" y="3272155"/>
            <a:chExt cx="1619170" cy="786386"/>
          </a:xfrm>
        </p:grpSpPr>
        <p:sp>
          <p:nvSpPr>
            <p:cNvPr id="141" name="Rounded Rectangle 38">
              <a:extLst>
                <a:ext uri="{FF2B5EF4-FFF2-40B4-BE49-F238E27FC236}">
                  <a16:creationId xmlns:a16="http://schemas.microsoft.com/office/drawing/2014/main" id="{3DF77B63-DD89-07D8-429A-055A6933A8C5}"/>
                </a:ext>
              </a:extLst>
            </p:cNvPr>
            <p:cNvSpPr>
              <a:spLocks noGrp="1" noRot="1" noMove="1" noResize="1" noEditPoints="1" noAdjustHandles="1" noChangeArrowheads="1" noChangeShapeType="1"/>
            </p:cNvSpPr>
            <p:nvPr/>
          </p:nvSpPr>
          <p:spPr bwMode="auto">
            <a:xfrm>
              <a:off x="4076475" y="3272155"/>
              <a:ext cx="1619170" cy="786386"/>
            </a:xfrm>
            <a:prstGeom prst="roundRect">
              <a:avLst/>
            </a:prstGeom>
            <a:solidFill>
              <a:srgbClr val="FFFFFF">
                <a:alpha val="67000"/>
              </a:srgbClr>
            </a:solidFill>
            <a:ln w="12700" cap="flat" cmpd="sng" algn="ctr">
              <a:solidFill>
                <a:srgbClr val="C5B4E3"/>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274320" tIns="1737360" rIns="274320" bIns="45720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endParaRPr kumimoji="0" lang="en-US" sz="1800" b="0" i="0" u="none" strike="noStrike" kern="0" cap="none" spc="0" normalizeH="0" baseline="0" noProof="0">
                <a:ln>
                  <a:noFill/>
                </a:ln>
                <a:gradFill>
                  <a:gsLst>
                    <a:gs pos="83000">
                      <a:srgbClr val="FFFFFF"/>
                    </a:gs>
                    <a:gs pos="97000">
                      <a:srgbClr val="FFFFFF"/>
                    </a:gs>
                  </a:gsLst>
                  <a:lin ang="5400000" scaled="1"/>
                </a:gradFill>
                <a:effectLst/>
                <a:uLnTx/>
                <a:uFillTx/>
                <a:latin typeface="Segoe Sans Display Semibold"/>
                <a:ea typeface="+mn-ea"/>
                <a:cs typeface="Segoe UI" panose="020B0502040204020203" pitchFamily="34" charset="0"/>
              </a:endParaRPr>
            </a:p>
          </p:txBody>
        </p:sp>
        <p:sp>
          <p:nvSpPr>
            <p:cNvPr id="142" name="Rounded Rectangle 14">
              <a:extLst>
                <a:ext uri="{FF2B5EF4-FFF2-40B4-BE49-F238E27FC236}">
                  <a16:creationId xmlns:a16="http://schemas.microsoft.com/office/drawing/2014/main" id="{E1573654-3563-FA39-8CA4-0B5D2B4E9BFD}"/>
                </a:ext>
              </a:extLst>
            </p:cNvPr>
            <p:cNvSpPr>
              <a:spLocks noGrp="1" noRot="1" noMove="1" noResize="1" noEditPoints="1" noAdjustHandles="1" noChangeArrowheads="1" noChangeShapeType="1"/>
            </p:cNvSpPr>
            <p:nvPr/>
          </p:nvSpPr>
          <p:spPr>
            <a:xfrm>
              <a:off x="4775260" y="3426986"/>
              <a:ext cx="847787" cy="476726"/>
            </a:xfrm>
            <a:prstGeom prst="round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Access</a:t>
              </a:r>
              <a:br>
                <a:rPr kumimoji="0" lang="en-US" sz="14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br>
              <a:r>
                <a:rPr kumimoji="0" lang="en-US" sz="14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Controls</a:t>
              </a:r>
            </a:p>
          </p:txBody>
        </p:sp>
        <p:sp>
          <p:nvSpPr>
            <p:cNvPr id="143" name="Oval 142">
              <a:extLst>
                <a:ext uri="{FF2B5EF4-FFF2-40B4-BE49-F238E27FC236}">
                  <a16:creationId xmlns:a16="http://schemas.microsoft.com/office/drawing/2014/main" id="{2C781068-D763-1E13-75E5-0570EBF2206E}"/>
                </a:ext>
              </a:extLst>
            </p:cNvPr>
            <p:cNvSpPr>
              <a:spLocks noGrp="1" noRot="1" noMove="1" noResize="1" noEditPoints="1" noAdjustHandles="1" noChangeArrowheads="1" noChangeShapeType="1"/>
            </p:cNvSpPr>
            <p:nvPr/>
          </p:nvSpPr>
          <p:spPr bwMode="auto">
            <a:xfrm>
              <a:off x="4181183" y="3355734"/>
              <a:ext cx="604370" cy="604370"/>
            </a:xfrm>
            <a:prstGeom prst="ellipse">
              <a:avLst/>
            </a:prstGeom>
            <a:solidFill>
              <a:srgbClr val="FFFFFF">
                <a:alpha val="74000"/>
              </a:srgb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144" name="Picture 2" descr="Shield and data stream in blue and teal color">
              <a:extLst>
                <a:ext uri="{FF2B5EF4-FFF2-40B4-BE49-F238E27FC236}">
                  <a16:creationId xmlns:a16="http://schemas.microsoft.com/office/drawing/2014/main" id="{E3231EED-69CD-32C9-3395-08731131E25C}"/>
                </a:ext>
              </a:extLst>
            </p:cNvPr>
            <p:cNvPicPr>
              <a:picLocks noGrp="1" noRot="1" noChangeAspect="1" noMove="1" noResize="1" noEditPoints="1" noAdjustHandles="1" noChangeArrowheads="1" noChangeShapeType="1" noCrop="1"/>
            </p:cNvPicPr>
            <p:nvPr/>
          </p:nvPicPr>
          <p:blipFill>
            <a:blip r:embed="rId9"/>
            <a:stretch>
              <a:fillRect/>
            </a:stretch>
          </p:blipFill>
          <p:spPr>
            <a:xfrm>
              <a:off x="4234472" y="3409330"/>
              <a:ext cx="504586" cy="504586"/>
            </a:xfrm>
            <a:prstGeom prst="rect">
              <a:avLst/>
            </a:prstGeom>
          </p:spPr>
        </p:pic>
      </p:grpSp>
      <p:grpSp>
        <p:nvGrpSpPr>
          <p:cNvPr id="145" name="Group 144">
            <a:extLst>
              <a:ext uri="{FF2B5EF4-FFF2-40B4-BE49-F238E27FC236}">
                <a16:creationId xmlns:a16="http://schemas.microsoft.com/office/drawing/2014/main" id="{DCCAD013-0DBC-AC8B-936C-6E66F6D68145}"/>
              </a:ext>
            </a:extLst>
          </p:cNvPr>
          <p:cNvGrpSpPr>
            <a:grpSpLocks noGrp="1" noUngrp="1" noRot="1" noMove="1" noResize="1"/>
          </p:cNvGrpSpPr>
          <p:nvPr/>
        </p:nvGrpSpPr>
        <p:grpSpPr>
          <a:xfrm>
            <a:off x="5640809" y="3041790"/>
            <a:ext cx="1714618" cy="786386"/>
            <a:chOff x="6033134" y="3269681"/>
            <a:chExt cx="1714618" cy="786386"/>
          </a:xfrm>
        </p:grpSpPr>
        <p:sp>
          <p:nvSpPr>
            <p:cNvPr id="146" name="Rounded Rectangle 38">
              <a:extLst>
                <a:ext uri="{FF2B5EF4-FFF2-40B4-BE49-F238E27FC236}">
                  <a16:creationId xmlns:a16="http://schemas.microsoft.com/office/drawing/2014/main" id="{E464A54A-788D-2605-6AF8-47A3E600EDDF}"/>
                </a:ext>
              </a:extLst>
            </p:cNvPr>
            <p:cNvSpPr>
              <a:spLocks noGrp="1" noRot="1" noMove="1" noResize="1" noEditPoints="1" noAdjustHandles="1" noChangeArrowheads="1" noChangeShapeType="1"/>
            </p:cNvSpPr>
            <p:nvPr/>
          </p:nvSpPr>
          <p:spPr bwMode="auto">
            <a:xfrm>
              <a:off x="6033134" y="3269681"/>
              <a:ext cx="1714618" cy="786386"/>
            </a:xfrm>
            <a:prstGeom prst="roundRect">
              <a:avLst/>
            </a:prstGeom>
            <a:solidFill>
              <a:srgbClr val="FFFFFF">
                <a:alpha val="67000"/>
              </a:srgbClr>
            </a:solidFill>
            <a:ln w="12700" cap="flat" cmpd="sng" algn="ctr">
              <a:solidFill>
                <a:srgbClr val="8DC8E8"/>
              </a:solidFill>
              <a:prstDash val="solid"/>
              <a:headEnd type="none" w="med" len="med"/>
              <a:tailEnd type="none" w="med" len="med"/>
            </a:ln>
            <a:effectLst>
              <a:outerShdw blurRad="50800" dist="38100" dir="5400000" algn="t" rotWithShape="0">
                <a:prstClr val="black">
                  <a:alpha val="20000"/>
                </a:prstClr>
              </a:outerShdw>
            </a:effectLst>
          </p:spPr>
          <p:txBody>
            <a:bodyPr rot="0" spcFirstLastPara="0" vertOverflow="overflow" horzOverflow="overflow" vert="horz" wrap="square" lIns="274320" tIns="1737360" rIns="274320" bIns="45720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600"/>
                </a:spcAft>
                <a:buClrTx/>
                <a:buSzTx/>
                <a:buFontTx/>
                <a:buNone/>
                <a:tabLst/>
                <a:defRPr/>
              </a:pPr>
              <a:endParaRPr kumimoji="0" lang="en-US" sz="1800" b="0" i="0" u="none" strike="noStrike" kern="0" cap="none" spc="0" normalizeH="0" baseline="0" noProof="0">
                <a:ln>
                  <a:noFill/>
                </a:ln>
                <a:gradFill>
                  <a:gsLst>
                    <a:gs pos="83000">
                      <a:srgbClr val="FFFFFF"/>
                    </a:gs>
                    <a:gs pos="97000">
                      <a:srgbClr val="FFFFFF"/>
                    </a:gs>
                  </a:gsLst>
                  <a:lin ang="5400000" scaled="1"/>
                </a:gradFill>
                <a:effectLst/>
                <a:uLnTx/>
                <a:uFillTx/>
                <a:latin typeface="Segoe Sans Display Semibold"/>
                <a:ea typeface="+mn-ea"/>
                <a:cs typeface="Segoe UI" panose="020B0502040204020203" pitchFamily="34" charset="0"/>
              </a:endParaRPr>
            </a:p>
          </p:txBody>
        </p:sp>
        <p:sp>
          <p:nvSpPr>
            <p:cNvPr id="147" name="Rounded Rectangle 14">
              <a:extLst>
                <a:ext uri="{FF2B5EF4-FFF2-40B4-BE49-F238E27FC236}">
                  <a16:creationId xmlns:a16="http://schemas.microsoft.com/office/drawing/2014/main" id="{1DC6CCDD-B9DC-199F-639A-B29CA03D1F3F}"/>
                </a:ext>
              </a:extLst>
            </p:cNvPr>
            <p:cNvSpPr>
              <a:spLocks noGrp="1" noRot="1" noMove="1" noResize="1" noEditPoints="1" noAdjustHandles="1" noChangeArrowheads="1" noChangeShapeType="1"/>
            </p:cNvSpPr>
            <p:nvPr/>
          </p:nvSpPr>
          <p:spPr>
            <a:xfrm>
              <a:off x="6738097" y="3449225"/>
              <a:ext cx="898444" cy="476726"/>
            </a:xfrm>
            <a:prstGeom prst="round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Network</a:t>
              </a:r>
              <a:br>
                <a:rPr kumimoji="0" lang="en-US" sz="14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br>
              <a:r>
                <a:rPr kumimoji="0" lang="en-US" sz="1400" b="1" i="0" u="none" strike="noStrike" kern="0" cap="none" spc="0" normalizeH="0" baseline="0" noProof="0">
                  <a:ln>
                    <a:noFill/>
                  </a:ln>
                  <a:solidFill>
                    <a:srgbClr val="000000"/>
                  </a:solidFill>
                  <a:effectLst/>
                  <a:uLnTx/>
                  <a:uFillTx/>
                  <a:latin typeface="Segoe Sans Display Semibold"/>
                  <a:ea typeface="+mn-ea"/>
                  <a:cs typeface="Segoe UI Semibold" panose="020B0502040204020203" pitchFamily="34" charset="0"/>
                </a:rPr>
                <a:t>Controls</a:t>
              </a:r>
            </a:p>
          </p:txBody>
        </p:sp>
        <p:sp>
          <p:nvSpPr>
            <p:cNvPr id="148" name="Oval 147">
              <a:extLst>
                <a:ext uri="{FF2B5EF4-FFF2-40B4-BE49-F238E27FC236}">
                  <a16:creationId xmlns:a16="http://schemas.microsoft.com/office/drawing/2014/main" id="{15CFF596-9281-4E88-A76D-7D854F9F8187}"/>
                </a:ext>
              </a:extLst>
            </p:cNvPr>
            <p:cNvSpPr>
              <a:spLocks noGrp="1" noRot="1" noMove="1" noResize="1" noEditPoints="1" noAdjustHandles="1" noChangeArrowheads="1" noChangeShapeType="1"/>
            </p:cNvSpPr>
            <p:nvPr/>
          </p:nvSpPr>
          <p:spPr bwMode="auto">
            <a:xfrm>
              <a:off x="6131664" y="3377972"/>
              <a:ext cx="604370" cy="604370"/>
            </a:xfrm>
            <a:prstGeom prst="ellipse">
              <a:avLst/>
            </a:prstGeom>
            <a:solidFill>
              <a:srgbClr val="FFFFFF">
                <a:alpha val="74000"/>
              </a:srgb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149" name="Picture 10" descr="Cloud and digital lock in blue and gray color">
              <a:extLst>
                <a:ext uri="{FF2B5EF4-FFF2-40B4-BE49-F238E27FC236}">
                  <a16:creationId xmlns:a16="http://schemas.microsoft.com/office/drawing/2014/main" id="{FA6C9BC5-6B9F-9FA9-B14E-2001B850F4C8}"/>
                </a:ext>
              </a:extLst>
            </p:cNvPr>
            <p:cNvPicPr>
              <a:picLocks noGrp="1" noRot="1" noChangeAspect="1" noMove="1" noResize="1" noEditPoints="1" noAdjustHandles="1" noChangeArrowheads="1" noChangeShapeType="1" noCrop="1"/>
            </p:cNvPicPr>
            <p:nvPr/>
          </p:nvPicPr>
          <p:blipFill>
            <a:blip r:embed="rId10"/>
            <a:stretch>
              <a:fillRect/>
            </a:stretch>
          </p:blipFill>
          <p:spPr>
            <a:xfrm>
              <a:off x="6231116" y="3480733"/>
              <a:ext cx="405465" cy="405465"/>
            </a:xfrm>
            <a:prstGeom prst="rect">
              <a:avLst/>
            </a:prstGeom>
          </p:spPr>
        </p:pic>
      </p:grpSp>
      <p:sp>
        <p:nvSpPr>
          <p:cNvPr id="150" name="Title 3">
            <a:extLst>
              <a:ext uri="{FF2B5EF4-FFF2-40B4-BE49-F238E27FC236}">
                <a16:creationId xmlns:a16="http://schemas.microsoft.com/office/drawing/2014/main" id="{1F5DF49F-5D9F-DE89-608B-B818540D62DE}"/>
              </a:ext>
            </a:extLst>
          </p:cNvPr>
          <p:cNvSpPr>
            <a:spLocks noGrp="1"/>
          </p:cNvSpPr>
          <p:nvPr>
            <p:ph type="title"/>
          </p:nvPr>
        </p:nvSpPr>
        <p:spPr>
          <a:xfrm>
            <a:off x="358775" y="254452"/>
            <a:ext cx="11397474" cy="553998"/>
          </a:xfrm>
        </p:spPr>
        <p:txBody>
          <a:bodyPr/>
          <a:lstStyle/>
          <a:p>
            <a:pPr algn="ctr"/>
            <a:r>
              <a:rPr lang="en-US">
                <a:solidFill>
                  <a:srgbClr val="091F2C"/>
                </a:solidFill>
                <a:latin typeface="+mj-lt"/>
              </a:rPr>
              <a:t>Zero Trust for AI</a:t>
            </a:r>
          </a:p>
        </p:txBody>
      </p:sp>
    </p:spTree>
    <p:extLst>
      <p:ext uri="{BB962C8B-B14F-4D97-AF65-F5344CB8AC3E}">
        <p14:creationId xmlns:p14="http://schemas.microsoft.com/office/powerpoint/2010/main" val="2654994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C52C1-D05B-F59A-BEB3-45EDE0893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968A5-4047-EFD1-5A7E-21EF5D531ECF}"/>
              </a:ext>
            </a:extLst>
          </p:cNvPr>
          <p:cNvSpPr>
            <a:spLocks noGrp="1" noRot="1" noMove="1" noResize="1" noEditPoints="1" noAdjustHandles="1" noChangeArrowheads="1" noChangeShapeType="1"/>
          </p:cNvSpPr>
          <p:nvPr>
            <p:ph type="title"/>
          </p:nvPr>
        </p:nvSpPr>
        <p:spPr/>
        <p:txBody>
          <a:bodyPr/>
          <a:lstStyle/>
          <a:p>
            <a:r>
              <a:rPr lang="en-US">
                <a:latin typeface="+mj-lt"/>
              </a:rPr>
              <a:t>Building a </a:t>
            </a:r>
            <a:br>
              <a:rPr lang="en-US">
                <a:latin typeface="+mj-lt"/>
              </a:rPr>
            </a:br>
            <a:r>
              <a:rPr lang="en-US">
                <a:latin typeface="+mj-lt"/>
              </a:rPr>
              <a:t>Zero Trust</a:t>
            </a:r>
            <a:br>
              <a:rPr lang="en-US">
                <a:latin typeface="+mj-lt"/>
              </a:rPr>
            </a:br>
            <a:r>
              <a:rPr lang="en-US">
                <a:latin typeface="+mj-lt"/>
              </a:rPr>
              <a:t>Approach</a:t>
            </a:r>
          </a:p>
        </p:txBody>
      </p:sp>
      <p:sp>
        <p:nvSpPr>
          <p:cNvPr id="4" name="Oval 3">
            <a:extLst>
              <a:ext uri="{FF2B5EF4-FFF2-40B4-BE49-F238E27FC236}">
                <a16:creationId xmlns:a16="http://schemas.microsoft.com/office/drawing/2014/main" id="{E3C1E803-B6B5-AF38-A9A6-ECF8DFDDD73A}"/>
              </a:ext>
            </a:extLst>
          </p:cNvPr>
          <p:cNvSpPr>
            <a:spLocks noGrp="1" noRot="1" noMove="1" noResize="1" noEditPoints="1" noAdjustHandles="1" noChangeArrowheads="1" noChangeShapeType="1"/>
          </p:cNvSpPr>
          <p:nvPr/>
        </p:nvSpPr>
        <p:spPr bwMode="auto">
          <a:xfrm>
            <a:off x="4602663" y="2721312"/>
            <a:ext cx="1443719" cy="1443719"/>
          </a:xfrm>
          <a:prstGeom prst="ellipse">
            <a:avLst/>
          </a:prstGeom>
          <a:solidFill>
            <a:srgbClr val="253F6F"/>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8" name="Picture 4" descr="Asterisk code transforming into circles and squares in blue, teal, and green color">
            <a:extLst>
              <a:ext uri="{FF2B5EF4-FFF2-40B4-BE49-F238E27FC236}">
                <a16:creationId xmlns:a16="http://schemas.microsoft.com/office/drawing/2014/main" id="{5C82232D-A711-48AA-4136-BB0669EC982D}"/>
              </a:ext>
            </a:extLst>
          </p:cNvPr>
          <p:cNvPicPr>
            <a:picLocks noGrp="1" noRot="1" noChangeAspect="1" noMove="1" noResize="1" noEditPoints="1" noAdjustHandles="1" noChangeArrowheads="1" noChangeShapeType="1" noCrop="1"/>
          </p:cNvPicPr>
          <p:nvPr/>
        </p:nvPicPr>
        <p:blipFill>
          <a:blip r:embed="rId3"/>
          <a:stretch>
            <a:fillRect/>
          </a:stretch>
        </p:blipFill>
        <p:spPr>
          <a:xfrm>
            <a:off x="4727060" y="2856236"/>
            <a:ext cx="1113760" cy="1113760"/>
          </a:xfrm>
          <a:prstGeom prst="rect">
            <a:avLst/>
          </a:prstGeom>
        </p:spPr>
      </p:pic>
    </p:spTree>
    <p:extLst>
      <p:ext uri="{BB962C8B-B14F-4D97-AF65-F5344CB8AC3E}">
        <p14:creationId xmlns:p14="http://schemas.microsoft.com/office/powerpoint/2010/main" val="427980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FF5A2-C4CA-EE44-1F6B-80EAD333E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7B419-2EF3-132F-ACAC-3FA443E2CD42}"/>
              </a:ext>
            </a:extLst>
          </p:cNvPr>
          <p:cNvSpPr>
            <a:spLocks noGrp="1" noRot="1" noMove="1" noResize="1" noEditPoints="1" noAdjustHandles="1" noChangeArrowheads="1" noChangeShapeType="1"/>
          </p:cNvSpPr>
          <p:nvPr>
            <p:ph type="title"/>
          </p:nvPr>
        </p:nvSpPr>
        <p:spPr/>
        <p:txBody>
          <a:bodyPr vert="horz" wrap="square" lIns="0" tIns="0" rIns="0" bIns="0" rtlCol="0" anchor="t">
            <a:spAutoFit/>
          </a:bodyPr>
          <a:lstStyle/>
          <a:p>
            <a:pPr algn="ctr"/>
            <a:r>
              <a:rPr lang="en-US">
                <a:solidFill>
                  <a:srgbClr val="091F2C"/>
                </a:solidFill>
                <a:latin typeface="+mj-lt"/>
              </a:rPr>
              <a:t>Secure and govern AI with Microsoft </a:t>
            </a:r>
          </a:p>
        </p:txBody>
      </p:sp>
      <p:sp>
        <p:nvSpPr>
          <p:cNvPr id="76" name="Graphic 98">
            <a:extLst>
              <a:ext uri="{FF2B5EF4-FFF2-40B4-BE49-F238E27FC236}">
                <a16:creationId xmlns:a16="http://schemas.microsoft.com/office/drawing/2014/main" id="{5E1E637F-8E1D-9469-A25D-B31D141E4038}"/>
              </a:ext>
            </a:extLst>
          </p:cNvPr>
          <p:cNvSpPr>
            <a:spLocks noGrp="1" noRot="1" noMove="1" noResize="1" noEditPoints="1" noAdjustHandles="1" noChangeArrowheads="1" noChangeShapeType="1"/>
          </p:cNvSpPr>
          <p:nvPr/>
        </p:nvSpPr>
        <p:spPr>
          <a:xfrm>
            <a:off x="3884514" y="1412875"/>
            <a:ext cx="4497155" cy="951229"/>
          </a:xfrm>
          <a:prstGeom prst="rect">
            <a:avLst/>
          </a:prstGeom>
          <a:noFill/>
          <a:ln w="12700">
            <a:noFill/>
            <a:headEnd type="none" w="med" len="med"/>
            <a:tailEnd type="none" w="med" len="med"/>
          </a:ln>
          <a:effectLst>
            <a:outerShdw blurRad="114300" dir="54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5720" rIns="4572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91F2C"/>
                </a:solidFill>
                <a:effectLst/>
                <a:uLnTx/>
                <a:uFillTx/>
                <a:latin typeface="Segoe Sans Display Semilight"/>
                <a:ea typeface="+mn-ea"/>
                <a:cs typeface="+mn-cs"/>
              </a:rPr>
              <a:t>Prepare</a:t>
            </a:r>
            <a:r>
              <a:rPr kumimoji="0" lang="en-US" sz="1800" b="0" i="0" u="none" strike="noStrike" kern="1200" cap="none" spc="0" normalizeH="0" baseline="0" noProof="0">
                <a:ln>
                  <a:noFill/>
                </a:ln>
                <a:solidFill>
                  <a:srgbClr val="091F2C"/>
                </a:solidFill>
                <a:effectLst/>
                <a:uLnTx/>
                <a:uFillTx/>
                <a:latin typeface="Segoe Sans Display Semilight"/>
                <a:ea typeface="+mn-ea"/>
                <a:cs typeface="+mn-cs"/>
              </a:rPr>
              <a:t> </a:t>
            </a: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your environment and implement Zero Trust strategy for secure AI adoption</a:t>
            </a:r>
            <a:endParaRPr kumimoji="0" lang="en-US" sz="1800" b="0" i="0" u="none" strike="noStrike" kern="1200" cap="none" spc="0" normalizeH="0" baseline="0" noProof="0">
              <a:ln>
                <a:noFill/>
              </a:ln>
              <a:solidFill>
                <a:srgbClr val="091F2C"/>
              </a:solidFill>
              <a:effectLst/>
              <a:uLnTx/>
              <a:uFillTx/>
              <a:latin typeface="Segoe Sans Display Semilight"/>
              <a:ea typeface="+mn-ea"/>
              <a:cs typeface="+mn-cs"/>
            </a:endParaRPr>
          </a:p>
        </p:txBody>
      </p:sp>
      <p:sp>
        <p:nvSpPr>
          <p:cNvPr id="78" name="Graphic 98">
            <a:extLst>
              <a:ext uri="{FF2B5EF4-FFF2-40B4-BE49-F238E27FC236}">
                <a16:creationId xmlns:a16="http://schemas.microsoft.com/office/drawing/2014/main" id="{8C36C559-FE43-4B17-9438-BA29C9772DD4}"/>
              </a:ext>
            </a:extLst>
          </p:cNvPr>
          <p:cNvSpPr>
            <a:spLocks noGrp="1" noRot="1" noMove="1" noResize="1" noEditPoints="1" noAdjustHandles="1" noChangeArrowheads="1" noChangeShapeType="1"/>
          </p:cNvSpPr>
          <p:nvPr/>
        </p:nvSpPr>
        <p:spPr>
          <a:xfrm>
            <a:off x="4514501" y="2638001"/>
            <a:ext cx="3997638" cy="951229"/>
          </a:xfrm>
          <a:prstGeom prst="rect">
            <a:avLst/>
          </a:prstGeom>
          <a:noFill/>
          <a:ln w="12700">
            <a:noFill/>
            <a:headEnd type="none" w="med" len="med"/>
            <a:tailEnd type="none" w="med" len="med"/>
          </a:ln>
          <a:effectLst>
            <a:outerShdw blurRad="114300" dir="54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5720" rIns="4572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91F2C"/>
                </a:solidFill>
                <a:effectLst/>
                <a:uLnTx/>
                <a:uFillTx/>
                <a:latin typeface="Segoe Sans Display Semilight"/>
                <a:ea typeface="+mn-ea"/>
                <a:cs typeface="+mn-cs"/>
              </a:rPr>
              <a:t>Discover</a:t>
            </a:r>
            <a:r>
              <a:rPr kumimoji="0" lang="en-US" sz="1800" b="0" i="0" u="none" strike="noStrike" kern="1200" cap="none" spc="0" normalizeH="0" baseline="0" noProof="0">
                <a:ln>
                  <a:noFill/>
                </a:ln>
                <a:solidFill>
                  <a:srgbClr val="091F2C"/>
                </a:solidFill>
                <a:effectLst/>
                <a:uLnTx/>
                <a:uFillTx/>
                <a:latin typeface="Segoe Sans Display Semilight"/>
                <a:ea typeface="+mn-ea"/>
                <a:cs typeface="+mn-cs"/>
              </a:rPr>
              <a:t> </a:t>
            </a: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security, privacy, and safety risks with comprehensive visibility</a:t>
            </a:r>
          </a:p>
        </p:txBody>
      </p:sp>
      <p:sp>
        <p:nvSpPr>
          <p:cNvPr id="80" name="Graphic 98">
            <a:extLst>
              <a:ext uri="{FF2B5EF4-FFF2-40B4-BE49-F238E27FC236}">
                <a16:creationId xmlns:a16="http://schemas.microsoft.com/office/drawing/2014/main" id="{C5A88C5E-7162-010F-DBA8-0D6E2A45DC80}"/>
              </a:ext>
            </a:extLst>
          </p:cNvPr>
          <p:cNvSpPr>
            <a:spLocks noGrp="1" noRot="1" noMove="1" noResize="1" noEditPoints="1" noAdjustHandles="1" noChangeArrowheads="1" noChangeShapeType="1"/>
          </p:cNvSpPr>
          <p:nvPr/>
        </p:nvSpPr>
        <p:spPr>
          <a:xfrm>
            <a:off x="4514501" y="3863127"/>
            <a:ext cx="4610248" cy="951229"/>
          </a:xfrm>
          <a:prstGeom prst="rect">
            <a:avLst/>
          </a:prstGeom>
          <a:noFill/>
          <a:ln w="12700">
            <a:noFill/>
            <a:headEnd type="none" w="med" len="med"/>
            <a:tailEnd type="none" w="med" len="med"/>
          </a:ln>
          <a:effectLst>
            <a:outerShdw blurRad="114300" dir="54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5720" rIns="4572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91F2C"/>
                </a:solidFill>
                <a:effectLst/>
                <a:uLnTx/>
                <a:uFillTx/>
                <a:latin typeface="Segoe Sans Display Semilight"/>
                <a:ea typeface="+mn-ea"/>
                <a:cs typeface="+mn-cs"/>
              </a:rPr>
              <a:t>Protect </a:t>
            </a:r>
            <a:r>
              <a:rPr kumimoji="0" lang="en-US" sz="1600" b="1" i="0" u="none" strike="noStrike" kern="1200" cap="none" spc="0" normalizeH="0" baseline="0" noProof="0">
                <a:ln>
                  <a:noFill/>
                </a:ln>
                <a:solidFill>
                  <a:srgbClr val="091F2C"/>
                </a:solidFill>
                <a:effectLst/>
                <a:uLnTx/>
                <a:uFillTx/>
                <a:latin typeface="Segoe Sans Display Semilight"/>
                <a:ea typeface="+mn-ea"/>
                <a:cs typeface="+mn-cs"/>
              </a:rPr>
              <a:t>AI </a:t>
            </a: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against emerging threats and safeguard sensitive data with end-to-end security</a:t>
            </a:r>
          </a:p>
        </p:txBody>
      </p:sp>
      <p:sp>
        <p:nvSpPr>
          <p:cNvPr id="82" name="Graphic 98">
            <a:extLst>
              <a:ext uri="{FF2B5EF4-FFF2-40B4-BE49-F238E27FC236}">
                <a16:creationId xmlns:a16="http://schemas.microsoft.com/office/drawing/2014/main" id="{394BC44D-E38F-9973-894A-FD63E955514E}"/>
              </a:ext>
            </a:extLst>
          </p:cNvPr>
          <p:cNvSpPr>
            <a:spLocks noGrp="1" noRot="1" noMove="1" noResize="1" noEditPoints="1" noAdjustHandles="1" noChangeArrowheads="1" noChangeShapeType="1"/>
          </p:cNvSpPr>
          <p:nvPr/>
        </p:nvSpPr>
        <p:spPr>
          <a:xfrm>
            <a:off x="3884514" y="5088254"/>
            <a:ext cx="5504640" cy="951229"/>
          </a:xfrm>
          <a:prstGeom prst="rect">
            <a:avLst/>
          </a:prstGeom>
          <a:noFill/>
          <a:ln w="12700">
            <a:noFill/>
            <a:headEnd type="none" w="med" len="med"/>
            <a:tailEnd type="none" w="med" len="med"/>
          </a:ln>
          <a:effectLst>
            <a:outerShdw blurRad="114300" dir="54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5720" rIns="4572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91F2C"/>
                </a:solidFill>
                <a:effectLst/>
                <a:uLnTx/>
                <a:uFillTx/>
                <a:latin typeface="Segoe Sans Display Semilight"/>
                <a:ea typeface="+mn-ea"/>
                <a:cs typeface="+mn-cs"/>
              </a:rPr>
              <a:t>Govern </a:t>
            </a:r>
            <a:r>
              <a:rPr kumimoji="0" lang="en-US" sz="1600" b="1" i="0" u="none" strike="noStrike" kern="1200" cap="none" spc="0" normalizeH="0" baseline="0" noProof="0">
                <a:ln>
                  <a:noFill/>
                </a:ln>
                <a:solidFill>
                  <a:srgbClr val="091F2C"/>
                </a:solidFill>
                <a:effectLst/>
                <a:uLnTx/>
                <a:uFillTx/>
                <a:latin typeface="Segoe Sans Display Semilight"/>
                <a:ea typeface="+mn-ea"/>
                <a:cs typeface="+mn-cs"/>
              </a:rPr>
              <a:t>AI </a:t>
            </a: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usage and systems to comply with</a:t>
            </a:r>
            <a:b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b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code-of-conduct and regulatory policies</a:t>
            </a:r>
          </a:p>
        </p:txBody>
      </p:sp>
      <p:pic>
        <p:nvPicPr>
          <p:cNvPr id="47" name="Picture 6" descr="Shield with layered shapes in blue, teal, and green color">
            <a:extLst>
              <a:ext uri="{FF2B5EF4-FFF2-40B4-BE49-F238E27FC236}">
                <a16:creationId xmlns:a16="http://schemas.microsoft.com/office/drawing/2014/main" id="{34E75BE5-3A87-FFEB-C608-F10F21BEF99E}"/>
              </a:ext>
            </a:extLst>
          </p:cNvPr>
          <p:cNvPicPr>
            <a:picLocks noGrp="1" noRot="1" noChangeAspect="1" noMove="1" noResize="1" noEditPoints="1" noAdjustHandles="1" noChangeArrowheads="1" noChangeShapeType="1" noCrop="1"/>
          </p:cNvPicPr>
          <p:nvPr/>
        </p:nvPicPr>
        <p:blipFill>
          <a:blip r:embed="rId3"/>
          <a:stretch>
            <a:fillRect/>
          </a:stretch>
        </p:blipFill>
        <p:spPr>
          <a:xfrm>
            <a:off x="1765773" y="3164351"/>
            <a:ext cx="1166114" cy="1166114"/>
          </a:xfrm>
          <a:prstGeom prst="rect">
            <a:avLst/>
          </a:prstGeom>
          <a:effectLst>
            <a:outerShdw blurRad="203200" dist="165100" dir="5400000" algn="t" rotWithShape="0">
              <a:prstClr val="black">
                <a:alpha val="20000"/>
              </a:prstClr>
            </a:outerShdw>
          </a:effectLst>
        </p:spPr>
      </p:pic>
      <p:sp>
        <p:nvSpPr>
          <p:cNvPr id="48" name="Arc 47">
            <a:extLst>
              <a:ext uri="{FF2B5EF4-FFF2-40B4-BE49-F238E27FC236}">
                <a16:creationId xmlns:a16="http://schemas.microsoft.com/office/drawing/2014/main" id="{48AB5AEE-5028-58C4-1E5D-63B0191AF351}"/>
              </a:ext>
            </a:extLst>
          </p:cNvPr>
          <p:cNvSpPr>
            <a:spLocks noGrp="1" noRot="1" noMove="1" noResize="1" noEditPoints="1" noAdjustHandles="1" noChangeArrowheads="1" noChangeShapeType="1"/>
          </p:cNvSpPr>
          <p:nvPr/>
        </p:nvSpPr>
        <p:spPr>
          <a:xfrm>
            <a:off x="-1500426" y="933947"/>
            <a:ext cx="5626923" cy="5626923"/>
          </a:xfrm>
          <a:prstGeom prst="arc">
            <a:avLst>
              <a:gd name="adj1" fmla="val 17777350"/>
              <a:gd name="adj2" fmla="val 3598815"/>
            </a:avLst>
          </a:prstGeom>
          <a:ln w="69850">
            <a:gradFill>
              <a:gsLst>
                <a:gs pos="0">
                  <a:schemeClr val="tx1">
                    <a:alpha val="0"/>
                  </a:schemeClr>
                </a:gs>
                <a:gs pos="27000">
                  <a:schemeClr val="tx1">
                    <a:alpha val="80000"/>
                  </a:schemeClr>
                </a:gs>
                <a:gs pos="83000">
                  <a:schemeClr val="tx1">
                    <a:alpha val="80000"/>
                  </a:schemeClr>
                </a:gs>
                <a:gs pos="100000">
                  <a:schemeClr val="tx1">
                    <a:alpha val="0"/>
                  </a:schemeClr>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Display"/>
              <a:ea typeface="+mn-ea"/>
              <a:cs typeface="+mn-cs"/>
            </a:endParaRPr>
          </a:p>
        </p:txBody>
      </p:sp>
      <p:grpSp>
        <p:nvGrpSpPr>
          <p:cNvPr id="55" name="Group 54">
            <a:extLst>
              <a:ext uri="{FF2B5EF4-FFF2-40B4-BE49-F238E27FC236}">
                <a16:creationId xmlns:a16="http://schemas.microsoft.com/office/drawing/2014/main" id="{81F9498A-BC74-6C8A-3523-1DD5EEE9C266}"/>
              </a:ext>
            </a:extLst>
          </p:cNvPr>
          <p:cNvGrpSpPr>
            <a:grpSpLocks noGrp="1" noUngrp="1" noRot="1" noMove="1" noResize="1"/>
          </p:cNvGrpSpPr>
          <p:nvPr/>
        </p:nvGrpSpPr>
        <p:grpSpPr>
          <a:xfrm>
            <a:off x="3072730" y="1563734"/>
            <a:ext cx="735783" cy="735783"/>
            <a:chOff x="2148472" y="1404194"/>
            <a:chExt cx="735783" cy="735783"/>
          </a:xfrm>
        </p:grpSpPr>
        <p:sp>
          <p:nvSpPr>
            <p:cNvPr id="49" name="Oval 48">
              <a:extLst>
                <a:ext uri="{FF2B5EF4-FFF2-40B4-BE49-F238E27FC236}">
                  <a16:creationId xmlns:a16="http://schemas.microsoft.com/office/drawing/2014/main" id="{51B57812-6AF1-0177-0439-911705E54B78}"/>
                </a:ext>
              </a:extLst>
            </p:cNvPr>
            <p:cNvSpPr>
              <a:spLocks noGrp="1" noRot="1" noMove="1" noResize="1" noEditPoints="1" noAdjustHandles="1" noChangeArrowheads="1" noChangeShapeType="1"/>
            </p:cNvSpPr>
            <p:nvPr/>
          </p:nvSpPr>
          <p:spPr bwMode="auto">
            <a:xfrm>
              <a:off x="2148472" y="1404194"/>
              <a:ext cx="735783" cy="735783"/>
            </a:xfrm>
            <a:prstGeom prst="ellipse">
              <a:avLst/>
            </a:prstGeom>
            <a:solidFill>
              <a:schemeClr val="tx1">
                <a:alpha val="74000"/>
              </a:scheme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42" name="Picture 3" descr="Data center and shield in blue and green color">
              <a:extLst>
                <a:ext uri="{FF2B5EF4-FFF2-40B4-BE49-F238E27FC236}">
                  <a16:creationId xmlns:a16="http://schemas.microsoft.com/office/drawing/2014/main" id="{BC18E7A5-C7F3-B4A4-2A91-8A401A9ABBB1}"/>
                </a:ext>
              </a:extLst>
            </p:cNvPr>
            <p:cNvPicPr>
              <a:picLocks noGrp="1" noRot="1" noChangeAspect="1" noMove="1" noResize="1" noEditPoints="1" noAdjustHandles="1" noChangeArrowheads="1" noChangeShapeType="1" noCrop="1"/>
            </p:cNvPicPr>
            <p:nvPr/>
          </p:nvPicPr>
          <p:blipFill>
            <a:blip r:embed="rId4"/>
            <a:stretch>
              <a:fillRect/>
            </a:stretch>
          </p:blipFill>
          <p:spPr>
            <a:xfrm>
              <a:off x="2260261" y="1515983"/>
              <a:ext cx="512205" cy="512205"/>
            </a:xfrm>
            <a:prstGeom prst="rect">
              <a:avLst/>
            </a:prstGeom>
          </p:spPr>
        </p:pic>
      </p:grpSp>
      <p:grpSp>
        <p:nvGrpSpPr>
          <p:cNvPr id="58" name="Group 57">
            <a:extLst>
              <a:ext uri="{FF2B5EF4-FFF2-40B4-BE49-F238E27FC236}">
                <a16:creationId xmlns:a16="http://schemas.microsoft.com/office/drawing/2014/main" id="{311E1C74-09CC-E5EF-E3E5-747FB463358F}"/>
              </a:ext>
            </a:extLst>
          </p:cNvPr>
          <p:cNvGrpSpPr>
            <a:grpSpLocks noGrp="1" noUngrp="1" noRot="1" noMove="1" noResize="1"/>
          </p:cNvGrpSpPr>
          <p:nvPr/>
        </p:nvGrpSpPr>
        <p:grpSpPr>
          <a:xfrm>
            <a:off x="3666929" y="3996820"/>
            <a:ext cx="735783" cy="735783"/>
            <a:chOff x="2542516" y="3790586"/>
            <a:chExt cx="735783" cy="735783"/>
          </a:xfrm>
        </p:grpSpPr>
        <p:sp>
          <p:nvSpPr>
            <p:cNvPr id="52" name="Oval 51">
              <a:extLst>
                <a:ext uri="{FF2B5EF4-FFF2-40B4-BE49-F238E27FC236}">
                  <a16:creationId xmlns:a16="http://schemas.microsoft.com/office/drawing/2014/main" id="{30B76673-AC02-A98A-4450-DF998A949468}"/>
                </a:ext>
              </a:extLst>
            </p:cNvPr>
            <p:cNvSpPr>
              <a:spLocks noGrp="1" noRot="1" noMove="1" noResize="1" noEditPoints="1" noAdjustHandles="1" noChangeArrowheads="1" noChangeShapeType="1"/>
            </p:cNvSpPr>
            <p:nvPr/>
          </p:nvSpPr>
          <p:spPr bwMode="auto">
            <a:xfrm>
              <a:off x="2542516" y="3790586"/>
              <a:ext cx="735783" cy="735783"/>
            </a:xfrm>
            <a:prstGeom prst="ellipse">
              <a:avLst/>
            </a:prstGeom>
            <a:solidFill>
              <a:schemeClr val="tx1">
                <a:alpha val="74000"/>
              </a:scheme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44" name="Picture 9" descr="Fingerprint and magnifying glass in blue and green color">
              <a:extLst>
                <a:ext uri="{FF2B5EF4-FFF2-40B4-BE49-F238E27FC236}">
                  <a16:creationId xmlns:a16="http://schemas.microsoft.com/office/drawing/2014/main" id="{885042FC-CA15-2EB2-C936-D3D9A97DA164}"/>
                </a:ext>
              </a:extLst>
            </p:cNvPr>
            <p:cNvPicPr>
              <a:picLocks noGrp="1" noRot="1" noChangeAspect="1" noMove="1" noResize="1" noEditPoints="1" noAdjustHandles="1" noChangeArrowheads="1" noChangeShapeType="1" noCrop="1"/>
            </p:cNvPicPr>
            <p:nvPr/>
          </p:nvPicPr>
          <p:blipFill>
            <a:blip r:embed="rId5"/>
            <a:stretch>
              <a:fillRect/>
            </a:stretch>
          </p:blipFill>
          <p:spPr>
            <a:xfrm>
              <a:off x="2657893" y="3926875"/>
              <a:ext cx="465718" cy="465718"/>
            </a:xfrm>
            <a:prstGeom prst="rect">
              <a:avLst/>
            </a:prstGeom>
          </p:spPr>
        </p:pic>
      </p:grpSp>
      <p:grpSp>
        <p:nvGrpSpPr>
          <p:cNvPr id="57" name="Group 56">
            <a:extLst>
              <a:ext uri="{FF2B5EF4-FFF2-40B4-BE49-F238E27FC236}">
                <a16:creationId xmlns:a16="http://schemas.microsoft.com/office/drawing/2014/main" id="{CB43B917-C194-9392-5AC6-92FC25682629}"/>
              </a:ext>
            </a:extLst>
          </p:cNvPr>
          <p:cNvGrpSpPr>
            <a:grpSpLocks noGrp="1" noUngrp="1" noRot="1" noMove="1" noResize="1"/>
          </p:cNvGrpSpPr>
          <p:nvPr/>
        </p:nvGrpSpPr>
        <p:grpSpPr>
          <a:xfrm>
            <a:off x="3666929" y="2780277"/>
            <a:ext cx="735783" cy="735783"/>
            <a:chOff x="2657893" y="2550210"/>
            <a:chExt cx="735783" cy="735783"/>
          </a:xfrm>
        </p:grpSpPr>
        <p:sp>
          <p:nvSpPr>
            <p:cNvPr id="51" name="Oval 50">
              <a:extLst>
                <a:ext uri="{FF2B5EF4-FFF2-40B4-BE49-F238E27FC236}">
                  <a16:creationId xmlns:a16="http://schemas.microsoft.com/office/drawing/2014/main" id="{9F9315A6-4DCD-7CCA-7BA0-CB83C473A010}"/>
                </a:ext>
              </a:extLst>
            </p:cNvPr>
            <p:cNvSpPr>
              <a:spLocks noGrp="1" noRot="1" noMove="1" noResize="1" noEditPoints="1" noAdjustHandles="1" noChangeArrowheads="1" noChangeShapeType="1"/>
            </p:cNvSpPr>
            <p:nvPr/>
          </p:nvSpPr>
          <p:spPr bwMode="auto">
            <a:xfrm>
              <a:off x="2657893" y="2550210"/>
              <a:ext cx="735783" cy="735783"/>
            </a:xfrm>
            <a:prstGeom prst="ellipse">
              <a:avLst/>
            </a:prstGeom>
            <a:solidFill>
              <a:schemeClr val="tx1">
                <a:alpha val="74000"/>
              </a:scheme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45" name="Picture 11" descr="Laptop with bug and warning sign in blue and yellow color">
              <a:extLst>
                <a:ext uri="{FF2B5EF4-FFF2-40B4-BE49-F238E27FC236}">
                  <a16:creationId xmlns:a16="http://schemas.microsoft.com/office/drawing/2014/main" id="{A6F3A096-8CC8-B859-C34C-CC78F341681A}"/>
                </a:ext>
              </a:extLst>
            </p:cNvPr>
            <p:cNvPicPr>
              <a:picLocks noGrp="1" noRot="1" noChangeAspect="1" noMove="1" noResize="1" noEditPoints="1" noAdjustHandles="1" noChangeArrowheads="1" noChangeShapeType="1" noCrop="1"/>
            </p:cNvPicPr>
            <p:nvPr/>
          </p:nvPicPr>
          <p:blipFill>
            <a:blip r:embed="rId6"/>
            <a:stretch>
              <a:fillRect/>
            </a:stretch>
          </p:blipFill>
          <p:spPr>
            <a:xfrm>
              <a:off x="2769682" y="2644638"/>
              <a:ext cx="512205" cy="512205"/>
            </a:xfrm>
            <a:prstGeom prst="rect">
              <a:avLst/>
            </a:prstGeom>
          </p:spPr>
        </p:pic>
      </p:grpSp>
      <p:grpSp>
        <p:nvGrpSpPr>
          <p:cNvPr id="59" name="Group 58">
            <a:extLst>
              <a:ext uri="{FF2B5EF4-FFF2-40B4-BE49-F238E27FC236}">
                <a16:creationId xmlns:a16="http://schemas.microsoft.com/office/drawing/2014/main" id="{D88A8CEF-FC83-5907-DA6E-714214215427}"/>
              </a:ext>
            </a:extLst>
          </p:cNvPr>
          <p:cNvGrpSpPr>
            <a:grpSpLocks noGrp="1" noUngrp="1" noRot="1" noMove="1" noResize="1"/>
          </p:cNvGrpSpPr>
          <p:nvPr/>
        </p:nvGrpSpPr>
        <p:grpSpPr>
          <a:xfrm>
            <a:off x="3072730" y="5213362"/>
            <a:ext cx="735783" cy="735783"/>
            <a:chOff x="1977603" y="4845471"/>
            <a:chExt cx="735783" cy="735783"/>
          </a:xfrm>
        </p:grpSpPr>
        <p:sp>
          <p:nvSpPr>
            <p:cNvPr id="54" name="Oval 53">
              <a:extLst>
                <a:ext uri="{FF2B5EF4-FFF2-40B4-BE49-F238E27FC236}">
                  <a16:creationId xmlns:a16="http://schemas.microsoft.com/office/drawing/2014/main" id="{23436267-1F3E-C819-CF2A-2BAF62BD3F38}"/>
                </a:ext>
              </a:extLst>
            </p:cNvPr>
            <p:cNvSpPr>
              <a:spLocks noGrp="1" noRot="1" noMove="1" noResize="1" noEditPoints="1" noAdjustHandles="1" noChangeArrowheads="1" noChangeShapeType="1"/>
            </p:cNvSpPr>
            <p:nvPr/>
          </p:nvSpPr>
          <p:spPr bwMode="auto">
            <a:xfrm>
              <a:off x="1977603" y="4845471"/>
              <a:ext cx="735783" cy="735783"/>
            </a:xfrm>
            <a:prstGeom prst="ellipse">
              <a:avLst/>
            </a:prstGeom>
            <a:solidFill>
              <a:schemeClr val="tx1">
                <a:alpha val="74000"/>
              </a:schemeClr>
            </a:solidFill>
            <a:ln w="15875" cap="rnd">
              <a:gradFill flip="none" rotWithShape="1">
                <a:gsLst>
                  <a:gs pos="0">
                    <a:srgbClr val="F4364C"/>
                  </a:gs>
                  <a:gs pos="38000">
                    <a:srgbClr val="A58AD4"/>
                  </a:gs>
                  <a:gs pos="68000">
                    <a:srgbClr val="46A0DE"/>
                  </a:gs>
                  <a:gs pos="100000">
                    <a:srgbClr val="41AFA1"/>
                  </a:gs>
                </a:gsLst>
                <a:lin ang="2700000" scaled="1"/>
                <a:tileRect/>
              </a:gradFill>
              <a:prstDash val="solid"/>
              <a:round/>
            </a:ln>
            <a:effectLst/>
          </p:spPr>
          <p:txBody>
            <a:bodyPr rot="0" spcFirstLastPara="0" vertOverflow="overflow" horzOverflow="overflow" vert="horz" wrap="none" lIns="91440" tIns="18288" rIns="91440" bIns="36576" numCol="1" spcCol="0" rtlCol="0" fromWordArt="0" anchor="ctr" anchorCtr="0" forceAA="0" compatLnSpc="1">
              <a:prstTxWarp prst="textNoShape">
                <a:avLst/>
              </a:prstTxWarp>
              <a:noAutofit/>
            </a:bodyPr>
            <a:lstStyle/>
            <a:p>
              <a:pPr marL="0" marR="0" lvl="0" indent="0" algn="ctr" defTabSz="914437"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37615">
                      <a:srgbClr val="FFFFFF"/>
                    </a:gs>
                    <a:gs pos="70000">
                      <a:srgbClr val="FFFFFF"/>
                    </a:gs>
                  </a:gsLst>
                  <a:path path="circle">
                    <a:fillToRect l="100000" b="100000"/>
                  </a:path>
                </a:gradFill>
                <a:effectLst/>
                <a:uLnTx/>
                <a:uFillTx/>
                <a:latin typeface="Segoe UI Variable Display Semibold" pitchFamily="2" charset="0"/>
                <a:ea typeface="+mn-ea"/>
                <a:cs typeface="Segoe UI" pitchFamily="34" charset="0"/>
              </a:endParaRPr>
            </a:p>
          </p:txBody>
        </p:sp>
        <p:pic>
          <p:nvPicPr>
            <p:cNvPr id="46" name="Picture 8" descr="Locked folder and key in blue and yellow color">
              <a:extLst>
                <a:ext uri="{FF2B5EF4-FFF2-40B4-BE49-F238E27FC236}">
                  <a16:creationId xmlns:a16="http://schemas.microsoft.com/office/drawing/2014/main" id="{B2B02627-D917-4C03-5343-88C027E410D3}"/>
                </a:ext>
              </a:extLst>
            </p:cNvPr>
            <p:cNvPicPr>
              <a:picLocks noGrp="1" noRot="1" noChangeAspect="1" noMove="1" noResize="1" noEditPoints="1" noAdjustHandles="1" noChangeArrowheads="1" noChangeShapeType="1" noCrop="1"/>
            </p:cNvPicPr>
            <p:nvPr/>
          </p:nvPicPr>
          <p:blipFill>
            <a:blip r:embed="rId7"/>
            <a:stretch>
              <a:fillRect/>
            </a:stretch>
          </p:blipFill>
          <p:spPr>
            <a:xfrm>
              <a:off x="2130527" y="4948176"/>
              <a:ext cx="517204" cy="517204"/>
            </a:xfrm>
            <a:prstGeom prst="rect">
              <a:avLst/>
            </a:prstGeom>
          </p:spPr>
        </p:pic>
      </p:grpSp>
    </p:spTree>
    <p:extLst>
      <p:ext uri="{BB962C8B-B14F-4D97-AF65-F5344CB8AC3E}">
        <p14:creationId xmlns:p14="http://schemas.microsoft.com/office/powerpoint/2010/main" val="35622967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fade">
                                      <p:cBhvr>
                                        <p:cTn id="10" dur="500"/>
                                        <p:tgtEl>
                                          <p:spTgt spid="55"/>
                                        </p:tgtEl>
                                      </p:cBhvr>
                                    </p:animEffect>
                                  </p:childTnLst>
                                </p:cTn>
                              </p:par>
                              <p:par>
                                <p:cTn id="11" presetID="42" presetClass="path" presetSubtype="0" decel="100000" fill="hold" nodeType="withEffect">
                                  <p:stCondLst>
                                    <p:cond delay="0"/>
                                  </p:stCondLst>
                                  <p:childTnLst>
                                    <p:animMotion origin="layout" path="M -1.45833E-6 -2.96296E-6 L -0.02578 -0.00023 " pathEditMode="relative" rAng="0" ptsTypes="AA">
                                      <p:cBhvr>
                                        <p:cTn id="12" dur="700" spd="-100000" fill="hold"/>
                                        <p:tgtEl>
                                          <p:spTgt spid="55"/>
                                        </p:tgtEl>
                                        <p:attrNameLst>
                                          <p:attrName>ppt_x</p:attrName>
                                          <p:attrName>ppt_y</p:attrName>
                                        </p:attrNameLst>
                                      </p:cBhvr>
                                      <p:rCtr x="-1289" y="-23"/>
                                    </p:animMotion>
                                  </p:childTnLst>
                                </p:cTn>
                              </p:par>
                              <p:par>
                                <p:cTn id="13" presetID="10" presetClass="entr" presetSubtype="0" fill="hold" grpId="0" nodeType="withEffect">
                                  <p:stCondLst>
                                    <p:cond delay="25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par>
                                <p:cTn id="16" presetID="10" presetClass="entr" presetSubtype="0" fill="hold" nodeType="withEffect">
                                  <p:stCondLst>
                                    <p:cond delay="50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childTnLst>
                                </p:cTn>
                              </p:par>
                              <p:par>
                                <p:cTn id="19" presetID="42" presetClass="path" presetSubtype="0" decel="100000" fill="hold" nodeType="withEffect">
                                  <p:stCondLst>
                                    <p:cond delay="500"/>
                                  </p:stCondLst>
                                  <p:childTnLst>
                                    <p:animMotion origin="layout" path="M -1.45833E-6 -2.96296E-6 L -0.02578 -0.00023 " pathEditMode="relative" rAng="0" ptsTypes="AA">
                                      <p:cBhvr>
                                        <p:cTn id="20" dur="700" spd="-100000" fill="hold"/>
                                        <p:tgtEl>
                                          <p:spTgt spid="57"/>
                                        </p:tgtEl>
                                        <p:attrNameLst>
                                          <p:attrName>ppt_x</p:attrName>
                                          <p:attrName>ppt_y</p:attrName>
                                        </p:attrNameLst>
                                      </p:cBhvr>
                                      <p:rCtr x="-1289" y="-23"/>
                                    </p:animMotion>
                                  </p:childTnLst>
                                </p:cTn>
                              </p:par>
                              <p:par>
                                <p:cTn id="21" presetID="10" presetClass="entr" presetSubtype="0" fill="hold" grpId="0" nodeType="withEffect">
                                  <p:stCondLst>
                                    <p:cond delay="750"/>
                                  </p:stCondLst>
                                  <p:childTnLst>
                                    <p:set>
                                      <p:cBhvr>
                                        <p:cTn id="22" dur="1" fill="hold">
                                          <p:stCondLst>
                                            <p:cond delay="0"/>
                                          </p:stCondLst>
                                        </p:cTn>
                                        <p:tgtEl>
                                          <p:spTgt spid="78"/>
                                        </p:tgtEl>
                                        <p:attrNameLst>
                                          <p:attrName>style.visibility</p:attrName>
                                        </p:attrNameLst>
                                      </p:cBhvr>
                                      <p:to>
                                        <p:strVal val="visible"/>
                                      </p:to>
                                    </p:set>
                                    <p:animEffect transition="in" filter="fade">
                                      <p:cBhvr>
                                        <p:cTn id="23" dur="500"/>
                                        <p:tgtEl>
                                          <p:spTgt spid="78"/>
                                        </p:tgtEl>
                                      </p:cBhvr>
                                    </p:animEffect>
                                  </p:childTnLst>
                                </p:cTn>
                              </p:par>
                              <p:par>
                                <p:cTn id="24" presetID="10" presetClass="entr" presetSubtype="0" fill="hold" nodeType="withEffect">
                                  <p:stCondLst>
                                    <p:cond delay="750"/>
                                  </p:stCondLst>
                                  <p:childTnLst>
                                    <p:set>
                                      <p:cBhvr>
                                        <p:cTn id="25" dur="1" fill="hold">
                                          <p:stCondLst>
                                            <p:cond delay="0"/>
                                          </p:stCondLst>
                                        </p:cTn>
                                        <p:tgtEl>
                                          <p:spTgt spid="58"/>
                                        </p:tgtEl>
                                        <p:attrNameLst>
                                          <p:attrName>style.visibility</p:attrName>
                                        </p:attrNameLst>
                                      </p:cBhvr>
                                      <p:to>
                                        <p:strVal val="visible"/>
                                      </p:to>
                                    </p:set>
                                    <p:animEffect transition="in" filter="fade">
                                      <p:cBhvr>
                                        <p:cTn id="26" dur="500"/>
                                        <p:tgtEl>
                                          <p:spTgt spid="58"/>
                                        </p:tgtEl>
                                      </p:cBhvr>
                                    </p:animEffect>
                                  </p:childTnLst>
                                </p:cTn>
                              </p:par>
                              <p:par>
                                <p:cTn id="27" presetID="42" presetClass="path" presetSubtype="0" decel="100000" fill="hold" nodeType="withEffect">
                                  <p:stCondLst>
                                    <p:cond delay="750"/>
                                  </p:stCondLst>
                                  <p:childTnLst>
                                    <p:animMotion origin="layout" path="M -1.45833E-6 -2.96296E-6 L -0.02578 -0.00023 " pathEditMode="relative" rAng="0" ptsTypes="AA">
                                      <p:cBhvr>
                                        <p:cTn id="28" dur="700" spd="-100000" fill="hold"/>
                                        <p:tgtEl>
                                          <p:spTgt spid="58"/>
                                        </p:tgtEl>
                                        <p:attrNameLst>
                                          <p:attrName>ppt_x</p:attrName>
                                          <p:attrName>ppt_y</p:attrName>
                                        </p:attrNameLst>
                                      </p:cBhvr>
                                      <p:rCtr x="-1289" y="-23"/>
                                    </p:animMotion>
                                  </p:childTnLst>
                                </p:cTn>
                              </p:par>
                              <p:par>
                                <p:cTn id="29" presetID="10" presetClass="entr" presetSubtype="0" fill="hold" grpId="0" nodeType="withEffect">
                                  <p:stCondLst>
                                    <p:cond delay="1000"/>
                                  </p:stCondLst>
                                  <p:childTnLst>
                                    <p:set>
                                      <p:cBhvr>
                                        <p:cTn id="30" dur="1" fill="hold">
                                          <p:stCondLst>
                                            <p:cond delay="0"/>
                                          </p:stCondLst>
                                        </p:cTn>
                                        <p:tgtEl>
                                          <p:spTgt spid="80"/>
                                        </p:tgtEl>
                                        <p:attrNameLst>
                                          <p:attrName>style.visibility</p:attrName>
                                        </p:attrNameLst>
                                      </p:cBhvr>
                                      <p:to>
                                        <p:strVal val="visible"/>
                                      </p:to>
                                    </p:set>
                                    <p:animEffect transition="in" filter="fade">
                                      <p:cBhvr>
                                        <p:cTn id="31" dur="500"/>
                                        <p:tgtEl>
                                          <p:spTgt spid="80"/>
                                        </p:tgtEl>
                                      </p:cBhvr>
                                    </p:animEffect>
                                  </p:childTnLst>
                                </p:cTn>
                              </p:par>
                              <p:par>
                                <p:cTn id="32" presetID="10" presetClass="entr" presetSubtype="0" fill="hold" nodeType="withEffect">
                                  <p:stCondLst>
                                    <p:cond delay="100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par>
                                <p:cTn id="35" presetID="42" presetClass="path" presetSubtype="0" decel="100000" fill="hold" nodeType="withEffect">
                                  <p:stCondLst>
                                    <p:cond delay="1000"/>
                                  </p:stCondLst>
                                  <p:childTnLst>
                                    <p:animMotion origin="layout" path="M -1.45833E-6 -2.96296E-6 L -0.02578 -0.00023 " pathEditMode="relative" rAng="0" ptsTypes="AA">
                                      <p:cBhvr>
                                        <p:cTn id="36" dur="700" spd="-100000" fill="hold"/>
                                        <p:tgtEl>
                                          <p:spTgt spid="59"/>
                                        </p:tgtEl>
                                        <p:attrNameLst>
                                          <p:attrName>ppt_x</p:attrName>
                                          <p:attrName>ppt_y</p:attrName>
                                        </p:attrNameLst>
                                      </p:cBhvr>
                                      <p:rCtr x="-1289" y="-23"/>
                                    </p:animMotion>
                                  </p:childTnLst>
                                </p:cTn>
                              </p:par>
                              <p:par>
                                <p:cTn id="37" presetID="10" presetClass="entr" presetSubtype="0" fill="hold" grpId="0" nodeType="withEffect">
                                  <p:stCondLst>
                                    <p:cond delay="1250"/>
                                  </p:stCondLst>
                                  <p:childTnLst>
                                    <p:set>
                                      <p:cBhvr>
                                        <p:cTn id="38" dur="1" fill="hold">
                                          <p:stCondLst>
                                            <p:cond delay="0"/>
                                          </p:stCondLst>
                                        </p:cTn>
                                        <p:tgtEl>
                                          <p:spTgt spid="82"/>
                                        </p:tgtEl>
                                        <p:attrNameLst>
                                          <p:attrName>style.visibility</p:attrName>
                                        </p:attrNameLst>
                                      </p:cBhvr>
                                      <p:to>
                                        <p:strVal val="visible"/>
                                      </p:to>
                                    </p:set>
                                    <p:animEffect transition="in" filter="fade">
                                      <p:cBhvr>
                                        <p:cTn id="39" dur="500"/>
                                        <p:tgtEl>
                                          <p:spTgt spid="82"/>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wipe(up)">
                                      <p:cBhvr>
                                        <p:cTn id="42" dur="17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8" grpId="0"/>
      <p:bldP spid="80" grpId="0"/>
      <p:bldP spid="82" grpId="0"/>
      <p:bldP spid="4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9BD07-94FB-01E5-2BC2-B504A91EA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96318-C942-B7CB-4737-2A8E67EB36B0}"/>
              </a:ext>
            </a:extLst>
          </p:cNvPr>
          <p:cNvSpPr>
            <a:spLocks noGrp="1"/>
          </p:cNvSpPr>
          <p:nvPr>
            <p:ph type="title"/>
          </p:nvPr>
        </p:nvSpPr>
        <p:spPr>
          <a:xfrm>
            <a:off x="408465" y="2370925"/>
            <a:ext cx="5095058" cy="1787622"/>
          </a:xfrm>
        </p:spPr>
        <p:txBody>
          <a:bodyPr wrap="square" anchor="b">
            <a:noAutofit/>
          </a:bodyPr>
          <a:lstStyle/>
          <a:p>
            <a:pPr>
              <a:lnSpc>
                <a:spcPct val="90000"/>
              </a:lnSpc>
            </a:pPr>
            <a:r>
              <a:rPr kumimoji="0" lang="en-US" sz="3600" i="0" u="none" strike="noStrike" kern="1200" cap="none" spc="0" normalizeH="0" baseline="0" noProof="0">
                <a:ln>
                  <a:noFill/>
                </a:ln>
                <a:effectLst/>
                <a:uLnTx/>
                <a:uFillTx/>
                <a:latin typeface="+mn-lt"/>
                <a:cs typeface="Segoe Sans Display"/>
              </a:rPr>
              <a:t>Introducing Zero Trust Assessment and Workshops</a:t>
            </a:r>
            <a:endParaRPr lang="en-US">
              <a:latin typeface="+mn-lt"/>
              <a:cs typeface="Segoe Sans Display"/>
            </a:endParaRPr>
          </a:p>
        </p:txBody>
      </p:sp>
    </p:spTree>
    <p:extLst>
      <p:ext uri="{BB962C8B-B14F-4D97-AF65-F5344CB8AC3E}">
        <p14:creationId xmlns:p14="http://schemas.microsoft.com/office/powerpoint/2010/main" val="4276434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5FB3D-5C9E-B324-1175-E3B37963B1A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AC6724B-8C0A-A92F-0C77-AD0C0C7AD476}"/>
              </a:ext>
            </a:extLst>
          </p:cNvPr>
          <p:cNvSpPr>
            <a:spLocks noGrp="1" noRot="1" noMove="1" noResize="1" noEditPoints="1" noAdjustHandles="1" noChangeArrowheads="1" noChangeShapeType="1"/>
          </p:cNvSpPr>
          <p:nvPr/>
        </p:nvSpPr>
        <p:spPr bwMode="auto">
          <a:xfrm>
            <a:off x="4795285" y="0"/>
            <a:ext cx="7396716" cy="6858000"/>
          </a:xfrm>
          <a:prstGeom prst="rect">
            <a:avLst/>
          </a:prstGeom>
          <a:gradFill flip="none" rotWithShape="1">
            <a:gsLst>
              <a:gs pos="1149">
                <a:schemeClr val="tx1">
                  <a:alpha val="0"/>
                </a:schemeClr>
              </a:gs>
              <a:gs pos="11000">
                <a:schemeClr val="tx1"/>
              </a:gs>
              <a:gs pos="98000">
                <a:schemeClr val="tx1"/>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grpSp>
        <p:nvGrpSpPr>
          <p:cNvPr id="28" name="Group 27">
            <a:extLst>
              <a:ext uri="{FF2B5EF4-FFF2-40B4-BE49-F238E27FC236}">
                <a16:creationId xmlns:a16="http://schemas.microsoft.com/office/drawing/2014/main" id="{3B30EBB2-54BB-7A72-3CAF-6D3813200D20}"/>
              </a:ext>
            </a:extLst>
          </p:cNvPr>
          <p:cNvGrpSpPr/>
          <p:nvPr/>
        </p:nvGrpSpPr>
        <p:grpSpPr>
          <a:xfrm>
            <a:off x="5750493" y="972891"/>
            <a:ext cx="6307893" cy="12913210"/>
            <a:chOff x="5750493" y="972891"/>
            <a:chExt cx="6307893" cy="12913210"/>
          </a:xfrm>
        </p:grpSpPr>
        <p:pic>
          <p:nvPicPr>
            <p:cNvPr id="15" name="Picture 14" descr="The image appears to be a flowchart or diagram detailing the various components and steps involved in Microsoft's security and identity governance framework, including features like Access Control, Identity Governance, and Network Security Readiness.&#10;&#10;AI-generated content may be incorrect.">
              <a:extLst>
                <a:ext uri="{FF2B5EF4-FFF2-40B4-BE49-F238E27FC236}">
                  <a16:creationId xmlns:a16="http://schemas.microsoft.com/office/drawing/2014/main" id="{82F6D0FA-0CFA-9CD4-F11D-96E03FFAAE2C}"/>
                </a:ext>
              </a:extLst>
            </p:cNvPr>
            <p:cNvPicPr>
              <a:picLocks noChangeAspect="1"/>
            </p:cNvPicPr>
            <p:nvPr/>
          </p:nvPicPr>
          <p:blipFill>
            <a:blip r:embed="rId3"/>
            <a:stretch>
              <a:fillRect/>
            </a:stretch>
          </p:blipFill>
          <p:spPr>
            <a:xfrm>
              <a:off x="5751605" y="4373690"/>
              <a:ext cx="6298540" cy="2985519"/>
            </a:xfrm>
            <a:prstGeom prst="rect">
              <a:avLst/>
            </a:prstGeom>
          </p:spPr>
        </p:pic>
        <p:pic>
          <p:nvPicPr>
            <p:cNvPr id="12" name="Picture 11" descr="The image appears to be a diagram or flowchart detailing a process for managing and assessing cybersecurity risks within an organization, likely using Microsoft's security services and tools such as Defender for Cloud, Copilot, and Agent 365 Registry.&#10;&#10;AI-generated content may be incorrect.">
              <a:extLst>
                <a:ext uri="{FF2B5EF4-FFF2-40B4-BE49-F238E27FC236}">
                  <a16:creationId xmlns:a16="http://schemas.microsoft.com/office/drawing/2014/main" id="{81AA39B2-6A0C-BBAF-C4F6-7837994B5C9A}"/>
                </a:ext>
              </a:extLst>
            </p:cNvPr>
            <p:cNvPicPr>
              <a:picLocks noChangeAspect="1"/>
            </p:cNvPicPr>
            <p:nvPr/>
          </p:nvPicPr>
          <p:blipFill>
            <a:blip r:embed="rId4"/>
            <a:stretch>
              <a:fillRect/>
            </a:stretch>
          </p:blipFill>
          <p:spPr>
            <a:xfrm>
              <a:off x="5769626" y="972891"/>
              <a:ext cx="6269145" cy="3395909"/>
            </a:xfrm>
            <a:prstGeom prst="rect">
              <a:avLst/>
            </a:prstGeom>
          </p:spPr>
        </p:pic>
        <p:pic>
          <p:nvPicPr>
            <p:cNvPr id="19" name="Picture 18" descr="The image appears to be a diagram or flowchart outlining the steps and components involved in securing data access readiness, data protection, and data loss prevention (DLP) for Microsoft 365, including tasks such as verifying data oversharing, configuring retention policies, managing sensitivity, deploying DLP policies, and establishing alert triage processes.&#10;&#10;AI-generated content may be incorrect.">
              <a:extLst>
                <a:ext uri="{FF2B5EF4-FFF2-40B4-BE49-F238E27FC236}">
                  <a16:creationId xmlns:a16="http://schemas.microsoft.com/office/drawing/2014/main" id="{B0A66FCB-83B2-5B90-D7C1-9F9F9DB8EA06}"/>
                </a:ext>
              </a:extLst>
            </p:cNvPr>
            <p:cNvPicPr>
              <a:picLocks noChangeAspect="1"/>
            </p:cNvPicPr>
            <p:nvPr/>
          </p:nvPicPr>
          <p:blipFill>
            <a:blip r:embed="rId5"/>
            <a:stretch>
              <a:fillRect/>
            </a:stretch>
          </p:blipFill>
          <p:spPr>
            <a:xfrm>
              <a:off x="5750495" y="7352340"/>
              <a:ext cx="6288275" cy="2358833"/>
            </a:xfrm>
            <a:prstGeom prst="rect">
              <a:avLst/>
            </a:prstGeom>
          </p:spPr>
        </p:pic>
        <p:pic>
          <p:nvPicPr>
            <p:cNvPr id="22" name="Picture 21" descr="The image depicts a complex flowchart or diagram outlining the steps and requirements for the development readiness and deployment of an agent platform, including content safety, SDK integration, runtime certification, and compliance integration.&#10;&#10;AI-generated content may be incorrect.">
              <a:extLst>
                <a:ext uri="{FF2B5EF4-FFF2-40B4-BE49-F238E27FC236}">
                  <a16:creationId xmlns:a16="http://schemas.microsoft.com/office/drawing/2014/main" id="{89732840-B64F-4512-F1C2-FFA9F8221894}"/>
                </a:ext>
              </a:extLst>
            </p:cNvPr>
            <p:cNvPicPr>
              <a:picLocks noChangeAspect="1"/>
            </p:cNvPicPr>
            <p:nvPr/>
          </p:nvPicPr>
          <p:blipFill>
            <a:blip r:embed="rId6"/>
            <a:srcRect r="784"/>
            <a:stretch>
              <a:fillRect/>
            </a:stretch>
          </p:blipFill>
          <p:spPr>
            <a:xfrm>
              <a:off x="5750493" y="9710872"/>
              <a:ext cx="6288275" cy="2953609"/>
            </a:xfrm>
            <a:prstGeom prst="rect">
              <a:avLst/>
            </a:prstGeom>
          </p:spPr>
        </p:pic>
        <p:pic>
          <p:nvPicPr>
            <p:cNvPr id="26" name="Picture 25" descr="The image appears to be a visual representation of Microsoft Sentinel's threat detection and response features, showcasing various configurations, alerts, and integration options for Microsoft Defender for Cloud and XDR.&#10;&#10;AI-generated content may be incorrect.">
              <a:extLst>
                <a:ext uri="{FF2B5EF4-FFF2-40B4-BE49-F238E27FC236}">
                  <a16:creationId xmlns:a16="http://schemas.microsoft.com/office/drawing/2014/main" id="{200E2951-D79C-251B-51F7-1C550CE89502}"/>
                </a:ext>
              </a:extLst>
            </p:cNvPr>
            <p:cNvPicPr>
              <a:picLocks noChangeAspect="1"/>
            </p:cNvPicPr>
            <p:nvPr/>
          </p:nvPicPr>
          <p:blipFill>
            <a:blip r:embed="rId7"/>
            <a:stretch>
              <a:fillRect/>
            </a:stretch>
          </p:blipFill>
          <p:spPr>
            <a:xfrm>
              <a:off x="5759846" y="12664389"/>
              <a:ext cx="6298540" cy="1221712"/>
            </a:xfrm>
            <a:prstGeom prst="rect">
              <a:avLst/>
            </a:prstGeom>
          </p:spPr>
        </p:pic>
      </p:grpSp>
      <p:sp>
        <p:nvSpPr>
          <p:cNvPr id="2" name="Title 1">
            <a:extLst>
              <a:ext uri="{FF2B5EF4-FFF2-40B4-BE49-F238E27FC236}">
                <a16:creationId xmlns:a16="http://schemas.microsoft.com/office/drawing/2014/main" id="{AD35576F-4952-C3D1-AFAC-FC6E5BAF0323}"/>
              </a:ext>
            </a:extLst>
          </p:cNvPr>
          <p:cNvSpPr>
            <a:spLocks noGrp="1" noRot="1" noMove="1" noResize="1" noEditPoints="1" noAdjustHandles="1" noChangeArrowheads="1" noChangeShapeType="1"/>
          </p:cNvSpPr>
          <p:nvPr>
            <p:ph type="title" idx="4294967295"/>
          </p:nvPr>
        </p:nvSpPr>
        <p:spPr>
          <a:xfrm>
            <a:off x="590871" y="1303866"/>
            <a:ext cx="4209434" cy="1327740"/>
          </a:xfrm>
        </p:spPr>
        <p:txBody>
          <a:bodyPr>
            <a:noAutofit/>
          </a:bodyPr>
          <a:lstStyle/>
          <a:p>
            <a:pPr algn="ctr"/>
            <a:r>
              <a:rPr lang="en-US" sz="3500" spc="-70" dirty="0">
                <a:solidFill>
                  <a:schemeClr val="bg2"/>
                </a:solidFill>
              </a:rPr>
              <a:t>Microsoft Zero Trust</a:t>
            </a:r>
            <a:br>
              <a:rPr lang="en-US" sz="3500" spc="-70" dirty="0">
                <a:solidFill>
                  <a:schemeClr val="bg2"/>
                </a:solidFill>
              </a:rPr>
            </a:br>
            <a:r>
              <a:rPr lang="en-US" sz="3500" spc="-70" dirty="0">
                <a:solidFill>
                  <a:schemeClr val="bg2"/>
                </a:solidFill>
              </a:rPr>
              <a:t>Deployment Workshop</a:t>
            </a:r>
          </a:p>
        </p:txBody>
      </p:sp>
      <p:sp>
        <p:nvSpPr>
          <p:cNvPr id="13" name="Content Placeholder 2">
            <a:extLst>
              <a:ext uri="{FF2B5EF4-FFF2-40B4-BE49-F238E27FC236}">
                <a16:creationId xmlns:a16="http://schemas.microsoft.com/office/drawing/2014/main" id="{95363325-ADA8-99E8-9107-35A6E73DAF10}"/>
              </a:ext>
            </a:extLst>
          </p:cNvPr>
          <p:cNvSpPr txBox="1">
            <a:spLocks noGrp="1" noRot="1" noMove="1" noResize="1" noEditPoints="1" noAdjustHandles="1" noChangeArrowheads="1" noChangeShapeType="1"/>
          </p:cNvSpPr>
          <p:nvPr/>
        </p:nvSpPr>
        <p:spPr>
          <a:xfrm>
            <a:off x="1139709" y="5017614"/>
            <a:ext cx="2976262" cy="738664"/>
          </a:xfrm>
          <a:prstGeom prst="rect">
            <a:avLst/>
          </a:prstGeom>
        </p:spPr>
        <p:txBody>
          <a:bodyPr vert="horz" wrap="square" lIns="0" tIns="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91F2C"/>
                </a:solidFill>
                <a:effectLst/>
                <a:uLnTx/>
                <a:uFillTx/>
                <a:latin typeface="Segoe Sans Display Semilight"/>
                <a:ea typeface="+mn-ea"/>
                <a:cs typeface="+mn-cs"/>
              </a:rPr>
              <a:t>Public web resource for all, developed by Microsoft Security: </a:t>
            </a:r>
            <a:r>
              <a:rPr kumimoji="0" lang="en-US" sz="1600" b="1" i="0" u="none" strike="noStrike" kern="1200" cap="none" spc="0" normalizeH="0" baseline="0" noProof="0">
                <a:ln>
                  <a:noFill/>
                </a:ln>
                <a:solidFill>
                  <a:srgbClr val="091F2C"/>
                </a:solidFill>
                <a:effectLst/>
                <a:uLnTx/>
                <a:uFillTx/>
                <a:latin typeface="Segoe Sans Display Semilight"/>
                <a:ea typeface="+mn-ea"/>
                <a:cs typeface="+mn-cs"/>
                <a:hlinkClick r:id="rId8">
                  <a:extLst>
                    <a:ext uri="{A12FA001-AC4F-418D-AE19-62706E023703}">
                      <ahyp:hlinkClr xmlns:ahyp="http://schemas.microsoft.com/office/drawing/2018/hyperlinkcolor" val="tx"/>
                    </a:ext>
                  </a:extLst>
                </a:hlinkClick>
              </a:rPr>
              <a:t>https://zerotrust.microsoft.com</a:t>
            </a:r>
            <a:r>
              <a:rPr kumimoji="0" lang="en-US" sz="1600" b="1" i="0" u="none" strike="noStrike" kern="1200" cap="none" spc="0" normalizeH="0" baseline="0" noProof="0">
                <a:ln>
                  <a:noFill/>
                </a:ln>
                <a:solidFill>
                  <a:srgbClr val="091F2C"/>
                </a:solidFill>
                <a:effectLst/>
                <a:uLnTx/>
                <a:uFillTx/>
                <a:latin typeface="Segoe Sans Display Semilight"/>
                <a:ea typeface="+mn-ea"/>
                <a:cs typeface="+mn-cs"/>
              </a:rPr>
              <a:t> </a:t>
            </a:r>
          </a:p>
        </p:txBody>
      </p:sp>
      <p:sp>
        <p:nvSpPr>
          <p:cNvPr id="4" name="Content Placeholder 2">
            <a:extLst>
              <a:ext uri="{FF2B5EF4-FFF2-40B4-BE49-F238E27FC236}">
                <a16:creationId xmlns:a16="http://schemas.microsoft.com/office/drawing/2014/main" id="{5CE7815F-5E7F-E664-4CB1-EF1A5482A4D8}"/>
              </a:ext>
            </a:extLst>
          </p:cNvPr>
          <p:cNvSpPr txBox="1">
            <a:spLocks noGrp="1" noRot="1" noMove="1" noResize="1" noEditPoints="1" noAdjustHandles="1" noChangeArrowheads="1" noChangeShapeType="1"/>
          </p:cNvSpPr>
          <p:nvPr/>
        </p:nvSpPr>
        <p:spPr>
          <a:xfrm>
            <a:off x="1139709" y="3170479"/>
            <a:ext cx="2976262" cy="1477328"/>
          </a:xfrm>
          <a:prstGeom prst="rect">
            <a:avLst/>
          </a:prstGeom>
        </p:spPr>
        <p:txBody>
          <a:bodyPr vert="horz" wrap="square" lIns="0" tIns="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Sans Display Semilight"/>
                <a:ea typeface="+mn-ea"/>
                <a:cs typeface="+mn-cs"/>
              </a:rPr>
              <a:t>A practical, step-by-step workshop that translates Zero Trust principles into real security capabilities and outcomes including AI security and governance.</a:t>
            </a:r>
            <a:endParaRPr kumimoji="0" lang="en-US" sz="1600" b="1" i="0" u="none" strike="noStrike" kern="1200" cap="none" spc="0" normalizeH="0" baseline="0" noProof="0">
              <a:ln>
                <a:noFill/>
              </a:ln>
              <a:solidFill>
                <a:srgbClr val="000000"/>
              </a:solidFill>
              <a:effectLst/>
              <a:uLnTx/>
              <a:uFillTx/>
              <a:latin typeface="Segoe Sans Display Semilight"/>
              <a:ea typeface="+mn-ea"/>
              <a:cs typeface="+mn-cs"/>
            </a:endParaRPr>
          </a:p>
        </p:txBody>
      </p:sp>
      <p:pic>
        <p:nvPicPr>
          <p:cNvPr id="8" name="Picture 7">
            <a:extLst>
              <a:ext uri="{FF2B5EF4-FFF2-40B4-BE49-F238E27FC236}">
                <a16:creationId xmlns:a16="http://schemas.microsoft.com/office/drawing/2014/main" id="{A0DB1C1D-A216-E8DF-AFF3-35FAD1CD35A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9" cstate="email">
            <a:extLst>
              <a:ext uri="{28A0092B-C50C-407E-A947-70E740481C1C}">
                <a14:useLocalDpi xmlns:a14="http://schemas.microsoft.com/office/drawing/2010/main" val="0"/>
              </a:ext>
            </a:extLst>
          </a:blip>
          <a:srcRect/>
          <a:stretch>
            <a:fillRect/>
          </a:stretch>
        </p:blipFill>
        <p:spPr bwMode="ltGray">
          <a:xfrm rot="5400000">
            <a:off x="2581387" y="1736529"/>
            <a:ext cx="92907" cy="1909771"/>
          </a:xfrm>
          <a:prstGeom prst="rect">
            <a:avLst/>
          </a:prstGeom>
        </p:spPr>
      </p:pic>
      <p:grpSp>
        <p:nvGrpSpPr>
          <p:cNvPr id="17" name="Group 16">
            <a:extLst>
              <a:ext uri="{FF2B5EF4-FFF2-40B4-BE49-F238E27FC236}">
                <a16:creationId xmlns:a16="http://schemas.microsoft.com/office/drawing/2014/main" id="{23B78C5D-7B71-BCA1-94B8-01DAA739B7AF}"/>
              </a:ext>
            </a:extLst>
          </p:cNvPr>
          <p:cNvGrpSpPr/>
          <p:nvPr/>
        </p:nvGrpSpPr>
        <p:grpSpPr>
          <a:xfrm>
            <a:off x="5613403" y="-7422"/>
            <a:ext cx="6578597" cy="6865421"/>
            <a:chOff x="5613403" y="-7422"/>
            <a:chExt cx="6578597" cy="6865421"/>
          </a:xfrm>
        </p:grpSpPr>
        <p:sp>
          <p:nvSpPr>
            <p:cNvPr id="30" name="Rectangle 29">
              <a:extLst>
                <a:ext uri="{FF2B5EF4-FFF2-40B4-BE49-F238E27FC236}">
                  <a16:creationId xmlns:a16="http://schemas.microsoft.com/office/drawing/2014/main" id="{0637CADE-0F6A-659C-BAEB-4EC68E0FC5C3}"/>
                </a:ext>
              </a:extLst>
            </p:cNvPr>
            <p:cNvSpPr>
              <a:spLocks/>
            </p:cNvSpPr>
            <p:nvPr/>
          </p:nvSpPr>
          <p:spPr bwMode="auto">
            <a:xfrm>
              <a:off x="5613403" y="0"/>
              <a:ext cx="6563148" cy="14131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10" name="Rectangle 9">
              <a:extLst>
                <a:ext uri="{FF2B5EF4-FFF2-40B4-BE49-F238E27FC236}">
                  <a16:creationId xmlns:a16="http://schemas.microsoft.com/office/drawing/2014/main" id="{EAC67206-BB48-08C5-E17F-04E17C90CCF3}"/>
                </a:ext>
              </a:extLst>
            </p:cNvPr>
            <p:cNvSpPr/>
            <p:nvPr/>
          </p:nvSpPr>
          <p:spPr bwMode="auto">
            <a:xfrm>
              <a:off x="12044157" y="-7422"/>
              <a:ext cx="147843" cy="6855071"/>
            </a:xfrm>
            <a:prstGeom prst="rect">
              <a:avLst/>
            </a:prstGeom>
            <a:ln>
              <a:solidFill>
                <a:schemeClr val="tx1"/>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9" name="Rectangle 8">
              <a:extLst>
                <a:ext uri="{FF2B5EF4-FFF2-40B4-BE49-F238E27FC236}">
                  <a16:creationId xmlns:a16="http://schemas.microsoft.com/office/drawing/2014/main" id="{83C3C929-B349-99F4-A259-EFB767BEA2D1}"/>
                </a:ext>
              </a:extLst>
            </p:cNvPr>
            <p:cNvSpPr/>
            <p:nvPr/>
          </p:nvSpPr>
          <p:spPr bwMode="auto">
            <a:xfrm>
              <a:off x="5619341" y="2928"/>
              <a:ext cx="148518" cy="6855071"/>
            </a:xfrm>
            <a:prstGeom prst="rect">
              <a:avLst/>
            </a:prstGeom>
            <a:ln>
              <a:solidFill>
                <a:schemeClr val="tx1"/>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grpSp>
      <p:pic>
        <p:nvPicPr>
          <p:cNvPr id="18" name="Picture 17" descr="The image displays a Zero Trust Workshop dashboard with various sections for Identity, Devices, Data, Network, and Infrastructure, along with a legend for implementation effort, user impact, and licensing.&#10;&#10;AI-generated content may be incorrect.">
            <a:extLst>
              <a:ext uri="{FF2B5EF4-FFF2-40B4-BE49-F238E27FC236}">
                <a16:creationId xmlns:a16="http://schemas.microsoft.com/office/drawing/2014/main" id="{5278D8AE-C2A6-10A4-BE2E-1C4DD2B332AE}"/>
              </a:ext>
            </a:extLst>
          </p:cNvPr>
          <p:cNvPicPr>
            <a:picLocks noChangeAspect="1"/>
          </p:cNvPicPr>
          <p:nvPr/>
        </p:nvPicPr>
        <p:blipFill>
          <a:blip r:embed="rId10"/>
          <a:stretch>
            <a:fillRect/>
          </a:stretch>
        </p:blipFill>
        <p:spPr>
          <a:xfrm>
            <a:off x="5774176" y="115730"/>
            <a:ext cx="6260849" cy="858683"/>
          </a:xfrm>
          <a:prstGeom prst="rect">
            <a:avLst/>
          </a:prstGeom>
        </p:spPr>
      </p:pic>
    </p:spTree>
    <p:extLst>
      <p:ext uri="{BB962C8B-B14F-4D97-AF65-F5344CB8AC3E}">
        <p14:creationId xmlns:p14="http://schemas.microsoft.com/office/powerpoint/2010/main" val="1672783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afterEffect">
                                  <p:stCondLst>
                                    <p:cond delay="0"/>
                                  </p:stCondLst>
                                  <p:childTnLst>
                                    <p:animMotion origin="layout" path="M 1.45833E-6 -3.33333E-6 L -0.00169 -1.02014 " pathEditMode="relative" rAng="0" ptsTypes="AA">
                                      <p:cBhvr>
                                        <p:cTn id="6" dur="25000" fill="hold"/>
                                        <p:tgtEl>
                                          <p:spTgt spid="28"/>
                                        </p:tgtEl>
                                        <p:attrNameLst>
                                          <p:attrName>ppt_x</p:attrName>
                                          <p:attrName>ppt_y</p:attrName>
                                        </p:attrNameLst>
                                      </p:cBhvr>
                                      <p:rCtr x="-91" y="-510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48410-3464-8064-B9E1-580F100EC4CB}"/>
            </a:ext>
          </a:extLst>
        </p:cNvPr>
        <p:cNvGrpSpPr/>
        <p:nvPr/>
      </p:nvGrpSpPr>
      <p:grpSpPr>
        <a:xfrm>
          <a:off x="0" y="0"/>
          <a:ext cx="0" cy="0"/>
          <a:chOff x="0" y="0"/>
          <a:chExt cx="0" cy="0"/>
        </a:xfrm>
      </p:grpSpPr>
      <p:sp>
        <p:nvSpPr>
          <p:cNvPr id="82" name="Rectangle: Rounded Corners 81">
            <a:extLst>
              <a:ext uri="{FF2B5EF4-FFF2-40B4-BE49-F238E27FC236}">
                <a16:creationId xmlns:a16="http://schemas.microsoft.com/office/drawing/2014/main" id="{AABC9333-487E-21AE-B94F-908686B5653B}"/>
              </a:ext>
            </a:extLst>
          </p:cNvPr>
          <p:cNvSpPr/>
          <p:nvPr/>
        </p:nvSpPr>
        <p:spPr bwMode="auto">
          <a:xfrm>
            <a:off x="358774" y="264058"/>
            <a:ext cx="11462169" cy="6233580"/>
          </a:xfrm>
          <a:prstGeom prst="roundRect">
            <a:avLst>
              <a:gd name="adj" fmla="val 1745"/>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err="1">
              <a:solidFill>
                <a:srgbClr val="091F2C"/>
              </a:solidFill>
              <a:latin typeface="Arial" charset="0"/>
              <a:cs typeface="Segoe UI" pitchFamily="34" charset="0"/>
            </a:endParaRPr>
          </a:p>
        </p:txBody>
      </p:sp>
      <p:sp>
        <p:nvSpPr>
          <p:cNvPr id="24" name="Rectangle 23">
            <a:extLst>
              <a:ext uri="{FF2B5EF4-FFF2-40B4-BE49-F238E27FC236}">
                <a16:creationId xmlns:a16="http://schemas.microsoft.com/office/drawing/2014/main" id="{20208D07-0E92-10B2-7CC5-D7E8956F388A}"/>
              </a:ext>
            </a:extLst>
          </p:cNvPr>
          <p:cNvSpPr/>
          <p:nvPr/>
        </p:nvSpPr>
        <p:spPr bwMode="auto">
          <a:xfrm>
            <a:off x="499969" y="1011829"/>
            <a:ext cx="11104843" cy="74490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C5FD617A-AC09-660C-8886-D2BD2326DEF0}"/>
              </a:ext>
            </a:extLst>
          </p:cNvPr>
          <p:cNvSpPr/>
          <p:nvPr/>
        </p:nvSpPr>
        <p:spPr bwMode="auto">
          <a:xfrm>
            <a:off x="499969" y="1848789"/>
            <a:ext cx="11104843" cy="74490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3" name="Rectangle 42">
            <a:extLst>
              <a:ext uri="{FF2B5EF4-FFF2-40B4-BE49-F238E27FC236}">
                <a16:creationId xmlns:a16="http://schemas.microsoft.com/office/drawing/2014/main" id="{9AEBCE41-E86D-8CB8-FEBA-880DE73C6B3D}"/>
              </a:ext>
            </a:extLst>
          </p:cNvPr>
          <p:cNvSpPr/>
          <p:nvPr/>
        </p:nvSpPr>
        <p:spPr bwMode="auto">
          <a:xfrm>
            <a:off x="499969" y="2685749"/>
            <a:ext cx="11104843" cy="74490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4" name="Rectangle 43">
            <a:extLst>
              <a:ext uri="{FF2B5EF4-FFF2-40B4-BE49-F238E27FC236}">
                <a16:creationId xmlns:a16="http://schemas.microsoft.com/office/drawing/2014/main" id="{A10D0DF1-52A2-8062-54C7-53DF00A6E54D}"/>
              </a:ext>
            </a:extLst>
          </p:cNvPr>
          <p:cNvSpPr/>
          <p:nvPr/>
        </p:nvSpPr>
        <p:spPr bwMode="auto">
          <a:xfrm>
            <a:off x="499969" y="3522709"/>
            <a:ext cx="11104843" cy="74490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5" name="Rectangle 44">
            <a:extLst>
              <a:ext uri="{FF2B5EF4-FFF2-40B4-BE49-F238E27FC236}">
                <a16:creationId xmlns:a16="http://schemas.microsoft.com/office/drawing/2014/main" id="{67333BDD-9F41-9982-5780-3FC1372DA66C}"/>
              </a:ext>
            </a:extLst>
          </p:cNvPr>
          <p:cNvSpPr/>
          <p:nvPr/>
        </p:nvSpPr>
        <p:spPr bwMode="auto">
          <a:xfrm>
            <a:off x="499969" y="4366393"/>
            <a:ext cx="11104843" cy="74490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6" name="Rectangle 45">
            <a:extLst>
              <a:ext uri="{FF2B5EF4-FFF2-40B4-BE49-F238E27FC236}">
                <a16:creationId xmlns:a16="http://schemas.microsoft.com/office/drawing/2014/main" id="{FAF99396-BD76-97D9-D498-56ECC29D92EE}"/>
              </a:ext>
            </a:extLst>
          </p:cNvPr>
          <p:cNvSpPr/>
          <p:nvPr/>
        </p:nvSpPr>
        <p:spPr bwMode="auto">
          <a:xfrm>
            <a:off x="499969" y="5196631"/>
            <a:ext cx="11104843" cy="74490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17923800-1260-BCE4-978D-E190A1C7E5F9}"/>
              </a:ext>
            </a:extLst>
          </p:cNvPr>
          <p:cNvSpPr/>
          <p:nvPr/>
        </p:nvSpPr>
        <p:spPr bwMode="auto">
          <a:xfrm>
            <a:off x="562026" y="1074549"/>
            <a:ext cx="643330" cy="619462"/>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tx1"/>
                </a:solidFill>
                <a:ea typeface="Segoe UI" pitchFamily="34" charset="0"/>
                <a:cs typeface="Segoe UI" pitchFamily="34" charset="0"/>
              </a:rPr>
              <a:t>Register</a:t>
            </a:r>
            <a:br>
              <a:rPr lang="en-US" sz="800">
                <a:solidFill>
                  <a:schemeClr val="tx1"/>
                </a:solidFill>
                <a:ea typeface="Segoe UI" pitchFamily="34" charset="0"/>
                <a:cs typeface="Segoe UI" pitchFamily="34" charset="0"/>
              </a:rPr>
            </a:br>
            <a:r>
              <a:rPr lang="en-US" sz="800">
                <a:solidFill>
                  <a:schemeClr val="tx1"/>
                </a:solidFill>
                <a:ea typeface="Segoe UI" pitchFamily="34" charset="0"/>
                <a:cs typeface="Segoe UI" pitchFamily="34" charset="0"/>
              </a:rPr>
              <a:t>all Agents</a:t>
            </a:r>
          </a:p>
        </p:txBody>
      </p:sp>
      <p:sp>
        <p:nvSpPr>
          <p:cNvPr id="28" name="Rectangle 27">
            <a:extLst>
              <a:ext uri="{FF2B5EF4-FFF2-40B4-BE49-F238E27FC236}">
                <a16:creationId xmlns:a16="http://schemas.microsoft.com/office/drawing/2014/main" id="{44A59DB8-FDE5-91B2-3758-70C0B4251797}"/>
              </a:ext>
            </a:extLst>
          </p:cNvPr>
          <p:cNvSpPr/>
          <p:nvPr/>
        </p:nvSpPr>
        <p:spPr bwMode="auto">
          <a:xfrm>
            <a:off x="562025" y="1908897"/>
            <a:ext cx="643330" cy="619462"/>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tx1"/>
                </a:solidFill>
                <a:ea typeface="Segoe UI" pitchFamily="34" charset="0"/>
                <a:cs typeface="Segoe UI" pitchFamily="34" charset="0"/>
              </a:rPr>
              <a:t>Secure AI Auth &amp; Access</a:t>
            </a:r>
          </a:p>
        </p:txBody>
      </p:sp>
      <p:sp>
        <p:nvSpPr>
          <p:cNvPr id="32" name="Rectangle 31">
            <a:extLst>
              <a:ext uri="{FF2B5EF4-FFF2-40B4-BE49-F238E27FC236}">
                <a16:creationId xmlns:a16="http://schemas.microsoft.com/office/drawing/2014/main" id="{36387B79-F6A5-3FB7-3EBF-CE65B3C2DE4C}"/>
              </a:ext>
            </a:extLst>
          </p:cNvPr>
          <p:cNvSpPr/>
          <p:nvPr/>
        </p:nvSpPr>
        <p:spPr bwMode="auto">
          <a:xfrm>
            <a:off x="562024" y="2763415"/>
            <a:ext cx="643330" cy="619462"/>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tx1"/>
                </a:solidFill>
                <a:ea typeface="Segoe UI" pitchFamily="34" charset="0"/>
                <a:cs typeface="Segoe UI" pitchFamily="34" charset="0"/>
              </a:rPr>
              <a:t>Secure AI Network Access</a:t>
            </a:r>
          </a:p>
        </p:txBody>
      </p:sp>
      <p:sp>
        <p:nvSpPr>
          <p:cNvPr id="33" name="Rectangle 32">
            <a:extLst>
              <a:ext uri="{FF2B5EF4-FFF2-40B4-BE49-F238E27FC236}">
                <a16:creationId xmlns:a16="http://schemas.microsoft.com/office/drawing/2014/main" id="{4F7EB634-A13E-8D44-5173-9A94639DD175}"/>
              </a:ext>
            </a:extLst>
          </p:cNvPr>
          <p:cNvSpPr/>
          <p:nvPr/>
        </p:nvSpPr>
        <p:spPr bwMode="auto">
          <a:xfrm>
            <a:off x="562023" y="3591032"/>
            <a:ext cx="643330" cy="619462"/>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tx1"/>
                </a:solidFill>
                <a:ea typeface="Segoe UI" pitchFamily="34" charset="0"/>
                <a:cs typeface="Segoe UI" pitchFamily="34" charset="0"/>
              </a:rPr>
              <a:t>Secure AI Data Access</a:t>
            </a:r>
          </a:p>
        </p:txBody>
      </p:sp>
      <p:sp>
        <p:nvSpPr>
          <p:cNvPr id="34" name="Rectangle 33">
            <a:extLst>
              <a:ext uri="{FF2B5EF4-FFF2-40B4-BE49-F238E27FC236}">
                <a16:creationId xmlns:a16="http://schemas.microsoft.com/office/drawing/2014/main" id="{935EB2C2-2AAF-5BA0-98E7-90A5CE321641}"/>
              </a:ext>
            </a:extLst>
          </p:cNvPr>
          <p:cNvSpPr/>
          <p:nvPr/>
        </p:nvSpPr>
        <p:spPr bwMode="auto">
          <a:xfrm>
            <a:off x="562022" y="4438826"/>
            <a:ext cx="643330" cy="619462"/>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tx1"/>
                </a:solidFill>
                <a:ea typeface="Segoe UI" pitchFamily="34" charset="0"/>
                <a:cs typeface="Segoe UI" pitchFamily="34" charset="0"/>
              </a:rPr>
              <a:t>Build Security Agents</a:t>
            </a:r>
          </a:p>
        </p:txBody>
      </p:sp>
      <p:sp>
        <p:nvSpPr>
          <p:cNvPr id="37" name="Rectangle 36">
            <a:extLst>
              <a:ext uri="{FF2B5EF4-FFF2-40B4-BE49-F238E27FC236}">
                <a16:creationId xmlns:a16="http://schemas.microsoft.com/office/drawing/2014/main" id="{57D417A0-6AA5-CB82-1C79-6FA42076452E}"/>
              </a:ext>
            </a:extLst>
          </p:cNvPr>
          <p:cNvSpPr/>
          <p:nvPr/>
        </p:nvSpPr>
        <p:spPr bwMode="auto">
          <a:xfrm>
            <a:off x="562021" y="5259351"/>
            <a:ext cx="643330" cy="619462"/>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tx1"/>
                </a:solidFill>
                <a:ea typeface="Segoe UI" pitchFamily="34" charset="0"/>
                <a:cs typeface="Segoe UI" pitchFamily="34" charset="0"/>
              </a:rPr>
              <a:t>Security Detection &amp; Response for AI</a:t>
            </a:r>
          </a:p>
        </p:txBody>
      </p:sp>
      <p:grpSp>
        <p:nvGrpSpPr>
          <p:cNvPr id="120" name="Group 119">
            <a:extLst>
              <a:ext uri="{FF2B5EF4-FFF2-40B4-BE49-F238E27FC236}">
                <a16:creationId xmlns:a16="http://schemas.microsoft.com/office/drawing/2014/main" id="{905A0137-351B-C753-F495-9AD94048BB8D}"/>
              </a:ext>
            </a:extLst>
          </p:cNvPr>
          <p:cNvGrpSpPr/>
          <p:nvPr/>
        </p:nvGrpSpPr>
        <p:grpSpPr>
          <a:xfrm>
            <a:off x="1268944" y="1066987"/>
            <a:ext cx="10261112" cy="627024"/>
            <a:chOff x="1268944" y="1370930"/>
            <a:chExt cx="10261112" cy="627024"/>
          </a:xfrm>
        </p:grpSpPr>
        <p:sp>
          <p:nvSpPr>
            <p:cNvPr id="47" name="Rectangle 46">
              <a:extLst>
                <a:ext uri="{FF2B5EF4-FFF2-40B4-BE49-F238E27FC236}">
                  <a16:creationId xmlns:a16="http://schemas.microsoft.com/office/drawing/2014/main" id="{8165F4A5-0892-6CF2-061B-6C03FC4D17FB}"/>
                </a:ext>
              </a:extLst>
            </p:cNvPr>
            <p:cNvSpPr/>
            <p:nvPr/>
          </p:nvSpPr>
          <p:spPr bwMode="auto">
            <a:xfrm>
              <a:off x="1268944" y="1378492"/>
              <a:ext cx="3374096"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50" name="Rectangle 49">
              <a:extLst>
                <a:ext uri="{FF2B5EF4-FFF2-40B4-BE49-F238E27FC236}">
                  <a16:creationId xmlns:a16="http://schemas.microsoft.com/office/drawing/2014/main" id="{9B28E7CC-9932-8164-BE7B-21086283330E}"/>
                </a:ext>
              </a:extLst>
            </p:cNvPr>
            <p:cNvSpPr/>
            <p:nvPr/>
          </p:nvSpPr>
          <p:spPr bwMode="auto">
            <a:xfrm>
              <a:off x="4712451" y="1378492"/>
              <a:ext cx="3374096"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51" name="Rectangle 50">
              <a:extLst>
                <a:ext uri="{FF2B5EF4-FFF2-40B4-BE49-F238E27FC236}">
                  <a16:creationId xmlns:a16="http://schemas.microsoft.com/office/drawing/2014/main" id="{6BDE5175-A1DE-A2C0-5CB0-C9472244E507}"/>
                </a:ext>
              </a:extLst>
            </p:cNvPr>
            <p:cNvSpPr/>
            <p:nvPr/>
          </p:nvSpPr>
          <p:spPr bwMode="auto">
            <a:xfrm>
              <a:off x="8155960" y="1370930"/>
              <a:ext cx="3374096"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grpSp>
      <p:grpSp>
        <p:nvGrpSpPr>
          <p:cNvPr id="121" name="Group 120">
            <a:extLst>
              <a:ext uri="{FF2B5EF4-FFF2-40B4-BE49-F238E27FC236}">
                <a16:creationId xmlns:a16="http://schemas.microsoft.com/office/drawing/2014/main" id="{8AC50A97-882B-36EE-3142-FCF96699A6A5}"/>
              </a:ext>
            </a:extLst>
          </p:cNvPr>
          <p:cNvGrpSpPr/>
          <p:nvPr/>
        </p:nvGrpSpPr>
        <p:grpSpPr>
          <a:xfrm>
            <a:off x="1268944" y="1915816"/>
            <a:ext cx="10261111" cy="619462"/>
            <a:chOff x="1268944" y="2219759"/>
            <a:chExt cx="10261111" cy="619462"/>
          </a:xfrm>
        </p:grpSpPr>
        <p:sp>
          <p:nvSpPr>
            <p:cNvPr id="54" name="Rectangle 53">
              <a:extLst>
                <a:ext uri="{FF2B5EF4-FFF2-40B4-BE49-F238E27FC236}">
                  <a16:creationId xmlns:a16="http://schemas.microsoft.com/office/drawing/2014/main" id="{2D3E9570-30D1-6947-11E0-C8E2C12F3250}"/>
                </a:ext>
              </a:extLst>
            </p:cNvPr>
            <p:cNvSpPr/>
            <p:nvPr/>
          </p:nvSpPr>
          <p:spPr bwMode="auto">
            <a:xfrm>
              <a:off x="1268944" y="2219759"/>
              <a:ext cx="5078320"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5596156-41AD-9F7E-E888-A0E6F7039522}"/>
                </a:ext>
              </a:extLst>
            </p:cNvPr>
            <p:cNvSpPr/>
            <p:nvPr/>
          </p:nvSpPr>
          <p:spPr bwMode="auto">
            <a:xfrm>
              <a:off x="6451735" y="2219759"/>
              <a:ext cx="5078320"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grpSp>
      <p:grpSp>
        <p:nvGrpSpPr>
          <p:cNvPr id="122" name="Group 121">
            <a:extLst>
              <a:ext uri="{FF2B5EF4-FFF2-40B4-BE49-F238E27FC236}">
                <a16:creationId xmlns:a16="http://schemas.microsoft.com/office/drawing/2014/main" id="{8E4242CC-047A-7E46-DE53-55D39027FC0A}"/>
              </a:ext>
            </a:extLst>
          </p:cNvPr>
          <p:cNvGrpSpPr/>
          <p:nvPr/>
        </p:nvGrpSpPr>
        <p:grpSpPr>
          <a:xfrm>
            <a:off x="1292809" y="2750834"/>
            <a:ext cx="10237246" cy="619462"/>
            <a:chOff x="1292809" y="3054777"/>
            <a:chExt cx="10237246" cy="619462"/>
          </a:xfrm>
        </p:grpSpPr>
        <p:sp>
          <p:nvSpPr>
            <p:cNvPr id="58" name="Rectangle 57">
              <a:extLst>
                <a:ext uri="{FF2B5EF4-FFF2-40B4-BE49-F238E27FC236}">
                  <a16:creationId xmlns:a16="http://schemas.microsoft.com/office/drawing/2014/main" id="{F46CCDCE-12C0-5182-E8E0-51DCE0B4A9AC}"/>
                </a:ext>
              </a:extLst>
            </p:cNvPr>
            <p:cNvSpPr/>
            <p:nvPr/>
          </p:nvSpPr>
          <p:spPr bwMode="auto">
            <a:xfrm>
              <a:off x="1292809" y="3054777"/>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59" name="Rectangle 58">
              <a:extLst>
                <a:ext uri="{FF2B5EF4-FFF2-40B4-BE49-F238E27FC236}">
                  <a16:creationId xmlns:a16="http://schemas.microsoft.com/office/drawing/2014/main" id="{281309F6-C1AA-879B-18C8-5666BAACE2AA}"/>
                </a:ext>
              </a:extLst>
            </p:cNvPr>
            <p:cNvSpPr/>
            <p:nvPr/>
          </p:nvSpPr>
          <p:spPr bwMode="auto">
            <a:xfrm>
              <a:off x="3356385" y="3054777"/>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60" name="Rectangle 59">
              <a:extLst>
                <a:ext uri="{FF2B5EF4-FFF2-40B4-BE49-F238E27FC236}">
                  <a16:creationId xmlns:a16="http://schemas.microsoft.com/office/drawing/2014/main" id="{F7C341BD-40CC-8412-DAA9-8F1648D21995}"/>
                </a:ext>
              </a:extLst>
            </p:cNvPr>
            <p:cNvSpPr/>
            <p:nvPr/>
          </p:nvSpPr>
          <p:spPr bwMode="auto">
            <a:xfrm>
              <a:off x="5419960" y="3054777"/>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61" name="Rectangle 60">
              <a:extLst>
                <a:ext uri="{FF2B5EF4-FFF2-40B4-BE49-F238E27FC236}">
                  <a16:creationId xmlns:a16="http://schemas.microsoft.com/office/drawing/2014/main" id="{F0AD3636-DFDC-261E-222D-1926490EE0A3}"/>
                </a:ext>
              </a:extLst>
            </p:cNvPr>
            <p:cNvSpPr/>
            <p:nvPr/>
          </p:nvSpPr>
          <p:spPr bwMode="auto">
            <a:xfrm>
              <a:off x="7483537" y="3054777"/>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62" name="Rectangle 61">
              <a:extLst>
                <a:ext uri="{FF2B5EF4-FFF2-40B4-BE49-F238E27FC236}">
                  <a16:creationId xmlns:a16="http://schemas.microsoft.com/office/drawing/2014/main" id="{9D55B4B0-D258-D030-EF60-AB7EA9006CA5}"/>
                </a:ext>
              </a:extLst>
            </p:cNvPr>
            <p:cNvSpPr/>
            <p:nvPr/>
          </p:nvSpPr>
          <p:spPr bwMode="auto">
            <a:xfrm>
              <a:off x="9547112" y="3054777"/>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grpSp>
      <p:grpSp>
        <p:nvGrpSpPr>
          <p:cNvPr id="123" name="Group 122">
            <a:extLst>
              <a:ext uri="{FF2B5EF4-FFF2-40B4-BE49-F238E27FC236}">
                <a16:creationId xmlns:a16="http://schemas.microsoft.com/office/drawing/2014/main" id="{A9859EF9-53CE-D4D9-05B3-0F3D4AAD5DB4}"/>
              </a:ext>
            </a:extLst>
          </p:cNvPr>
          <p:cNvGrpSpPr/>
          <p:nvPr/>
        </p:nvGrpSpPr>
        <p:grpSpPr>
          <a:xfrm>
            <a:off x="1268938" y="3591032"/>
            <a:ext cx="10261118" cy="619462"/>
            <a:chOff x="1268938" y="3894975"/>
            <a:chExt cx="10261118" cy="619462"/>
          </a:xfrm>
        </p:grpSpPr>
        <p:sp>
          <p:nvSpPr>
            <p:cNvPr id="65" name="Rectangle 64">
              <a:extLst>
                <a:ext uri="{FF2B5EF4-FFF2-40B4-BE49-F238E27FC236}">
                  <a16:creationId xmlns:a16="http://schemas.microsoft.com/office/drawing/2014/main" id="{96492533-F247-B2AE-E553-1A6E71DA18BC}"/>
                </a:ext>
              </a:extLst>
            </p:cNvPr>
            <p:cNvSpPr/>
            <p:nvPr/>
          </p:nvSpPr>
          <p:spPr bwMode="auto">
            <a:xfrm>
              <a:off x="1268938" y="3894975"/>
              <a:ext cx="2590585"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F76CC5E8-9910-F13D-DB14-A26ADB521E9D}"/>
                </a:ext>
              </a:extLst>
            </p:cNvPr>
            <p:cNvSpPr/>
            <p:nvPr/>
          </p:nvSpPr>
          <p:spPr bwMode="auto">
            <a:xfrm>
              <a:off x="3927007" y="3894975"/>
              <a:ext cx="2489360"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CA08069-C949-6287-9453-8B32174D5B29}"/>
                </a:ext>
              </a:extLst>
            </p:cNvPr>
            <p:cNvSpPr/>
            <p:nvPr/>
          </p:nvSpPr>
          <p:spPr bwMode="auto">
            <a:xfrm>
              <a:off x="6483851" y="3894975"/>
              <a:ext cx="2489360"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68" name="Rectangle 67">
              <a:extLst>
                <a:ext uri="{FF2B5EF4-FFF2-40B4-BE49-F238E27FC236}">
                  <a16:creationId xmlns:a16="http://schemas.microsoft.com/office/drawing/2014/main" id="{D9056AD9-D441-78DF-0631-1E4A6F9FBEC2}"/>
                </a:ext>
              </a:extLst>
            </p:cNvPr>
            <p:cNvSpPr/>
            <p:nvPr/>
          </p:nvSpPr>
          <p:spPr bwMode="auto">
            <a:xfrm>
              <a:off x="9040696" y="3894975"/>
              <a:ext cx="2489360"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grpSp>
      <p:grpSp>
        <p:nvGrpSpPr>
          <p:cNvPr id="124" name="Group 123">
            <a:extLst>
              <a:ext uri="{FF2B5EF4-FFF2-40B4-BE49-F238E27FC236}">
                <a16:creationId xmlns:a16="http://schemas.microsoft.com/office/drawing/2014/main" id="{3519D402-C253-1808-E183-C86F4352A475}"/>
              </a:ext>
            </a:extLst>
          </p:cNvPr>
          <p:cNvGrpSpPr/>
          <p:nvPr/>
        </p:nvGrpSpPr>
        <p:grpSpPr>
          <a:xfrm>
            <a:off x="1292809" y="4438826"/>
            <a:ext cx="10237246" cy="619462"/>
            <a:chOff x="1292809" y="4742769"/>
            <a:chExt cx="10237246" cy="619462"/>
          </a:xfrm>
        </p:grpSpPr>
        <p:sp>
          <p:nvSpPr>
            <p:cNvPr id="73" name="Rectangle 72">
              <a:extLst>
                <a:ext uri="{FF2B5EF4-FFF2-40B4-BE49-F238E27FC236}">
                  <a16:creationId xmlns:a16="http://schemas.microsoft.com/office/drawing/2014/main" id="{084027BB-FB2B-EBA6-0918-41105C3B6F17}"/>
                </a:ext>
              </a:extLst>
            </p:cNvPr>
            <p:cNvSpPr/>
            <p:nvPr/>
          </p:nvSpPr>
          <p:spPr bwMode="auto">
            <a:xfrm>
              <a:off x="1292809" y="4742769"/>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74" name="Rectangle 73">
              <a:extLst>
                <a:ext uri="{FF2B5EF4-FFF2-40B4-BE49-F238E27FC236}">
                  <a16:creationId xmlns:a16="http://schemas.microsoft.com/office/drawing/2014/main" id="{1C7215FA-27F7-46CE-54BB-3723B00FF9A5}"/>
                </a:ext>
              </a:extLst>
            </p:cNvPr>
            <p:cNvSpPr/>
            <p:nvPr/>
          </p:nvSpPr>
          <p:spPr bwMode="auto">
            <a:xfrm>
              <a:off x="3356385" y="4742769"/>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75" name="Rectangle 74">
              <a:extLst>
                <a:ext uri="{FF2B5EF4-FFF2-40B4-BE49-F238E27FC236}">
                  <a16:creationId xmlns:a16="http://schemas.microsoft.com/office/drawing/2014/main" id="{8B0FD83F-A85B-76F5-97BF-F499CC4C196E}"/>
                </a:ext>
              </a:extLst>
            </p:cNvPr>
            <p:cNvSpPr/>
            <p:nvPr/>
          </p:nvSpPr>
          <p:spPr bwMode="auto">
            <a:xfrm>
              <a:off x="5419960" y="4742769"/>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76" name="Rectangle 75">
              <a:extLst>
                <a:ext uri="{FF2B5EF4-FFF2-40B4-BE49-F238E27FC236}">
                  <a16:creationId xmlns:a16="http://schemas.microsoft.com/office/drawing/2014/main" id="{44CE9C59-0048-93B5-0E60-DEDA06DE670F}"/>
                </a:ext>
              </a:extLst>
            </p:cNvPr>
            <p:cNvSpPr/>
            <p:nvPr/>
          </p:nvSpPr>
          <p:spPr bwMode="auto">
            <a:xfrm>
              <a:off x="7483537" y="4742769"/>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77" name="Rectangle 76">
              <a:extLst>
                <a:ext uri="{FF2B5EF4-FFF2-40B4-BE49-F238E27FC236}">
                  <a16:creationId xmlns:a16="http://schemas.microsoft.com/office/drawing/2014/main" id="{397A4E93-5917-7B2D-C487-36C2FB835249}"/>
                </a:ext>
              </a:extLst>
            </p:cNvPr>
            <p:cNvSpPr/>
            <p:nvPr/>
          </p:nvSpPr>
          <p:spPr bwMode="auto">
            <a:xfrm>
              <a:off x="9547112" y="4742769"/>
              <a:ext cx="1982943"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grpSp>
      <p:grpSp>
        <p:nvGrpSpPr>
          <p:cNvPr id="125" name="Group 124">
            <a:extLst>
              <a:ext uri="{FF2B5EF4-FFF2-40B4-BE49-F238E27FC236}">
                <a16:creationId xmlns:a16="http://schemas.microsoft.com/office/drawing/2014/main" id="{7EF2F48F-16DB-46DE-9E04-02963F3FA3F3}"/>
              </a:ext>
            </a:extLst>
          </p:cNvPr>
          <p:cNvGrpSpPr/>
          <p:nvPr/>
        </p:nvGrpSpPr>
        <p:grpSpPr>
          <a:xfrm>
            <a:off x="1280876" y="5259351"/>
            <a:ext cx="10261111" cy="627025"/>
            <a:chOff x="1280876" y="5563294"/>
            <a:chExt cx="10261111" cy="627025"/>
          </a:xfrm>
        </p:grpSpPr>
        <p:sp>
          <p:nvSpPr>
            <p:cNvPr id="79" name="Rectangle 78">
              <a:extLst>
                <a:ext uri="{FF2B5EF4-FFF2-40B4-BE49-F238E27FC236}">
                  <a16:creationId xmlns:a16="http://schemas.microsoft.com/office/drawing/2014/main" id="{E5EAFE90-F8FF-8675-F8E6-FD2FECE50232}"/>
                </a:ext>
              </a:extLst>
            </p:cNvPr>
            <p:cNvSpPr/>
            <p:nvPr/>
          </p:nvSpPr>
          <p:spPr bwMode="auto">
            <a:xfrm>
              <a:off x="1280876" y="5570857"/>
              <a:ext cx="3374096"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80" name="Rectangle 79">
              <a:extLst>
                <a:ext uri="{FF2B5EF4-FFF2-40B4-BE49-F238E27FC236}">
                  <a16:creationId xmlns:a16="http://schemas.microsoft.com/office/drawing/2014/main" id="{E4168063-32FE-AB94-7D20-AE8E2E790CC5}"/>
                </a:ext>
              </a:extLst>
            </p:cNvPr>
            <p:cNvSpPr/>
            <p:nvPr/>
          </p:nvSpPr>
          <p:spPr bwMode="auto">
            <a:xfrm>
              <a:off x="4724383" y="5570857"/>
              <a:ext cx="3374096" cy="619462"/>
            </a:xfrm>
            <a:prstGeom prst="rect">
              <a:avLst/>
            </a:prstGeom>
            <a:solidFill>
              <a:schemeClr val="accent4"/>
            </a:solidFill>
            <a:ln>
              <a:solidFill>
                <a:schemeClr val="bg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sp>
          <p:nvSpPr>
            <p:cNvPr id="81" name="Rectangle 80">
              <a:extLst>
                <a:ext uri="{FF2B5EF4-FFF2-40B4-BE49-F238E27FC236}">
                  <a16:creationId xmlns:a16="http://schemas.microsoft.com/office/drawing/2014/main" id="{CE3BBD30-C323-86E6-DDD1-3B999A0E6FED}"/>
                </a:ext>
              </a:extLst>
            </p:cNvPr>
            <p:cNvSpPr/>
            <p:nvPr/>
          </p:nvSpPr>
          <p:spPr bwMode="auto">
            <a:xfrm>
              <a:off x="8167891" y="5563294"/>
              <a:ext cx="3374096" cy="619462"/>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chemeClr val="bg2"/>
                </a:solidFill>
                <a:ea typeface="Segoe UI" pitchFamily="34" charset="0"/>
                <a:cs typeface="Segoe UI" pitchFamily="34" charset="0"/>
              </a:endParaRPr>
            </a:p>
          </p:txBody>
        </p:sp>
      </p:grpSp>
      <p:sp>
        <p:nvSpPr>
          <p:cNvPr id="115" name="Rectangle 114">
            <a:extLst>
              <a:ext uri="{FF2B5EF4-FFF2-40B4-BE49-F238E27FC236}">
                <a16:creationId xmlns:a16="http://schemas.microsoft.com/office/drawing/2014/main" id="{C7248968-397F-07F2-0A7E-1B9AC70F4D57}"/>
              </a:ext>
            </a:extLst>
          </p:cNvPr>
          <p:cNvSpPr/>
          <p:nvPr/>
        </p:nvSpPr>
        <p:spPr bwMode="auto">
          <a:xfrm>
            <a:off x="499969" y="441073"/>
            <a:ext cx="11104843" cy="486205"/>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53" name="Group 352">
            <a:extLst>
              <a:ext uri="{FF2B5EF4-FFF2-40B4-BE49-F238E27FC236}">
                <a16:creationId xmlns:a16="http://schemas.microsoft.com/office/drawing/2014/main" id="{C2115ADB-3F0D-6397-8626-81C673F19471}"/>
              </a:ext>
            </a:extLst>
          </p:cNvPr>
          <p:cNvGrpSpPr/>
          <p:nvPr/>
        </p:nvGrpSpPr>
        <p:grpSpPr>
          <a:xfrm>
            <a:off x="677953" y="545105"/>
            <a:ext cx="2477598" cy="278144"/>
            <a:chOff x="677953" y="545105"/>
            <a:chExt cx="2477598" cy="278144"/>
          </a:xfrm>
        </p:grpSpPr>
        <p:sp>
          <p:nvSpPr>
            <p:cNvPr id="114" name="TextBox 113">
              <a:extLst>
                <a:ext uri="{FF2B5EF4-FFF2-40B4-BE49-F238E27FC236}">
                  <a16:creationId xmlns:a16="http://schemas.microsoft.com/office/drawing/2014/main" id="{4CFFB1AE-57C1-6D9F-2A59-291C7FC9A0D0}"/>
                </a:ext>
              </a:extLst>
            </p:cNvPr>
            <p:cNvSpPr txBox="1"/>
            <p:nvPr/>
          </p:nvSpPr>
          <p:spPr>
            <a:xfrm>
              <a:off x="1130958" y="553831"/>
              <a:ext cx="2024593" cy="246221"/>
            </a:xfrm>
            <a:prstGeom prst="rect">
              <a:avLst/>
            </a:prstGeom>
            <a:noFill/>
          </p:spPr>
          <p:txBody>
            <a:bodyPr wrap="none" lIns="0" tIns="0" rIns="0" bIns="0" rtlCol="0">
              <a:spAutoFit/>
            </a:bodyPr>
            <a:lstStyle/>
            <a:p>
              <a:pPr algn="l"/>
              <a:r>
                <a:rPr lang="en-US" sz="1600" b="1"/>
                <a:t>Zero Trust Workshop</a:t>
              </a:r>
            </a:p>
          </p:txBody>
        </p:sp>
        <p:grpSp>
          <p:nvGrpSpPr>
            <p:cNvPr id="113" name="Group 112">
              <a:extLst>
                <a:ext uri="{FF2B5EF4-FFF2-40B4-BE49-F238E27FC236}">
                  <a16:creationId xmlns:a16="http://schemas.microsoft.com/office/drawing/2014/main" id="{C89E4639-E3AF-AB54-7A1C-1828C6682DDA}"/>
                </a:ext>
              </a:extLst>
            </p:cNvPr>
            <p:cNvGrpSpPr/>
            <p:nvPr/>
          </p:nvGrpSpPr>
          <p:grpSpPr>
            <a:xfrm>
              <a:off x="677953" y="545105"/>
              <a:ext cx="272017" cy="278144"/>
              <a:chOff x="1395663" y="-581701"/>
              <a:chExt cx="361994" cy="370148"/>
            </a:xfrm>
          </p:grpSpPr>
          <p:sp>
            <p:nvSpPr>
              <p:cNvPr id="109" name="Rectangle 108">
                <a:extLst>
                  <a:ext uri="{FF2B5EF4-FFF2-40B4-BE49-F238E27FC236}">
                    <a16:creationId xmlns:a16="http://schemas.microsoft.com/office/drawing/2014/main" id="{9FE5562B-EFF3-85EB-D8D4-27B6C9651225}"/>
                  </a:ext>
                </a:extLst>
              </p:cNvPr>
              <p:cNvSpPr/>
              <p:nvPr/>
            </p:nvSpPr>
            <p:spPr bwMode="auto">
              <a:xfrm>
                <a:off x="1395663" y="-581701"/>
                <a:ext cx="167396" cy="167396"/>
              </a:xfrm>
              <a:prstGeom prst="rect">
                <a:avLst/>
              </a:prstGeom>
              <a:solidFill>
                <a:srgbClr val="F2502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10" name="Rectangle 109">
                <a:extLst>
                  <a:ext uri="{FF2B5EF4-FFF2-40B4-BE49-F238E27FC236}">
                    <a16:creationId xmlns:a16="http://schemas.microsoft.com/office/drawing/2014/main" id="{AEC5151E-6E66-B069-3A16-2A25239AE588}"/>
                  </a:ext>
                </a:extLst>
              </p:cNvPr>
              <p:cNvSpPr/>
              <p:nvPr/>
            </p:nvSpPr>
            <p:spPr bwMode="auto">
              <a:xfrm>
                <a:off x="1590261" y="-581701"/>
                <a:ext cx="167396" cy="167396"/>
              </a:xfrm>
              <a:prstGeom prst="rect">
                <a:avLst/>
              </a:prstGeom>
              <a:solidFill>
                <a:srgbClr val="7FBA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11" name="Rectangle 110">
                <a:extLst>
                  <a:ext uri="{FF2B5EF4-FFF2-40B4-BE49-F238E27FC236}">
                    <a16:creationId xmlns:a16="http://schemas.microsoft.com/office/drawing/2014/main" id="{62DE776C-EF3D-9384-3B4A-3FC09957CB2D}"/>
                  </a:ext>
                </a:extLst>
              </p:cNvPr>
              <p:cNvSpPr/>
              <p:nvPr/>
            </p:nvSpPr>
            <p:spPr bwMode="auto">
              <a:xfrm>
                <a:off x="1395663" y="-378949"/>
                <a:ext cx="167396" cy="167396"/>
              </a:xfrm>
              <a:prstGeom prst="rect">
                <a:avLst/>
              </a:prstGeom>
              <a:solidFill>
                <a:srgbClr val="00A4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12" name="Rectangle 111">
                <a:extLst>
                  <a:ext uri="{FF2B5EF4-FFF2-40B4-BE49-F238E27FC236}">
                    <a16:creationId xmlns:a16="http://schemas.microsoft.com/office/drawing/2014/main" id="{881A3FD7-36D3-B29F-41B7-0F5492C59311}"/>
                  </a:ext>
                </a:extLst>
              </p:cNvPr>
              <p:cNvSpPr/>
              <p:nvPr/>
            </p:nvSpPr>
            <p:spPr bwMode="auto">
              <a:xfrm>
                <a:off x="1590261" y="-378949"/>
                <a:ext cx="167396" cy="167396"/>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grpSp>
        <p:nvGrpSpPr>
          <p:cNvPr id="325" name="Group 324">
            <a:extLst>
              <a:ext uri="{FF2B5EF4-FFF2-40B4-BE49-F238E27FC236}">
                <a16:creationId xmlns:a16="http://schemas.microsoft.com/office/drawing/2014/main" id="{EB6A48BB-AB0E-EF9C-74BD-710658488545}"/>
              </a:ext>
            </a:extLst>
          </p:cNvPr>
          <p:cNvGrpSpPr/>
          <p:nvPr/>
        </p:nvGrpSpPr>
        <p:grpSpPr>
          <a:xfrm>
            <a:off x="1651845" y="1201157"/>
            <a:ext cx="8586295" cy="370428"/>
            <a:chOff x="1651845" y="1489553"/>
            <a:chExt cx="8586295" cy="370428"/>
          </a:xfrm>
        </p:grpSpPr>
        <p:grpSp>
          <p:nvGrpSpPr>
            <p:cNvPr id="138" name="Group 137">
              <a:extLst>
                <a:ext uri="{FF2B5EF4-FFF2-40B4-BE49-F238E27FC236}">
                  <a16:creationId xmlns:a16="http://schemas.microsoft.com/office/drawing/2014/main" id="{DB57F4F2-11D5-983A-F49A-64290D7D57D3}"/>
                </a:ext>
              </a:extLst>
            </p:cNvPr>
            <p:cNvGrpSpPr/>
            <p:nvPr/>
          </p:nvGrpSpPr>
          <p:grpSpPr>
            <a:xfrm>
              <a:off x="1651845" y="1489553"/>
              <a:ext cx="2508541" cy="370428"/>
              <a:chOff x="1350982" y="1486637"/>
              <a:chExt cx="2508541" cy="370428"/>
            </a:xfrm>
          </p:grpSpPr>
          <p:sp>
            <p:nvSpPr>
              <p:cNvPr id="126" name="Rectangle 125">
                <a:extLst>
                  <a:ext uri="{FF2B5EF4-FFF2-40B4-BE49-F238E27FC236}">
                    <a16:creationId xmlns:a16="http://schemas.microsoft.com/office/drawing/2014/main" id="{DC7FA255-CA11-1030-33BB-EDBDBAF45D41}"/>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7" name="Rectangle 126">
                <a:extLst>
                  <a:ext uri="{FF2B5EF4-FFF2-40B4-BE49-F238E27FC236}">
                    <a16:creationId xmlns:a16="http://schemas.microsoft.com/office/drawing/2014/main" id="{D73A7122-8591-B146-AF64-1351D137C264}"/>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8" name="Rectangle 127">
                <a:extLst>
                  <a:ext uri="{FF2B5EF4-FFF2-40B4-BE49-F238E27FC236}">
                    <a16:creationId xmlns:a16="http://schemas.microsoft.com/office/drawing/2014/main" id="{936B8C59-FC64-6A16-6533-4D44CD29932B}"/>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9" name="Rectangle 128">
                <a:extLst>
                  <a:ext uri="{FF2B5EF4-FFF2-40B4-BE49-F238E27FC236}">
                    <a16:creationId xmlns:a16="http://schemas.microsoft.com/office/drawing/2014/main" id="{4ED0155C-1079-85D1-EBB7-4DF520C13C1E}"/>
                  </a:ext>
                </a:extLst>
              </p:cNvPr>
              <p:cNvSpPr/>
              <p:nvPr/>
            </p:nvSpPr>
            <p:spPr bwMode="auto">
              <a:xfrm>
                <a:off x="2646078"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0" name="Rectangle 129">
                <a:extLst>
                  <a:ext uri="{FF2B5EF4-FFF2-40B4-BE49-F238E27FC236}">
                    <a16:creationId xmlns:a16="http://schemas.microsoft.com/office/drawing/2014/main" id="{F8B6F257-2426-36F8-F1A7-BAADA468CE5E}"/>
                  </a:ext>
                </a:extLst>
              </p:cNvPr>
              <p:cNvSpPr/>
              <p:nvPr/>
            </p:nvSpPr>
            <p:spPr bwMode="auto">
              <a:xfrm>
                <a:off x="3075820"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1" name="Rectangle 130">
                <a:extLst>
                  <a:ext uri="{FF2B5EF4-FFF2-40B4-BE49-F238E27FC236}">
                    <a16:creationId xmlns:a16="http://schemas.microsoft.com/office/drawing/2014/main" id="{B777436F-6DF5-DF78-6DF1-562B85D9BD20}"/>
                  </a:ext>
                </a:extLst>
              </p:cNvPr>
              <p:cNvSpPr/>
              <p:nvPr/>
            </p:nvSpPr>
            <p:spPr bwMode="auto">
              <a:xfrm>
                <a:off x="350556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2" name="Rectangle 131">
                <a:extLst>
                  <a:ext uri="{FF2B5EF4-FFF2-40B4-BE49-F238E27FC236}">
                    <a16:creationId xmlns:a16="http://schemas.microsoft.com/office/drawing/2014/main" id="{8D0DDBDC-9D08-442F-7B75-1767DC4BFBBB}"/>
                  </a:ext>
                </a:extLst>
              </p:cNvPr>
              <p:cNvSpPr/>
              <p:nvPr/>
            </p:nvSpPr>
            <p:spPr bwMode="auto">
              <a:xfrm>
                <a:off x="1350982"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3" name="Rectangle 132">
                <a:extLst>
                  <a:ext uri="{FF2B5EF4-FFF2-40B4-BE49-F238E27FC236}">
                    <a16:creationId xmlns:a16="http://schemas.microsoft.com/office/drawing/2014/main" id="{82B0C0D1-A7F2-83D8-1A5A-51C5D9A8F970}"/>
                  </a:ext>
                </a:extLst>
              </p:cNvPr>
              <p:cNvSpPr/>
              <p:nvPr/>
            </p:nvSpPr>
            <p:spPr bwMode="auto">
              <a:xfrm>
                <a:off x="1780724"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4" name="Rectangle 133">
                <a:extLst>
                  <a:ext uri="{FF2B5EF4-FFF2-40B4-BE49-F238E27FC236}">
                    <a16:creationId xmlns:a16="http://schemas.microsoft.com/office/drawing/2014/main" id="{3191B7F3-216F-FEAE-8112-8B54F6731804}"/>
                  </a:ext>
                </a:extLst>
              </p:cNvPr>
              <p:cNvSpPr/>
              <p:nvPr/>
            </p:nvSpPr>
            <p:spPr bwMode="auto">
              <a:xfrm>
                <a:off x="2210466"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5" name="Rectangle 134">
                <a:extLst>
                  <a:ext uri="{FF2B5EF4-FFF2-40B4-BE49-F238E27FC236}">
                    <a16:creationId xmlns:a16="http://schemas.microsoft.com/office/drawing/2014/main" id="{15FF3B17-1B92-44C0-EB44-F08426A53A62}"/>
                  </a:ext>
                </a:extLst>
              </p:cNvPr>
              <p:cNvSpPr/>
              <p:nvPr/>
            </p:nvSpPr>
            <p:spPr bwMode="auto">
              <a:xfrm>
                <a:off x="2640208"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6" name="Rectangle 135">
                <a:extLst>
                  <a:ext uri="{FF2B5EF4-FFF2-40B4-BE49-F238E27FC236}">
                    <a16:creationId xmlns:a16="http://schemas.microsoft.com/office/drawing/2014/main" id="{C97E173B-6655-7940-36AA-64D7774B8633}"/>
                  </a:ext>
                </a:extLst>
              </p:cNvPr>
              <p:cNvSpPr/>
              <p:nvPr/>
            </p:nvSpPr>
            <p:spPr bwMode="auto">
              <a:xfrm>
                <a:off x="3069950"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7" name="Rectangle 136">
                <a:extLst>
                  <a:ext uri="{FF2B5EF4-FFF2-40B4-BE49-F238E27FC236}">
                    <a16:creationId xmlns:a16="http://schemas.microsoft.com/office/drawing/2014/main" id="{5860C387-6578-9FC5-85D7-FE8120EDF482}"/>
                  </a:ext>
                </a:extLst>
              </p:cNvPr>
              <p:cNvSpPr/>
              <p:nvPr/>
            </p:nvSpPr>
            <p:spPr bwMode="auto">
              <a:xfrm>
                <a:off x="3499692"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139" name="Group 138">
              <a:extLst>
                <a:ext uri="{FF2B5EF4-FFF2-40B4-BE49-F238E27FC236}">
                  <a16:creationId xmlns:a16="http://schemas.microsoft.com/office/drawing/2014/main" id="{159554B9-E396-3E65-E37C-66DF0966B7BC}"/>
                </a:ext>
              </a:extLst>
            </p:cNvPr>
            <p:cNvGrpSpPr/>
            <p:nvPr/>
          </p:nvGrpSpPr>
          <p:grpSpPr>
            <a:xfrm>
              <a:off x="5378589" y="1489553"/>
              <a:ext cx="2072929" cy="370428"/>
              <a:chOff x="1356852" y="1486637"/>
              <a:chExt cx="2072929" cy="370428"/>
            </a:xfrm>
          </p:grpSpPr>
          <p:sp>
            <p:nvSpPr>
              <p:cNvPr id="140" name="Rectangle 139">
                <a:extLst>
                  <a:ext uri="{FF2B5EF4-FFF2-40B4-BE49-F238E27FC236}">
                    <a16:creationId xmlns:a16="http://schemas.microsoft.com/office/drawing/2014/main" id="{BE8E3EBA-DE30-B5B4-D404-03E906B31C39}"/>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1" name="Rectangle 140">
                <a:extLst>
                  <a:ext uri="{FF2B5EF4-FFF2-40B4-BE49-F238E27FC236}">
                    <a16:creationId xmlns:a16="http://schemas.microsoft.com/office/drawing/2014/main" id="{F12BF609-16A0-E56A-2EA8-564789C5C909}"/>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2" name="Rectangle 141">
                <a:extLst>
                  <a:ext uri="{FF2B5EF4-FFF2-40B4-BE49-F238E27FC236}">
                    <a16:creationId xmlns:a16="http://schemas.microsoft.com/office/drawing/2014/main" id="{044FCB80-0033-3D80-82AF-945B5BD02D67}"/>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3" name="Rectangle 142">
                <a:extLst>
                  <a:ext uri="{FF2B5EF4-FFF2-40B4-BE49-F238E27FC236}">
                    <a16:creationId xmlns:a16="http://schemas.microsoft.com/office/drawing/2014/main" id="{AC89308C-2B12-F514-C983-E5E000AD124F}"/>
                  </a:ext>
                </a:extLst>
              </p:cNvPr>
              <p:cNvSpPr/>
              <p:nvPr/>
            </p:nvSpPr>
            <p:spPr bwMode="auto">
              <a:xfrm>
                <a:off x="2646078"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4" name="Rectangle 143">
                <a:extLst>
                  <a:ext uri="{FF2B5EF4-FFF2-40B4-BE49-F238E27FC236}">
                    <a16:creationId xmlns:a16="http://schemas.microsoft.com/office/drawing/2014/main" id="{ED5B2694-1B1F-2612-4992-B03D1689D566}"/>
                  </a:ext>
                </a:extLst>
              </p:cNvPr>
              <p:cNvSpPr/>
              <p:nvPr/>
            </p:nvSpPr>
            <p:spPr bwMode="auto">
              <a:xfrm>
                <a:off x="3075820"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6" name="Rectangle 145">
                <a:extLst>
                  <a:ext uri="{FF2B5EF4-FFF2-40B4-BE49-F238E27FC236}">
                    <a16:creationId xmlns:a16="http://schemas.microsoft.com/office/drawing/2014/main" id="{72B85AF8-3BC6-48D6-5EDA-B97E218EFFFD}"/>
                  </a:ext>
                </a:extLst>
              </p:cNvPr>
              <p:cNvSpPr/>
              <p:nvPr/>
            </p:nvSpPr>
            <p:spPr bwMode="auto">
              <a:xfrm>
                <a:off x="1575153"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7" name="Rectangle 146">
                <a:extLst>
                  <a:ext uri="{FF2B5EF4-FFF2-40B4-BE49-F238E27FC236}">
                    <a16:creationId xmlns:a16="http://schemas.microsoft.com/office/drawing/2014/main" id="{D17F825A-29C7-00B5-C540-2E57ED97018A}"/>
                  </a:ext>
                </a:extLst>
              </p:cNvPr>
              <p:cNvSpPr/>
              <p:nvPr/>
            </p:nvSpPr>
            <p:spPr bwMode="auto">
              <a:xfrm>
                <a:off x="2004895"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8" name="Rectangle 147">
                <a:extLst>
                  <a:ext uri="{FF2B5EF4-FFF2-40B4-BE49-F238E27FC236}">
                    <a16:creationId xmlns:a16="http://schemas.microsoft.com/office/drawing/2014/main" id="{DC6E5790-86AD-6ECC-BBD0-2D5E1ADFDFFE}"/>
                  </a:ext>
                </a:extLst>
              </p:cNvPr>
              <p:cNvSpPr/>
              <p:nvPr/>
            </p:nvSpPr>
            <p:spPr bwMode="auto">
              <a:xfrm>
                <a:off x="2434637"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9" name="Rectangle 148">
                <a:extLst>
                  <a:ext uri="{FF2B5EF4-FFF2-40B4-BE49-F238E27FC236}">
                    <a16:creationId xmlns:a16="http://schemas.microsoft.com/office/drawing/2014/main" id="{DA457629-3A41-CE88-77C5-B5C89AAD7AF0}"/>
                  </a:ext>
                </a:extLst>
              </p:cNvPr>
              <p:cNvSpPr/>
              <p:nvPr/>
            </p:nvSpPr>
            <p:spPr bwMode="auto">
              <a:xfrm>
                <a:off x="2864379"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163" name="Group 162">
              <a:extLst>
                <a:ext uri="{FF2B5EF4-FFF2-40B4-BE49-F238E27FC236}">
                  <a16:creationId xmlns:a16="http://schemas.microsoft.com/office/drawing/2014/main" id="{2196378C-D148-44E3-ABAA-4ECE878C1C02}"/>
                </a:ext>
              </a:extLst>
            </p:cNvPr>
            <p:cNvGrpSpPr/>
            <p:nvPr/>
          </p:nvGrpSpPr>
          <p:grpSpPr>
            <a:xfrm>
              <a:off x="9454437" y="1489553"/>
              <a:ext cx="783703" cy="153384"/>
              <a:chOff x="1356852" y="1486637"/>
              <a:chExt cx="783703" cy="153384"/>
            </a:xfrm>
          </p:grpSpPr>
          <p:sp>
            <p:nvSpPr>
              <p:cNvPr id="164" name="Rectangle 163">
                <a:extLst>
                  <a:ext uri="{FF2B5EF4-FFF2-40B4-BE49-F238E27FC236}">
                    <a16:creationId xmlns:a16="http://schemas.microsoft.com/office/drawing/2014/main" id="{29E13925-8C1F-7958-03A4-B598446F8798}"/>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65" name="Rectangle 164">
                <a:extLst>
                  <a:ext uri="{FF2B5EF4-FFF2-40B4-BE49-F238E27FC236}">
                    <a16:creationId xmlns:a16="http://schemas.microsoft.com/office/drawing/2014/main" id="{AF42EF6A-9EA8-BBFC-83F6-7A6AD06978ED}"/>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grpSp>
        <p:nvGrpSpPr>
          <p:cNvPr id="326" name="Group 325">
            <a:extLst>
              <a:ext uri="{FF2B5EF4-FFF2-40B4-BE49-F238E27FC236}">
                <a16:creationId xmlns:a16="http://schemas.microsoft.com/office/drawing/2014/main" id="{A7881C42-491C-C157-3BEE-31D64FF2F81E}"/>
              </a:ext>
            </a:extLst>
          </p:cNvPr>
          <p:cNvGrpSpPr/>
          <p:nvPr/>
        </p:nvGrpSpPr>
        <p:grpSpPr>
          <a:xfrm>
            <a:off x="2753121" y="2077623"/>
            <a:ext cx="6894297" cy="153384"/>
            <a:chOff x="2753121" y="2339515"/>
            <a:chExt cx="6894297" cy="153384"/>
          </a:xfrm>
        </p:grpSpPr>
        <p:grpSp>
          <p:nvGrpSpPr>
            <p:cNvPr id="174" name="Group 173">
              <a:extLst>
                <a:ext uri="{FF2B5EF4-FFF2-40B4-BE49-F238E27FC236}">
                  <a16:creationId xmlns:a16="http://schemas.microsoft.com/office/drawing/2014/main" id="{1799E7C1-49BD-38C5-8A19-1137C405889B}"/>
                </a:ext>
              </a:extLst>
            </p:cNvPr>
            <p:cNvGrpSpPr/>
            <p:nvPr/>
          </p:nvGrpSpPr>
          <p:grpSpPr>
            <a:xfrm>
              <a:off x="2753121" y="2339515"/>
              <a:ext cx="2072929" cy="153384"/>
              <a:chOff x="1356852" y="1486637"/>
              <a:chExt cx="2072929" cy="153384"/>
            </a:xfrm>
          </p:grpSpPr>
          <p:sp>
            <p:nvSpPr>
              <p:cNvPr id="175" name="Rectangle 174">
                <a:extLst>
                  <a:ext uri="{FF2B5EF4-FFF2-40B4-BE49-F238E27FC236}">
                    <a16:creationId xmlns:a16="http://schemas.microsoft.com/office/drawing/2014/main" id="{4797DE30-7E81-6154-25EB-AB0D56D97BB4}"/>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6" name="Rectangle 175">
                <a:extLst>
                  <a:ext uri="{FF2B5EF4-FFF2-40B4-BE49-F238E27FC236}">
                    <a16:creationId xmlns:a16="http://schemas.microsoft.com/office/drawing/2014/main" id="{20556CF4-3F77-5654-A78A-4901B26977C2}"/>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7" name="Rectangle 176">
                <a:extLst>
                  <a:ext uri="{FF2B5EF4-FFF2-40B4-BE49-F238E27FC236}">
                    <a16:creationId xmlns:a16="http://schemas.microsoft.com/office/drawing/2014/main" id="{47C66941-16BF-B6CB-C294-1CE37DE0D301}"/>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8" name="Rectangle 177">
                <a:extLst>
                  <a:ext uri="{FF2B5EF4-FFF2-40B4-BE49-F238E27FC236}">
                    <a16:creationId xmlns:a16="http://schemas.microsoft.com/office/drawing/2014/main" id="{8479ABAA-B4DD-7478-ACA4-0D27DE2BEA6E}"/>
                  </a:ext>
                </a:extLst>
              </p:cNvPr>
              <p:cNvSpPr/>
              <p:nvPr/>
            </p:nvSpPr>
            <p:spPr bwMode="auto">
              <a:xfrm>
                <a:off x="2646078"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9" name="Rectangle 178">
                <a:extLst>
                  <a:ext uri="{FF2B5EF4-FFF2-40B4-BE49-F238E27FC236}">
                    <a16:creationId xmlns:a16="http://schemas.microsoft.com/office/drawing/2014/main" id="{EA76477C-3A5B-D371-503C-D887A136AE43}"/>
                  </a:ext>
                </a:extLst>
              </p:cNvPr>
              <p:cNvSpPr/>
              <p:nvPr/>
            </p:nvSpPr>
            <p:spPr bwMode="auto">
              <a:xfrm>
                <a:off x="3075820"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184" name="Group 183">
              <a:extLst>
                <a:ext uri="{FF2B5EF4-FFF2-40B4-BE49-F238E27FC236}">
                  <a16:creationId xmlns:a16="http://schemas.microsoft.com/office/drawing/2014/main" id="{22D7EEF8-97B4-292F-B38E-8767C39B8F8B}"/>
                </a:ext>
              </a:extLst>
            </p:cNvPr>
            <p:cNvGrpSpPr/>
            <p:nvPr/>
          </p:nvGrpSpPr>
          <p:grpSpPr>
            <a:xfrm>
              <a:off x="8433973" y="2339515"/>
              <a:ext cx="1213445" cy="153384"/>
              <a:chOff x="1356852" y="1486637"/>
              <a:chExt cx="1213445" cy="153384"/>
            </a:xfrm>
          </p:grpSpPr>
          <p:sp>
            <p:nvSpPr>
              <p:cNvPr id="185" name="Rectangle 184">
                <a:extLst>
                  <a:ext uri="{FF2B5EF4-FFF2-40B4-BE49-F238E27FC236}">
                    <a16:creationId xmlns:a16="http://schemas.microsoft.com/office/drawing/2014/main" id="{78276911-313D-60E2-F55E-ABCF3B54FB60}"/>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6" name="Rectangle 185">
                <a:extLst>
                  <a:ext uri="{FF2B5EF4-FFF2-40B4-BE49-F238E27FC236}">
                    <a16:creationId xmlns:a16="http://schemas.microsoft.com/office/drawing/2014/main" id="{68869B12-B721-F262-2A6D-8733E349B8F7}"/>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7" name="Rectangle 186">
                <a:extLst>
                  <a:ext uri="{FF2B5EF4-FFF2-40B4-BE49-F238E27FC236}">
                    <a16:creationId xmlns:a16="http://schemas.microsoft.com/office/drawing/2014/main" id="{9022C605-AE5A-ECA1-75FE-EA76BF9D48F3}"/>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grpSp>
        <p:nvGrpSpPr>
          <p:cNvPr id="327" name="Group 326">
            <a:extLst>
              <a:ext uri="{FF2B5EF4-FFF2-40B4-BE49-F238E27FC236}">
                <a16:creationId xmlns:a16="http://schemas.microsoft.com/office/drawing/2014/main" id="{8297CF5C-FC6E-F39B-D9C7-D7CDECFCAB97}"/>
              </a:ext>
            </a:extLst>
          </p:cNvPr>
          <p:cNvGrpSpPr/>
          <p:nvPr/>
        </p:nvGrpSpPr>
        <p:grpSpPr>
          <a:xfrm>
            <a:off x="1911817" y="2868655"/>
            <a:ext cx="9209422" cy="370428"/>
            <a:chOff x="1911817" y="3176929"/>
            <a:chExt cx="9209422" cy="370428"/>
          </a:xfrm>
        </p:grpSpPr>
        <p:grpSp>
          <p:nvGrpSpPr>
            <p:cNvPr id="216" name="Group 215">
              <a:extLst>
                <a:ext uri="{FF2B5EF4-FFF2-40B4-BE49-F238E27FC236}">
                  <a16:creationId xmlns:a16="http://schemas.microsoft.com/office/drawing/2014/main" id="{E2FB4978-698F-8F67-B695-C89C19EBDB20}"/>
                </a:ext>
              </a:extLst>
            </p:cNvPr>
            <p:cNvGrpSpPr/>
            <p:nvPr/>
          </p:nvGrpSpPr>
          <p:grpSpPr>
            <a:xfrm>
              <a:off x="1911817" y="3176929"/>
              <a:ext cx="789573" cy="370428"/>
              <a:chOff x="1581454" y="3167988"/>
              <a:chExt cx="789573" cy="370428"/>
            </a:xfrm>
          </p:grpSpPr>
          <p:sp>
            <p:nvSpPr>
              <p:cNvPr id="204" name="Rectangle 203">
                <a:extLst>
                  <a:ext uri="{FF2B5EF4-FFF2-40B4-BE49-F238E27FC236}">
                    <a16:creationId xmlns:a16="http://schemas.microsoft.com/office/drawing/2014/main" id="{46AF886D-9976-5657-BE81-CFB4278A82CA}"/>
                  </a:ext>
                </a:extLst>
              </p:cNvPr>
              <p:cNvSpPr/>
              <p:nvPr/>
            </p:nvSpPr>
            <p:spPr bwMode="auto">
              <a:xfrm>
                <a:off x="1587324"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05" name="Rectangle 204">
                <a:extLst>
                  <a:ext uri="{FF2B5EF4-FFF2-40B4-BE49-F238E27FC236}">
                    <a16:creationId xmlns:a16="http://schemas.microsoft.com/office/drawing/2014/main" id="{0C2B38BA-14AD-519F-CCBD-CD54B2C8252A}"/>
                  </a:ext>
                </a:extLst>
              </p:cNvPr>
              <p:cNvSpPr/>
              <p:nvPr/>
            </p:nvSpPr>
            <p:spPr bwMode="auto">
              <a:xfrm>
                <a:off x="2017066"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0" name="Rectangle 209">
                <a:extLst>
                  <a:ext uri="{FF2B5EF4-FFF2-40B4-BE49-F238E27FC236}">
                    <a16:creationId xmlns:a16="http://schemas.microsoft.com/office/drawing/2014/main" id="{89D1978C-0AA9-1780-985E-88CED70966DE}"/>
                  </a:ext>
                </a:extLst>
              </p:cNvPr>
              <p:cNvSpPr/>
              <p:nvPr/>
            </p:nvSpPr>
            <p:spPr bwMode="auto">
              <a:xfrm>
                <a:off x="1581454"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1" name="Rectangle 210">
                <a:extLst>
                  <a:ext uri="{FF2B5EF4-FFF2-40B4-BE49-F238E27FC236}">
                    <a16:creationId xmlns:a16="http://schemas.microsoft.com/office/drawing/2014/main" id="{2A172B1A-8E1B-4029-FBA2-26D178BEDEB0}"/>
                  </a:ext>
                </a:extLst>
              </p:cNvPr>
              <p:cNvSpPr/>
              <p:nvPr/>
            </p:nvSpPr>
            <p:spPr bwMode="auto">
              <a:xfrm>
                <a:off x="2011196"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17" name="Group 216">
              <a:extLst>
                <a:ext uri="{FF2B5EF4-FFF2-40B4-BE49-F238E27FC236}">
                  <a16:creationId xmlns:a16="http://schemas.microsoft.com/office/drawing/2014/main" id="{9D975525-3340-0F3B-F38C-83709DE12469}"/>
                </a:ext>
              </a:extLst>
            </p:cNvPr>
            <p:cNvGrpSpPr/>
            <p:nvPr/>
          </p:nvGrpSpPr>
          <p:grpSpPr>
            <a:xfrm>
              <a:off x="3754057" y="3176929"/>
              <a:ext cx="1213445" cy="370428"/>
              <a:chOff x="1356852" y="1486637"/>
              <a:chExt cx="1213445" cy="370428"/>
            </a:xfrm>
          </p:grpSpPr>
          <p:sp>
            <p:nvSpPr>
              <p:cNvPr id="218" name="Rectangle 217">
                <a:extLst>
                  <a:ext uri="{FF2B5EF4-FFF2-40B4-BE49-F238E27FC236}">
                    <a16:creationId xmlns:a16="http://schemas.microsoft.com/office/drawing/2014/main" id="{71629E75-0AA0-B627-5C03-D93879B19BF5}"/>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9" name="Rectangle 218">
                <a:extLst>
                  <a:ext uri="{FF2B5EF4-FFF2-40B4-BE49-F238E27FC236}">
                    <a16:creationId xmlns:a16="http://schemas.microsoft.com/office/drawing/2014/main" id="{98FEC77E-5567-75C7-9EA5-0F7C5C359589}"/>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20" name="Rectangle 219">
                <a:extLst>
                  <a:ext uri="{FF2B5EF4-FFF2-40B4-BE49-F238E27FC236}">
                    <a16:creationId xmlns:a16="http://schemas.microsoft.com/office/drawing/2014/main" id="{9594807B-8BB4-F721-614B-B7419D605007}"/>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23" name="Rectangle 222">
                <a:extLst>
                  <a:ext uri="{FF2B5EF4-FFF2-40B4-BE49-F238E27FC236}">
                    <a16:creationId xmlns:a16="http://schemas.microsoft.com/office/drawing/2014/main" id="{9763F686-DF22-B59F-2E76-32F7CC3D2844}"/>
                  </a:ext>
                </a:extLst>
              </p:cNvPr>
              <p:cNvSpPr/>
              <p:nvPr/>
            </p:nvSpPr>
            <p:spPr bwMode="auto">
              <a:xfrm>
                <a:off x="1575153"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24" name="Rectangle 223">
                <a:extLst>
                  <a:ext uri="{FF2B5EF4-FFF2-40B4-BE49-F238E27FC236}">
                    <a16:creationId xmlns:a16="http://schemas.microsoft.com/office/drawing/2014/main" id="{4EB2EC67-7D3D-1EDA-A82F-3B7D2FFD0E4E}"/>
                  </a:ext>
                </a:extLst>
              </p:cNvPr>
              <p:cNvSpPr/>
              <p:nvPr/>
            </p:nvSpPr>
            <p:spPr bwMode="auto">
              <a:xfrm>
                <a:off x="2004895"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27" name="Group 226">
              <a:extLst>
                <a:ext uri="{FF2B5EF4-FFF2-40B4-BE49-F238E27FC236}">
                  <a16:creationId xmlns:a16="http://schemas.microsoft.com/office/drawing/2014/main" id="{7C576B30-03E4-D0AF-DCD5-845415A321FE}"/>
                </a:ext>
              </a:extLst>
            </p:cNvPr>
            <p:cNvGrpSpPr/>
            <p:nvPr/>
          </p:nvGrpSpPr>
          <p:grpSpPr>
            <a:xfrm>
              <a:off x="6023255" y="3176929"/>
              <a:ext cx="789573" cy="370428"/>
              <a:chOff x="1581454" y="3167988"/>
              <a:chExt cx="789573" cy="370428"/>
            </a:xfrm>
          </p:grpSpPr>
          <p:sp>
            <p:nvSpPr>
              <p:cNvPr id="228" name="Rectangle 227">
                <a:extLst>
                  <a:ext uri="{FF2B5EF4-FFF2-40B4-BE49-F238E27FC236}">
                    <a16:creationId xmlns:a16="http://schemas.microsoft.com/office/drawing/2014/main" id="{AF54D57A-6377-94E3-5069-4579D9A16AF3}"/>
                  </a:ext>
                </a:extLst>
              </p:cNvPr>
              <p:cNvSpPr/>
              <p:nvPr/>
            </p:nvSpPr>
            <p:spPr bwMode="auto">
              <a:xfrm>
                <a:off x="1587324"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29" name="Rectangle 228">
                <a:extLst>
                  <a:ext uri="{FF2B5EF4-FFF2-40B4-BE49-F238E27FC236}">
                    <a16:creationId xmlns:a16="http://schemas.microsoft.com/office/drawing/2014/main" id="{922B45EA-F3FB-F58A-9D02-311F486DA2AE}"/>
                  </a:ext>
                </a:extLst>
              </p:cNvPr>
              <p:cNvSpPr/>
              <p:nvPr/>
            </p:nvSpPr>
            <p:spPr bwMode="auto">
              <a:xfrm>
                <a:off x="2017066"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30" name="Rectangle 229">
                <a:extLst>
                  <a:ext uri="{FF2B5EF4-FFF2-40B4-BE49-F238E27FC236}">
                    <a16:creationId xmlns:a16="http://schemas.microsoft.com/office/drawing/2014/main" id="{BF97850A-02D4-F7ED-2AAD-F299C0CF82CE}"/>
                  </a:ext>
                </a:extLst>
              </p:cNvPr>
              <p:cNvSpPr/>
              <p:nvPr/>
            </p:nvSpPr>
            <p:spPr bwMode="auto">
              <a:xfrm>
                <a:off x="1581454"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31" name="Rectangle 230">
                <a:extLst>
                  <a:ext uri="{FF2B5EF4-FFF2-40B4-BE49-F238E27FC236}">
                    <a16:creationId xmlns:a16="http://schemas.microsoft.com/office/drawing/2014/main" id="{469E1B90-4B57-7EB1-A7ED-03270354D250}"/>
                  </a:ext>
                </a:extLst>
              </p:cNvPr>
              <p:cNvSpPr/>
              <p:nvPr/>
            </p:nvSpPr>
            <p:spPr bwMode="auto">
              <a:xfrm>
                <a:off x="2011196"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32" name="Group 231">
              <a:extLst>
                <a:ext uri="{FF2B5EF4-FFF2-40B4-BE49-F238E27FC236}">
                  <a16:creationId xmlns:a16="http://schemas.microsoft.com/office/drawing/2014/main" id="{EAB849CB-5435-044D-45EF-DE2BE0B16254}"/>
                </a:ext>
              </a:extLst>
            </p:cNvPr>
            <p:cNvGrpSpPr/>
            <p:nvPr/>
          </p:nvGrpSpPr>
          <p:grpSpPr>
            <a:xfrm>
              <a:off x="7913105" y="3176929"/>
              <a:ext cx="1213445" cy="370428"/>
              <a:chOff x="1356852" y="1486637"/>
              <a:chExt cx="1213445" cy="370428"/>
            </a:xfrm>
          </p:grpSpPr>
          <p:sp>
            <p:nvSpPr>
              <p:cNvPr id="233" name="Rectangle 232">
                <a:extLst>
                  <a:ext uri="{FF2B5EF4-FFF2-40B4-BE49-F238E27FC236}">
                    <a16:creationId xmlns:a16="http://schemas.microsoft.com/office/drawing/2014/main" id="{78EFCF16-79A7-2C9C-E202-E0DD281F4098}"/>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34" name="Rectangle 233">
                <a:extLst>
                  <a:ext uri="{FF2B5EF4-FFF2-40B4-BE49-F238E27FC236}">
                    <a16:creationId xmlns:a16="http://schemas.microsoft.com/office/drawing/2014/main" id="{143C7F78-C09B-B79C-F784-0CFD2570DB76}"/>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35" name="Rectangle 234">
                <a:extLst>
                  <a:ext uri="{FF2B5EF4-FFF2-40B4-BE49-F238E27FC236}">
                    <a16:creationId xmlns:a16="http://schemas.microsoft.com/office/drawing/2014/main" id="{42682445-DC48-D368-03A6-80180DD39F49}"/>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36" name="Rectangle 235">
                <a:extLst>
                  <a:ext uri="{FF2B5EF4-FFF2-40B4-BE49-F238E27FC236}">
                    <a16:creationId xmlns:a16="http://schemas.microsoft.com/office/drawing/2014/main" id="{1186ECEB-2A30-6CD7-E683-DE3AF592004D}"/>
                  </a:ext>
                </a:extLst>
              </p:cNvPr>
              <p:cNvSpPr/>
              <p:nvPr/>
            </p:nvSpPr>
            <p:spPr bwMode="auto">
              <a:xfrm>
                <a:off x="1575153"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37" name="Rectangle 236">
                <a:extLst>
                  <a:ext uri="{FF2B5EF4-FFF2-40B4-BE49-F238E27FC236}">
                    <a16:creationId xmlns:a16="http://schemas.microsoft.com/office/drawing/2014/main" id="{66FC0A88-789C-FA9C-98DD-87E3247B9834}"/>
                  </a:ext>
                </a:extLst>
              </p:cNvPr>
              <p:cNvSpPr/>
              <p:nvPr/>
            </p:nvSpPr>
            <p:spPr bwMode="auto">
              <a:xfrm>
                <a:off x="2004895"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38" name="Group 237">
              <a:extLst>
                <a:ext uri="{FF2B5EF4-FFF2-40B4-BE49-F238E27FC236}">
                  <a16:creationId xmlns:a16="http://schemas.microsoft.com/office/drawing/2014/main" id="{6B988C68-69EF-2FA7-56E0-D41F61350B1D}"/>
                </a:ext>
              </a:extLst>
            </p:cNvPr>
            <p:cNvGrpSpPr/>
            <p:nvPr/>
          </p:nvGrpSpPr>
          <p:grpSpPr>
            <a:xfrm>
              <a:off x="9907794" y="3176929"/>
              <a:ext cx="1213445" cy="370428"/>
              <a:chOff x="1356852" y="1486637"/>
              <a:chExt cx="1213445" cy="370428"/>
            </a:xfrm>
          </p:grpSpPr>
          <p:sp>
            <p:nvSpPr>
              <p:cNvPr id="239" name="Rectangle 238">
                <a:extLst>
                  <a:ext uri="{FF2B5EF4-FFF2-40B4-BE49-F238E27FC236}">
                    <a16:creationId xmlns:a16="http://schemas.microsoft.com/office/drawing/2014/main" id="{D7DEC3E4-FB7B-DEE0-4831-ED330C74FB00}"/>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0" name="Rectangle 239">
                <a:extLst>
                  <a:ext uri="{FF2B5EF4-FFF2-40B4-BE49-F238E27FC236}">
                    <a16:creationId xmlns:a16="http://schemas.microsoft.com/office/drawing/2014/main" id="{18998865-8C15-88AE-19DB-58F3161960B6}"/>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1" name="Rectangle 240">
                <a:extLst>
                  <a:ext uri="{FF2B5EF4-FFF2-40B4-BE49-F238E27FC236}">
                    <a16:creationId xmlns:a16="http://schemas.microsoft.com/office/drawing/2014/main" id="{4BED3CA3-0F2C-1BBE-892F-1E2C9044B18B}"/>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2" name="Rectangle 241">
                <a:extLst>
                  <a:ext uri="{FF2B5EF4-FFF2-40B4-BE49-F238E27FC236}">
                    <a16:creationId xmlns:a16="http://schemas.microsoft.com/office/drawing/2014/main" id="{3B018B39-754F-7879-1308-F2F9D9FC54EF}"/>
                  </a:ext>
                </a:extLst>
              </p:cNvPr>
              <p:cNvSpPr/>
              <p:nvPr/>
            </p:nvSpPr>
            <p:spPr bwMode="auto">
              <a:xfrm>
                <a:off x="1575153"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3" name="Rectangle 242">
                <a:extLst>
                  <a:ext uri="{FF2B5EF4-FFF2-40B4-BE49-F238E27FC236}">
                    <a16:creationId xmlns:a16="http://schemas.microsoft.com/office/drawing/2014/main" id="{D47CD3EE-F211-E30D-888D-40A23768D083}"/>
                  </a:ext>
                </a:extLst>
              </p:cNvPr>
              <p:cNvSpPr/>
              <p:nvPr/>
            </p:nvSpPr>
            <p:spPr bwMode="auto">
              <a:xfrm>
                <a:off x="2004895"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grpSp>
        <p:nvGrpSpPr>
          <p:cNvPr id="328" name="Group 327">
            <a:extLst>
              <a:ext uri="{FF2B5EF4-FFF2-40B4-BE49-F238E27FC236}">
                <a16:creationId xmlns:a16="http://schemas.microsoft.com/office/drawing/2014/main" id="{F008FC49-0348-B4D4-2B42-3FB5DD902421}"/>
              </a:ext>
            </a:extLst>
          </p:cNvPr>
          <p:cNvGrpSpPr/>
          <p:nvPr/>
        </p:nvGrpSpPr>
        <p:grpSpPr>
          <a:xfrm>
            <a:off x="1382545" y="3732119"/>
            <a:ext cx="9468342" cy="370428"/>
            <a:chOff x="1382545" y="4013889"/>
            <a:chExt cx="9468342" cy="370428"/>
          </a:xfrm>
        </p:grpSpPr>
        <p:grpSp>
          <p:nvGrpSpPr>
            <p:cNvPr id="244" name="Group 243">
              <a:extLst>
                <a:ext uri="{FF2B5EF4-FFF2-40B4-BE49-F238E27FC236}">
                  <a16:creationId xmlns:a16="http://schemas.microsoft.com/office/drawing/2014/main" id="{EA4F4611-B72A-BAC4-EB72-BF299A4B0ACD}"/>
                </a:ext>
              </a:extLst>
            </p:cNvPr>
            <p:cNvGrpSpPr/>
            <p:nvPr/>
          </p:nvGrpSpPr>
          <p:grpSpPr>
            <a:xfrm>
              <a:off x="1382545" y="4013889"/>
              <a:ext cx="2381243" cy="370428"/>
              <a:chOff x="1356852" y="1486637"/>
              <a:chExt cx="2502671" cy="370428"/>
            </a:xfrm>
          </p:grpSpPr>
          <p:sp>
            <p:nvSpPr>
              <p:cNvPr id="245" name="Rectangle 244">
                <a:extLst>
                  <a:ext uri="{FF2B5EF4-FFF2-40B4-BE49-F238E27FC236}">
                    <a16:creationId xmlns:a16="http://schemas.microsoft.com/office/drawing/2014/main" id="{8B9D84EF-EA92-8059-ABEC-5F6525F26513}"/>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6" name="Rectangle 245">
                <a:extLst>
                  <a:ext uri="{FF2B5EF4-FFF2-40B4-BE49-F238E27FC236}">
                    <a16:creationId xmlns:a16="http://schemas.microsoft.com/office/drawing/2014/main" id="{620E079F-1487-6F73-5CDA-08AA88CC3D4A}"/>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7" name="Rectangle 246">
                <a:extLst>
                  <a:ext uri="{FF2B5EF4-FFF2-40B4-BE49-F238E27FC236}">
                    <a16:creationId xmlns:a16="http://schemas.microsoft.com/office/drawing/2014/main" id="{7C84E446-912D-F0A1-3961-175755BC8703}"/>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8" name="Rectangle 247">
                <a:extLst>
                  <a:ext uri="{FF2B5EF4-FFF2-40B4-BE49-F238E27FC236}">
                    <a16:creationId xmlns:a16="http://schemas.microsoft.com/office/drawing/2014/main" id="{22BEB9A1-2233-944C-329A-A43BE9E713FA}"/>
                  </a:ext>
                </a:extLst>
              </p:cNvPr>
              <p:cNvSpPr/>
              <p:nvPr/>
            </p:nvSpPr>
            <p:spPr bwMode="auto">
              <a:xfrm>
                <a:off x="2646078"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9" name="Rectangle 248">
                <a:extLst>
                  <a:ext uri="{FF2B5EF4-FFF2-40B4-BE49-F238E27FC236}">
                    <a16:creationId xmlns:a16="http://schemas.microsoft.com/office/drawing/2014/main" id="{6FC89187-3E44-70A8-3E14-996695E64788}"/>
                  </a:ext>
                </a:extLst>
              </p:cNvPr>
              <p:cNvSpPr/>
              <p:nvPr/>
            </p:nvSpPr>
            <p:spPr bwMode="auto">
              <a:xfrm>
                <a:off x="3075820"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0" name="Rectangle 249">
                <a:extLst>
                  <a:ext uri="{FF2B5EF4-FFF2-40B4-BE49-F238E27FC236}">
                    <a16:creationId xmlns:a16="http://schemas.microsoft.com/office/drawing/2014/main" id="{D59C9909-9BF1-AB9B-7F66-4DCD3E384149}"/>
                  </a:ext>
                </a:extLst>
              </p:cNvPr>
              <p:cNvSpPr/>
              <p:nvPr/>
            </p:nvSpPr>
            <p:spPr bwMode="auto">
              <a:xfrm>
                <a:off x="350556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1" name="Rectangle 250">
                <a:extLst>
                  <a:ext uri="{FF2B5EF4-FFF2-40B4-BE49-F238E27FC236}">
                    <a16:creationId xmlns:a16="http://schemas.microsoft.com/office/drawing/2014/main" id="{AC2ACE60-F473-7E06-1783-BFFC2598C10C}"/>
                  </a:ext>
                </a:extLst>
              </p:cNvPr>
              <p:cNvSpPr/>
              <p:nvPr/>
            </p:nvSpPr>
            <p:spPr bwMode="auto">
              <a:xfrm>
                <a:off x="1563361"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2" name="Rectangle 251">
                <a:extLst>
                  <a:ext uri="{FF2B5EF4-FFF2-40B4-BE49-F238E27FC236}">
                    <a16:creationId xmlns:a16="http://schemas.microsoft.com/office/drawing/2014/main" id="{37689070-F1D6-E5B9-451B-92A54244ACFC}"/>
                  </a:ext>
                </a:extLst>
              </p:cNvPr>
              <p:cNvSpPr/>
              <p:nvPr/>
            </p:nvSpPr>
            <p:spPr bwMode="auto">
              <a:xfrm>
                <a:off x="1993103"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3" name="Rectangle 252">
                <a:extLst>
                  <a:ext uri="{FF2B5EF4-FFF2-40B4-BE49-F238E27FC236}">
                    <a16:creationId xmlns:a16="http://schemas.microsoft.com/office/drawing/2014/main" id="{D9EAC254-7CF3-927E-1ABF-714C939694EE}"/>
                  </a:ext>
                </a:extLst>
              </p:cNvPr>
              <p:cNvSpPr/>
              <p:nvPr/>
            </p:nvSpPr>
            <p:spPr bwMode="auto">
              <a:xfrm>
                <a:off x="2422845"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4" name="Rectangle 253">
                <a:extLst>
                  <a:ext uri="{FF2B5EF4-FFF2-40B4-BE49-F238E27FC236}">
                    <a16:creationId xmlns:a16="http://schemas.microsoft.com/office/drawing/2014/main" id="{BD63AF9E-9EAC-2EEC-CBB9-B0DBB21F1F62}"/>
                  </a:ext>
                </a:extLst>
              </p:cNvPr>
              <p:cNvSpPr/>
              <p:nvPr/>
            </p:nvSpPr>
            <p:spPr bwMode="auto">
              <a:xfrm>
                <a:off x="2852587"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5" name="Rectangle 254">
                <a:extLst>
                  <a:ext uri="{FF2B5EF4-FFF2-40B4-BE49-F238E27FC236}">
                    <a16:creationId xmlns:a16="http://schemas.microsoft.com/office/drawing/2014/main" id="{EE45ADA9-B112-FDCA-0F58-CD86A1869C94}"/>
                  </a:ext>
                </a:extLst>
              </p:cNvPr>
              <p:cNvSpPr/>
              <p:nvPr/>
            </p:nvSpPr>
            <p:spPr bwMode="auto">
              <a:xfrm>
                <a:off x="3282329"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57" name="Group 256">
              <a:extLst>
                <a:ext uri="{FF2B5EF4-FFF2-40B4-BE49-F238E27FC236}">
                  <a16:creationId xmlns:a16="http://schemas.microsoft.com/office/drawing/2014/main" id="{13AD6A7D-A90B-467D-ECE1-B87E0D7F1FBE}"/>
                </a:ext>
              </a:extLst>
            </p:cNvPr>
            <p:cNvGrpSpPr/>
            <p:nvPr/>
          </p:nvGrpSpPr>
          <p:grpSpPr>
            <a:xfrm>
              <a:off x="4403333" y="4013889"/>
              <a:ext cx="1649057" cy="370428"/>
              <a:chOff x="1350982" y="1486637"/>
              <a:chExt cx="1649057" cy="370428"/>
            </a:xfrm>
          </p:grpSpPr>
          <p:sp>
            <p:nvSpPr>
              <p:cNvPr id="258" name="Rectangle 257">
                <a:extLst>
                  <a:ext uri="{FF2B5EF4-FFF2-40B4-BE49-F238E27FC236}">
                    <a16:creationId xmlns:a16="http://schemas.microsoft.com/office/drawing/2014/main" id="{B169DE57-7A3C-B773-5E64-2253F6FF94F5}"/>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9" name="Rectangle 258">
                <a:extLst>
                  <a:ext uri="{FF2B5EF4-FFF2-40B4-BE49-F238E27FC236}">
                    <a16:creationId xmlns:a16="http://schemas.microsoft.com/office/drawing/2014/main" id="{DEC91370-9328-F52E-0763-D7B624A89D30}"/>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0" name="Rectangle 259">
                <a:extLst>
                  <a:ext uri="{FF2B5EF4-FFF2-40B4-BE49-F238E27FC236}">
                    <a16:creationId xmlns:a16="http://schemas.microsoft.com/office/drawing/2014/main" id="{DD7B4846-2BB2-FC7A-E07F-616ECAA0F8DB}"/>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1" name="Rectangle 260">
                <a:extLst>
                  <a:ext uri="{FF2B5EF4-FFF2-40B4-BE49-F238E27FC236}">
                    <a16:creationId xmlns:a16="http://schemas.microsoft.com/office/drawing/2014/main" id="{4EF7C2A6-640B-639A-754C-B56148119DEF}"/>
                  </a:ext>
                </a:extLst>
              </p:cNvPr>
              <p:cNvSpPr/>
              <p:nvPr/>
            </p:nvSpPr>
            <p:spPr bwMode="auto">
              <a:xfrm>
                <a:off x="2646078"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4" name="Rectangle 263">
                <a:extLst>
                  <a:ext uri="{FF2B5EF4-FFF2-40B4-BE49-F238E27FC236}">
                    <a16:creationId xmlns:a16="http://schemas.microsoft.com/office/drawing/2014/main" id="{76530C91-8524-3D6C-A65A-293DD9EC938C}"/>
                  </a:ext>
                </a:extLst>
              </p:cNvPr>
              <p:cNvSpPr/>
              <p:nvPr/>
            </p:nvSpPr>
            <p:spPr bwMode="auto">
              <a:xfrm>
                <a:off x="1350982"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5" name="Rectangle 264">
                <a:extLst>
                  <a:ext uri="{FF2B5EF4-FFF2-40B4-BE49-F238E27FC236}">
                    <a16:creationId xmlns:a16="http://schemas.microsoft.com/office/drawing/2014/main" id="{430843FD-1018-3E74-7A4F-177F91A17AD4}"/>
                  </a:ext>
                </a:extLst>
              </p:cNvPr>
              <p:cNvSpPr/>
              <p:nvPr/>
            </p:nvSpPr>
            <p:spPr bwMode="auto">
              <a:xfrm>
                <a:off x="1780724"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6" name="Rectangle 265">
                <a:extLst>
                  <a:ext uri="{FF2B5EF4-FFF2-40B4-BE49-F238E27FC236}">
                    <a16:creationId xmlns:a16="http://schemas.microsoft.com/office/drawing/2014/main" id="{5A655046-F852-7BB2-D4DC-57C41A88728B}"/>
                  </a:ext>
                </a:extLst>
              </p:cNvPr>
              <p:cNvSpPr/>
              <p:nvPr/>
            </p:nvSpPr>
            <p:spPr bwMode="auto">
              <a:xfrm>
                <a:off x="2210466"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7" name="Rectangle 266">
                <a:extLst>
                  <a:ext uri="{FF2B5EF4-FFF2-40B4-BE49-F238E27FC236}">
                    <a16:creationId xmlns:a16="http://schemas.microsoft.com/office/drawing/2014/main" id="{2C0F4E1A-1496-E859-9E2F-97CDD2E5B055}"/>
                  </a:ext>
                </a:extLst>
              </p:cNvPr>
              <p:cNvSpPr/>
              <p:nvPr/>
            </p:nvSpPr>
            <p:spPr bwMode="auto">
              <a:xfrm>
                <a:off x="2640208"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70" name="Group 269">
              <a:extLst>
                <a:ext uri="{FF2B5EF4-FFF2-40B4-BE49-F238E27FC236}">
                  <a16:creationId xmlns:a16="http://schemas.microsoft.com/office/drawing/2014/main" id="{6FD42C98-587F-9411-E175-325070B2EAD0}"/>
                </a:ext>
              </a:extLst>
            </p:cNvPr>
            <p:cNvGrpSpPr/>
            <p:nvPr/>
          </p:nvGrpSpPr>
          <p:grpSpPr>
            <a:xfrm>
              <a:off x="7156913" y="4013889"/>
              <a:ext cx="1219315" cy="370428"/>
              <a:chOff x="1350982" y="1486637"/>
              <a:chExt cx="1219315" cy="370428"/>
            </a:xfrm>
          </p:grpSpPr>
          <p:sp>
            <p:nvSpPr>
              <p:cNvPr id="271" name="Rectangle 270">
                <a:extLst>
                  <a:ext uri="{FF2B5EF4-FFF2-40B4-BE49-F238E27FC236}">
                    <a16:creationId xmlns:a16="http://schemas.microsoft.com/office/drawing/2014/main" id="{682C025A-61E4-A487-D5AB-4AB252238C26}"/>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72" name="Rectangle 271">
                <a:extLst>
                  <a:ext uri="{FF2B5EF4-FFF2-40B4-BE49-F238E27FC236}">
                    <a16:creationId xmlns:a16="http://schemas.microsoft.com/office/drawing/2014/main" id="{50002018-54F6-8C92-01F4-5C13BC9F0F32}"/>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73" name="Rectangle 272">
                <a:extLst>
                  <a:ext uri="{FF2B5EF4-FFF2-40B4-BE49-F238E27FC236}">
                    <a16:creationId xmlns:a16="http://schemas.microsoft.com/office/drawing/2014/main" id="{8349D85D-6987-FFBD-62EF-6F3F93D35B86}"/>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75" name="Rectangle 274">
                <a:extLst>
                  <a:ext uri="{FF2B5EF4-FFF2-40B4-BE49-F238E27FC236}">
                    <a16:creationId xmlns:a16="http://schemas.microsoft.com/office/drawing/2014/main" id="{46E827A6-DA4C-1CD7-95EA-7BBE7F0696B5}"/>
                  </a:ext>
                </a:extLst>
              </p:cNvPr>
              <p:cNvSpPr/>
              <p:nvPr/>
            </p:nvSpPr>
            <p:spPr bwMode="auto">
              <a:xfrm>
                <a:off x="1350982"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76" name="Rectangle 275">
                <a:extLst>
                  <a:ext uri="{FF2B5EF4-FFF2-40B4-BE49-F238E27FC236}">
                    <a16:creationId xmlns:a16="http://schemas.microsoft.com/office/drawing/2014/main" id="{DBE50BAA-6317-8113-E708-9DD75086E449}"/>
                  </a:ext>
                </a:extLst>
              </p:cNvPr>
              <p:cNvSpPr/>
              <p:nvPr/>
            </p:nvSpPr>
            <p:spPr bwMode="auto">
              <a:xfrm>
                <a:off x="1780724"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77" name="Rectangle 276">
                <a:extLst>
                  <a:ext uri="{FF2B5EF4-FFF2-40B4-BE49-F238E27FC236}">
                    <a16:creationId xmlns:a16="http://schemas.microsoft.com/office/drawing/2014/main" id="{93D7C5A4-EC2D-6750-840B-43CC4D04B0A4}"/>
                  </a:ext>
                </a:extLst>
              </p:cNvPr>
              <p:cNvSpPr/>
              <p:nvPr/>
            </p:nvSpPr>
            <p:spPr bwMode="auto">
              <a:xfrm>
                <a:off x="2210466"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79" name="Group 278">
              <a:extLst>
                <a:ext uri="{FF2B5EF4-FFF2-40B4-BE49-F238E27FC236}">
                  <a16:creationId xmlns:a16="http://schemas.microsoft.com/office/drawing/2014/main" id="{6E0B1E5E-FBF9-6BEC-6582-8CC24958263A}"/>
                </a:ext>
              </a:extLst>
            </p:cNvPr>
            <p:cNvGrpSpPr/>
            <p:nvPr/>
          </p:nvGrpSpPr>
          <p:grpSpPr>
            <a:xfrm>
              <a:off x="9637442" y="4013889"/>
              <a:ext cx="1213445" cy="153384"/>
              <a:chOff x="1356852" y="1486637"/>
              <a:chExt cx="1213445" cy="153384"/>
            </a:xfrm>
          </p:grpSpPr>
          <p:sp>
            <p:nvSpPr>
              <p:cNvPr id="280" name="Rectangle 279">
                <a:extLst>
                  <a:ext uri="{FF2B5EF4-FFF2-40B4-BE49-F238E27FC236}">
                    <a16:creationId xmlns:a16="http://schemas.microsoft.com/office/drawing/2014/main" id="{63918000-E7A5-F369-5F3A-5A7D81A6BBD2}"/>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1" name="Rectangle 280">
                <a:extLst>
                  <a:ext uri="{FF2B5EF4-FFF2-40B4-BE49-F238E27FC236}">
                    <a16:creationId xmlns:a16="http://schemas.microsoft.com/office/drawing/2014/main" id="{62F0DF04-02D7-2499-394D-7686BDA15169}"/>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2" name="Rectangle 281">
                <a:extLst>
                  <a:ext uri="{FF2B5EF4-FFF2-40B4-BE49-F238E27FC236}">
                    <a16:creationId xmlns:a16="http://schemas.microsoft.com/office/drawing/2014/main" id="{95FB0E3A-D6C6-4F2B-EBAB-9C6CA0CF77C4}"/>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grpSp>
        <p:nvGrpSpPr>
          <p:cNvPr id="329" name="Group 328">
            <a:extLst>
              <a:ext uri="{FF2B5EF4-FFF2-40B4-BE49-F238E27FC236}">
                <a16:creationId xmlns:a16="http://schemas.microsoft.com/office/drawing/2014/main" id="{64B111FC-25F3-586D-4764-01F74FF03579}"/>
              </a:ext>
            </a:extLst>
          </p:cNvPr>
          <p:cNvGrpSpPr/>
          <p:nvPr/>
        </p:nvGrpSpPr>
        <p:grpSpPr>
          <a:xfrm>
            <a:off x="1867871" y="4560256"/>
            <a:ext cx="9189492" cy="370428"/>
            <a:chOff x="1867871" y="4857573"/>
            <a:chExt cx="9189492" cy="370428"/>
          </a:xfrm>
        </p:grpSpPr>
        <p:grpSp>
          <p:nvGrpSpPr>
            <p:cNvPr id="283" name="Group 282">
              <a:extLst>
                <a:ext uri="{FF2B5EF4-FFF2-40B4-BE49-F238E27FC236}">
                  <a16:creationId xmlns:a16="http://schemas.microsoft.com/office/drawing/2014/main" id="{8BDFBC43-3B72-1B7A-CBB6-3F9465786E59}"/>
                </a:ext>
              </a:extLst>
            </p:cNvPr>
            <p:cNvGrpSpPr/>
            <p:nvPr/>
          </p:nvGrpSpPr>
          <p:grpSpPr>
            <a:xfrm>
              <a:off x="1867871" y="4857573"/>
              <a:ext cx="783703" cy="153384"/>
              <a:chOff x="1356852" y="1486637"/>
              <a:chExt cx="783703" cy="153384"/>
            </a:xfrm>
          </p:grpSpPr>
          <p:sp>
            <p:nvSpPr>
              <p:cNvPr id="284" name="Rectangle 283">
                <a:extLst>
                  <a:ext uri="{FF2B5EF4-FFF2-40B4-BE49-F238E27FC236}">
                    <a16:creationId xmlns:a16="http://schemas.microsoft.com/office/drawing/2014/main" id="{DE8928D5-AB28-14C3-5C26-F97D34F80A53}"/>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5" name="Rectangle 284">
                <a:extLst>
                  <a:ext uri="{FF2B5EF4-FFF2-40B4-BE49-F238E27FC236}">
                    <a16:creationId xmlns:a16="http://schemas.microsoft.com/office/drawing/2014/main" id="{908DBA68-E13F-7EA1-FA65-C3AC257CAE0C}"/>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86" name="Group 285">
              <a:extLst>
                <a:ext uri="{FF2B5EF4-FFF2-40B4-BE49-F238E27FC236}">
                  <a16:creationId xmlns:a16="http://schemas.microsoft.com/office/drawing/2014/main" id="{EB74A37F-46D1-3AA0-E8CB-02F4BD937E5B}"/>
                </a:ext>
              </a:extLst>
            </p:cNvPr>
            <p:cNvGrpSpPr/>
            <p:nvPr/>
          </p:nvGrpSpPr>
          <p:grpSpPr>
            <a:xfrm>
              <a:off x="3992961" y="4857573"/>
              <a:ext cx="789573" cy="370428"/>
              <a:chOff x="1581454" y="3167988"/>
              <a:chExt cx="789573" cy="370428"/>
            </a:xfrm>
          </p:grpSpPr>
          <p:sp>
            <p:nvSpPr>
              <p:cNvPr id="287" name="Rectangle 286">
                <a:extLst>
                  <a:ext uri="{FF2B5EF4-FFF2-40B4-BE49-F238E27FC236}">
                    <a16:creationId xmlns:a16="http://schemas.microsoft.com/office/drawing/2014/main" id="{D1569272-D42C-6581-C77A-156010D40C3F}"/>
                  </a:ext>
                </a:extLst>
              </p:cNvPr>
              <p:cNvSpPr/>
              <p:nvPr/>
            </p:nvSpPr>
            <p:spPr bwMode="auto">
              <a:xfrm>
                <a:off x="1587324"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8" name="Rectangle 287">
                <a:extLst>
                  <a:ext uri="{FF2B5EF4-FFF2-40B4-BE49-F238E27FC236}">
                    <a16:creationId xmlns:a16="http://schemas.microsoft.com/office/drawing/2014/main" id="{1E7C95D4-99EF-63EA-79F7-8A8B44F9BBEB}"/>
                  </a:ext>
                </a:extLst>
              </p:cNvPr>
              <p:cNvSpPr/>
              <p:nvPr/>
            </p:nvSpPr>
            <p:spPr bwMode="auto">
              <a:xfrm>
                <a:off x="2017066"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9" name="Rectangle 288">
                <a:extLst>
                  <a:ext uri="{FF2B5EF4-FFF2-40B4-BE49-F238E27FC236}">
                    <a16:creationId xmlns:a16="http://schemas.microsoft.com/office/drawing/2014/main" id="{52FAFBF6-67C8-AF7F-B1CC-DDDD4BFA8FA5}"/>
                  </a:ext>
                </a:extLst>
              </p:cNvPr>
              <p:cNvSpPr/>
              <p:nvPr/>
            </p:nvSpPr>
            <p:spPr bwMode="auto">
              <a:xfrm>
                <a:off x="1581454"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0" name="Rectangle 289">
                <a:extLst>
                  <a:ext uri="{FF2B5EF4-FFF2-40B4-BE49-F238E27FC236}">
                    <a16:creationId xmlns:a16="http://schemas.microsoft.com/office/drawing/2014/main" id="{F3469B75-7AEC-C40D-F599-8D85E0335C7F}"/>
                  </a:ext>
                </a:extLst>
              </p:cNvPr>
              <p:cNvSpPr/>
              <p:nvPr/>
            </p:nvSpPr>
            <p:spPr bwMode="auto">
              <a:xfrm>
                <a:off x="2011196"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91" name="Group 290">
              <a:extLst>
                <a:ext uri="{FF2B5EF4-FFF2-40B4-BE49-F238E27FC236}">
                  <a16:creationId xmlns:a16="http://schemas.microsoft.com/office/drawing/2014/main" id="{B70AFA86-3DF6-6A6A-3BD9-71B4DAB67C21}"/>
                </a:ext>
              </a:extLst>
            </p:cNvPr>
            <p:cNvGrpSpPr/>
            <p:nvPr/>
          </p:nvGrpSpPr>
          <p:grpSpPr>
            <a:xfrm>
              <a:off x="5789840" y="4857573"/>
              <a:ext cx="1219315" cy="370428"/>
              <a:chOff x="1350982" y="1486637"/>
              <a:chExt cx="1219315" cy="370428"/>
            </a:xfrm>
          </p:grpSpPr>
          <p:sp>
            <p:nvSpPr>
              <p:cNvPr id="292" name="Rectangle 291">
                <a:extLst>
                  <a:ext uri="{FF2B5EF4-FFF2-40B4-BE49-F238E27FC236}">
                    <a16:creationId xmlns:a16="http://schemas.microsoft.com/office/drawing/2014/main" id="{C1B6E560-B7AB-8428-125A-9A14A473F0F9}"/>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3" name="Rectangle 292">
                <a:extLst>
                  <a:ext uri="{FF2B5EF4-FFF2-40B4-BE49-F238E27FC236}">
                    <a16:creationId xmlns:a16="http://schemas.microsoft.com/office/drawing/2014/main" id="{BAC7E134-5566-04FA-459C-E06FE66E996E}"/>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4" name="Rectangle 293">
                <a:extLst>
                  <a:ext uri="{FF2B5EF4-FFF2-40B4-BE49-F238E27FC236}">
                    <a16:creationId xmlns:a16="http://schemas.microsoft.com/office/drawing/2014/main" id="{34C48847-3681-5A6D-E143-87802765A001}"/>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5" name="Rectangle 294">
                <a:extLst>
                  <a:ext uri="{FF2B5EF4-FFF2-40B4-BE49-F238E27FC236}">
                    <a16:creationId xmlns:a16="http://schemas.microsoft.com/office/drawing/2014/main" id="{C89AC504-CE74-AEE9-1E10-CC850978C546}"/>
                  </a:ext>
                </a:extLst>
              </p:cNvPr>
              <p:cNvSpPr/>
              <p:nvPr/>
            </p:nvSpPr>
            <p:spPr bwMode="auto">
              <a:xfrm>
                <a:off x="1350982"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6" name="Rectangle 295">
                <a:extLst>
                  <a:ext uri="{FF2B5EF4-FFF2-40B4-BE49-F238E27FC236}">
                    <a16:creationId xmlns:a16="http://schemas.microsoft.com/office/drawing/2014/main" id="{4986B8AC-1CE8-014C-B03C-67E6D1CE0341}"/>
                  </a:ext>
                </a:extLst>
              </p:cNvPr>
              <p:cNvSpPr/>
              <p:nvPr/>
            </p:nvSpPr>
            <p:spPr bwMode="auto">
              <a:xfrm>
                <a:off x="1780724"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7" name="Rectangle 296">
                <a:extLst>
                  <a:ext uri="{FF2B5EF4-FFF2-40B4-BE49-F238E27FC236}">
                    <a16:creationId xmlns:a16="http://schemas.microsoft.com/office/drawing/2014/main" id="{7754DC94-B98C-C575-EC5F-A0ED80C47FDF}"/>
                  </a:ext>
                </a:extLst>
              </p:cNvPr>
              <p:cNvSpPr/>
              <p:nvPr/>
            </p:nvSpPr>
            <p:spPr bwMode="auto">
              <a:xfrm>
                <a:off x="2210466"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98" name="Group 297">
              <a:extLst>
                <a:ext uri="{FF2B5EF4-FFF2-40B4-BE49-F238E27FC236}">
                  <a16:creationId xmlns:a16="http://schemas.microsoft.com/office/drawing/2014/main" id="{C3110A4C-DACC-3D37-4B44-95040C68F4FA}"/>
                </a:ext>
              </a:extLst>
            </p:cNvPr>
            <p:cNvGrpSpPr/>
            <p:nvPr/>
          </p:nvGrpSpPr>
          <p:grpSpPr>
            <a:xfrm>
              <a:off x="8034019" y="4857573"/>
              <a:ext cx="789573" cy="370428"/>
              <a:chOff x="1581454" y="3167988"/>
              <a:chExt cx="789573" cy="370428"/>
            </a:xfrm>
          </p:grpSpPr>
          <p:sp>
            <p:nvSpPr>
              <p:cNvPr id="299" name="Rectangle 298">
                <a:extLst>
                  <a:ext uri="{FF2B5EF4-FFF2-40B4-BE49-F238E27FC236}">
                    <a16:creationId xmlns:a16="http://schemas.microsoft.com/office/drawing/2014/main" id="{BD47145B-C5DB-FA64-722D-F42D67877032}"/>
                  </a:ext>
                </a:extLst>
              </p:cNvPr>
              <p:cNvSpPr/>
              <p:nvPr/>
            </p:nvSpPr>
            <p:spPr bwMode="auto">
              <a:xfrm>
                <a:off x="1587324"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0" name="Rectangle 299">
                <a:extLst>
                  <a:ext uri="{FF2B5EF4-FFF2-40B4-BE49-F238E27FC236}">
                    <a16:creationId xmlns:a16="http://schemas.microsoft.com/office/drawing/2014/main" id="{6A559D8E-A81D-7478-8D49-B56712CA6BF3}"/>
                  </a:ext>
                </a:extLst>
              </p:cNvPr>
              <p:cNvSpPr/>
              <p:nvPr/>
            </p:nvSpPr>
            <p:spPr bwMode="auto">
              <a:xfrm>
                <a:off x="2017066"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1" name="Rectangle 300">
                <a:extLst>
                  <a:ext uri="{FF2B5EF4-FFF2-40B4-BE49-F238E27FC236}">
                    <a16:creationId xmlns:a16="http://schemas.microsoft.com/office/drawing/2014/main" id="{B295C23F-05B5-1E52-746D-F960303BC7D8}"/>
                  </a:ext>
                </a:extLst>
              </p:cNvPr>
              <p:cNvSpPr/>
              <p:nvPr/>
            </p:nvSpPr>
            <p:spPr bwMode="auto">
              <a:xfrm>
                <a:off x="1581454"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2" name="Rectangle 301">
                <a:extLst>
                  <a:ext uri="{FF2B5EF4-FFF2-40B4-BE49-F238E27FC236}">
                    <a16:creationId xmlns:a16="http://schemas.microsoft.com/office/drawing/2014/main" id="{BEAE362F-1565-28CF-4B5D-0F790CF6467D}"/>
                  </a:ext>
                </a:extLst>
              </p:cNvPr>
              <p:cNvSpPr/>
              <p:nvPr/>
            </p:nvSpPr>
            <p:spPr bwMode="auto">
              <a:xfrm>
                <a:off x="2011196"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303" name="Group 302">
              <a:extLst>
                <a:ext uri="{FF2B5EF4-FFF2-40B4-BE49-F238E27FC236}">
                  <a16:creationId xmlns:a16="http://schemas.microsoft.com/office/drawing/2014/main" id="{D0473E56-C737-AFFE-0708-F78BAC0F5327}"/>
                </a:ext>
              </a:extLst>
            </p:cNvPr>
            <p:cNvGrpSpPr/>
            <p:nvPr/>
          </p:nvGrpSpPr>
          <p:grpSpPr>
            <a:xfrm>
              <a:off x="9843918" y="4857573"/>
              <a:ext cx="1213445" cy="153384"/>
              <a:chOff x="1356852" y="1486637"/>
              <a:chExt cx="1213445" cy="153384"/>
            </a:xfrm>
          </p:grpSpPr>
          <p:sp>
            <p:nvSpPr>
              <p:cNvPr id="304" name="Rectangle 303">
                <a:extLst>
                  <a:ext uri="{FF2B5EF4-FFF2-40B4-BE49-F238E27FC236}">
                    <a16:creationId xmlns:a16="http://schemas.microsoft.com/office/drawing/2014/main" id="{2483C9F2-9A5B-3DBA-3F6E-9FB9D6B3B3E6}"/>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5" name="Rectangle 304">
                <a:extLst>
                  <a:ext uri="{FF2B5EF4-FFF2-40B4-BE49-F238E27FC236}">
                    <a16:creationId xmlns:a16="http://schemas.microsoft.com/office/drawing/2014/main" id="{33420EB4-68BE-E751-C70D-C6E9872B7E12}"/>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6" name="Rectangle 305">
                <a:extLst>
                  <a:ext uri="{FF2B5EF4-FFF2-40B4-BE49-F238E27FC236}">
                    <a16:creationId xmlns:a16="http://schemas.microsoft.com/office/drawing/2014/main" id="{DD65AB15-63D2-F4CB-2850-221A0AC0771E}"/>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grpSp>
        <p:nvGrpSpPr>
          <p:cNvPr id="330" name="Group 329">
            <a:extLst>
              <a:ext uri="{FF2B5EF4-FFF2-40B4-BE49-F238E27FC236}">
                <a16:creationId xmlns:a16="http://schemas.microsoft.com/office/drawing/2014/main" id="{D83DFECF-B9AC-4E36-1D1A-A24EF958BB70}"/>
              </a:ext>
            </a:extLst>
          </p:cNvPr>
          <p:cNvGrpSpPr/>
          <p:nvPr/>
        </p:nvGrpSpPr>
        <p:grpSpPr>
          <a:xfrm>
            <a:off x="2165476" y="5378905"/>
            <a:ext cx="7997270" cy="370428"/>
            <a:chOff x="2165476" y="5669596"/>
            <a:chExt cx="7997270" cy="370428"/>
          </a:xfrm>
        </p:grpSpPr>
        <p:grpSp>
          <p:nvGrpSpPr>
            <p:cNvPr id="307" name="Group 306">
              <a:extLst>
                <a:ext uri="{FF2B5EF4-FFF2-40B4-BE49-F238E27FC236}">
                  <a16:creationId xmlns:a16="http://schemas.microsoft.com/office/drawing/2014/main" id="{CBDA0E48-C628-B64F-8256-5B07A6891F6A}"/>
                </a:ext>
              </a:extLst>
            </p:cNvPr>
            <p:cNvGrpSpPr/>
            <p:nvPr/>
          </p:nvGrpSpPr>
          <p:grpSpPr>
            <a:xfrm>
              <a:off x="2165476" y="5669596"/>
              <a:ext cx="1649057" cy="370428"/>
              <a:chOff x="1350982" y="1486637"/>
              <a:chExt cx="1649057" cy="370428"/>
            </a:xfrm>
          </p:grpSpPr>
          <p:sp>
            <p:nvSpPr>
              <p:cNvPr id="308" name="Rectangle 307">
                <a:extLst>
                  <a:ext uri="{FF2B5EF4-FFF2-40B4-BE49-F238E27FC236}">
                    <a16:creationId xmlns:a16="http://schemas.microsoft.com/office/drawing/2014/main" id="{10110216-06C9-08BF-AB7E-674CA2374BC8}"/>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9" name="Rectangle 308">
                <a:extLst>
                  <a:ext uri="{FF2B5EF4-FFF2-40B4-BE49-F238E27FC236}">
                    <a16:creationId xmlns:a16="http://schemas.microsoft.com/office/drawing/2014/main" id="{635DB56D-B4FA-FF38-D8D9-A0D94396C57B}"/>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0" name="Rectangle 309">
                <a:extLst>
                  <a:ext uri="{FF2B5EF4-FFF2-40B4-BE49-F238E27FC236}">
                    <a16:creationId xmlns:a16="http://schemas.microsoft.com/office/drawing/2014/main" id="{7821309E-CDB6-4517-11E9-C3C7FFA5D748}"/>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1" name="Rectangle 310">
                <a:extLst>
                  <a:ext uri="{FF2B5EF4-FFF2-40B4-BE49-F238E27FC236}">
                    <a16:creationId xmlns:a16="http://schemas.microsoft.com/office/drawing/2014/main" id="{E3EA79D2-3819-042B-94AD-790BBF9EC6E9}"/>
                  </a:ext>
                </a:extLst>
              </p:cNvPr>
              <p:cNvSpPr/>
              <p:nvPr/>
            </p:nvSpPr>
            <p:spPr bwMode="auto">
              <a:xfrm>
                <a:off x="2646078"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2" name="Rectangle 311">
                <a:extLst>
                  <a:ext uri="{FF2B5EF4-FFF2-40B4-BE49-F238E27FC236}">
                    <a16:creationId xmlns:a16="http://schemas.microsoft.com/office/drawing/2014/main" id="{86EABD45-DC0A-D667-1EBB-CF0C1E458086}"/>
                  </a:ext>
                </a:extLst>
              </p:cNvPr>
              <p:cNvSpPr/>
              <p:nvPr/>
            </p:nvSpPr>
            <p:spPr bwMode="auto">
              <a:xfrm>
                <a:off x="1350982"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3" name="Rectangle 312">
                <a:extLst>
                  <a:ext uri="{FF2B5EF4-FFF2-40B4-BE49-F238E27FC236}">
                    <a16:creationId xmlns:a16="http://schemas.microsoft.com/office/drawing/2014/main" id="{0BF29DEC-54E5-C280-77C5-127B978367B7}"/>
                  </a:ext>
                </a:extLst>
              </p:cNvPr>
              <p:cNvSpPr/>
              <p:nvPr/>
            </p:nvSpPr>
            <p:spPr bwMode="auto">
              <a:xfrm>
                <a:off x="1780724"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4" name="Rectangle 313">
                <a:extLst>
                  <a:ext uri="{FF2B5EF4-FFF2-40B4-BE49-F238E27FC236}">
                    <a16:creationId xmlns:a16="http://schemas.microsoft.com/office/drawing/2014/main" id="{979EEAD1-C9D0-5792-63DD-8B85F6B5C146}"/>
                  </a:ext>
                </a:extLst>
              </p:cNvPr>
              <p:cNvSpPr/>
              <p:nvPr/>
            </p:nvSpPr>
            <p:spPr bwMode="auto">
              <a:xfrm>
                <a:off x="2210466"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5" name="Rectangle 314">
                <a:extLst>
                  <a:ext uri="{FF2B5EF4-FFF2-40B4-BE49-F238E27FC236}">
                    <a16:creationId xmlns:a16="http://schemas.microsoft.com/office/drawing/2014/main" id="{28C414C9-16A3-73A5-022E-72E2265ED23E}"/>
                  </a:ext>
                </a:extLst>
              </p:cNvPr>
              <p:cNvSpPr/>
              <p:nvPr/>
            </p:nvSpPr>
            <p:spPr bwMode="auto">
              <a:xfrm>
                <a:off x="2640208" y="1703681"/>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316" name="Group 315">
              <a:extLst>
                <a:ext uri="{FF2B5EF4-FFF2-40B4-BE49-F238E27FC236}">
                  <a16:creationId xmlns:a16="http://schemas.microsoft.com/office/drawing/2014/main" id="{A5723F99-133A-601E-80DA-5DDB7BF37E59}"/>
                </a:ext>
              </a:extLst>
            </p:cNvPr>
            <p:cNvGrpSpPr/>
            <p:nvPr/>
          </p:nvGrpSpPr>
          <p:grpSpPr>
            <a:xfrm>
              <a:off x="5792775" y="5669596"/>
              <a:ext cx="1213445" cy="153384"/>
              <a:chOff x="1356852" y="1486637"/>
              <a:chExt cx="1213445" cy="153384"/>
            </a:xfrm>
          </p:grpSpPr>
          <p:sp>
            <p:nvSpPr>
              <p:cNvPr id="317" name="Rectangle 316">
                <a:extLst>
                  <a:ext uri="{FF2B5EF4-FFF2-40B4-BE49-F238E27FC236}">
                    <a16:creationId xmlns:a16="http://schemas.microsoft.com/office/drawing/2014/main" id="{F4C6EBD3-B35D-F2B6-B73E-8BA343323DAC}"/>
                  </a:ext>
                </a:extLst>
              </p:cNvPr>
              <p:cNvSpPr/>
              <p:nvPr/>
            </p:nvSpPr>
            <p:spPr bwMode="auto">
              <a:xfrm>
                <a:off x="1356852"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8" name="Rectangle 317">
                <a:extLst>
                  <a:ext uri="{FF2B5EF4-FFF2-40B4-BE49-F238E27FC236}">
                    <a16:creationId xmlns:a16="http://schemas.microsoft.com/office/drawing/2014/main" id="{E0B6964E-CEF5-FDDE-F731-91E1A606E17F}"/>
                  </a:ext>
                </a:extLst>
              </p:cNvPr>
              <p:cNvSpPr/>
              <p:nvPr/>
            </p:nvSpPr>
            <p:spPr bwMode="auto">
              <a:xfrm>
                <a:off x="1786594"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9" name="Rectangle 318">
                <a:extLst>
                  <a:ext uri="{FF2B5EF4-FFF2-40B4-BE49-F238E27FC236}">
                    <a16:creationId xmlns:a16="http://schemas.microsoft.com/office/drawing/2014/main" id="{18FDAECD-0767-CD61-07E9-A009C0B08317}"/>
                  </a:ext>
                </a:extLst>
              </p:cNvPr>
              <p:cNvSpPr/>
              <p:nvPr/>
            </p:nvSpPr>
            <p:spPr bwMode="auto">
              <a:xfrm>
                <a:off x="2216336" y="1486637"/>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320" name="Group 319">
              <a:extLst>
                <a:ext uri="{FF2B5EF4-FFF2-40B4-BE49-F238E27FC236}">
                  <a16:creationId xmlns:a16="http://schemas.microsoft.com/office/drawing/2014/main" id="{E665BDFE-EFEA-BB70-8945-053238F52633}"/>
                </a:ext>
              </a:extLst>
            </p:cNvPr>
            <p:cNvGrpSpPr/>
            <p:nvPr/>
          </p:nvGrpSpPr>
          <p:grpSpPr>
            <a:xfrm>
              <a:off x="9373173" y="5669596"/>
              <a:ext cx="789573" cy="370428"/>
              <a:chOff x="1581454" y="3167988"/>
              <a:chExt cx="789573" cy="370428"/>
            </a:xfrm>
          </p:grpSpPr>
          <p:sp>
            <p:nvSpPr>
              <p:cNvPr id="321" name="Rectangle 320">
                <a:extLst>
                  <a:ext uri="{FF2B5EF4-FFF2-40B4-BE49-F238E27FC236}">
                    <a16:creationId xmlns:a16="http://schemas.microsoft.com/office/drawing/2014/main" id="{2A8FE437-15EC-DC5F-EB32-6E260AE141C2}"/>
                  </a:ext>
                </a:extLst>
              </p:cNvPr>
              <p:cNvSpPr/>
              <p:nvPr/>
            </p:nvSpPr>
            <p:spPr bwMode="auto">
              <a:xfrm>
                <a:off x="1587324"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2" name="Rectangle 321">
                <a:extLst>
                  <a:ext uri="{FF2B5EF4-FFF2-40B4-BE49-F238E27FC236}">
                    <a16:creationId xmlns:a16="http://schemas.microsoft.com/office/drawing/2014/main" id="{312B99E6-D1C8-37C0-2215-1FE5B547BC16}"/>
                  </a:ext>
                </a:extLst>
              </p:cNvPr>
              <p:cNvSpPr/>
              <p:nvPr/>
            </p:nvSpPr>
            <p:spPr bwMode="auto">
              <a:xfrm>
                <a:off x="2017066" y="3167988"/>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3" name="Rectangle 322">
                <a:extLst>
                  <a:ext uri="{FF2B5EF4-FFF2-40B4-BE49-F238E27FC236}">
                    <a16:creationId xmlns:a16="http://schemas.microsoft.com/office/drawing/2014/main" id="{F36B32B8-5D32-977F-B945-F8CCCBC910B5}"/>
                  </a:ext>
                </a:extLst>
              </p:cNvPr>
              <p:cNvSpPr/>
              <p:nvPr/>
            </p:nvSpPr>
            <p:spPr bwMode="auto">
              <a:xfrm>
                <a:off x="1581454" y="3385032"/>
                <a:ext cx="353961" cy="153384"/>
              </a:xfrm>
              <a:prstGeom prst="rect">
                <a:avLst/>
              </a:prstGeom>
              <a:solidFill>
                <a:schemeClr val="accent6">
                  <a:lumMod val="20000"/>
                  <a:lumOff val="80000"/>
                </a:schemeClr>
              </a:solidFill>
              <a:ln>
                <a:solidFill>
                  <a:schemeClr val="bg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4" name="Rectangle 323">
                <a:extLst>
                  <a:ext uri="{FF2B5EF4-FFF2-40B4-BE49-F238E27FC236}">
                    <a16:creationId xmlns:a16="http://schemas.microsoft.com/office/drawing/2014/main" id="{D6D14D23-0F32-DF38-1397-FA185F950CD0}"/>
                  </a:ext>
                </a:extLst>
              </p:cNvPr>
              <p:cNvSpPr/>
              <p:nvPr/>
            </p:nvSpPr>
            <p:spPr bwMode="auto">
              <a:xfrm>
                <a:off x="2011196" y="3385032"/>
                <a:ext cx="353961" cy="153384"/>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grpSp>
        <p:nvGrpSpPr>
          <p:cNvPr id="349" name="Group 348">
            <a:extLst>
              <a:ext uri="{FF2B5EF4-FFF2-40B4-BE49-F238E27FC236}">
                <a16:creationId xmlns:a16="http://schemas.microsoft.com/office/drawing/2014/main" id="{7D694FF8-4CCC-8601-82B9-E0801FAA2DD4}"/>
              </a:ext>
            </a:extLst>
          </p:cNvPr>
          <p:cNvGrpSpPr/>
          <p:nvPr/>
        </p:nvGrpSpPr>
        <p:grpSpPr>
          <a:xfrm>
            <a:off x="551689" y="5941533"/>
            <a:ext cx="662041" cy="347302"/>
            <a:chOff x="551689" y="5941533"/>
            <a:chExt cx="662041" cy="347302"/>
          </a:xfrm>
        </p:grpSpPr>
        <p:sp>
          <p:nvSpPr>
            <p:cNvPr id="331" name="TextBox 330">
              <a:extLst>
                <a:ext uri="{FF2B5EF4-FFF2-40B4-BE49-F238E27FC236}">
                  <a16:creationId xmlns:a16="http://schemas.microsoft.com/office/drawing/2014/main" id="{85A2903E-C9E3-8AB5-2078-B1F871320A00}"/>
                </a:ext>
              </a:extLst>
            </p:cNvPr>
            <p:cNvSpPr txBox="1"/>
            <p:nvPr/>
          </p:nvSpPr>
          <p:spPr>
            <a:xfrm>
              <a:off x="551689" y="6150336"/>
              <a:ext cx="662041" cy="138499"/>
            </a:xfrm>
            <a:prstGeom prst="rect">
              <a:avLst/>
            </a:prstGeom>
            <a:noFill/>
            <a:ln w="19050">
              <a:solidFill>
                <a:schemeClr val="tx1"/>
              </a:solidFill>
            </a:ln>
          </p:spPr>
          <p:txBody>
            <a:bodyPr wrap="none" lIns="0" tIns="0" rIns="0" bIns="0" rtlCol="0">
              <a:spAutoFit/>
            </a:bodyPr>
            <a:lstStyle/>
            <a:p>
              <a:pPr algn="ctr"/>
              <a:r>
                <a:rPr lang="en-US" sz="900">
                  <a:solidFill>
                    <a:schemeClr val="bg2"/>
                  </a:solidFill>
                </a:rPr>
                <a:t>SWIM LANES</a:t>
              </a:r>
            </a:p>
          </p:txBody>
        </p:sp>
        <p:cxnSp>
          <p:nvCxnSpPr>
            <p:cNvPr id="335" name="Straight Arrow Connector 334">
              <a:extLst>
                <a:ext uri="{FF2B5EF4-FFF2-40B4-BE49-F238E27FC236}">
                  <a16:creationId xmlns:a16="http://schemas.microsoft.com/office/drawing/2014/main" id="{2172FB55-3278-A046-C8A8-020B63077319}"/>
                </a:ext>
              </a:extLst>
            </p:cNvPr>
            <p:cNvCxnSpPr>
              <a:cxnSpLocks/>
            </p:cNvCxnSpPr>
            <p:nvPr/>
          </p:nvCxnSpPr>
          <p:spPr>
            <a:xfrm flipV="1">
              <a:off x="882709" y="5941533"/>
              <a:ext cx="0" cy="180164"/>
            </a:xfrm>
            <a:prstGeom prst="straightConnector1">
              <a:avLst/>
            </a:prstGeom>
            <a:ln w="19050">
              <a:solidFill>
                <a:schemeClr val="bg2"/>
              </a:solidFill>
              <a:prstDash val="sysDot"/>
              <a:headEnd type="none" w="lg" len="med"/>
              <a:tailEnd type="arrow"/>
            </a:ln>
          </p:spPr>
          <p:style>
            <a:lnRef idx="1">
              <a:schemeClr val="accent1"/>
            </a:lnRef>
            <a:fillRef idx="0">
              <a:schemeClr val="accent1"/>
            </a:fillRef>
            <a:effectRef idx="0">
              <a:schemeClr val="accent1"/>
            </a:effectRef>
            <a:fontRef idx="minor">
              <a:schemeClr val="tx1"/>
            </a:fontRef>
          </p:style>
        </p:cxnSp>
      </p:grpSp>
      <p:grpSp>
        <p:nvGrpSpPr>
          <p:cNvPr id="350" name="Group 349">
            <a:extLst>
              <a:ext uri="{FF2B5EF4-FFF2-40B4-BE49-F238E27FC236}">
                <a16:creationId xmlns:a16="http://schemas.microsoft.com/office/drawing/2014/main" id="{4EB06BC1-76E9-DBBB-9129-D3092EDA1F74}"/>
              </a:ext>
            </a:extLst>
          </p:cNvPr>
          <p:cNvGrpSpPr/>
          <p:nvPr/>
        </p:nvGrpSpPr>
        <p:grpSpPr>
          <a:xfrm>
            <a:off x="5586814" y="5878813"/>
            <a:ext cx="990656" cy="410022"/>
            <a:chOff x="5586814" y="5878813"/>
            <a:chExt cx="990656" cy="410022"/>
          </a:xfrm>
        </p:grpSpPr>
        <p:sp>
          <p:nvSpPr>
            <p:cNvPr id="332" name="TextBox 331">
              <a:extLst>
                <a:ext uri="{FF2B5EF4-FFF2-40B4-BE49-F238E27FC236}">
                  <a16:creationId xmlns:a16="http://schemas.microsoft.com/office/drawing/2014/main" id="{673AF06E-0A0C-E4B7-A34A-864FE833B6E4}"/>
                </a:ext>
              </a:extLst>
            </p:cNvPr>
            <p:cNvSpPr txBox="1"/>
            <p:nvPr/>
          </p:nvSpPr>
          <p:spPr>
            <a:xfrm>
              <a:off x="5586814" y="6150336"/>
              <a:ext cx="990656" cy="138499"/>
            </a:xfrm>
            <a:prstGeom prst="rect">
              <a:avLst/>
            </a:prstGeom>
            <a:noFill/>
            <a:ln w="19050">
              <a:noFill/>
            </a:ln>
          </p:spPr>
          <p:txBody>
            <a:bodyPr wrap="none" lIns="0" tIns="0" rIns="0" bIns="0" rtlCol="0">
              <a:spAutoFit/>
            </a:bodyPr>
            <a:lstStyle/>
            <a:p>
              <a:pPr algn="ctr"/>
              <a:r>
                <a:rPr lang="en-US" sz="900">
                  <a:solidFill>
                    <a:schemeClr val="bg2"/>
                  </a:solidFill>
                </a:rPr>
                <a:t>CONTROL GROUPS</a:t>
              </a:r>
            </a:p>
          </p:txBody>
        </p:sp>
        <p:cxnSp>
          <p:nvCxnSpPr>
            <p:cNvPr id="340" name="Straight Arrow Connector 339">
              <a:extLst>
                <a:ext uri="{FF2B5EF4-FFF2-40B4-BE49-F238E27FC236}">
                  <a16:creationId xmlns:a16="http://schemas.microsoft.com/office/drawing/2014/main" id="{BB81C0D4-A80D-05BD-AA3C-8ED8893E8BB2}"/>
                </a:ext>
              </a:extLst>
            </p:cNvPr>
            <p:cNvCxnSpPr>
              <a:cxnSpLocks/>
            </p:cNvCxnSpPr>
            <p:nvPr/>
          </p:nvCxnSpPr>
          <p:spPr>
            <a:xfrm flipV="1">
              <a:off x="6091233" y="5878813"/>
              <a:ext cx="0" cy="242884"/>
            </a:xfrm>
            <a:prstGeom prst="straightConnector1">
              <a:avLst/>
            </a:prstGeom>
            <a:ln w="19050">
              <a:solidFill>
                <a:schemeClr val="bg1"/>
              </a:solidFill>
              <a:prstDash val="sysDot"/>
              <a:headEnd type="none" w="lg" len="med"/>
              <a:tailEnd type="arrow"/>
            </a:ln>
          </p:spPr>
          <p:style>
            <a:lnRef idx="1">
              <a:schemeClr val="accent1"/>
            </a:lnRef>
            <a:fillRef idx="0">
              <a:schemeClr val="accent1"/>
            </a:fillRef>
            <a:effectRef idx="0">
              <a:schemeClr val="accent1"/>
            </a:effectRef>
            <a:fontRef idx="minor">
              <a:schemeClr val="tx1"/>
            </a:fontRef>
          </p:style>
        </p:cxnSp>
      </p:grpSp>
      <p:grpSp>
        <p:nvGrpSpPr>
          <p:cNvPr id="351" name="Group 350">
            <a:extLst>
              <a:ext uri="{FF2B5EF4-FFF2-40B4-BE49-F238E27FC236}">
                <a16:creationId xmlns:a16="http://schemas.microsoft.com/office/drawing/2014/main" id="{C0E76046-CE29-CFFC-833C-31E5E9FD84AD}"/>
              </a:ext>
            </a:extLst>
          </p:cNvPr>
          <p:cNvGrpSpPr/>
          <p:nvPr/>
        </p:nvGrpSpPr>
        <p:grpSpPr>
          <a:xfrm>
            <a:off x="9263477" y="5732730"/>
            <a:ext cx="583493" cy="556105"/>
            <a:chOff x="9263477" y="5732730"/>
            <a:chExt cx="583493" cy="556105"/>
          </a:xfrm>
        </p:grpSpPr>
        <p:sp>
          <p:nvSpPr>
            <p:cNvPr id="333" name="TextBox 332">
              <a:extLst>
                <a:ext uri="{FF2B5EF4-FFF2-40B4-BE49-F238E27FC236}">
                  <a16:creationId xmlns:a16="http://schemas.microsoft.com/office/drawing/2014/main" id="{B2866690-58D5-B5C0-DBD4-1B4062CE427F}"/>
                </a:ext>
              </a:extLst>
            </p:cNvPr>
            <p:cNvSpPr txBox="1"/>
            <p:nvPr/>
          </p:nvSpPr>
          <p:spPr>
            <a:xfrm>
              <a:off x="9263477" y="6150336"/>
              <a:ext cx="583493" cy="138499"/>
            </a:xfrm>
            <a:prstGeom prst="rect">
              <a:avLst/>
            </a:prstGeom>
            <a:noFill/>
            <a:ln w="19050">
              <a:noFill/>
            </a:ln>
          </p:spPr>
          <p:txBody>
            <a:bodyPr wrap="none" lIns="0" tIns="0" rIns="0" bIns="0" rtlCol="0">
              <a:spAutoFit/>
            </a:bodyPr>
            <a:lstStyle/>
            <a:p>
              <a:pPr algn="ctr"/>
              <a:r>
                <a:rPr lang="en-US" sz="900">
                  <a:solidFill>
                    <a:schemeClr val="bg2"/>
                  </a:solidFill>
                </a:rPr>
                <a:t>CONTROLS</a:t>
              </a:r>
            </a:p>
          </p:txBody>
        </p:sp>
        <p:cxnSp>
          <p:nvCxnSpPr>
            <p:cNvPr id="343" name="Straight Arrow Connector 342">
              <a:extLst>
                <a:ext uri="{FF2B5EF4-FFF2-40B4-BE49-F238E27FC236}">
                  <a16:creationId xmlns:a16="http://schemas.microsoft.com/office/drawing/2014/main" id="{518BC482-29E1-CE95-2AC5-A82C70025CC6}"/>
                </a:ext>
              </a:extLst>
            </p:cNvPr>
            <p:cNvCxnSpPr>
              <a:cxnSpLocks/>
            </p:cNvCxnSpPr>
            <p:nvPr/>
          </p:nvCxnSpPr>
          <p:spPr>
            <a:xfrm flipV="1">
              <a:off x="9555224" y="5732730"/>
              <a:ext cx="0" cy="388967"/>
            </a:xfrm>
            <a:prstGeom prst="straightConnector1">
              <a:avLst/>
            </a:prstGeom>
            <a:ln w="19050">
              <a:solidFill>
                <a:schemeClr val="bg2"/>
              </a:solidFill>
              <a:prstDash val="sysDot"/>
              <a:headEnd type="none" w="lg" len="med"/>
              <a:tailEnd type="arrow"/>
            </a:ln>
          </p:spPr>
          <p:style>
            <a:lnRef idx="1">
              <a:schemeClr val="accent1"/>
            </a:lnRef>
            <a:fillRef idx="0">
              <a:schemeClr val="accent1"/>
            </a:fillRef>
            <a:effectRef idx="0">
              <a:schemeClr val="accent1"/>
            </a:effectRef>
            <a:fontRef idx="minor">
              <a:schemeClr val="tx1"/>
            </a:fontRef>
          </p:style>
        </p:cxnSp>
      </p:grpSp>
      <p:sp>
        <p:nvSpPr>
          <p:cNvPr id="102" name="Rectangle: Rounded Corners 101">
            <a:extLst>
              <a:ext uri="{FF2B5EF4-FFF2-40B4-BE49-F238E27FC236}">
                <a16:creationId xmlns:a16="http://schemas.microsoft.com/office/drawing/2014/main" id="{4A8FC285-2A7E-3AA2-38B9-35E8561B6A4C}"/>
              </a:ext>
            </a:extLst>
          </p:cNvPr>
          <p:cNvSpPr/>
          <p:nvPr/>
        </p:nvSpPr>
        <p:spPr bwMode="auto">
          <a:xfrm>
            <a:off x="4802798" y="534998"/>
            <a:ext cx="617162" cy="300662"/>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a:solidFill>
                  <a:srgbClr val="FFFFFF"/>
                </a:solidFill>
                <a:ea typeface="Segoe UI" pitchFamily="34" charset="0"/>
                <a:cs typeface="Segoe UI" pitchFamily="34" charset="0"/>
              </a:rPr>
              <a:t>Identity</a:t>
            </a:r>
          </a:p>
        </p:txBody>
      </p:sp>
      <p:sp>
        <p:nvSpPr>
          <p:cNvPr id="103" name="Rectangle: Rounded Corners 102">
            <a:extLst>
              <a:ext uri="{FF2B5EF4-FFF2-40B4-BE49-F238E27FC236}">
                <a16:creationId xmlns:a16="http://schemas.microsoft.com/office/drawing/2014/main" id="{F4E956B4-5E2A-A2B2-A4AF-E67FC8A40416}"/>
              </a:ext>
            </a:extLst>
          </p:cNvPr>
          <p:cNvSpPr/>
          <p:nvPr/>
        </p:nvSpPr>
        <p:spPr bwMode="auto">
          <a:xfrm>
            <a:off x="5464977" y="534998"/>
            <a:ext cx="617162" cy="300662"/>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a:solidFill>
                  <a:srgbClr val="FFFFFF"/>
                </a:solidFill>
                <a:ea typeface="Segoe UI" pitchFamily="34" charset="0"/>
                <a:cs typeface="Segoe UI" pitchFamily="34" charset="0"/>
              </a:rPr>
              <a:t>Devices</a:t>
            </a:r>
          </a:p>
        </p:txBody>
      </p:sp>
      <p:sp>
        <p:nvSpPr>
          <p:cNvPr id="104" name="Rectangle: Rounded Corners 103">
            <a:extLst>
              <a:ext uri="{FF2B5EF4-FFF2-40B4-BE49-F238E27FC236}">
                <a16:creationId xmlns:a16="http://schemas.microsoft.com/office/drawing/2014/main" id="{389C5264-A28D-2A99-C840-554147D111CD}"/>
              </a:ext>
            </a:extLst>
          </p:cNvPr>
          <p:cNvSpPr/>
          <p:nvPr/>
        </p:nvSpPr>
        <p:spPr bwMode="auto">
          <a:xfrm>
            <a:off x="6127156" y="534998"/>
            <a:ext cx="617162" cy="300662"/>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a:solidFill>
                  <a:srgbClr val="FFFFFF"/>
                </a:solidFill>
                <a:ea typeface="Segoe UI" pitchFamily="34" charset="0"/>
                <a:cs typeface="Segoe UI" pitchFamily="34" charset="0"/>
              </a:rPr>
              <a:t>Data</a:t>
            </a:r>
          </a:p>
        </p:txBody>
      </p:sp>
      <p:sp>
        <p:nvSpPr>
          <p:cNvPr id="105" name="Rectangle: Rounded Corners 104">
            <a:extLst>
              <a:ext uri="{FF2B5EF4-FFF2-40B4-BE49-F238E27FC236}">
                <a16:creationId xmlns:a16="http://schemas.microsoft.com/office/drawing/2014/main" id="{8D44273F-A824-7136-6515-E5A69F7A6CFD}"/>
              </a:ext>
            </a:extLst>
          </p:cNvPr>
          <p:cNvSpPr/>
          <p:nvPr/>
        </p:nvSpPr>
        <p:spPr bwMode="auto">
          <a:xfrm>
            <a:off x="6789335" y="534998"/>
            <a:ext cx="617162" cy="300662"/>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a:solidFill>
                  <a:srgbClr val="FFFFFF"/>
                </a:solidFill>
                <a:ea typeface="Segoe UI" pitchFamily="34" charset="0"/>
                <a:cs typeface="Segoe UI" pitchFamily="34" charset="0"/>
              </a:rPr>
              <a:t>Network</a:t>
            </a:r>
          </a:p>
        </p:txBody>
      </p:sp>
      <p:sp>
        <p:nvSpPr>
          <p:cNvPr id="106" name="Rectangle: Rounded Corners 105">
            <a:extLst>
              <a:ext uri="{FF2B5EF4-FFF2-40B4-BE49-F238E27FC236}">
                <a16:creationId xmlns:a16="http://schemas.microsoft.com/office/drawing/2014/main" id="{1FCA1BA6-3279-85F4-7117-F8A0B837D1B5}"/>
              </a:ext>
            </a:extLst>
          </p:cNvPr>
          <p:cNvSpPr/>
          <p:nvPr/>
        </p:nvSpPr>
        <p:spPr bwMode="auto">
          <a:xfrm>
            <a:off x="7451514" y="534998"/>
            <a:ext cx="820210" cy="300662"/>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a:solidFill>
                  <a:srgbClr val="FFFFFF"/>
                </a:solidFill>
                <a:ea typeface="Segoe UI" pitchFamily="34" charset="0"/>
                <a:cs typeface="Segoe UI" pitchFamily="34" charset="0"/>
              </a:rPr>
              <a:t>Infrastructure</a:t>
            </a:r>
          </a:p>
        </p:txBody>
      </p:sp>
      <p:sp>
        <p:nvSpPr>
          <p:cNvPr id="107" name="Rectangle: Rounded Corners 106">
            <a:extLst>
              <a:ext uri="{FF2B5EF4-FFF2-40B4-BE49-F238E27FC236}">
                <a16:creationId xmlns:a16="http://schemas.microsoft.com/office/drawing/2014/main" id="{305FA37B-6EDF-8762-F8B4-8D869C4E3D5D}"/>
              </a:ext>
            </a:extLst>
          </p:cNvPr>
          <p:cNvSpPr/>
          <p:nvPr/>
        </p:nvSpPr>
        <p:spPr bwMode="auto">
          <a:xfrm>
            <a:off x="8316741" y="534998"/>
            <a:ext cx="1172342" cy="300662"/>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dirty="0">
                <a:solidFill>
                  <a:srgbClr val="FFFFFF"/>
                </a:solidFill>
                <a:ea typeface="Segoe UI" pitchFamily="34" charset="0"/>
                <a:cs typeface="Segoe UI" pitchFamily="34" charset="0"/>
              </a:rPr>
              <a:t>Security Operations</a:t>
            </a:r>
          </a:p>
        </p:txBody>
      </p:sp>
      <p:sp>
        <p:nvSpPr>
          <p:cNvPr id="116" name="Rectangle: Rounded Corners 115">
            <a:extLst>
              <a:ext uri="{FF2B5EF4-FFF2-40B4-BE49-F238E27FC236}">
                <a16:creationId xmlns:a16="http://schemas.microsoft.com/office/drawing/2014/main" id="{7ADFDB49-2D2D-E00D-25F2-0268E05CA957}"/>
              </a:ext>
            </a:extLst>
          </p:cNvPr>
          <p:cNvSpPr/>
          <p:nvPr/>
        </p:nvSpPr>
        <p:spPr bwMode="auto">
          <a:xfrm>
            <a:off x="3847754" y="533844"/>
            <a:ext cx="934780" cy="300662"/>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a:solidFill>
                  <a:srgbClr val="FFFFFF"/>
                </a:solidFill>
                <a:ea typeface="Segoe UI" pitchFamily="34" charset="0"/>
                <a:cs typeface="Segoe UI" pitchFamily="34" charset="0"/>
              </a:rPr>
              <a:t>Pillar Roadmap:</a:t>
            </a:r>
          </a:p>
        </p:txBody>
      </p:sp>
      <p:sp>
        <p:nvSpPr>
          <p:cNvPr id="108" name="Rectangle: Rounded Corners 107">
            <a:extLst>
              <a:ext uri="{FF2B5EF4-FFF2-40B4-BE49-F238E27FC236}">
                <a16:creationId xmlns:a16="http://schemas.microsoft.com/office/drawing/2014/main" id="{E1A30D41-2308-E59D-C891-FF6AA12FBC04}"/>
              </a:ext>
            </a:extLst>
          </p:cNvPr>
          <p:cNvSpPr/>
          <p:nvPr/>
        </p:nvSpPr>
        <p:spPr bwMode="auto">
          <a:xfrm>
            <a:off x="9534100" y="534998"/>
            <a:ext cx="373690" cy="300662"/>
          </a:xfrm>
          <a:prstGeom prst="roundRect">
            <a:avLst/>
          </a:prstGeom>
          <a:solidFill>
            <a:schemeClr val="tx1"/>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a:solidFill>
                  <a:schemeClr val="bg2"/>
                </a:solidFill>
                <a:ea typeface="Segoe UI" pitchFamily="34" charset="0"/>
                <a:cs typeface="Segoe UI" pitchFamily="34" charset="0"/>
              </a:rPr>
              <a:t>AI</a:t>
            </a:r>
          </a:p>
        </p:txBody>
      </p:sp>
      <p:sp>
        <p:nvSpPr>
          <p:cNvPr id="2" name="Rectangle: Rounded Corners 1">
            <a:extLst>
              <a:ext uri="{FF2B5EF4-FFF2-40B4-BE49-F238E27FC236}">
                <a16:creationId xmlns:a16="http://schemas.microsoft.com/office/drawing/2014/main" id="{4B66D747-CB7C-08E8-B616-1A288D2109EE}"/>
              </a:ext>
            </a:extLst>
          </p:cNvPr>
          <p:cNvSpPr/>
          <p:nvPr/>
        </p:nvSpPr>
        <p:spPr bwMode="auto">
          <a:xfrm>
            <a:off x="9952810" y="534998"/>
            <a:ext cx="794331" cy="300662"/>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dirty="0">
                <a:solidFill>
                  <a:srgbClr val="FFFFFF"/>
                </a:solidFill>
                <a:ea typeface="Segoe UI" pitchFamily="34" charset="0"/>
                <a:cs typeface="Segoe UI" pitchFamily="34" charset="0"/>
              </a:rPr>
              <a:t>DevSecOps</a:t>
            </a:r>
          </a:p>
        </p:txBody>
      </p:sp>
    </p:spTree>
    <p:extLst>
      <p:ext uri="{BB962C8B-B14F-4D97-AF65-F5344CB8AC3E}">
        <p14:creationId xmlns:p14="http://schemas.microsoft.com/office/powerpoint/2010/main" val="1716083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5"/>
                                        </p:tgtEl>
                                        <p:attrNameLst>
                                          <p:attrName>style.visibility</p:attrName>
                                        </p:attrNameLst>
                                      </p:cBhvr>
                                      <p:to>
                                        <p:strVal val="visible"/>
                                      </p:to>
                                    </p:set>
                                    <p:animEffect transition="in" filter="wipe(left)">
                                      <p:cBhvr>
                                        <p:cTn id="10" dur="500"/>
                                        <p:tgtEl>
                                          <p:spTgt spid="115"/>
                                        </p:tgtEl>
                                      </p:cBhvr>
                                    </p:animEffect>
                                  </p:childTnLst>
                                </p:cTn>
                              </p:par>
                              <p:par>
                                <p:cTn id="11" presetID="10" presetClass="entr" presetSubtype="0" fill="hold" nodeType="withEffect">
                                  <p:stCondLst>
                                    <p:cond delay="0"/>
                                  </p:stCondLst>
                                  <p:childTnLst>
                                    <p:set>
                                      <p:cBhvr>
                                        <p:cTn id="12" dur="1" fill="hold">
                                          <p:stCondLst>
                                            <p:cond delay="0"/>
                                          </p:stCondLst>
                                        </p:cTn>
                                        <p:tgtEl>
                                          <p:spTgt spid="353"/>
                                        </p:tgtEl>
                                        <p:attrNameLst>
                                          <p:attrName>style.visibility</p:attrName>
                                        </p:attrNameLst>
                                      </p:cBhvr>
                                      <p:to>
                                        <p:strVal val="visible"/>
                                      </p:to>
                                    </p:set>
                                    <p:animEffect transition="in" filter="fade">
                                      <p:cBhvr>
                                        <p:cTn id="13" dur="500"/>
                                        <p:tgtEl>
                                          <p:spTgt spid="353"/>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16"/>
                                        </p:tgtEl>
                                        <p:attrNameLst>
                                          <p:attrName>style.visibility</p:attrName>
                                        </p:attrNameLst>
                                      </p:cBhvr>
                                      <p:to>
                                        <p:strVal val="visible"/>
                                      </p:to>
                                    </p:set>
                                    <p:animEffect transition="in" filter="fade">
                                      <p:cBhvr>
                                        <p:cTn id="16" dur="500"/>
                                        <p:tgtEl>
                                          <p:spTgt spid="116"/>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102"/>
                                        </p:tgtEl>
                                        <p:attrNameLst>
                                          <p:attrName>style.visibility</p:attrName>
                                        </p:attrNameLst>
                                      </p:cBhvr>
                                      <p:to>
                                        <p:strVal val="visible"/>
                                      </p:to>
                                    </p:set>
                                    <p:animEffect transition="in" filter="fade">
                                      <p:cBhvr>
                                        <p:cTn id="19" dur="500"/>
                                        <p:tgtEl>
                                          <p:spTgt spid="102"/>
                                        </p:tgtEl>
                                      </p:cBhvr>
                                    </p:animEffect>
                                  </p:childTnLst>
                                </p:cTn>
                              </p:par>
                              <p:par>
                                <p:cTn id="20" presetID="10" presetClass="entr" presetSubtype="0" fill="hold" grpId="0" nodeType="withEffect">
                                  <p:stCondLst>
                                    <p:cond delay="60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500"/>
                                        <p:tgtEl>
                                          <p:spTgt spid="103"/>
                                        </p:tgtEl>
                                      </p:cBhvr>
                                    </p:animEffect>
                                  </p:childTnLst>
                                </p:cTn>
                              </p:par>
                              <p:par>
                                <p:cTn id="23" presetID="10" presetClass="entr" presetSubtype="0" fill="hold" grpId="0" nodeType="withEffect">
                                  <p:stCondLst>
                                    <p:cond delay="700"/>
                                  </p:stCondLst>
                                  <p:childTnLst>
                                    <p:set>
                                      <p:cBhvr>
                                        <p:cTn id="24" dur="1" fill="hold">
                                          <p:stCondLst>
                                            <p:cond delay="0"/>
                                          </p:stCondLst>
                                        </p:cTn>
                                        <p:tgtEl>
                                          <p:spTgt spid="104"/>
                                        </p:tgtEl>
                                        <p:attrNameLst>
                                          <p:attrName>style.visibility</p:attrName>
                                        </p:attrNameLst>
                                      </p:cBhvr>
                                      <p:to>
                                        <p:strVal val="visible"/>
                                      </p:to>
                                    </p:set>
                                    <p:animEffect transition="in" filter="fade">
                                      <p:cBhvr>
                                        <p:cTn id="25" dur="500"/>
                                        <p:tgtEl>
                                          <p:spTgt spid="104"/>
                                        </p:tgtEl>
                                      </p:cBhvr>
                                    </p:animEffect>
                                  </p:childTnLst>
                                </p:cTn>
                              </p:par>
                              <p:par>
                                <p:cTn id="26" presetID="10" presetClass="entr" presetSubtype="0" fill="hold" grpId="0" nodeType="withEffect">
                                  <p:stCondLst>
                                    <p:cond delay="800"/>
                                  </p:stCondLst>
                                  <p:childTnLst>
                                    <p:set>
                                      <p:cBhvr>
                                        <p:cTn id="27" dur="1" fill="hold">
                                          <p:stCondLst>
                                            <p:cond delay="0"/>
                                          </p:stCondLst>
                                        </p:cTn>
                                        <p:tgtEl>
                                          <p:spTgt spid="105"/>
                                        </p:tgtEl>
                                        <p:attrNameLst>
                                          <p:attrName>style.visibility</p:attrName>
                                        </p:attrNameLst>
                                      </p:cBhvr>
                                      <p:to>
                                        <p:strVal val="visible"/>
                                      </p:to>
                                    </p:set>
                                    <p:animEffect transition="in" filter="fade">
                                      <p:cBhvr>
                                        <p:cTn id="28" dur="500"/>
                                        <p:tgtEl>
                                          <p:spTgt spid="105"/>
                                        </p:tgtEl>
                                      </p:cBhvr>
                                    </p:animEffect>
                                  </p:childTnLst>
                                </p:cTn>
                              </p:par>
                              <p:par>
                                <p:cTn id="29" presetID="10" presetClass="entr" presetSubtype="0" fill="hold" grpId="0" nodeType="withEffect">
                                  <p:stCondLst>
                                    <p:cond delay="90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500"/>
                                        <p:tgtEl>
                                          <p:spTgt spid="106"/>
                                        </p:tgtEl>
                                      </p:cBhvr>
                                    </p:animEffect>
                                  </p:childTnLst>
                                </p:cTn>
                              </p:par>
                              <p:par>
                                <p:cTn id="32" presetID="10" presetClass="entr" presetSubtype="0" fill="hold" grpId="0" nodeType="withEffect">
                                  <p:stCondLst>
                                    <p:cond delay="1100"/>
                                  </p:stCondLst>
                                  <p:childTnLst>
                                    <p:set>
                                      <p:cBhvr>
                                        <p:cTn id="33" dur="1" fill="hold">
                                          <p:stCondLst>
                                            <p:cond delay="0"/>
                                          </p:stCondLst>
                                        </p:cTn>
                                        <p:tgtEl>
                                          <p:spTgt spid="107"/>
                                        </p:tgtEl>
                                        <p:attrNameLst>
                                          <p:attrName>style.visibility</p:attrName>
                                        </p:attrNameLst>
                                      </p:cBhvr>
                                      <p:to>
                                        <p:strVal val="visible"/>
                                      </p:to>
                                    </p:set>
                                    <p:animEffect transition="in" filter="fade">
                                      <p:cBhvr>
                                        <p:cTn id="34" dur="500"/>
                                        <p:tgtEl>
                                          <p:spTgt spid="10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08"/>
                                        </p:tgtEl>
                                        <p:attrNameLst>
                                          <p:attrName>style.visibility</p:attrName>
                                        </p:attrNameLst>
                                      </p:cBhvr>
                                      <p:to>
                                        <p:strVal val="visible"/>
                                      </p:to>
                                    </p:set>
                                    <p:animEffect transition="in" filter="fade">
                                      <p:cBhvr>
                                        <p:cTn id="39" dur="500"/>
                                        <p:tgtEl>
                                          <p:spTgt spid="108"/>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wipe(left)">
                                      <p:cBhvr>
                                        <p:cTn id="53" dur="500"/>
                                        <p:tgtEl>
                                          <p:spTgt spid="42"/>
                                        </p:tgtEl>
                                      </p:cBhvr>
                                    </p:animEffect>
                                  </p:childTnLst>
                                </p:cTn>
                              </p:par>
                            </p:childTnLst>
                          </p:cTn>
                        </p:par>
                        <p:par>
                          <p:cTn id="54" fill="hold">
                            <p:stCondLst>
                              <p:cond delay="1500"/>
                            </p:stCondLst>
                            <p:childTnLst>
                              <p:par>
                                <p:cTn id="55" presetID="10" presetClass="entr" presetSubtype="0"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wipe(left)">
                                      <p:cBhvr>
                                        <p:cTn id="60" dur="500"/>
                                        <p:tgtEl>
                                          <p:spTgt spid="43"/>
                                        </p:tgtEl>
                                      </p:cBhvr>
                                    </p:animEffect>
                                  </p:childTnLst>
                                </p:cTn>
                              </p:par>
                            </p:childTnLst>
                          </p:cTn>
                        </p:par>
                        <p:par>
                          <p:cTn id="61" fill="hold">
                            <p:stCondLst>
                              <p:cond delay="2000"/>
                            </p:stCondLst>
                            <p:childTnLst>
                              <p:par>
                                <p:cTn id="62" presetID="10" presetClass="entr" presetSubtype="0" fill="hold" grpId="0"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wipe(left)">
                                      <p:cBhvr>
                                        <p:cTn id="67" dur="500"/>
                                        <p:tgtEl>
                                          <p:spTgt spid="44"/>
                                        </p:tgtEl>
                                      </p:cBhvr>
                                    </p:animEffect>
                                  </p:childTnLst>
                                </p:cTn>
                              </p:par>
                            </p:childTnLst>
                          </p:cTn>
                        </p:par>
                        <p:par>
                          <p:cTn id="68" fill="hold">
                            <p:stCondLst>
                              <p:cond delay="2500"/>
                            </p:stCondLst>
                            <p:childTnLst>
                              <p:par>
                                <p:cTn id="69" presetID="10" presetClass="entr" presetSubtype="0"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00"/>
                                        <p:tgtEl>
                                          <p:spTgt spid="34"/>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45"/>
                                        </p:tgtEl>
                                        <p:attrNameLst>
                                          <p:attrName>style.visibility</p:attrName>
                                        </p:attrNameLst>
                                      </p:cBhvr>
                                      <p:to>
                                        <p:strVal val="visible"/>
                                      </p:to>
                                    </p:set>
                                    <p:animEffect transition="in" filter="wipe(left)">
                                      <p:cBhvr>
                                        <p:cTn id="74" dur="500"/>
                                        <p:tgtEl>
                                          <p:spTgt spid="45"/>
                                        </p:tgtEl>
                                      </p:cBhvr>
                                    </p:animEffect>
                                  </p:childTnLst>
                                </p:cTn>
                              </p:par>
                            </p:childTnLst>
                          </p:cTn>
                        </p:par>
                        <p:par>
                          <p:cTn id="75" fill="hold">
                            <p:stCondLst>
                              <p:cond delay="3000"/>
                            </p:stCondLst>
                            <p:childTnLst>
                              <p:par>
                                <p:cTn id="76" presetID="10" presetClass="entr" presetSubtype="0" fill="hold" grpId="0" nodeType="after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wipe(left)">
                                      <p:cBhvr>
                                        <p:cTn id="81" dur="500"/>
                                        <p:tgtEl>
                                          <p:spTgt spid="46"/>
                                        </p:tgtEl>
                                      </p:cBhvr>
                                    </p:animEffect>
                                  </p:childTnLst>
                                </p:cTn>
                              </p:par>
                              <p:par>
                                <p:cTn id="82" presetID="10" presetClass="entr" presetSubtype="0" fill="hold" nodeType="withEffect">
                                  <p:stCondLst>
                                    <p:cond delay="0"/>
                                  </p:stCondLst>
                                  <p:childTnLst>
                                    <p:set>
                                      <p:cBhvr>
                                        <p:cTn id="83" dur="1" fill="hold">
                                          <p:stCondLst>
                                            <p:cond delay="0"/>
                                          </p:stCondLst>
                                        </p:cTn>
                                        <p:tgtEl>
                                          <p:spTgt spid="349"/>
                                        </p:tgtEl>
                                        <p:attrNameLst>
                                          <p:attrName>style.visibility</p:attrName>
                                        </p:attrNameLst>
                                      </p:cBhvr>
                                      <p:to>
                                        <p:strVal val="visible"/>
                                      </p:to>
                                    </p:set>
                                    <p:animEffect transition="in" filter="fade">
                                      <p:cBhvr>
                                        <p:cTn id="84" dur="500"/>
                                        <p:tgtEl>
                                          <p:spTgt spid="34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20"/>
                                        </p:tgtEl>
                                        <p:attrNameLst>
                                          <p:attrName>style.visibility</p:attrName>
                                        </p:attrNameLst>
                                      </p:cBhvr>
                                      <p:to>
                                        <p:strVal val="visible"/>
                                      </p:to>
                                    </p:set>
                                    <p:animEffect transition="in" filter="fade">
                                      <p:cBhvr>
                                        <p:cTn id="89" dur="500"/>
                                        <p:tgtEl>
                                          <p:spTgt spid="120"/>
                                        </p:tgtEl>
                                      </p:cBhvr>
                                    </p:animEffect>
                                  </p:childTnLst>
                                </p:cTn>
                              </p:par>
                              <p:par>
                                <p:cTn id="90" presetID="10" presetClass="entr" presetSubtype="0" fill="hold" nodeType="withEffect">
                                  <p:stCondLst>
                                    <p:cond delay="200"/>
                                  </p:stCondLst>
                                  <p:childTnLst>
                                    <p:set>
                                      <p:cBhvr>
                                        <p:cTn id="91" dur="1" fill="hold">
                                          <p:stCondLst>
                                            <p:cond delay="0"/>
                                          </p:stCondLst>
                                        </p:cTn>
                                        <p:tgtEl>
                                          <p:spTgt spid="121"/>
                                        </p:tgtEl>
                                        <p:attrNameLst>
                                          <p:attrName>style.visibility</p:attrName>
                                        </p:attrNameLst>
                                      </p:cBhvr>
                                      <p:to>
                                        <p:strVal val="visible"/>
                                      </p:to>
                                    </p:set>
                                    <p:animEffect transition="in" filter="fade">
                                      <p:cBhvr>
                                        <p:cTn id="92" dur="500"/>
                                        <p:tgtEl>
                                          <p:spTgt spid="121"/>
                                        </p:tgtEl>
                                      </p:cBhvr>
                                    </p:animEffect>
                                  </p:childTnLst>
                                </p:cTn>
                              </p:par>
                              <p:par>
                                <p:cTn id="93" presetID="10" presetClass="entr" presetSubtype="0" fill="hold" nodeType="withEffect">
                                  <p:stCondLst>
                                    <p:cond delay="300"/>
                                  </p:stCondLst>
                                  <p:childTnLst>
                                    <p:set>
                                      <p:cBhvr>
                                        <p:cTn id="94" dur="1" fill="hold">
                                          <p:stCondLst>
                                            <p:cond delay="0"/>
                                          </p:stCondLst>
                                        </p:cTn>
                                        <p:tgtEl>
                                          <p:spTgt spid="122"/>
                                        </p:tgtEl>
                                        <p:attrNameLst>
                                          <p:attrName>style.visibility</p:attrName>
                                        </p:attrNameLst>
                                      </p:cBhvr>
                                      <p:to>
                                        <p:strVal val="visible"/>
                                      </p:to>
                                    </p:set>
                                    <p:animEffect transition="in" filter="fade">
                                      <p:cBhvr>
                                        <p:cTn id="95" dur="500"/>
                                        <p:tgtEl>
                                          <p:spTgt spid="122"/>
                                        </p:tgtEl>
                                      </p:cBhvr>
                                    </p:animEffect>
                                  </p:childTnLst>
                                </p:cTn>
                              </p:par>
                              <p:par>
                                <p:cTn id="96" presetID="10" presetClass="entr" presetSubtype="0" fill="hold" nodeType="withEffect">
                                  <p:stCondLst>
                                    <p:cond delay="500"/>
                                  </p:stCondLst>
                                  <p:childTnLst>
                                    <p:set>
                                      <p:cBhvr>
                                        <p:cTn id="97" dur="1" fill="hold">
                                          <p:stCondLst>
                                            <p:cond delay="0"/>
                                          </p:stCondLst>
                                        </p:cTn>
                                        <p:tgtEl>
                                          <p:spTgt spid="123"/>
                                        </p:tgtEl>
                                        <p:attrNameLst>
                                          <p:attrName>style.visibility</p:attrName>
                                        </p:attrNameLst>
                                      </p:cBhvr>
                                      <p:to>
                                        <p:strVal val="visible"/>
                                      </p:to>
                                    </p:set>
                                    <p:animEffect transition="in" filter="fade">
                                      <p:cBhvr>
                                        <p:cTn id="98" dur="500"/>
                                        <p:tgtEl>
                                          <p:spTgt spid="123"/>
                                        </p:tgtEl>
                                      </p:cBhvr>
                                    </p:animEffect>
                                  </p:childTnLst>
                                </p:cTn>
                              </p:par>
                              <p:par>
                                <p:cTn id="99" presetID="10" presetClass="entr" presetSubtype="0" fill="hold" nodeType="withEffect">
                                  <p:stCondLst>
                                    <p:cond delay="700"/>
                                  </p:stCondLst>
                                  <p:childTnLst>
                                    <p:set>
                                      <p:cBhvr>
                                        <p:cTn id="100" dur="1" fill="hold">
                                          <p:stCondLst>
                                            <p:cond delay="0"/>
                                          </p:stCondLst>
                                        </p:cTn>
                                        <p:tgtEl>
                                          <p:spTgt spid="124"/>
                                        </p:tgtEl>
                                        <p:attrNameLst>
                                          <p:attrName>style.visibility</p:attrName>
                                        </p:attrNameLst>
                                      </p:cBhvr>
                                      <p:to>
                                        <p:strVal val="visible"/>
                                      </p:to>
                                    </p:set>
                                    <p:animEffect transition="in" filter="fade">
                                      <p:cBhvr>
                                        <p:cTn id="101" dur="500"/>
                                        <p:tgtEl>
                                          <p:spTgt spid="124"/>
                                        </p:tgtEl>
                                      </p:cBhvr>
                                    </p:animEffect>
                                  </p:childTnLst>
                                </p:cTn>
                              </p:par>
                              <p:par>
                                <p:cTn id="102" presetID="10" presetClass="entr" presetSubtype="0" fill="hold" nodeType="withEffect">
                                  <p:stCondLst>
                                    <p:cond delay="900"/>
                                  </p:stCondLst>
                                  <p:childTnLst>
                                    <p:set>
                                      <p:cBhvr>
                                        <p:cTn id="103" dur="1" fill="hold">
                                          <p:stCondLst>
                                            <p:cond delay="0"/>
                                          </p:stCondLst>
                                        </p:cTn>
                                        <p:tgtEl>
                                          <p:spTgt spid="125"/>
                                        </p:tgtEl>
                                        <p:attrNameLst>
                                          <p:attrName>style.visibility</p:attrName>
                                        </p:attrNameLst>
                                      </p:cBhvr>
                                      <p:to>
                                        <p:strVal val="visible"/>
                                      </p:to>
                                    </p:set>
                                    <p:animEffect transition="in" filter="fade">
                                      <p:cBhvr>
                                        <p:cTn id="104" dur="500"/>
                                        <p:tgtEl>
                                          <p:spTgt spid="125"/>
                                        </p:tgtEl>
                                      </p:cBhvr>
                                    </p:animEffect>
                                  </p:childTnLst>
                                </p:cTn>
                              </p:par>
                              <p:par>
                                <p:cTn id="105" presetID="10" presetClass="entr" presetSubtype="0" fill="hold" nodeType="withEffect">
                                  <p:stCondLst>
                                    <p:cond delay="900"/>
                                  </p:stCondLst>
                                  <p:childTnLst>
                                    <p:set>
                                      <p:cBhvr>
                                        <p:cTn id="106" dur="1" fill="hold">
                                          <p:stCondLst>
                                            <p:cond delay="0"/>
                                          </p:stCondLst>
                                        </p:cTn>
                                        <p:tgtEl>
                                          <p:spTgt spid="350"/>
                                        </p:tgtEl>
                                        <p:attrNameLst>
                                          <p:attrName>style.visibility</p:attrName>
                                        </p:attrNameLst>
                                      </p:cBhvr>
                                      <p:to>
                                        <p:strVal val="visible"/>
                                      </p:to>
                                    </p:set>
                                    <p:animEffect transition="in" filter="fade">
                                      <p:cBhvr>
                                        <p:cTn id="107" dur="500"/>
                                        <p:tgtEl>
                                          <p:spTgt spid="35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325"/>
                                        </p:tgtEl>
                                        <p:attrNameLst>
                                          <p:attrName>style.visibility</p:attrName>
                                        </p:attrNameLst>
                                      </p:cBhvr>
                                      <p:to>
                                        <p:strVal val="visible"/>
                                      </p:to>
                                    </p:set>
                                    <p:animEffect transition="in" filter="wipe(down)">
                                      <p:cBhvr>
                                        <p:cTn id="112" dur="500"/>
                                        <p:tgtEl>
                                          <p:spTgt spid="325"/>
                                        </p:tgtEl>
                                      </p:cBhvr>
                                    </p:animEffect>
                                  </p:childTnLst>
                                </p:cTn>
                              </p:par>
                              <p:par>
                                <p:cTn id="113" presetID="22" presetClass="entr" presetSubtype="4" fill="hold" nodeType="withEffect">
                                  <p:stCondLst>
                                    <p:cond delay="0"/>
                                  </p:stCondLst>
                                  <p:childTnLst>
                                    <p:set>
                                      <p:cBhvr>
                                        <p:cTn id="114" dur="1" fill="hold">
                                          <p:stCondLst>
                                            <p:cond delay="0"/>
                                          </p:stCondLst>
                                        </p:cTn>
                                        <p:tgtEl>
                                          <p:spTgt spid="326"/>
                                        </p:tgtEl>
                                        <p:attrNameLst>
                                          <p:attrName>style.visibility</p:attrName>
                                        </p:attrNameLst>
                                      </p:cBhvr>
                                      <p:to>
                                        <p:strVal val="visible"/>
                                      </p:to>
                                    </p:set>
                                    <p:animEffect transition="in" filter="wipe(down)">
                                      <p:cBhvr>
                                        <p:cTn id="115" dur="500"/>
                                        <p:tgtEl>
                                          <p:spTgt spid="326"/>
                                        </p:tgtEl>
                                      </p:cBhvr>
                                    </p:animEffect>
                                  </p:childTnLst>
                                </p:cTn>
                              </p:par>
                              <p:par>
                                <p:cTn id="116" presetID="22" presetClass="entr" presetSubtype="4" fill="hold" nodeType="withEffect">
                                  <p:stCondLst>
                                    <p:cond delay="0"/>
                                  </p:stCondLst>
                                  <p:childTnLst>
                                    <p:set>
                                      <p:cBhvr>
                                        <p:cTn id="117" dur="1" fill="hold">
                                          <p:stCondLst>
                                            <p:cond delay="0"/>
                                          </p:stCondLst>
                                        </p:cTn>
                                        <p:tgtEl>
                                          <p:spTgt spid="327"/>
                                        </p:tgtEl>
                                        <p:attrNameLst>
                                          <p:attrName>style.visibility</p:attrName>
                                        </p:attrNameLst>
                                      </p:cBhvr>
                                      <p:to>
                                        <p:strVal val="visible"/>
                                      </p:to>
                                    </p:set>
                                    <p:animEffect transition="in" filter="wipe(down)">
                                      <p:cBhvr>
                                        <p:cTn id="118" dur="500"/>
                                        <p:tgtEl>
                                          <p:spTgt spid="327"/>
                                        </p:tgtEl>
                                      </p:cBhvr>
                                    </p:animEffect>
                                  </p:childTnLst>
                                </p:cTn>
                              </p:par>
                              <p:par>
                                <p:cTn id="119" presetID="22" presetClass="entr" presetSubtype="4" fill="hold" nodeType="withEffect">
                                  <p:stCondLst>
                                    <p:cond delay="0"/>
                                  </p:stCondLst>
                                  <p:childTnLst>
                                    <p:set>
                                      <p:cBhvr>
                                        <p:cTn id="120" dur="1" fill="hold">
                                          <p:stCondLst>
                                            <p:cond delay="0"/>
                                          </p:stCondLst>
                                        </p:cTn>
                                        <p:tgtEl>
                                          <p:spTgt spid="328"/>
                                        </p:tgtEl>
                                        <p:attrNameLst>
                                          <p:attrName>style.visibility</p:attrName>
                                        </p:attrNameLst>
                                      </p:cBhvr>
                                      <p:to>
                                        <p:strVal val="visible"/>
                                      </p:to>
                                    </p:set>
                                    <p:animEffect transition="in" filter="wipe(down)">
                                      <p:cBhvr>
                                        <p:cTn id="121" dur="500"/>
                                        <p:tgtEl>
                                          <p:spTgt spid="328"/>
                                        </p:tgtEl>
                                      </p:cBhvr>
                                    </p:animEffect>
                                  </p:childTnLst>
                                </p:cTn>
                              </p:par>
                              <p:par>
                                <p:cTn id="122" presetID="22" presetClass="entr" presetSubtype="4" fill="hold" nodeType="withEffect">
                                  <p:stCondLst>
                                    <p:cond delay="0"/>
                                  </p:stCondLst>
                                  <p:childTnLst>
                                    <p:set>
                                      <p:cBhvr>
                                        <p:cTn id="123" dur="1" fill="hold">
                                          <p:stCondLst>
                                            <p:cond delay="0"/>
                                          </p:stCondLst>
                                        </p:cTn>
                                        <p:tgtEl>
                                          <p:spTgt spid="329"/>
                                        </p:tgtEl>
                                        <p:attrNameLst>
                                          <p:attrName>style.visibility</p:attrName>
                                        </p:attrNameLst>
                                      </p:cBhvr>
                                      <p:to>
                                        <p:strVal val="visible"/>
                                      </p:to>
                                    </p:set>
                                    <p:animEffect transition="in" filter="wipe(down)">
                                      <p:cBhvr>
                                        <p:cTn id="124" dur="500"/>
                                        <p:tgtEl>
                                          <p:spTgt spid="329"/>
                                        </p:tgtEl>
                                      </p:cBhvr>
                                    </p:animEffect>
                                  </p:childTnLst>
                                </p:cTn>
                              </p:par>
                              <p:par>
                                <p:cTn id="125" presetID="22" presetClass="entr" presetSubtype="4" fill="hold" nodeType="withEffect">
                                  <p:stCondLst>
                                    <p:cond delay="0"/>
                                  </p:stCondLst>
                                  <p:childTnLst>
                                    <p:set>
                                      <p:cBhvr>
                                        <p:cTn id="126" dur="1" fill="hold">
                                          <p:stCondLst>
                                            <p:cond delay="0"/>
                                          </p:stCondLst>
                                        </p:cTn>
                                        <p:tgtEl>
                                          <p:spTgt spid="330"/>
                                        </p:tgtEl>
                                        <p:attrNameLst>
                                          <p:attrName>style.visibility</p:attrName>
                                        </p:attrNameLst>
                                      </p:cBhvr>
                                      <p:to>
                                        <p:strVal val="visible"/>
                                      </p:to>
                                    </p:set>
                                    <p:animEffect transition="in" filter="wipe(down)">
                                      <p:cBhvr>
                                        <p:cTn id="127" dur="500"/>
                                        <p:tgtEl>
                                          <p:spTgt spid="330"/>
                                        </p:tgtEl>
                                      </p:cBhvr>
                                    </p:animEffect>
                                  </p:childTnLst>
                                </p:cTn>
                              </p:par>
                              <p:par>
                                <p:cTn id="128" presetID="10" presetClass="entr" presetSubtype="0" fill="hold" nodeType="withEffect">
                                  <p:stCondLst>
                                    <p:cond delay="0"/>
                                  </p:stCondLst>
                                  <p:childTnLst>
                                    <p:set>
                                      <p:cBhvr>
                                        <p:cTn id="129" dur="1" fill="hold">
                                          <p:stCondLst>
                                            <p:cond delay="0"/>
                                          </p:stCondLst>
                                        </p:cTn>
                                        <p:tgtEl>
                                          <p:spTgt spid="351"/>
                                        </p:tgtEl>
                                        <p:attrNameLst>
                                          <p:attrName>style.visibility</p:attrName>
                                        </p:attrNameLst>
                                      </p:cBhvr>
                                      <p:to>
                                        <p:strVal val="visible"/>
                                      </p:to>
                                    </p:set>
                                    <p:animEffect transition="in" filter="fade">
                                      <p:cBhvr>
                                        <p:cTn id="130" dur="500"/>
                                        <p:tgtEl>
                                          <p:spTgt spid="351"/>
                                        </p:tgtEl>
                                      </p:cBhvr>
                                    </p:animEffect>
                                  </p:childTnLst>
                                </p:cTn>
                              </p:par>
                              <p:par>
                                <p:cTn id="131" presetID="10" presetClass="entr" presetSubtype="0" fill="hold" grpId="0" nodeType="withEffect">
                                  <p:stCondLst>
                                    <p:cond delay="1100"/>
                                  </p:stCondLst>
                                  <p:childTnLst>
                                    <p:set>
                                      <p:cBhvr>
                                        <p:cTn id="132" dur="1" fill="hold">
                                          <p:stCondLst>
                                            <p:cond delay="0"/>
                                          </p:stCondLst>
                                        </p:cTn>
                                        <p:tgtEl>
                                          <p:spTgt spid="2"/>
                                        </p:tgtEl>
                                        <p:attrNameLst>
                                          <p:attrName>style.visibility</p:attrName>
                                        </p:attrNameLst>
                                      </p:cBhvr>
                                      <p:to>
                                        <p:strVal val="visible"/>
                                      </p:to>
                                    </p:set>
                                    <p:animEffect transition="in" filter="fade">
                                      <p:cBhvr>
                                        <p:cTn id="1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24" grpId="0" animBg="1"/>
      <p:bldP spid="42" grpId="0" animBg="1"/>
      <p:bldP spid="43" grpId="0" animBg="1"/>
      <p:bldP spid="44" grpId="0" animBg="1"/>
      <p:bldP spid="45" grpId="0" animBg="1"/>
      <p:bldP spid="46" grpId="0" animBg="1"/>
      <p:bldP spid="26" grpId="0" animBg="1"/>
      <p:bldP spid="28" grpId="0" animBg="1"/>
      <p:bldP spid="32" grpId="0" animBg="1"/>
      <p:bldP spid="33" grpId="0" animBg="1"/>
      <p:bldP spid="34" grpId="0" animBg="1"/>
      <p:bldP spid="37" grpId="0" animBg="1"/>
      <p:bldP spid="115" grpId="0" animBg="1"/>
      <p:bldP spid="102" grpId="0" animBg="1"/>
      <p:bldP spid="103" grpId="0" animBg="1"/>
      <p:bldP spid="104" grpId="0" animBg="1"/>
      <p:bldP spid="105" grpId="0" animBg="1"/>
      <p:bldP spid="106" grpId="0" animBg="1"/>
      <p:bldP spid="107" grpId="0" animBg="1"/>
      <p:bldP spid="116" grpId="0"/>
      <p:bldP spid="108"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448C8-2EB7-CA2C-28FE-0D6389FFCCB0}"/>
            </a:ext>
          </a:extLst>
        </p:cNvPr>
        <p:cNvGrpSpPr/>
        <p:nvPr/>
      </p:nvGrpSpPr>
      <p:grpSpPr>
        <a:xfrm>
          <a:off x="0" y="0"/>
          <a:ext cx="0" cy="0"/>
          <a:chOff x="0" y="0"/>
          <a:chExt cx="0" cy="0"/>
        </a:xfrm>
      </p:grpSpPr>
      <p:sp>
        <p:nvSpPr>
          <p:cNvPr id="82" name="Rectangle: Rounded Corners 81">
            <a:extLst>
              <a:ext uri="{FF2B5EF4-FFF2-40B4-BE49-F238E27FC236}">
                <a16:creationId xmlns:a16="http://schemas.microsoft.com/office/drawing/2014/main" id="{8F74B7AF-6DA1-9196-B195-AA051217EEAE}"/>
              </a:ext>
            </a:extLst>
          </p:cNvPr>
          <p:cNvSpPr/>
          <p:nvPr/>
        </p:nvSpPr>
        <p:spPr bwMode="auto">
          <a:xfrm>
            <a:off x="358774" y="264058"/>
            <a:ext cx="11462169" cy="6233580"/>
          </a:xfrm>
          <a:prstGeom prst="roundRect">
            <a:avLst>
              <a:gd name="adj" fmla="val 1745"/>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err="1">
              <a:solidFill>
                <a:srgbClr val="091F2C"/>
              </a:solidFill>
              <a:latin typeface="Arial" charset="0"/>
              <a:cs typeface="Segoe UI" pitchFamily="34" charset="0"/>
            </a:endParaRPr>
          </a:p>
        </p:txBody>
      </p:sp>
      <p:sp>
        <p:nvSpPr>
          <p:cNvPr id="22" name="Rectangle 21">
            <a:extLst>
              <a:ext uri="{FF2B5EF4-FFF2-40B4-BE49-F238E27FC236}">
                <a16:creationId xmlns:a16="http://schemas.microsoft.com/office/drawing/2014/main" id="{88C48C5B-BC78-5066-210D-8CB1D8562AAB}"/>
              </a:ext>
            </a:extLst>
          </p:cNvPr>
          <p:cNvSpPr/>
          <p:nvPr/>
        </p:nvSpPr>
        <p:spPr bwMode="auto">
          <a:xfrm>
            <a:off x="499969" y="441072"/>
            <a:ext cx="11104843" cy="4226621"/>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grpSp>
        <p:nvGrpSpPr>
          <p:cNvPr id="7" name="Group 6">
            <a:extLst>
              <a:ext uri="{FF2B5EF4-FFF2-40B4-BE49-F238E27FC236}">
                <a16:creationId xmlns:a16="http://schemas.microsoft.com/office/drawing/2014/main" id="{3C830106-4C87-5C50-FF15-702055A2B5B1}"/>
              </a:ext>
            </a:extLst>
          </p:cNvPr>
          <p:cNvGrpSpPr/>
          <p:nvPr/>
        </p:nvGrpSpPr>
        <p:grpSpPr>
          <a:xfrm>
            <a:off x="699642" y="1027873"/>
            <a:ext cx="1079602" cy="3430538"/>
            <a:chOff x="713577" y="1029339"/>
            <a:chExt cx="918170" cy="3430538"/>
          </a:xfrm>
        </p:grpSpPr>
        <p:sp>
          <p:nvSpPr>
            <p:cNvPr id="72" name="Rectangle 71">
              <a:extLst>
                <a:ext uri="{FF2B5EF4-FFF2-40B4-BE49-F238E27FC236}">
                  <a16:creationId xmlns:a16="http://schemas.microsoft.com/office/drawing/2014/main" id="{79EB11DC-6655-117D-0248-204D8B1E3C1C}"/>
                </a:ext>
              </a:extLst>
            </p:cNvPr>
            <p:cNvSpPr/>
            <p:nvPr/>
          </p:nvSpPr>
          <p:spPr bwMode="auto">
            <a:xfrm>
              <a:off x="713577" y="1307204"/>
              <a:ext cx="918170" cy="315267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ED7DA56F-C43C-E8C5-9804-5A593D6813C6}"/>
                </a:ext>
              </a:extLst>
            </p:cNvPr>
            <p:cNvSpPr/>
            <p:nvPr/>
          </p:nvSpPr>
          <p:spPr bwMode="auto">
            <a:xfrm>
              <a:off x="798383" y="1534242"/>
              <a:ext cx="787002" cy="943093"/>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a:solidFill>
                    <a:schemeClr val="tx1"/>
                  </a:solidFill>
                  <a:ea typeface="Segoe UI" pitchFamily="34" charset="0"/>
                  <a:cs typeface="Segoe UI" pitchFamily="34" charset="0"/>
                </a:rPr>
                <a:t>4</a:t>
              </a:r>
              <a:endParaRPr lang="en-US" sz="1200">
                <a:solidFill>
                  <a:schemeClr val="tx1"/>
                </a:solidFill>
                <a:ea typeface="Segoe UI" pitchFamily="34" charset="0"/>
                <a:cs typeface="Segoe UI" pitchFamily="34" charset="0"/>
              </a:endParaRPr>
            </a:p>
          </p:txBody>
        </p:sp>
        <p:sp>
          <p:nvSpPr>
            <p:cNvPr id="88" name="Rectangle 87">
              <a:extLst>
                <a:ext uri="{FF2B5EF4-FFF2-40B4-BE49-F238E27FC236}">
                  <a16:creationId xmlns:a16="http://schemas.microsoft.com/office/drawing/2014/main" id="{427A4314-5167-0578-9CE2-DBBDF9A6D7D7}"/>
                </a:ext>
              </a:extLst>
            </p:cNvPr>
            <p:cNvSpPr/>
            <p:nvPr/>
          </p:nvSpPr>
          <p:spPr bwMode="auto">
            <a:xfrm>
              <a:off x="779161" y="2589043"/>
              <a:ext cx="787002" cy="1757387"/>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0" rIns="4572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19</a:t>
              </a:r>
              <a:endParaRPr lang="en-US" sz="1200" dirty="0">
                <a:solidFill>
                  <a:schemeClr val="bg2"/>
                </a:solidFill>
                <a:ea typeface="Segoe UI" pitchFamily="34" charset="0"/>
                <a:cs typeface="Segoe UI" pitchFamily="34" charset="0"/>
              </a:endParaRPr>
            </a:p>
          </p:txBody>
        </p:sp>
        <p:sp>
          <p:nvSpPr>
            <p:cNvPr id="169" name="Rectangle 168">
              <a:extLst>
                <a:ext uri="{FF2B5EF4-FFF2-40B4-BE49-F238E27FC236}">
                  <a16:creationId xmlns:a16="http://schemas.microsoft.com/office/drawing/2014/main" id="{BF41B8F1-8DE6-1342-6040-FC08FB0A9C14}"/>
                </a:ext>
              </a:extLst>
            </p:cNvPr>
            <p:cNvSpPr/>
            <p:nvPr/>
          </p:nvSpPr>
          <p:spPr bwMode="auto">
            <a:xfrm>
              <a:off x="843392" y="3530468"/>
              <a:ext cx="658540" cy="725867"/>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113</a:t>
              </a:r>
              <a:endParaRPr lang="en-US" sz="1200" dirty="0">
                <a:solidFill>
                  <a:schemeClr val="bg2"/>
                </a:solidFill>
                <a:ea typeface="Segoe UI" pitchFamily="34" charset="0"/>
                <a:cs typeface="Segoe UI" pitchFamily="34" charset="0"/>
              </a:endParaRPr>
            </a:p>
          </p:txBody>
        </p:sp>
        <p:sp>
          <p:nvSpPr>
            <p:cNvPr id="102" name="Rectangle: Rounded Corners 101">
              <a:extLst>
                <a:ext uri="{FF2B5EF4-FFF2-40B4-BE49-F238E27FC236}">
                  <a16:creationId xmlns:a16="http://schemas.microsoft.com/office/drawing/2014/main" id="{A1023E0C-F770-9D81-95B2-2F94189635E9}"/>
                </a:ext>
              </a:extLst>
            </p:cNvPr>
            <p:cNvSpPr/>
            <p:nvPr/>
          </p:nvSpPr>
          <p:spPr bwMode="auto">
            <a:xfrm>
              <a:off x="713577" y="1029339"/>
              <a:ext cx="918170" cy="393434"/>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a:solidFill>
                    <a:srgbClr val="FFFFFF"/>
                  </a:solidFill>
                  <a:ea typeface="Segoe UI" pitchFamily="34" charset="0"/>
                  <a:cs typeface="Segoe UI" pitchFamily="34" charset="0"/>
                </a:rPr>
                <a:t>Identity</a:t>
              </a:r>
            </a:p>
          </p:txBody>
        </p:sp>
      </p:grpSp>
      <p:grpSp>
        <p:nvGrpSpPr>
          <p:cNvPr id="8" name="Group 7">
            <a:extLst>
              <a:ext uri="{FF2B5EF4-FFF2-40B4-BE49-F238E27FC236}">
                <a16:creationId xmlns:a16="http://schemas.microsoft.com/office/drawing/2014/main" id="{C7A51BE3-B097-FC10-E918-B94CE93750E7}"/>
              </a:ext>
            </a:extLst>
          </p:cNvPr>
          <p:cNvGrpSpPr/>
          <p:nvPr/>
        </p:nvGrpSpPr>
        <p:grpSpPr>
          <a:xfrm>
            <a:off x="1917582" y="1028117"/>
            <a:ext cx="1081122" cy="3430538"/>
            <a:chOff x="1839006" y="1029339"/>
            <a:chExt cx="919462" cy="3430538"/>
          </a:xfrm>
        </p:grpSpPr>
        <p:sp>
          <p:nvSpPr>
            <p:cNvPr id="78" name="Rectangle 77">
              <a:extLst>
                <a:ext uri="{FF2B5EF4-FFF2-40B4-BE49-F238E27FC236}">
                  <a16:creationId xmlns:a16="http://schemas.microsoft.com/office/drawing/2014/main" id="{603D9565-FDB0-2711-55D1-F698D68CFCAA}"/>
                </a:ext>
              </a:extLst>
            </p:cNvPr>
            <p:cNvSpPr/>
            <p:nvPr/>
          </p:nvSpPr>
          <p:spPr bwMode="auto">
            <a:xfrm>
              <a:off x="1839006" y="1307204"/>
              <a:ext cx="918170" cy="315267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B26200F1-1CED-8EA8-F91C-BCBCA50B58F6}"/>
                </a:ext>
              </a:extLst>
            </p:cNvPr>
            <p:cNvSpPr/>
            <p:nvPr/>
          </p:nvSpPr>
          <p:spPr bwMode="auto">
            <a:xfrm>
              <a:off x="1923812" y="1534242"/>
              <a:ext cx="787002" cy="943093"/>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a:solidFill>
                    <a:schemeClr val="tx1"/>
                  </a:solidFill>
                  <a:ea typeface="Segoe UI" pitchFamily="34" charset="0"/>
                  <a:cs typeface="Segoe UI" pitchFamily="34" charset="0"/>
                </a:rPr>
                <a:t>5</a:t>
              </a:r>
              <a:endParaRPr lang="en-US" sz="1200">
                <a:solidFill>
                  <a:schemeClr val="tx1"/>
                </a:solidFill>
                <a:ea typeface="Segoe UI" pitchFamily="34" charset="0"/>
                <a:cs typeface="Segoe UI" pitchFamily="34" charset="0"/>
              </a:endParaRPr>
            </a:p>
          </p:txBody>
        </p:sp>
        <p:sp>
          <p:nvSpPr>
            <p:cNvPr id="90" name="Rectangle 89">
              <a:extLst>
                <a:ext uri="{FF2B5EF4-FFF2-40B4-BE49-F238E27FC236}">
                  <a16:creationId xmlns:a16="http://schemas.microsoft.com/office/drawing/2014/main" id="{EEB5CE21-3A36-48D9-15DE-3BEBFA13507A}"/>
                </a:ext>
              </a:extLst>
            </p:cNvPr>
            <p:cNvSpPr/>
            <p:nvPr/>
          </p:nvSpPr>
          <p:spPr bwMode="auto">
            <a:xfrm>
              <a:off x="1904590" y="2589043"/>
              <a:ext cx="787002" cy="1757387"/>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0" rIns="4572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26</a:t>
              </a:r>
              <a:endParaRPr lang="en-US" sz="1200" dirty="0">
                <a:solidFill>
                  <a:schemeClr val="bg2"/>
                </a:solidFill>
                <a:ea typeface="Segoe UI" pitchFamily="34" charset="0"/>
                <a:cs typeface="Segoe UI" pitchFamily="34" charset="0"/>
              </a:endParaRPr>
            </a:p>
          </p:txBody>
        </p:sp>
        <p:sp>
          <p:nvSpPr>
            <p:cNvPr id="172" name="Rectangle 171">
              <a:extLst>
                <a:ext uri="{FF2B5EF4-FFF2-40B4-BE49-F238E27FC236}">
                  <a16:creationId xmlns:a16="http://schemas.microsoft.com/office/drawing/2014/main" id="{F2A9C4B5-8D3E-18A0-2063-539D28896C54}"/>
                </a:ext>
              </a:extLst>
            </p:cNvPr>
            <p:cNvSpPr/>
            <p:nvPr/>
          </p:nvSpPr>
          <p:spPr bwMode="auto">
            <a:xfrm>
              <a:off x="1968821" y="3530468"/>
              <a:ext cx="658540" cy="725867"/>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133</a:t>
              </a:r>
              <a:endParaRPr lang="en-US" sz="1200" dirty="0">
                <a:solidFill>
                  <a:schemeClr val="bg2"/>
                </a:solidFill>
                <a:ea typeface="Segoe UI" pitchFamily="34" charset="0"/>
                <a:cs typeface="Segoe UI" pitchFamily="34" charset="0"/>
              </a:endParaRPr>
            </a:p>
          </p:txBody>
        </p:sp>
        <p:sp>
          <p:nvSpPr>
            <p:cNvPr id="103" name="Rectangle: Rounded Corners 102">
              <a:extLst>
                <a:ext uri="{FF2B5EF4-FFF2-40B4-BE49-F238E27FC236}">
                  <a16:creationId xmlns:a16="http://schemas.microsoft.com/office/drawing/2014/main" id="{B9EBBA5D-FF2B-17B7-7F4D-CDA99A2B36B4}"/>
                </a:ext>
              </a:extLst>
            </p:cNvPr>
            <p:cNvSpPr/>
            <p:nvPr/>
          </p:nvSpPr>
          <p:spPr bwMode="auto">
            <a:xfrm>
              <a:off x="1840298" y="1029339"/>
              <a:ext cx="918170" cy="393434"/>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a:solidFill>
                    <a:srgbClr val="FFFFFF"/>
                  </a:solidFill>
                  <a:ea typeface="Segoe UI" pitchFamily="34" charset="0"/>
                  <a:cs typeface="Segoe UI" pitchFamily="34" charset="0"/>
                </a:rPr>
                <a:t>Devices</a:t>
              </a:r>
            </a:p>
          </p:txBody>
        </p:sp>
      </p:grpSp>
      <p:grpSp>
        <p:nvGrpSpPr>
          <p:cNvPr id="9" name="Group 8">
            <a:extLst>
              <a:ext uri="{FF2B5EF4-FFF2-40B4-BE49-F238E27FC236}">
                <a16:creationId xmlns:a16="http://schemas.microsoft.com/office/drawing/2014/main" id="{D3E6EB83-3D59-C954-B389-F765A539FF3F}"/>
              </a:ext>
            </a:extLst>
          </p:cNvPr>
          <p:cNvGrpSpPr/>
          <p:nvPr/>
        </p:nvGrpSpPr>
        <p:grpSpPr>
          <a:xfrm>
            <a:off x="3136554" y="1028361"/>
            <a:ext cx="1086124" cy="3430538"/>
            <a:chOff x="3244417" y="1029339"/>
            <a:chExt cx="923716" cy="3430538"/>
          </a:xfrm>
        </p:grpSpPr>
        <p:sp>
          <p:nvSpPr>
            <p:cNvPr id="83" name="Rectangle 82">
              <a:extLst>
                <a:ext uri="{FF2B5EF4-FFF2-40B4-BE49-F238E27FC236}">
                  <a16:creationId xmlns:a16="http://schemas.microsoft.com/office/drawing/2014/main" id="{98A91481-DCE4-A4C0-C675-9F8458B69E3A}"/>
                </a:ext>
              </a:extLst>
            </p:cNvPr>
            <p:cNvSpPr/>
            <p:nvPr/>
          </p:nvSpPr>
          <p:spPr bwMode="auto">
            <a:xfrm>
              <a:off x="3249963" y="1307204"/>
              <a:ext cx="918170" cy="315267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3" name="Rectangle 62">
              <a:extLst>
                <a:ext uri="{FF2B5EF4-FFF2-40B4-BE49-F238E27FC236}">
                  <a16:creationId xmlns:a16="http://schemas.microsoft.com/office/drawing/2014/main" id="{2C0F3080-59A4-3856-E45D-0FAC67DC336B}"/>
                </a:ext>
              </a:extLst>
            </p:cNvPr>
            <p:cNvSpPr/>
            <p:nvPr/>
          </p:nvSpPr>
          <p:spPr bwMode="auto">
            <a:xfrm>
              <a:off x="3334769" y="1534242"/>
              <a:ext cx="787002" cy="943093"/>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a:solidFill>
                    <a:schemeClr val="tx1"/>
                  </a:solidFill>
                  <a:ea typeface="Segoe UI" pitchFamily="34" charset="0"/>
                  <a:cs typeface="Segoe UI" pitchFamily="34" charset="0"/>
                </a:rPr>
                <a:t>3</a:t>
              </a:r>
              <a:endParaRPr lang="en-US" sz="1200">
                <a:solidFill>
                  <a:schemeClr val="tx1"/>
                </a:solidFill>
                <a:ea typeface="Segoe UI" pitchFamily="34" charset="0"/>
                <a:cs typeface="Segoe UI" pitchFamily="34" charset="0"/>
              </a:endParaRPr>
            </a:p>
          </p:txBody>
        </p:sp>
        <p:sp>
          <p:nvSpPr>
            <p:cNvPr id="91" name="Rectangle 90">
              <a:extLst>
                <a:ext uri="{FF2B5EF4-FFF2-40B4-BE49-F238E27FC236}">
                  <a16:creationId xmlns:a16="http://schemas.microsoft.com/office/drawing/2014/main" id="{4BB1007D-79AF-19BA-A0FB-DA7B4F680C87}"/>
                </a:ext>
              </a:extLst>
            </p:cNvPr>
            <p:cNvSpPr/>
            <p:nvPr/>
          </p:nvSpPr>
          <p:spPr bwMode="auto">
            <a:xfrm>
              <a:off x="3315547" y="2589043"/>
              <a:ext cx="787002" cy="1757387"/>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0" rIns="4572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6</a:t>
              </a:r>
              <a:endParaRPr lang="en-US" sz="1200" dirty="0">
                <a:solidFill>
                  <a:schemeClr val="bg2"/>
                </a:solidFill>
                <a:ea typeface="Segoe UI" pitchFamily="34" charset="0"/>
                <a:cs typeface="Segoe UI" pitchFamily="34" charset="0"/>
              </a:endParaRPr>
            </a:p>
          </p:txBody>
        </p:sp>
        <p:sp>
          <p:nvSpPr>
            <p:cNvPr id="173" name="Rectangle 172">
              <a:extLst>
                <a:ext uri="{FF2B5EF4-FFF2-40B4-BE49-F238E27FC236}">
                  <a16:creationId xmlns:a16="http://schemas.microsoft.com/office/drawing/2014/main" id="{66AE43D3-6B50-ABA7-A5C1-6186693E3042}"/>
                </a:ext>
              </a:extLst>
            </p:cNvPr>
            <p:cNvSpPr/>
            <p:nvPr/>
          </p:nvSpPr>
          <p:spPr bwMode="auto">
            <a:xfrm>
              <a:off x="3379778" y="3530468"/>
              <a:ext cx="658540" cy="725867"/>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a:solidFill>
                    <a:schemeClr val="bg2"/>
                  </a:solidFill>
                  <a:ea typeface="Segoe UI" pitchFamily="34" charset="0"/>
                  <a:cs typeface="Segoe UI" pitchFamily="34" charset="0"/>
                </a:rPr>
                <a:t>26</a:t>
              </a:r>
              <a:endParaRPr lang="en-US" sz="1200">
                <a:solidFill>
                  <a:schemeClr val="bg2"/>
                </a:solidFill>
                <a:ea typeface="Segoe UI" pitchFamily="34" charset="0"/>
                <a:cs typeface="Segoe UI" pitchFamily="34" charset="0"/>
              </a:endParaRPr>
            </a:p>
          </p:txBody>
        </p:sp>
        <p:sp>
          <p:nvSpPr>
            <p:cNvPr id="104" name="Rectangle: Rounded Corners 103">
              <a:extLst>
                <a:ext uri="{FF2B5EF4-FFF2-40B4-BE49-F238E27FC236}">
                  <a16:creationId xmlns:a16="http://schemas.microsoft.com/office/drawing/2014/main" id="{C00773DB-BA16-3E2F-2F92-2E50BC36BE13}"/>
                </a:ext>
              </a:extLst>
            </p:cNvPr>
            <p:cNvSpPr/>
            <p:nvPr/>
          </p:nvSpPr>
          <p:spPr bwMode="auto">
            <a:xfrm>
              <a:off x="3244417" y="1029339"/>
              <a:ext cx="918170" cy="393434"/>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a:solidFill>
                    <a:srgbClr val="FFFFFF"/>
                  </a:solidFill>
                  <a:ea typeface="Segoe UI" pitchFamily="34" charset="0"/>
                  <a:cs typeface="Segoe UI" pitchFamily="34" charset="0"/>
                </a:rPr>
                <a:t>Data</a:t>
              </a:r>
            </a:p>
          </p:txBody>
        </p:sp>
      </p:grpSp>
      <p:grpSp>
        <p:nvGrpSpPr>
          <p:cNvPr id="10" name="Group 9">
            <a:extLst>
              <a:ext uri="{FF2B5EF4-FFF2-40B4-BE49-F238E27FC236}">
                <a16:creationId xmlns:a16="http://schemas.microsoft.com/office/drawing/2014/main" id="{DF2F6CBA-FC72-E22C-BB6E-5E0BF58C2885}"/>
              </a:ext>
            </a:extLst>
          </p:cNvPr>
          <p:cNvGrpSpPr/>
          <p:nvPr/>
        </p:nvGrpSpPr>
        <p:grpSpPr>
          <a:xfrm>
            <a:off x="4360642" y="1028605"/>
            <a:ext cx="1079602" cy="3430538"/>
            <a:chOff x="4381412" y="1029339"/>
            <a:chExt cx="918170" cy="3430538"/>
          </a:xfrm>
        </p:grpSpPr>
        <p:sp>
          <p:nvSpPr>
            <p:cNvPr id="84" name="Rectangle 83">
              <a:extLst>
                <a:ext uri="{FF2B5EF4-FFF2-40B4-BE49-F238E27FC236}">
                  <a16:creationId xmlns:a16="http://schemas.microsoft.com/office/drawing/2014/main" id="{FF183A74-40EA-6D99-03FB-5D49BA2DF804}"/>
                </a:ext>
              </a:extLst>
            </p:cNvPr>
            <p:cNvSpPr/>
            <p:nvPr/>
          </p:nvSpPr>
          <p:spPr bwMode="auto">
            <a:xfrm>
              <a:off x="4381412" y="1307204"/>
              <a:ext cx="918170" cy="315267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4" name="Rectangle 63">
              <a:extLst>
                <a:ext uri="{FF2B5EF4-FFF2-40B4-BE49-F238E27FC236}">
                  <a16:creationId xmlns:a16="http://schemas.microsoft.com/office/drawing/2014/main" id="{9DAC10FC-829A-049B-6756-D8E275AB9F46}"/>
                </a:ext>
              </a:extLst>
            </p:cNvPr>
            <p:cNvSpPr/>
            <p:nvPr/>
          </p:nvSpPr>
          <p:spPr bwMode="auto">
            <a:xfrm>
              <a:off x="4466218" y="1534242"/>
              <a:ext cx="787002" cy="943093"/>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a:solidFill>
                    <a:schemeClr val="tx1"/>
                  </a:solidFill>
                  <a:ea typeface="Segoe UI" pitchFamily="34" charset="0"/>
                  <a:cs typeface="Segoe UI" pitchFamily="34" charset="0"/>
                </a:rPr>
                <a:t>3</a:t>
              </a:r>
              <a:endParaRPr lang="en-US" sz="1200">
                <a:solidFill>
                  <a:schemeClr val="tx1"/>
                </a:solidFill>
                <a:ea typeface="Segoe UI" pitchFamily="34" charset="0"/>
                <a:cs typeface="Segoe UI" pitchFamily="34" charset="0"/>
              </a:endParaRPr>
            </a:p>
          </p:txBody>
        </p:sp>
        <p:sp>
          <p:nvSpPr>
            <p:cNvPr id="92" name="Rectangle 91">
              <a:extLst>
                <a:ext uri="{FF2B5EF4-FFF2-40B4-BE49-F238E27FC236}">
                  <a16:creationId xmlns:a16="http://schemas.microsoft.com/office/drawing/2014/main" id="{D3B1EEF9-1069-3FC5-551D-7D556CE1666D}"/>
                </a:ext>
              </a:extLst>
            </p:cNvPr>
            <p:cNvSpPr/>
            <p:nvPr/>
          </p:nvSpPr>
          <p:spPr bwMode="auto">
            <a:xfrm>
              <a:off x="4446996" y="2589043"/>
              <a:ext cx="787002" cy="1757387"/>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0" rIns="4572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15</a:t>
              </a:r>
              <a:endParaRPr lang="en-US" sz="1200" dirty="0">
                <a:solidFill>
                  <a:schemeClr val="bg2"/>
                </a:solidFill>
                <a:ea typeface="Segoe UI" pitchFamily="34" charset="0"/>
                <a:cs typeface="Segoe UI" pitchFamily="34" charset="0"/>
              </a:endParaRPr>
            </a:p>
          </p:txBody>
        </p:sp>
        <p:sp>
          <p:nvSpPr>
            <p:cNvPr id="180" name="Rectangle 179">
              <a:extLst>
                <a:ext uri="{FF2B5EF4-FFF2-40B4-BE49-F238E27FC236}">
                  <a16:creationId xmlns:a16="http://schemas.microsoft.com/office/drawing/2014/main" id="{537D1388-CE73-FEDE-6D21-7CA4680EA63B}"/>
                </a:ext>
              </a:extLst>
            </p:cNvPr>
            <p:cNvSpPr/>
            <p:nvPr/>
          </p:nvSpPr>
          <p:spPr bwMode="auto">
            <a:xfrm>
              <a:off x="4511227" y="3530468"/>
              <a:ext cx="658540" cy="725867"/>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92</a:t>
              </a:r>
              <a:endParaRPr lang="en-US" sz="1200" dirty="0">
                <a:solidFill>
                  <a:schemeClr val="bg2"/>
                </a:solidFill>
                <a:ea typeface="Segoe UI" pitchFamily="34" charset="0"/>
                <a:cs typeface="Segoe UI" pitchFamily="34" charset="0"/>
              </a:endParaRPr>
            </a:p>
          </p:txBody>
        </p:sp>
        <p:sp>
          <p:nvSpPr>
            <p:cNvPr id="105" name="Rectangle: Rounded Corners 104">
              <a:extLst>
                <a:ext uri="{FF2B5EF4-FFF2-40B4-BE49-F238E27FC236}">
                  <a16:creationId xmlns:a16="http://schemas.microsoft.com/office/drawing/2014/main" id="{43DF39F0-6AF0-9920-53FB-5D5A3E18D909}"/>
                </a:ext>
              </a:extLst>
            </p:cNvPr>
            <p:cNvSpPr/>
            <p:nvPr/>
          </p:nvSpPr>
          <p:spPr bwMode="auto">
            <a:xfrm>
              <a:off x="4381412" y="1029339"/>
              <a:ext cx="918170" cy="393434"/>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a:solidFill>
                    <a:srgbClr val="FFFFFF"/>
                  </a:solidFill>
                  <a:ea typeface="Segoe UI" pitchFamily="34" charset="0"/>
                  <a:cs typeface="Segoe UI" pitchFamily="34" charset="0"/>
                </a:rPr>
                <a:t>Network</a:t>
              </a:r>
            </a:p>
          </p:txBody>
        </p:sp>
      </p:grpSp>
      <p:grpSp>
        <p:nvGrpSpPr>
          <p:cNvPr id="11" name="Group 10">
            <a:extLst>
              <a:ext uri="{FF2B5EF4-FFF2-40B4-BE49-F238E27FC236}">
                <a16:creationId xmlns:a16="http://schemas.microsoft.com/office/drawing/2014/main" id="{9760F2CD-EA58-74D7-757B-E7806C7D7EAD}"/>
              </a:ext>
            </a:extLst>
          </p:cNvPr>
          <p:cNvGrpSpPr/>
          <p:nvPr/>
        </p:nvGrpSpPr>
        <p:grpSpPr>
          <a:xfrm>
            <a:off x="5578463" y="1028849"/>
            <a:ext cx="1082712" cy="3430538"/>
            <a:chOff x="6050011" y="1029339"/>
            <a:chExt cx="920814" cy="3430538"/>
          </a:xfrm>
        </p:grpSpPr>
        <p:sp>
          <p:nvSpPr>
            <p:cNvPr id="85" name="Rectangle 84">
              <a:extLst>
                <a:ext uri="{FF2B5EF4-FFF2-40B4-BE49-F238E27FC236}">
                  <a16:creationId xmlns:a16="http://schemas.microsoft.com/office/drawing/2014/main" id="{87B4DA5B-2F83-1558-1638-38E12B6222C6}"/>
                </a:ext>
              </a:extLst>
            </p:cNvPr>
            <p:cNvSpPr/>
            <p:nvPr/>
          </p:nvSpPr>
          <p:spPr bwMode="auto">
            <a:xfrm>
              <a:off x="6050011" y="1307204"/>
              <a:ext cx="918170" cy="315267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9" name="Rectangle 68">
              <a:extLst>
                <a:ext uri="{FF2B5EF4-FFF2-40B4-BE49-F238E27FC236}">
                  <a16:creationId xmlns:a16="http://schemas.microsoft.com/office/drawing/2014/main" id="{30A00130-DFA4-4065-6F85-2920934C276C}"/>
                </a:ext>
              </a:extLst>
            </p:cNvPr>
            <p:cNvSpPr/>
            <p:nvPr/>
          </p:nvSpPr>
          <p:spPr bwMode="auto">
            <a:xfrm>
              <a:off x="6134817" y="1534242"/>
              <a:ext cx="787002" cy="943093"/>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a:solidFill>
                    <a:schemeClr val="tx1"/>
                  </a:solidFill>
                  <a:ea typeface="Segoe UI" pitchFamily="34" charset="0"/>
                  <a:cs typeface="Segoe UI" pitchFamily="34" charset="0"/>
                </a:rPr>
                <a:t>7</a:t>
              </a:r>
              <a:endParaRPr lang="en-US" sz="1200">
                <a:solidFill>
                  <a:schemeClr val="tx1"/>
                </a:solidFill>
                <a:ea typeface="Segoe UI" pitchFamily="34" charset="0"/>
                <a:cs typeface="Segoe UI" pitchFamily="34" charset="0"/>
              </a:endParaRPr>
            </a:p>
          </p:txBody>
        </p:sp>
        <p:sp>
          <p:nvSpPr>
            <p:cNvPr id="93" name="Rectangle 92">
              <a:extLst>
                <a:ext uri="{FF2B5EF4-FFF2-40B4-BE49-F238E27FC236}">
                  <a16:creationId xmlns:a16="http://schemas.microsoft.com/office/drawing/2014/main" id="{A494A419-352F-0885-290E-0BBC1F152DAB}"/>
                </a:ext>
              </a:extLst>
            </p:cNvPr>
            <p:cNvSpPr/>
            <p:nvPr/>
          </p:nvSpPr>
          <p:spPr bwMode="auto">
            <a:xfrm>
              <a:off x="6115595" y="2589043"/>
              <a:ext cx="787002" cy="1757387"/>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0" rIns="4572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23</a:t>
              </a:r>
              <a:endParaRPr lang="en-US" sz="1200" dirty="0">
                <a:solidFill>
                  <a:schemeClr val="bg2"/>
                </a:solidFill>
                <a:ea typeface="Segoe UI" pitchFamily="34" charset="0"/>
                <a:cs typeface="Segoe UI" pitchFamily="34" charset="0"/>
              </a:endParaRPr>
            </a:p>
          </p:txBody>
        </p:sp>
        <p:sp>
          <p:nvSpPr>
            <p:cNvPr id="181" name="Rectangle 180">
              <a:extLst>
                <a:ext uri="{FF2B5EF4-FFF2-40B4-BE49-F238E27FC236}">
                  <a16:creationId xmlns:a16="http://schemas.microsoft.com/office/drawing/2014/main" id="{5EFBF8FF-86E4-F2BB-C5DA-94EBA8D75DA8}"/>
                </a:ext>
              </a:extLst>
            </p:cNvPr>
            <p:cNvSpPr/>
            <p:nvPr/>
          </p:nvSpPr>
          <p:spPr bwMode="auto">
            <a:xfrm>
              <a:off x="6179826" y="3530468"/>
              <a:ext cx="658540" cy="725867"/>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a:solidFill>
                    <a:schemeClr val="bg2"/>
                  </a:solidFill>
                  <a:ea typeface="Segoe UI" pitchFamily="34" charset="0"/>
                  <a:cs typeface="Segoe UI" pitchFamily="34" charset="0"/>
                </a:rPr>
                <a:t>147</a:t>
              </a:r>
              <a:endParaRPr lang="en-US" sz="1200">
                <a:solidFill>
                  <a:schemeClr val="bg2"/>
                </a:solidFill>
                <a:ea typeface="Segoe UI" pitchFamily="34" charset="0"/>
                <a:cs typeface="Segoe UI" pitchFamily="34" charset="0"/>
              </a:endParaRPr>
            </a:p>
          </p:txBody>
        </p:sp>
        <p:sp>
          <p:nvSpPr>
            <p:cNvPr id="106" name="Rectangle: Rounded Corners 105">
              <a:extLst>
                <a:ext uri="{FF2B5EF4-FFF2-40B4-BE49-F238E27FC236}">
                  <a16:creationId xmlns:a16="http://schemas.microsoft.com/office/drawing/2014/main" id="{796490B9-13D0-4BD0-DD79-5AEB8EBC6B5B}"/>
                </a:ext>
              </a:extLst>
            </p:cNvPr>
            <p:cNvSpPr/>
            <p:nvPr/>
          </p:nvSpPr>
          <p:spPr bwMode="auto">
            <a:xfrm>
              <a:off x="6052655" y="1029339"/>
              <a:ext cx="918170" cy="393434"/>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a:solidFill>
                    <a:srgbClr val="FFFFFF"/>
                  </a:solidFill>
                  <a:ea typeface="Segoe UI" pitchFamily="34" charset="0"/>
                  <a:cs typeface="Segoe UI" pitchFamily="34" charset="0"/>
                </a:rPr>
                <a:t>Infrastructure</a:t>
              </a:r>
            </a:p>
          </p:txBody>
        </p:sp>
      </p:grpSp>
      <p:grpSp>
        <p:nvGrpSpPr>
          <p:cNvPr id="12" name="Group 11">
            <a:extLst>
              <a:ext uri="{FF2B5EF4-FFF2-40B4-BE49-F238E27FC236}">
                <a16:creationId xmlns:a16="http://schemas.microsoft.com/office/drawing/2014/main" id="{26F9B7C2-733C-C5CC-E7CA-DF2C696A5BFC}"/>
              </a:ext>
            </a:extLst>
          </p:cNvPr>
          <p:cNvGrpSpPr/>
          <p:nvPr/>
        </p:nvGrpSpPr>
        <p:grpSpPr>
          <a:xfrm>
            <a:off x="6798929" y="1029093"/>
            <a:ext cx="1085820" cy="3430538"/>
            <a:chOff x="7451486" y="1029339"/>
            <a:chExt cx="923458" cy="3430538"/>
          </a:xfrm>
        </p:grpSpPr>
        <p:sp>
          <p:nvSpPr>
            <p:cNvPr id="86" name="Rectangle 85">
              <a:extLst>
                <a:ext uri="{FF2B5EF4-FFF2-40B4-BE49-F238E27FC236}">
                  <a16:creationId xmlns:a16="http://schemas.microsoft.com/office/drawing/2014/main" id="{1184330F-787B-6776-6508-4A66BAFFA5D1}"/>
                </a:ext>
              </a:extLst>
            </p:cNvPr>
            <p:cNvSpPr/>
            <p:nvPr/>
          </p:nvSpPr>
          <p:spPr bwMode="auto">
            <a:xfrm>
              <a:off x="7451486" y="1307204"/>
              <a:ext cx="918170" cy="315267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0" name="Rectangle 69">
              <a:extLst>
                <a:ext uri="{FF2B5EF4-FFF2-40B4-BE49-F238E27FC236}">
                  <a16:creationId xmlns:a16="http://schemas.microsoft.com/office/drawing/2014/main" id="{ED975C6A-4F7E-A351-D464-1EACE56B2FA6}"/>
                </a:ext>
              </a:extLst>
            </p:cNvPr>
            <p:cNvSpPr/>
            <p:nvPr/>
          </p:nvSpPr>
          <p:spPr bwMode="auto">
            <a:xfrm>
              <a:off x="7517070" y="1534242"/>
              <a:ext cx="787002" cy="943093"/>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tx1"/>
                  </a:solidFill>
                  <a:ea typeface="Segoe UI" pitchFamily="34" charset="0"/>
                  <a:cs typeface="Segoe UI" pitchFamily="34" charset="0"/>
                </a:rPr>
                <a:t>6</a:t>
              </a:r>
              <a:endParaRPr lang="en-US" sz="1200" dirty="0">
                <a:solidFill>
                  <a:schemeClr val="tx1"/>
                </a:solidFill>
                <a:ea typeface="Segoe UI" pitchFamily="34" charset="0"/>
                <a:cs typeface="Segoe UI" pitchFamily="34" charset="0"/>
              </a:endParaRPr>
            </a:p>
          </p:txBody>
        </p:sp>
        <p:sp>
          <p:nvSpPr>
            <p:cNvPr id="94" name="Rectangle 93">
              <a:extLst>
                <a:ext uri="{FF2B5EF4-FFF2-40B4-BE49-F238E27FC236}">
                  <a16:creationId xmlns:a16="http://schemas.microsoft.com/office/drawing/2014/main" id="{A897B3DF-9441-6896-0488-1454D16C91A7}"/>
                </a:ext>
              </a:extLst>
            </p:cNvPr>
            <p:cNvSpPr/>
            <p:nvPr/>
          </p:nvSpPr>
          <p:spPr bwMode="auto">
            <a:xfrm>
              <a:off x="7517070" y="2589043"/>
              <a:ext cx="787002" cy="1757387"/>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0" rIns="4572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21</a:t>
              </a:r>
              <a:endParaRPr lang="en-US" sz="1200" dirty="0">
                <a:solidFill>
                  <a:schemeClr val="bg2"/>
                </a:solidFill>
                <a:ea typeface="Segoe UI" pitchFamily="34" charset="0"/>
                <a:cs typeface="Segoe UI" pitchFamily="34" charset="0"/>
              </a:endParaRPr>
            </a:p>
          </p:txBody>
        </p:sp>
        <p:sp>
          <p:nvSpPr>
            <p:cNvPr id="183" name="Rectangle 182">
              <a:extLst>
                <a:ext uri="{FF2B5EF4-FFF2-40B4-BE49-F238E27FC236}">
                  <a16:creationId xmlns:a16="http://schemas.microsoft.com/office/drawing/2014/main" id="{F5A231CB-86EE-4778-26B3-5B9EB5185FF2}"/>
                </a:ext>
              </a:extLst>
            </p:cNvPr>
            <p:cNvSpPr/>
            <p:nvPr/>
          </p:nvSpPr>
          <p:spPr bwMode="auto">
            <a:xfrm>
              <a:off x="7581301" y="3530468"/>
              <a:ext cx="658540" cy="725867"/>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125</a:t>
              </a:r>
              <a:endParaRPr lang="en-US" sz="1200" dirty="0">
                <a:solidFill>
                  <a:schemeClr val="bg2"/>
                </a:solidFill>
                <a:ea typeface="Segoe UI" pitchFamily="34" charset="0"/>
                <a:cs typeface="Segoe UI" pitchFamily="34" charset="0"/>
              </a:endParaRPr>
            </a:p>
          </p:txBody>
        </p:sp>
        <p:sp>
          <p:nvSpPr>
            <p:cNvPr id="107" name="Rectangle: Rounded Corners 106">
              <a:extLst>
                <a:ext uri="{FF2B5EF4-FFF2-40B4-BE49-F238E27FC236}">
                  <a16:creationId xmlns:a16="http://schemas.microsoft.com/office/drawing/2014/main" id="{DAE22F3C-DBAB-7A53-190B-1115185AF2D9}"/>
                </a:ext>
              </a:extLst>
            </p:cNvPr>
            <p:cNvSpPr/>
            <p:nvPr/>
          </p:nvSpPr>
          <p:spPr bwMode="auto">
            <a:xfrm>
              <a:off x="7456774" y="1029339"/>
              <a:ext cx="918170" cy="393434"/>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a:solidFill>
                    <a:srgbClr val="FFFFFF"/>
                  </a:solidFill>
                  <a:ea typeface="Segoe UI" pitchFamily="34" charset="0"/>
                  <a:cs typeface="Segoe UI" pitchFamily="34" charset="0"/>
                </a:rPr>
                <a:t>Security Operations</a:t>
              </a:r>
            </a:p>
          </p:txBody>
        </p:sp>
      </p:grpSp>
      <p:grpSp>
        <p:nvGrpSpPr>
          <p:cNvPr id="13" name="Group 12">
            <a:extLst>
              <a:ext uri="{FF2B5EF4-FFF2-40B4-BE49-F238E27FC236}">
                <a16:creationId xmlns:a16="http://schemas.microsoft.com/office/drawing/2014/main" id="{7032451A-DA82-45F0-B8BA-9839CFB70223}"/>
              </a:ext>
            </a:extLst>
          </p:cNvPr>
          <p:cNvGrpSpPr/>
          <p:nvPr/>
        </p:nvGrpSpPr>
        <p:grpSpPr>
          <a:xfrm>
            <a:off x="8022736" y="1029339"/>
            <a:ext cx="1079602" cy="3430538"/>
            <a:chOff x="8860895" y="1029339"/>
            <a:chExt cx="918170" cy="3430538"/>
          </a:xfrm>
        </p:grpSpPr>
        <p:sp>
          <p:nvSpPr>
            <p:cNvPr id="87" name="Rectangle 86">
              <a:extLst>
                <a:ext uri="{FF2B5EF4-FFF2-40B4-BE49-F238E27FC236}">
                  <a16:creationId xmlns:a16="http://schemas.microsoft.com/office/drawing/2014/main" id="{910EA37D-C570-DDDD-30C4-CE9BD6D51281}"/>
                </a:ext>
              </a:extLst>
            </p:cNvPr>
            <p:cNvSpPr/>
            <p:nvPr/>
          </p:nvSpPr>
          <p:spPr bwMode="auto">
            <a:xfrm>
              <a:off x="8860895" y="1307204"/>
              <a:ext cx="918170" cy="3152673"/>
            </a:xfrm>
            <a:prstGeom prst="rect">
              <a:avLst/>
            </a:prstGeom>
            <a:solidFill>
              <a:schemeClr val="tx1"/>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1" name="Rectangle 70">
              <a:extLst>
                <a:ext uri="{FF2B5EF4-FFF2-40B4-BE49-F238E27FC236}">
                  <a16:creationId xmlns:a16="http://schemas.microsoft.com/office/drawing/2014/main" id="{046CBDE6-0411-7C38-AE3E-BB4E04B07FD3}"/>
                </a:ext>
              </a:extLst>
            </p:cNvPr>
            <p:cNvSpPr/>
            <p:nvPr/>
          </p:nvSpPr>
          <p:spPr bwMode="auto">
            <a:xfrm>
              <a:off x="8926479" y="1523516"/>
              <a:ext cx="787002" cy="943093"/>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tx1"/>
                  </a:solidFill>
                  <a:ea typeface="Segoe UI" pitchFamily="34" charset="0"/>
                  <a:cs typeface="Segoe UI" pitchFamily="34" charset="0"/>
                </a:rPr>
                <a:t>7</a:t>
              </a:r>
              <a:endParaRPr lang="en-US" sz="1200" dirty="0">
                <a:solidFill>
                  <a:schemeClr val="tx1"/>
                </a:solidFill>
                <a:ea typeface="Segoe UI" pitchFamily="34" charset="0"/>
                <a:cs typeface="Segoe UI" pitchFamily="34" charset="0"/>
              </a:endParaRPr>
            </a:p>
          </p:txBody>
        </p:sp>
        <p:sp>
          <p:nvSpPr>
            <p:cNvPr id="95" name="Rectangle 94">
              <a:extLst>
                <a:ext uri="{FF2B5EF4-FFF2-40B4-BE49-F238E27FC236}">
                  <a16:creationId xmlns:a16="http://schemas.microsoft.com/office/drawing/2014/main" id="{67E6D993-F75E-433D-2E90-3A0A48BB0601}"/>
                </a:ext>
              </a:extLst>
            </p:cNvPr>
            <p:cNvSpPr/>
            <p:nvPr/>
          </p:nvSpPr>
          <p:spPr bwMode="auto">
            <a:xfrm>
              <a:off x="8926479" y="2589043"/>
              <a:ext cx="787002" cy="1757387"/>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0" rIns="4572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20</a:t>
              </a:r>
              <a:endParaRPr lang="en-US" sz="1200" dirty="0">
                <a:solidFill>
                  <a:schemeClr val="bg2"/>
                </a:solidFill>
                <a:ea typeface="Segoe UI" pitchFamily="34" charset="0"/>
                <a:cs typeface="Segoe UI" pitchFamily="34" charset="0"/>
              </a:endParaRPr>
            </a:p>
          </p:txBody>
        </p:sp>
        <p:sp>
          <p:nvSpPr>
            <p:cNvPr id="188" name="Rectangle 187">
              <a:extLst>
                <a:ext uri="{FF2B5EF4-FFF2-40B4-BE49-F238E27FC236}">
                  <a16:creationId xmlns:a16="http://schemas.microsoft.com/office/drawing/2014/main" id="{1B12463A-7DB3-47B5-90BC-3CED2BFE5E8C}"/>
                </a:ext>
              </a:extLst>
            </p:cNvPr>
            <p:cNvSpPr/>
            <p:nvPr/>
          </p:nvSpPr>
          <p:spPr bwMode="auto">
            <a:xfrm>
              <a:off x="8990710" y="3530468"/>
              <a:ext cx="658540" cy="725867"/>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bg2"/>
                  </a:solidFill>
                  <a:ea typeface="Segoe UI" pitchFamily="34" charset="0"/>
                  <a:cs typeface="Segoe UI" pitchFamily="34" charset="0"/>
                </a:rPr>
                <a:t>91</a:t>
              </a:r>
              <a:endParaRPr lang="en-US" sz="1200" dirty="0">
                <a:solidFill>
                  <a:schemeClr val="bg2"/>
                </a:solidFill>
                <a:ea typeface="Segoe UI" pitchFamily="34" charset="0"/>
                <a:cs typeface="Segoe UI" pitchFamily="34" charset="0"/>
              </a:endParaRPr>
            </a:p>
          </p:txBody>
        </p:sp>
        <p:sp>
          <p:nvSpPr>
            <p:cNvPr id="348" name="Rectangle: Rounded Corners 347">
              <a:extLst>
                <a:ext uri="{FF2B5EF4-FFF2-40B4-BE49-F238E27FC236}">
                  <a16:creationId xmlns:a16="http://schemas.microsoft.com/office/drawing/2014/main" id="{CD270977-9CE0-4035-DD4E-3B6FE4DD39E2}"/>
                </a:ext>
              </a:extLst>
            </p:cNvPr>
            <p:cNvSpPr/>
            <p:nvPr/>
          </p:nvSpPr>
          <p:spPr bwMode="auto">
            <a:xfrm>
              <a:off x="8860895" y="1029339"/>
              <a:ext cx="918170" cy="393434"/>
            </a:xfrm>
            <a:prstGeom prst="roundRect">
              <a:avLst/>
            </a:prstGeom>
            <a:solidFill>
              <a:srgbClr val="223642"/>
            </a:solidFill>
            <a:ln>
              <a:solidFill>
                <a:schemeClr val="bg1">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a:solidFill>
                    <a:schemeClr val="tx1"/>
                  </a:solidFill>
                  <a:ea typeface="Segoe UI" pitchFamily="34" charset="0"/>
                  <a:cs typeface="Segoe UI" pitchFamily="34" charset="0"/>
                </a:rPr>
                <a:t>AI</a:t>
              </a:r>
            </a:p>
          </p:txBody>
        </p:sp>
      </p:grpSp>
      <p:sp>
        <p:nvSpPr>
          <p:cNvPr id="189" name="TextBox 188">
            <a:extLst>
              <a:ext uri="{FF2B5EF4-FFF2-40B4-BE49-F238E27FC236}">
                <a16:creationId xmlns:a16="http://schemas.microsoft.com/office/drawing/2014/main" id="{C4075A1C-AEFF-275F-8499-2D547210E182}"/>
              </a:ext>
            </a:extLst>
          </p:cNvPr>
          <p:cNvSpPr txBox="1"/>
          <p:nvPr/>
        </p:nvSpPr>
        <p:spPr>
          <a:xfrm>
            <a:off x="10544724" y="1523517"/>
            <a:ext cx="849796" cy="953818"/>
          </a:xfrm>
          <a:prstGeom prst="rect">
            <a:avLst/>
          </a:prstGeom>
          <a:solidFill>
            <a:srgbClr val="243D6D"/>
          </a:solidFill>
        </p:spPr>
        <p:txBody>
          <a:bodyPr wrap="square" lIns="0" tIns="0" rIns="0" bIns="0" rtlCol="0" anchor="ctr" anchorCtr="0">
            <a:noAutofit/>
          </a:bodyPr>
          <a:lstStyle/>
          <a:p>
            <a:pPr algn="ctr"/>
            <a:r>
              <a:rPr lang="en-US" sz="2000" b="1" dirty="0"/>
              <a:t>41</a:t>
            </a:r>
            <a:br>
              <a:rPr lang="en-US" sz="2000" dirty="0"/>
            </a:br>
            <a:r>
              <a:rPr lang="en-US" sz="1200" dirty="0"/>
              <a:t>Swin</a:t>
            </a:r>
            <a:br>
              <a:rPr lang="en-US" sz="1200" dirty="0"/>
            </a:br>
            <a:r>
              <a:rPr lang="en-US" sz="1200" dirty="0"/>
              <a:t>lanes</a:t>
            </a:r>
          </a:p>
        </p:txBody>
      </p:sp>
      <p:sp>
        <p:nvSpPr>
          <p:cNvPr id="190" name="TextBox 189">
            <a:extLst>
              <a:ext uri="{FF2B5EF4-FFF2-40B4-BE49-F238E27FC236}">
                <a16:creationId xmlns:a16="http://schemas.microsoft.com/office/drawing/2014/main" id="{5016D073-777B-38E3-2304-EB0739B2C6F1}"/>
              </a:ext>
            </a:extLst>
          </p:cNvPr>
          <p:cNvSpPr txBox="1"/>
          <p:nvPr/>
        </p:nvSpPr>
        <p:spPr>
          <a:xfrm>
            <a:off x="10544724" y="2589042"/>
            <a:ext cx="849796" cy="1757388"/>
          </a:xfrm>
          <a:prstGeom prst="rect">
            <a:avLst/>
          </a:prstGeom>
          <a:solidFill>
            <a:srgbClr val="8DC8E8"/>
          </a:solidFill>
        </p:spPr>
        <p:txBody>
          <a:bodyPr wrap="square" lIns="0" tIns="91440" rIns="0" bIns="0" rtlCol="0" anchor="t" anchorCtr="0">
            <a:noAutofit/>
          </a:bodyPr>
          <a:lstStyle/>
          <a:p>
            <a:pPr algn="ctr"/>
            <a:r>
              <a:rPr lang="en-US" sz="2000" b="1" dirty="0">
                <a:solidFill>
                  <a:schemeClr val="bg2"/>
                </a:solidFill>
              </a:rPr>
              <a:t>145</a:t>
            </a:r>
            <a:br>
              <a:rPr lang="en-US" sz="2000" dirty="0">
                <a:solidFill>
                  <a:schemeClr val="bg2"/>
                </a:solidFill>
              </a:rPr>
            </a:br>
            <a:r>
              <a:rPr lang="en-US" sz="1200" dirty="0">
                <a:solidFill>
                  <a:schemeClr val="bg2"/>
                </a:solidFill>
              </a:rPr>
              <a:t>Control groups</a:t>
            </a:r>
          </a:p>
        </p:txBody>
      </p:sp>
      <p:sp>
        <p:nvSpPr>
          <p:cNvPr id="191" name="TextBox 190">
            <a:extLst>
              <a:ext uri="{FF2B5EF4-FFF2-40B4-BE49-F238E27FC236}">
                <a16:creationId xmlns:a16="http://schemas.microsoft.com/office/drawing/2014/main" id="{FF30D42C-DB22-ECF8-F4BD-91EDDEDD0B9E}"/>
              </a:ext>
            </a:extLst>
          </p:cNvPr>
          <p:cNvSpPr txBox="1"/>
          <p:nvPr/>
        </p:nvSpPr>
        <p:spPr>
          <a:xfrm>
            <a:off x="10634176" y="3647180"/>
            <a:ext cx="670892" cy="492443"/>
          </a:xfrm>
          <a:prstGeom prst="rect">
            <a:avLst/>
          </a:prstGeom>
          <a:noFill/>
        </p:spPr>
        <p:txBody>
          <a:bodyPr wrap="square" lIns="0" tIns="0" rIns="0" bIns="0" rtlCol="0" anchor="ctr" anchorCtr="0">
            <a:noAutofit/>
          </a:bodyPr>
          <a:lstStyle/>
          <a:p>
            <a:pPr algn="ctr"/>
            <a:r>
              <a:rPr lang="en-US" sz="2000" b="1" dirty="0">
                <a:solidFill>
                  <a:schemeClr val="bg2"/>
                </a:solidFill>
              </a:rPr>
              <a:t>818</a:t>
            </a:r>
            <a:br>
              <a:rPr lang="en-US" sz="2000" dirty="0">
                <a:solidFill>
                  <a:schemeClr val="bg2"/>
                </a:solidFill>
              </a:rPr>
            </a:br>
            <a:r>
              <a:rPr lang="en-US" sz="1200" dirty="0">
                <a:solidFill>
                  <a:schemeClr val="bg2"/>
                </a:solidFill>
              </a:rPr>
              <a:t>Controls</a:t>
            </a:r>
          </a:p>
        </p:txBody>
      </p:sp>
      <p:cxnSp>
        <p:nvCxnSpPr>
          <p:cNvPr id="193" name="Straight Connector 192">
            <a:extLst>
              <a:ext uri="{FF2B5EF4-FFF2-40B4-BE49-F238E27FC236}">
                <a16:creationId xmlns:a16="http://schemas.microsoft.com/office/drawing/2014/main" id="{6E22636D-58B7-5FF7-EBE2-646C255DD8FC}"/>
              </a:ext>
            </a:extLst>
          </p:cNvPr>
          <p:cNvCxnSpPr>
            <a:cxnSpLocks/>
          </p:cNvCxnSpPr>
          <p:nvPr/>
        </p:nvCxnSpPr>
        <p:spPr>
          <a:xfrm>
            <a:off x="10634176" y="3540130"/>
            <a:ext cx="670892"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1625A46B-2371-FFB7-B41F-37E83C896F93}"/>
              </a:ext>
            </a:extLst>
          </p:cNvPr>
          <p:cNvGrpSpPr/>
          <p:nvPr/>
        </p:nvGrpSpPr>
        <p:grpSpPr>
          <a:xfrm>
            <a:off x="677953" y="545105"/>
            <a:ext cx="3359250" cy="278144"/>
            <a:chOff x="677953" y="545105"/>
            <a:chExt cx="3359250" cy="278144"/>
          </a:xfrm>
        </p:grpSpPr>
        <p:sp>
          <p:nvSpPr>
            <p:cNvPr id="221" name="TextBox 220">
              <a:extLst>
                <a:ext uri="{FF2B5EF4-FFF2-40B4-BE49-F238E27FC236}">
                  <a16:creationId xmlns:a16="http://schemas.microsoft.com/office/drawing/2014/main" id="{38ABF600-BC15-BE6D-1827-568507F83EE6}"/>
                </a:ext>
              </a:extLst>
            </p:cNvPr>
            <p:cNvSpPr txBox="1"/>
            <p:nvPr/>
          </p:nvSpPr>
          <p:spPr>
            <a:xfrm>
              <a:off x="1130958" y="553831"/>
              <a:ext cx="2906245" cy="246221"/>
            </a:xfrm>
            <a:prstGeom prst="rect">
              <a:avLst/>
            </a:prstGeom>
            <a:noFill/>
          </p:spPr>
          <p:txBody>
            <a:bodyPr wrap="none" lIns="0" tIns="0" rIns="0" bIns="0" rtlCol="0">
              <a:spAutoFit/>
            </a:bodyPr>
            <a:lstStyle/>
            <a:p>
              <a:pPr algn="l"/>
              <a:r>
                <a:rPr lang="en-US" sz="1600" b="1"/>
                <a:t>Zero Trust Workshop in action</a:t>
              </a:r>
            </a:p>
          </p:txBody>
        </p:sp>
        <p:grpSp>
          <p:nvGrpSpPr>
            <p:cNvPr id="222" name="Group 221">
              <a:extLst>
                <a:ext uri="{FF2B5EF4-FFF2-40B4-BE49-F238E27FC236}">
                  <a16:creationId xmlns:a16="http://schemas.microsoft.com/office/drawing/2014/main" id="{E3E7AAC8-2F3E-0A62-0BE6-C79DF1D80645}"/>
                </a:ext>
              </a:extLst>
            </p:cNvPr>
            <p:cNvGrpSpPr/>
            <p:nvPr/>
          </p:nvGrpSpPr>
          <p:grpSpPr>
            <a:xfrm>
              <a:off x="677953" y="545105"/>
              <a:ext cx="272017" cy="278144"/>
              <a:chOff x="1395663" y="-581701"/>
              <a:chExt cx="361994" cy="370148"/>
            </a:xfrm>
          </p:grpSpPr>
          <p:sp>
            <p:nvSpPr>
              <p:cNvPr id="225" name="Rectangle 224">
                <a:extLst>
                  <a:ext uri="{FF2B5EF4-FFF2-40B4-BE49-F238E27FC236}">
                    <a16:creationId xmlns:a16="http://schemas.microsoft.com/office/drawing/2014/main" id="{BF9BD773-BA1B-7D9D-CB3A-237A4E88D93A}"/>
                  </a:ext>
                </a:extLst>
              </p:cNvPr>
              <p:cNvSpPr/>
              <p:nvPr/>
            </p:nvSpPr>
            <p:spPr bwMode="auto">
              <a:xfrm>
                <a:off x="1395663" y="-581701"/>
                <a:ext cx="167396" cy="167396"/>
              </a:xfrm>
              <a:prstGeom prst="rect">
                <a:avLst/>
              </a:prstGeom>
              <a:solidFill>
                <a:srgbClr val="F2502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26" name="Rectangle 225">
                <a:extLst>
                  <a:ext uri="{FF2B5EF4-FFF2-40B4-BE49-F238E27FC236}">
                    <a16:creationId xmlns:a16="http://schemas.microsoft.com/office/drawing/2014/main" id="{D8CAEDB6-C8F0-7C68-FB63-0BD493ADBFBC}"/>
                  </a:ext>
                </a:extLst>
              </p:cNvPr>
              <p:cNvSpPr/>
              <p:nvPr/>
            </p:nvSpPr>
            <p:spPr bwMode="auto">
              <a:xfrm>
                <a:off x="1590261" y="-581701"/>
                <a:ext cx="167396" cy="167396"/>
              </a:xfrm>
              <a:prstGeom prst="rect">
                <a:avLst/>
              </a:prstGeom>
              <a:solidFill>
                <a:srgbClr val="7FBA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6" name="Rectangle 255">
                <a:extLst>
                  <a:ext uri="{FF2B5EF4-FFF2-40B4-BE49-F238E27FC236}">
                    <a16:creationId xmlns:a16="http://schemas.microsoft.com/office/drawing/2014/main" id="{1DB5E38E-D0D3-A2BB-299C-D08068CBBDF4}"/>
                  </a:ext>
                </a:extLst>
              </p:cNvPr>
              <p:cNvSpPr/>
              <p:nvPr/>
            </p:nvSpPr>
            <p:spPr bwMode="auto">
              <a:xfrm>
                <a:off x="1395663" y="-378949"/>
                <a:ext cx="167396" cy="167396"/>
              </a:xfrm>
              <a:prstGeom prst="rect">
                <a:avLst/>
              </a:prstGeom>
              <a:solidFill>
                <a:srgbClr val="00A4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2" name="Rectangle 261">
                <a:extLst>
                  <a:ext uri="{FF2B5EF4-FFF2-40B4-BE49-F238E27FC236}">
                    <a16:creationId xmlns:a16="http://schemas.microsoft.com/office/drawing/2014/main" id="{E0946F4C-391B-AD10-14D2-A9516287F39B}"/>
                  </a:ext>
                </a:extLst>
              </p:cNvPr>
              <p:cNvSpPr/>
              <p:nvPr/>
            </p:nvSpPr>
            <p:spPr bwMode="auto">
              <a:xfrm>
                <a:off x="1590261" y="-378949"/>
                <a:ext cx="167396" cy="167396"/>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grpSp>
        <p:nvGrpSpPr>
          <p:cNvPr id="338" name="Group 337">
            <a:extLst>
              <a:ext uri="{FF2B5EF4-FFF2-40B4-BE49-F238E27FC236}">
                <a16:creationId xmlns:a16="http://schemas.microsoft.com/office/drawing/2014/main" id="{55BEA906-A76F-A327-CC47-A68A88B6DE69}"/>
              </a:ext>
            </a:extLst>
          </p:cNvPr>
          <p:cNvGrpSpPr/>
          <p:nvPr/>
        </p:nvGrpSpPr>
        <p:grpSpPr>
          <a:xfrm>
            <a:off x="652876" y="4821989"/>
            <a:ext cx="1999947" cy="1393976"/>
            <a:chOff x="652876" y="4821989"/>
            <a:chExt cx="1999947" cy="1393976"/>
          </a:xfrm>
        </p:grpSpPr>
        <p:sp>
          <p:nvSpPr>
            <p:cNvPr id="207" name="TextBox 206">
              <a:extLst>
                <a:ext uri="{FF2B5EF4-FFF2-40B4-BE49-F238E27FC236}">
                  <a16:creationId xmlns:a16="http://schemas.microsoft.com/office/drawing/2014/main" id="{F753AAE2-7349-2C07-8F5F-2C9AA219C76E}"/>
                </a:ext>
              </a:extLst>
            </p:cNvPr>
            <p:cNvSpPr txBox="1"/>
            <p:nvPr/>
          </p:nvSpPr>
          <p:spPr>
            <a:xfrm>
              <a:off x="652876" y="5261858"/>
              <a:ext cx="1999947" cy="954107"/>
            </a:xfrm>
            <a:prstGeom prst="rect">
              <a:avLst/>
            </a:prstGeom>
            <a:noFill/>
          </p:spPr>
          <p:txBody>
            <a:bodyPr wrap="square">
              <a:spAutoFit/>
            </a:bodyPr>
            <a:lstStyle/>
            <a:p>
              <a:r>
                <a:rPr lang="en-US" sz="1400" b="1">
                  <a:solidFill>
                    <a:schemeClr val="accent6"/>
                  </a:solidFill>
                  <a:latin typeface="+mj-lt"/>
                  <a:cs typeface="Segoe UI"/>
                </a:rPr>
                <a:t>Create</a:t>
              </a:r>
              <a:r>
                <a:rPr lang="en-US" sz="1400">
                  <a:solidFill>
                    <a:schemeClr val="bg2"/>
                  </a:solidFill>
                  <a:latin typeface="+mj-lt"/>
                  <a:cs typeface="Segoe UI"/>
                </a:rPr>
                <a:t> a detailed, customized zero trust roadmap that is relevant to your organization</a:t>
              </a:r>
            </a:p>
          </p:txBody>
        </p:sp>
        <p:pic>
          <p:nvPicPr>
            <p:cNvPr id="263" name="Picture 14" descr="Map and location pin in magenta and orange color">
              <a:extLst>
                <a:ext uri="{FF2B5EF4-FFF2-40B4-BE49-F238E27FC236}">
                  <a16:creationId xmlns:a16="http://schemas.microsoft.com/office/drawing/2014/main" id="{7EE8C0FF-1CAE-7BB7-3EE4-D7E69767FE43}"/>
                </a:ext>
              </a:extLst>
            </p:cNvPr>
            <p:cNvPicPr>
              <a:picLocks noChangeAspect="1"/>
            </p:cNvPicPr>
            <p:nvPr/>
          </p:nvPicPr>
          <p:blipFill>
            <a:blip r:embed="rId3"/>
            <a:stretch>
              <a:fillRect/>
            </a:stretch>
          </p:blipFill>
          <p:spPr>
            <a:xfrm>
              <a:off x="776293" y="4821989"/>
              <a:ext cx="469124" cy="469124"/>
            </a:xfrm>
            <a:prstGeom prst="rect">
              <a:avLst/>
            </a:prstGeom>
          </p:spPr>
        </p:pic>
      </p:grpSp>
      <p:grpSp>
        <p:nvGrpSpPr>
          <p:cNvPr id="345" name="Group 344">
            <a:extLst>
              <a:ext uri="{FF2B5EF4-FFF2-40B4-BE49-F238E27FC236}">
                <a16:creationId xmlns:a16="http://schemas.microsoft.com/office/drawing/2014/main" id="{01A0D676-F1DC-8118-2A52-C294A663726D}"/>
              </a:ext>
            </a:extLst>
          </p:cNvPr>
          <p:cNvGrpSpPr/>
          <p:nvPr/>
        </p:nvGrpSpPr>
        <p:grpSpPr>
          <a:xfrm>
            <a:off x="2970235" y="4802267"/>
            <a:ext cx="1714186" cy="1629142"/>
            <a:chOff x="2970235" y="4802267"/>
            <a:chExt cx="1714186" cy="1629142"/>
          </a:xfrm>
        </p:grpSpPr>
        <p:pic>
          <p:nvPicPr>
            <p:cNvPr id="268" name="Picture 17" descr="Presentation board with line graph and cog in purple and blue color">
              <a:extLst>
                <a:ext uri="{FF2B5EF4-FFF2-40B4-BE49-F238E27FC236}">
                  <a16:creationId xmlns:a16="http://schemas.microsoft.com/office/drawing/2014/main" id="{8277154D-5A67-90CF-72FB-9A87F817B2D0}"/>
                </a:ext>
              </a:extLst>
            </p:cNvPr>
            <p:cNvPicPr>
              <a:picLocks noChangeAspect="1"/>
            </p:cNvPicPr>
            <p:nvPr/>
          </p:nvPicPr>
          <p:blipFill>
            <a:blip r:embed="rId4"/>
            <a:stretch>
              <a:fillRect/>
            </a:stretch>
          </p:blipFill>
          <p:spPr>
            <a:xfrm>
              <a:off x="3026841" y="4802267"/>
              <a:ext cx="508568" cy="508568"/>
            </a:xfrm>
            <a:prstGeom prst="rect">
              <a:avLst/>
            </a:prstGeom>
          </p:spPr>
        </p:pic>
        <p:sp>
          <p:nvSpPr>
            <p:cNvPr id="208" name="TextBox 207">
              <a:extLst>
                <a:ext uri="{FF2B5EF4-FFF2-40B4-BE49-F238E27FC236}">
                  <a16:creationId xmlns:a16="http://schemas.microsoft.com/office/drawing/2014/main" id="{B3BB4A9D-BF3D-29C4-6E6D-F4D9E9D5B749}"/>
                </a:ext>
              </a:extLst>
            </p:cNvPr>
            <p:cNvSpPr txBox="1"/>
            <p:nvPr/>
          </p:nvSpPr>
          <p:spPr>
            <a:xfrm>
              <a:off x="2970235" y="5261858"/>
              <a:ext cx="1714186" cy="1169551"/>
            </a:xfrm>
            <a:prstGeom prst="rect">
              <a:avLst/>
            </a:prstGeom>
            <a:noFill/>
          </p:spPr>
          <p:txBody>
            <a:bodyPr wrap="square">
              <a:spAutoFit/>
            </a:bodyPr>
            <a:lstStyle/>
            <a:p>
              <a:r>
                <a:rPr lang="en-US" sz="1400" b="1">
                  <a:solidFill>
                    <a:schemeClr val="accent6"/>
                  </a:solidFill>
                  <a:latin typeface="+mj-lt"/>
                  <a:cs typeface="Segoe UI"/>
                </a:rPr>
                <a:t>Measure</a:t>
              </a:r>
              <a:r>
                <a:rPr lang="en-US" sz="1400">
                  <a:solidFill>
                    <a:schemeClr val="bg2"/>
                  </a:solidFill>
                  <a:latin typeface="+mj-lt"/>
                  <a:cs typeface="Segoe UI"/>
                </a:rPr>
                <a:t> progress and impact of your ZT journey</a:t>
              </a:r>
            </a:p>
            <a:p>
              <a:br>
                <a:rPr lang="en-US" sz="1400">
                  <a:solidFill>
                    <a:schemeClr val="bg2"/>
                  </a:solidFill>
                </a:rPr>
              </a:br>
              <a:endParaRPr lang="en-US" sz="1400">
                <a:solidFill>
                  <a:schemeClr val="bg2"/>
                </a:solidFill>
                <a:latin typeface="+mj-lt"/>
                <a:cs typeface="Segoe UI"/>
              </a:endParaRPr>
            </a:p>
          </p:txBody>
        </p:sp>
      </p:grpSp>
      <p:grpSp>
        <p:nvGrpSpPr>
          <p:cNvPr id="341" name="Group 340">
            <a:extLst>
              <a:ext uri="{FF2B5EF4-FFF2-40B4-BE49-F238E27FC236}">
                <a16:creationId xmlns:a16="http://schemas.microsoft.com/office/drawing/2014/main" id="{E1E96E01-8168-7916-10CE-491BFDD0E740}"/>
              </a:ext>
            </a:extLst>
          </p:cNvPr>
          <p:cNvGrpSpPr/>
          <p:nvPr/>
        </p:nvGrpSpPr>
        <p:grpSpPr>
          <a:xfrm>
            <a:off x="5001833" y="4838687"/>
            <a:ext cx="2255129" cy="1592722"/>
            <a:chOff x="5001833" y="4838687"/>
            <a:chExt cx="2255129" cy="1592722"/>
          </a:xfrm>
        </p:grpSpPr>
        <p:sp>
          <p:nvSpPr>
            <p:cNvPr id="209" name="TextBox 208">
              <a:extLst>
                <a:ext uri="{FF2B5EF4-FFF2-40B4-BE49-F238E27FC236}">
                  <a16:creationId xmlns:a16="http://schemas.microsoft.com/office/drawing/2014/main" id="{2F5F78F7-6527-C1D0-7D5C-2BE70B7A08C8}"/>
                </a:ext>
              </a:extLst>
            </p:cNvPr>
            <p:cNvSpPr txBox="1"/>
            <p:nvPr/>
          </p:nvSpPr>
          <p:spPr>
            <a:xfrm>
              <a:off x="5001833" y="5261858"/>
              <a:ext cx="2255129" cy="1169551"/>
            </a:xfrm>
            <a:prstGeom prst="rect">
              <a:avLst/>
            </a:prstGeom>
            <a:noFill/>
          </p:spPr>
          <p:txBody>
            <a:bodyPr wrap="square">
              <a:spAutoFit/>
            </a:bodyPr>
            <a:lstStyle/>
            <a:p>
              <a:r>
                <a:rPr lang="en-US" sz="1400" b="1">
                  <a:solidFill>
                    <a:schemeClr val="accent6"/>
                  </a:solidFill>
                  <a:latin typeface="+mj-lt"/>
                  <a:cs typeface="Segoe UI"/>
                </a:rPr>
                <a:t>Highlight</a:t>
              </a:r>
              <a:r>
                <a:rPr lang="en-US" sz="1400">
                  <a:solidFill>
                    <a:schemeClr val="bg2"/>
                  </a:solidFill>
                  <a:latin typeface="+mj-lt"/>
                  <a:cs typeface="Segoe UI"/>
                </a:rPr>
                <a:t> cross-product integrations that are both valuable and may not always be considered by siloed teams</a:t>
              </a:r>
            </a:p>
          </p:txBody>
        </p:sp>
        <p:pic>
          <p:nvPicPr>
            <p:cNvPr id="274" name="Picture 8" descr="Magnifying glass and circle in purple and pink color">
              <a:extLst>
                <a:ext uri="{FF2B5EF4-FFF2-40B4-BE49-F238E27FC236}">
                  <a16:creationId xmlns:a16="http://schemas.microsoft.com/office/drawing/2014/main" id="{A790B8FE-2165-34A4-8AB2-241F22C2AD60}"/>
                </a:ext>
              </a:extLst>
            </p:cNvPr>
            <p:cNvPicPr>
              <a:picLocks noChangeAspect="1"/>
            </p:cNvPicPr>
            <p:nvPr/>
          </p:nvPicPr>
          <p:blipFill>
            <a:blip r:embed="rId5"/>
            <a:stretch>
              <a:fillRect/>
            </a:stretch>
          </p:blipFill>
          <p:spPr>
            <a:xfrm>
              <a:off x="5188632" y="4838687"/>
              <a:ext cx="435728" cy="435728"/>
            </a:xfrm>
            <a:prstGeom prst="rect">
              <a:avLst/>
            </a:prstGeom>
          </p:spPr>
        </p:pic>
      </p:grpSp>
      <p:grpSp>
        <p:nvGrpSpPr>
          <p:cNvPr id="342" name="Group 341">
            <a:extLst>
              <a:ext uri="{FF2B5EF4-FFF2-40B4-BE49-F238E27FC236}">
                <a16:creationId xmlns:a16="http://schemas.microsoft.com/office/drawing/2014/main" id="{A831D457-8876-6233-993D-9D437C138CE1}"/>
              </a:ext>
            </a:extLst>
          </p:cNvPr>
          <p:cNvGrpSpPr/>
          <p:nvPr/>
        </p:nvGrpSpPr>
        <p:grpSpPr>
          <a:xfrm>
            <a:off x="7574374" y="4862069"/>
            <a:ext cx="1782399" cy="1353896"/>
            <a:chOff x="7574374" y="4862069"/>
            <a:chExt cx="1782399" cy="1353896"/>
          </a:xfrm>
        </p:grpSpPr>
        <p:sp>
          <p:nvSpPr>
            <p:cNvPr id="212" name="TextBox 211">
              <a:extLst>
                <a:ext uri="{FF2B5EF4-FFF2-40B4-BE49-F238E27FC236}">
                  <a16:creationId xmlns:a16="http://schemas.microsoft.com/office/drawing/2014/main" id="{C63A08AD-727B-A6C2-2BF5-09C22BB8FFEF}"/>
                </a:ext>
              </a:extLst>
            </p:cNvPr>
            <p:cNvSpPr txBox="1"/>
            <p:nvPr/>
          </p:nvSpPr>
          <p:spPr>
            <a:xfrm>
              <a:off x="7574374" y="5261858"/>
              <a:ext cx="1782399" cy="954107"/>
            </a:xfrm>
            <a:prstGeom prst="rect">
              <a:avLst/>
            </a:prstGeom>
            <a:noFill/>
          </p:spPr>
          <p:txBody>
            <a:bodyPr wrap="square">
              <a:spAutoFit/>
            </a:bodyPr>
            <a:lstStyle/>
            <a:p>
              <a:r>
                <a:rPr lang="en-US" sz="1400" b="1">
                  <a:solidFill>
                    <a:schemeClr val="accent6"/>
                  </a:solidFill>
                  <a:latin typeface="+mj-lt"/>
                  <a:cs typeface="Segoe UI"/>
                </a:rPr>
                <a:t>Utilize</a:t>
              </a:r>
              <a:r>
                <a:rPr lang="en-US" sz="1400">
                  <a:solidFill>
                    <a:schemeClr val="bg2"/>
                  </a:solidFill>
                  <a:latin typeface="+mj-lt"/>
                  <a:cs typeface="Segoe UI"/>
                </a:rPr>
                <a:t> fully the Microsoft Security features/products you own</a:t>
              </a:r>
            </a:p>
          </p:txBody>
        </p:sp>
        <p:pic>
          <p:nvPicPr>
            <p:cNvPr id="334" name="Picture 6" descr="Shield with layered shapes in blue, teal, and green color">
              <a:extLst>
                <a:ext uri="{FF2B5EF4-FFF2-40B4-BE49-F238E27FC236}">
                  <a16:creationId xmlns:a16="http://schemas.microsoft.com/office/drawing/2014/main" id="{5E87DDFF-FD80-C83D-3C9C-F9DDB38BE327}"/>
                </a:ext>
              </a:extLst>
            </p:cNvPr>
            <p:cNvPicPr>
              <a:picLocks noChangeAspect="1"/>
            </p:cNvPicPr>
            <p:nvPr/>
          </p:nvPicPr>
          <p:blipFill>
            <a:blip r:embed="rId6"/>
            <a:stretch>
              <a:fillRect/>
            </a:stretch>
          </p:blipFill>
          <p:spPr>
            <a:xfrm>
              <a:off x="7645492" y="4862069"/>
              <a:ext cx="388964" cy="388964"/>
            </a:xfrm>
            <a:prstGeom prst="rect">
              <a:avLst/>
            </a:prstGeom>
          </p:spPr>
        </p:pic>
      </p:grpSp>
      <p:grpSp>
        <p:nvGrpSpPr>
          <p:cNvPr id="344" name="Group 343">
            <a:extLst>
              <a:ext uri="{FF2B5EF4-FFF2-40B4-BE49-F238E27FC236}">
                <a16:creationId xmlns:a16="http://schemas.microsoft.com/office/drawing/2014/main" id="{C77035A4-ED94-0120-53B7-23A9403032CB}"/>
              </a:ext>
            </a:extLst>
          </p:cNvPr>
          <p:cNvGrpSpPr/>
          <p:nvPr/>
        </p:nvGrpSpPr>
        <p:grpSpPr>
          <a:xfrm>
            <a:off x="9674185" y="4841006"/>
            <a:ext cx="1720335" cy="1159516"/>
            <a:chOff x="9674185" y="4841006"/>
            <a:chExt cx="1720335" cy="1159516"/>
          </a:xfrm>
        </p:grpSpPr>
        <p:sp>
          <p:nvSpPr>
            <p:cNvPr id="214" name="TextBox 213">
              <a:extLst>
                <a:ext uri="{FF2B5EF4-FFF2-40B4-BE49-F238E27FC236}">
                  <a16:creationId xmlns:a16="http://schemas.microsoft.com/office/drawing/2014/main" id="{BED1F988-74C5-C1C7-FB22-DB0182289F28}"/>
                </a:ext>
              </a:extLst>
            </p:cNvPr>
            <p:cNvSpPr txBox="1"/>
            <p:nvPr/>
          </p:nvSpPr>
          <p:spPr>
            <a:xfrm>
              <a:off x="9674185" y="5261858"/>
              <a:ext cx="1720335" cy="738664"/>
            </a:xfrm>
            <a:prstGeom prst="rect">
              <a:avLst/>
            </a:prstGeom>
            <a:noFill/>
          </p:spPr>
          <p:txBody>
            <a:bodyPr wrap="square">
              <a:spAutoFit/>
            </a:bodyPr>
            <a:lstStyle/>
            <a:p>
              <a:r>
                <a:rPr lang="en-US" sz="1400" b="1">
                  <a:solidFill>
                    <a:schemeClr val="accent6"/>
                  </a:solidFill>
                  <a:latin typeface="+mj-lt"/>
                  <a:cs typeface="Segoe UI"/>
                </a:rPr>
                <a:t>Improve</a:t>
              </a:r>
              <a:r>
                <a:rPr lang="en-US" sz="1400">
                  <a:solidFill>
                    <a:schemeClr val="bg2"/>
                  </a:solidFill>
                  <a:latin typeface="+mj-lt"/>
                  <a:cs typeface="Segoe UI"/>
                </a:rPr>
                <a:t> your end-to-end security posture</a:t>
              </a:r>
            </a:p>
          </p:txBody>
        </p:sp>
        <p:pic>
          <p:nvPicPr>
            <p:cNvPr id="337" name="Picture 5" descr="Firewall formed with different blocks with lock in blue, teal, and green color">
              <a:extLst>
                <a:ext uri="{FF2B5EF4-FFF2-40B4-BE49-F238E27FC236}">
                  <a16:creationId xmlns:a16="http://schemas.microsoft.com/office/drawing/2014/main" id="{5FF6B038-14CA-FB59-D0FB-5BCA2066DA7B}"/>
                </a:ext>
              </a:extLst>
            </p:cNvPr>
            <p:cNvPicPr>
              <a:picLocks noChangeAspect="1"/>
            </p:cNvPicPr>
            <p:nvPr/>
          </p:nvPicPr>
          <p:blipFill>
            <a:blip r:embed="rId7"/>
            <a:stretch>
              <a:fillRect/>
            </a:stretch>
          </p:blipFill>
          <p:spPr>
            <a:xfrm>
              <a:off x="9812531" y="4841006"/>
              <a:ext cx="431090" cy="431090"/>
            </a:xfrm>
            <a:prstGeom prst="rect">
              <a:avLst/>
            </a:prstGeom>
          </p:spPr>
        </p:pic>
      </p:grpSp>
      <p:grpSp>
        <p:nvGrpSpPr>
          <p:cNvPr id="14" name="Group 13">
            <a:extLst>
              <a:ext uri="{FF2B5EF4-FFF2-40B4-BE49-F238E27FC236}">
                <a16:creationId xmlns:a16="http://schemas.microsoft.com/office/drawing/2014/main" id="{B957DACE-6069-D51B-1B4D-109890E39589}"/>
              </a:ext>
            </a:extLst>
          </p:cNvPr>
          <p:cNvGrpSpPr/>
          <p:nvPr/>
        </p:nvGrpSpPr>
        <p:grpSpPr>
          <a:xfrm>
            <a:off x="9240792" y="1027629"/>
            <a:ext cx="1079602" cy="3430538"/>
            <a:chOff x="9814671" y="1027629"/>
            <a:chExt cx="918170" cy="3430538"/>
          </a:xfrm>
        </p:grpSpPr>
        <p:sp>
          <p:nvSpPr>
            <p:cNvPr id="2" name="Rectangle 1">
              <a:extLst>
                <a:ext uri="{FF2B5EF4-FFF2-40B4-BE49-F238E27FC236}">
                  <a16:creationId xmlns:a16="http://schemas.microsoft.com/office/drawing/2014/main" id="{8A68A61B-CA6F-3264-C9DB-158CB7EF4642}"/>
                </a:ext>
              </a:extLst>
            </p:cNvPr>
            <p:cNvSpPr/>
            <p:nvPr/>
          </p:nvSpPr>
          <p:spPr bwMode="auto">
            <a:xfrm>
              <a:off x="9814671" y="1305494"/>
              <a:ext cx="918170" cy="3152673"/>
            </a:xfrm>
            <a:prstGeom prst="rect">
              <a:avLst/>
            </a:prstGeom>
            <a:solidFill>
              <a:srgbClr val="FFB3BB"/>
            </a:solidFill>
            <a:ln>
              <a:noFill/>
              <a:headEnd type="none" w="med" len="med"/>
              <a:tailEnd type="none" w="med" len="med"/>
            </a:ln>
            <a:effectLst>
              <a:outerShdw blurRad="50800" dist="381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1C79BADC-7785-EBD3-06E4-813462D736E9}"/>
                </a:ext>
              </a:extLst>
            </p:cNvPr>
            <p:cNvSpPr/>
            <p:nvPr/>
          </p:nvSpPr>
          <p:spPr bwMode="auto">
            <a:xfrm>
              <a:off x="9880255" y="1521806"/>
              <a:ext cx="787002" cy="943093"/>
            </a:xfrm>
            <a:prstGeom prst="rect">
              <a:avLst/>
            </a:prstGeom>
            <a:solidFill>
              <a:srgbClr val="243D6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tx1"/>
                  </a:solidFill>
                  <a:ea typeface="Segoe UI" pitchFamily="34" charset="0"/>
                  <a:cs typeface="Segoe UI" pitchFamily="34" charset="0"/>
                </a:rPr>
                <a:t>6</a:t>
              </a:r>
              <a:endParaRPr lang="en-US" sz="1200" b="1" dirty="0">
                <a:solidFill>
                  <a:schemeClr val="tx1"/>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ADA246EC-4300-89E5-1012-3F53157EE1BF}"/>
                </a:ext>
              </a:extLst>
            </p:cNvPr>
            <p:cNvSpPr/>
            <p:nvPr/>
          </p:nvSpPr>
          <p:spPr bwMode="auto">
            <a:xfrm>
              <a:off x="9880255" y="2587333"/>
              <a:ext cx="787002" cy="1757387"/>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0" rIns="4572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600" b="1" dirty="0">
                  <a:solidFill>
                    <a:schemeClr val="bg2"/>
                  </a:solidFill>
                  <a:ea typeface="Segoe UI" pitchFamily="34" charset="0"/>
                  <a:cs typeface="Segoe UI" pitchFamily="34" charset="0"/>
                </a:rPr>
                <a:t>15</a:t>
              </a:r>
              <a:endParaRPr lang="en-US" sz="1200" b="1" dirty="0">
                <a:solidFill>
                  <a:schemeClr val="bg2"/>
                </a:solidFill>
                <a:ea typeface="Segoe UI" pitchFamily="34" charset="0"/>
                <a:cs typeface="Segoe UI" pitchFamily="34" charset="0"/>
              </a:endParaRPr>
            </a:p>
          </p:txBody>
        </p:sp>
        <p:sp>
          <p:nvSpPr>
            <p:cNvPr id="5" name="Rectangle 4">
              <a:extLst>
                <a:ext uri="{FF2B5EF4-FFF2-40B4-BE49-F238E27FC236}">
                  <a16:creationId xmlns:a16="http://schemas.microsoft.com/office/drawing/2014/main" id="{92F29C48-84A6-C2E9-A223-9280EB5954A0}"/>
                </a:ext>
              </a:extLst>
            </p:cNvPr>
            <p:cNvSpPr/>
            <p:nvPr/>
          </p:nvSpPr>
          <p:spPr bwMode="auto">
            <a:xfrm>
              <a:off x="9944486" y="3528758"/>
              <a:ext cx="658540" cy="725867"/>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2"/>
                  </a:solidFill>
                  <a:ea typeface="Segoe UI" pitchFamily="34" charset="0"/>
                  <a:cs typeface="Segoe UI" pitchFamily="34" charset="0"/>
                </a:rPr>
                <a:t>91</a:t>
              </a:r>
              <a:endParaRPr lang="en-US" sz="1200" b="1" dirty="0">
                <a:solidFill>
                  <a:schemeClr val="bg2"/>
                </a:solidFill>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6C60424C-58A8-CF4E-857B-3B822AEEB69F}"/>
                </a:ext>
              </a:extLst>
            </p:cNvPr>
            <p:cNvSpPr/>
            <p:nvPr/>
          </p:nvSpPr>
          <p:spPr bwMode="auto">
            <a:xfrm>
              <a:off x="9814671" y="1027629"/>
              <a:ext cx="918170" cy="393434"/>
            </a:xfrm>
            <a:prstGeom prst="roundRect">
              <a:avLst/>
            </a:prstGeom>
            <a:solidFill>
              <a:srgbClr val="223642"/>
            </a:solidFill>
            <a:ln w="19050">
              <a:solidFill>
                <a:srgbClr val="FFB3B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dirty="0">
                  <a:solidFill>
                    <a:schemeClr val="tx1"/>
                  </a:solidFill>
                  <a:ea typeface="Segoe UI" pitchFamily="34" charset="0"/>
                  <a:cs typeface="Segoe UI" pitchFamily="34" charset="0"/>
                </a:rPr>
                <a:t>DevSecOps</a:t>
              </a:r>
            </a:p>
          </p:txBody>
        </p:sp>
      </p:grpSp>
    </p:spTree>
    <p:extLst>
      <p:ext uri="{BB962C8B-B14F-4D97-AF65-F5344CB8AC3E}">
        <p14:creationId xmlns:p14="http://schemas.microsoft.com/office/powerpoint/2010/main" val="13065401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300"/>
                                  </p:stCondLst>
                                  <p:childTnLst>
                                    <p:set>
                                      <p:cBhvr>
                                        <p:cTn id="6" dur="1" fill="hold">
                                          <p:stCondLst>
                                            <p:cond delay="0"/>
                                          </p:stCondLst>
                                        </p:cTn>
                                        <p:tgtEl>
                                          <p:spTgt spid="189"/>
                                        </p:tgtEl>
                                        <p:attrNameLst>
                                          <p:attrName>style.visibility</p:attrName>
                                        </p:attrNameLst>
                                      </p:cBhvr>
                                      <p:to>
                                        <p:strVal val="visible"/>
                                      </p:to>
                                    </p:set>
                                    <p:anim calcmode="lin" valueType="num">
                                      <p:cBhvr>
                                        <p:cTn id="7" dur="500" fill="hold"/>
                                        <p:tgtEl>
                                          <p:spTgt spid="189"/>
                                        </p:tgtEl>
                                        <p:attrNameLst>
                                          <p:attrName>ppt_w</p:attrName>
                                        </p:attrNameLst>
                                      </p:cBhvr>
                                      <p:tavLst>
                                        <p:tav tm="0">
                                          <p:val>
                                            <p:fltVal val="0"/>
                                          </p:val>
                                        </p:tav>
                                        <p:tav tm="100000">
                                          <p:val>
                                            <p:strVal val="#ppt_w"/>
                                          </p:val>
                                        </p:tav>
                                      </p:tavLst>
                                    </p:anim>
                                    <p:anim calcmode="lin" valueType="num">
                                      <p:cBhvr>
                                        <p:cTn id="8" dur="500" fill="hold"/>
                                        <p:tgtEl>
                                          <p:spTgt spid="189"/>
                                        </p:tgtEl>
                                        <p:attrNameLst>
                                          <p:attrName>ppt_h</p:attrName>
                                        </p:attrNameLst>
                                      </p:cBhvr>
                                      <p:tavLst>
                                        <p:tav tm="0">
                                          <p:val>
                                            <p:fltVal val="0"/>
                                          </p:val>
                                        </p:tav>
                                        <p:tav tm="100000">
                                          <p:val>
                                            <p:strVal val="#ppt_h"/>
                                          </p:val>
                                        </p:tav>
                                      </p:tavLst>
                                    </p:anim>
                                    <p:animEffect transition="in" filter="fade">
                                      <p:cBhvr>
                                        <p:cTn id="9" dur="500"/>
                                        <p:tgtEl>
                                          <p:spTgt spid="189"/>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190"/>
                                        </p:tgtEl>
                                        <p:attrNameLst>
                                          <p:attrName>style.visibility</p:attrName>
                                        </p:attrNameLst>
                                      </p:cBhvr>
                                      <p:to>
                                        <p:strVal val="visible"/>
                                      </p:to>
                                    </p:set>
                                    <p:anim calcmode="lin" valueType="num">
                                      <p:cBhvr>
                                        <p:cTn id="12" dur="500" fill="hold"/>
                                        <p:tgtEl>
                                          <p:spTgt spid="190"/>
                                        </p:tgtEl>
                                        <p:attrNameLst>
                                          <p:attrName>ppt_w</p:attrName>
                                        </p:attrNameLst>
                                      </p:cBhvr>
                                      <p:tavLst>
                                        <p:tav tm="0">
                                          <p:val>
                                            <p:fltVal val="0"/>
                                          </p:val>
                                        </p:tav>
                                        <p:tav tm="100000">
                                          <p:val>
                                            <p:strVal val="#ppt_w"/>
                                          </p:val>
                                        </p:tav>
                                      </p:tavLst>
                                    </p:anim>
                                    <p:anim calcmode="lin" valueType="num">
                                      <p:cBhvr>
                                        <p:cTn id="13" dur="500" fill="hold"/>
                                        <p:tgtEl>
                                          <p:spTgt spid="190"/>
                                        </p:tgtEl>
                                        <p:attrNameLst>
                                          <p:attrName>ppt_h</p:attrName>
                                        </p:attrNameLst>
                                      </p:cBhvr>
                                      <p:tavLst>
                                        <p:tav tm="0">
                                          <p:val>
                                            <p:fltVal val="0"/>
                                          </p:val>
                                        </p:tav>
                                        <p:tav tm="100000">
                                          <p:val>
                                            <p:strVal val="#ppt_h"/>
                                          </p:val>
                                        </p:tav>
                                      </p:tavLst>
                                    </p:anim>
                                    <p:animEffect transition="in" filter="fade">
                                      <p:cBhvr>
                                        <p:cTn id="14" dur="500"/>
                                        <p:tgtEl>
                                          <p:spTgt spid="190"/>
                                        </p:tgtEl>
                                      </p:cBhvr>
                                    </p:animEffect>
                                  </p:childTnLst>
                                </p:cTn>
                              </p:par>
                              <p:par>
                                <p:cTn id="15" presetID="22" presetClass="entr" presetSubtype="8" fill="hold" nodeType="withEffect">
                                  <p:stCondLst>
                                    <p:cond delay="300"/>
                                  </p:stCondLst>
                                  <p:childTnLst>
                                    <p:set>
                                      <p:cBhvr>
                                        <p:cTn id="16" dur="1" fill="hold">
                                          <p:stCondLst>
                                            <p:cond delay="0"/>
                                          </p:stCondLst>
                                        </p:cTn>
                                        <p:tgtEl>
                                          <p:spTgt spid="193"/>
                                        </p:tgtEl>
                                        <p:attrNameLst>
                                          <p:attrName>style.visibility</p:attrName>
                                        </p:attrNameLst>
                                      </p:cBhvr>
                                      <p:to>
                                        <p:strVal val="visible"/>
                                      </p:to>
                                    </p:set>
                                    <p:animEffect transition="in" filter="wipe(left)">
                                      <p:cBhvr>
                                        <p:cTn id="17" dur="500"/>
                                        <p:tgtEl>
                                          <p:spTgt spid="193"/>
                                        </p:tgtEl>
                                      </p:cBhvr>
                                    </p:animEffect>
                                  </p:childTnLst>
                                </p:cTn>
                              </p:par>
                              <p:par>
                                <p:cTn id="18" presetID="53" presetClass="entr" presetSubtype="16" fill="hold" grpId="0" nodeType="withEffect">
                                  <p:stCondLst>
                                    <p:cond delay="200"/>
                                  </p:stCondLst>
                                  <p:childTnLst>
                                    <p:set>
                                      <p:cBhvr>
                                        <p:cTn id="19" dur="1" fill="hold">
                                          <p:stCondLst>
                                            <p:cond delay="0"/>
                                          </p:stCondLst>
                                        </p:cTn>
                                        <p:tgtEl>
                                          <p:spTgt spid="191"/>
                                        </p:tgtEl>
                                        <p:attrNameLst>
                                          <p:attrName>style.visibility</p:attrName>
                                        </p:attrNameLst>
                                      </p:cBhvr>
                                      <p:to>
                                        <p:strVal val="visible"/>
                                      </p:to>
                                    </p:set>
                                    <p:anim calcmode="lin" valueType="num">
                                      <p:cBhvr>
                                        <p:cTn id="20" dur="500" fill="hold"/>
                                        <p:tgtEl>
                                          <p:spTgt spid="191"/>
                                        </p:tgtEl>
                                        <p:attrNameLst>
                                          <p:attrName>ppt_w</p:attrName>
                                        </p:attrNameLst>
                                      </p:cBhvr>
                                      <p:tavLst>
                                        <p:tav tm="0">
                                          <p:val>
                                            <p:fltVal val="0"/>
                                          </p:val>
                                        </p:tav>
                                        <p:tav tm="100000">
                                          <p:val>
                                            <p:strVal val="#ppt_w"/>
                                          </p:val>
                                        </p:tav>
                                      </p:tavLst>
                                    </p:anim>
                                    <p:anim calcmode="lin" valueType="num">
                                      <p:cBhvr>
                                        <p:cTn id="21" dur="500" fill="hold"/>
                                        <p:tgtEl>
                                          <p:spTgt spid="191"/>
                                        </p:tgtEl>
                                        <p:attrNameLst>
                                          <p:attrName>ppt_h</p:attrName>
                                        </p:attrNameLst>
                                      </p:cBhvr>
                                      <p:tavLst>
                                        <p:tav tm="0">
                                          <p:val>
                                            <p:fltVal val="0"/>
                                          </p:val>
                                        </p:tav>
                                        <p:tav tm="100000">
                                          <p:val>
                                            <p:strVal val="#ppt_h"/>
                                          </p:val>
                                        </p:tav>
                                      </p:tavLst>
                                    </p:anim>
                                    <p:animEffect transition="in" filter="fade">
                                      <p:cBhvr>
                                        <p:cTn id="22" dur="500"/>
                                        <p:tgtEl>
                                          <p:spTgt spid="191"/>
                                        </p:tgtEl>
                                      </p:cBhvr>
                                    </p:animEffect>
                                  </p:childTnLst>
                                </p:cTn>
                              </p:par>
                            </p:childTnLst>
                          </p:cTn>
                        </p:par>
                        <p:par>
                          <p:cTn id="23" fill="hold">
                            <p:stCondLst>
                              <p:cond delay="800"/>
                            </p:stCondLst>
                            <p:childTnLst>
                              <p:par>
                                <p:cTn id="24" presetID="10" presetClass="entr" presetSubtype="0" fill="hold" nodeType="afterEffect">
                                  <p:stCondLst>
                                    <p:cond delay="0"/>
                                  </p:stCondLst>
                                  <p:childTnLst>
                                    <p:set>
                                      <p:cBhvr>
                                        <p:cTn id="25" dur="1" fill="hold">
                                          <p:stCondLst>
                                            <p:cond delay="0"/>
                                          </p:stCondLst>
                                        </p:cTn>
                                        <p:tgtEl>
                                          <p:spTgt spid="338"/>
                                        </p:tgtEl>
                                        <p:attrNameLst>
                                          <p:attrName>style.visibility</p:attrName>
                                        </p:attrNameLst>
                                      </p:cBhvr>
                                      <p:to>
                                        <p:strVal val="visible"/>
                                      </p:to>
                                    </p:set>
                                    <p:animEffect transition="in" filter="fade">
                                      <p:cBhvr>
                                        <p:cTn id="26" dur="500"/>
                                        <p:tgtEl>
                                          <p:spTgt spid="338"/>
                                        </p:tgtEl>
                                      </p:cBhvr>
                                    </p:animEffect>
                                  </p:childTnLst>
                                </p:cTn>
                              </p:par>
                            </p:childTnLst>
                          </p:cTn>
                        </p:par>
                        <p:par>
                          <p:cTn id="27" fill="hold">
                            <p:stCondLst>
                              <p:cond delay="1300"/>
                            </p:stCondLst>
                            <p:childTnLst>
                              <p:par>
                                <p:cTn id="28" presetID="10" presetClass="entr" presetSubtype="0" fill="hold" nodeType="afterEffect">
                                  <p:stCondLst>
                                    <p:cond delay="0"/>
                                  </p:stCondLst>
                                  <p:childTnLst>
                                    <p:set>
                                      <p:cBhvr>
                                        <p:cTn id="29" dur="1" fill="hold">
                                          <p:stCondLst>
                                            <p:cond delay="0"/>
                                          </p:stCondLst>
                                        </p:cTn>
                                        <p:tgtEl>
                                          <p:spTgt spid="345"/>
                                        </p:tgtEl>
                                        <p:attrNameLst>
                                          <p:attrName>style.visibility</p:attrName>
                                        </p:attrNameLst>
                                      </p:cBhvr>
                                      <p:to>
                                        <p:strVal val="visible"/>
                                      </p:to>
                                    </p:set>
                                    <p:animEffect transition="in" filter="fade">
                                      <p:cBhvr>
                                        <p:cTn id="30" dur="500"/>
                                        <p:tgtEl>
                                          <p:spTgt spid="345"/>
                                        </p:tgtEl>
                                      </p:cBhvr>
                                    </p:animEffect>
                                  </p:childTnLst>
                                </p:cTn>
                              </p:par>
                            </p:childTnLst>
                          </p:cTn>
                        </p:par>
                        <p:par>
                          <p:cTn id="31" fill="hold">
                            <p:stCondLst>
                              <p:cond delay="1800"/>
                            </p:stCondLst>
                            <p:childTnLst>
                              <p:par>
                                <p:cTn id="32" presetID="10" presetClass="entr" presetSubtype="0" fill="hold" nodeType="afterEffect">
                                  <p:stCondLst>
                                    <p:cond delay="0"/>
                                  </p:stCondLst>
                                  <p:childTnLst>
                                    <p:set>
                                      <p:cBhvr>
                                        <p:cTn id="33" dur="1" fill="hold">
                                          <p:stCondLst>
                                            <p:cond delay="0"/>
                                          </p:stCondLst>
                                        </p:cTn>
                                        <p:tgtEl>
                                          <p:spTgt spid="341"/>
                                        </p:tgtEl>
                                        <p:attrNameLst>
                                          <p:attrName>style.visibility</p:attrName>
                                        </p:attrNameLst>
                                      </p:cBhvr>
                                      <p:to>
                                        <p:strVal val="visible"/>
                                      </p:to>
                                    </p:set>
                                    <p:animEffect transition="in" filter="fade">
                                      <p:cBhvr>
                                        <p:cTn id="34" dur="500"/>
                                        <p:tgtEl>
                                          <p:spTgt spid="341"/>
                                        </p:tgtEl>
                                      </p:cBhvr>
                                    </p:animEffect>
                                  </p:childTnLst>
                                </p:cTn>
                              </p:par>
                            </p:childTnLst>
                          </p:cTn>
                        </p:par>
                        <p:par>
                          <p:cTn id="35" fill="hold">
                            <p:stCondLst>
                              <p:cond delay="2300"/>
                            </p:stCondLst>
                            <p:childTnLst>
                              <p:par>
                                <p:cTn id="36" presetID="10" presetClass="entr" presetSubtype="0" fill="hold" nodeType="afterEffect">
                                  <p:stCondLst>
                                    <p:cond delay="0"/>
                                  </p:stCondLst>
                                  <p:childTnLst>
                                    <p:set>
                                      <p:cBhvr>
                                        <p:cTn id="37" dur="1" fill="hold">
                                          <p:stCondLst>
                                            <p:cond delay="0"/>
                                          </p:stCondLst>
                                        </p:cTn>
                                        <p:tgtEl>
                                          <p:spTgt spid="342"/>
                                        </p:tgtEl>
                                        <p:attrNameLst>
                                          <p:attrName>style.visibility</p:attrName>
                                        </p:attrNameLst>
                                      </p:cBhvr>
                                      <p:to>
                                        <p:strVal val="visible"/>
                                      </p:to>
                                    </p:set>
                                    <p:animEffect transition="in" filter="fade">
                                      <p:cBhvr>
                                        <p:cTn id="38" dur="500"/>
                                        <p:tgtEl>
                                          <p:spTgt spid="342"/>
                                        </p:tgtEl>
                                      </p:cBhvr>
                                    </p:animEffect>
                                  </p:childTnLst>
                                </p:cTn>
                              </p:par>
                            </p:childTnLst>
                          </p:cTn>
                        </p:par>
                        <p:par>
                          <p:cTn id="39" fill="hold">
                            <p:stCondLst>
                              <p:cond delay="2800"/>
                            </p:stCondLst>
                            <p:childTnLst>
                              <p:par>
                                <p:cTn id="40" presetID="10" presetClass="entr" presetSubtype="0" fill="hold" nodeType="afterEffect">
                                  <p:stCondLst>
                                    <p:cond delay="0"/>
                                  </p:stCondLst>
                                  <p:childTnLst>
                                    <p:set>
                                      <p:cBhvr>
                                        <p:cTn id="41" dur="1" fill="hold">
                                          <p:stCondLst>
                                            <p:cond delay="0"/>
                                          </p:stCondLst>
                                        </p:cTn>
                                        <p:tgtEl>
                                          <p:spTgt spid="344"/>
                                        </p:tgtEl>
                                        <p:attrNameLst>
                                          <p:attrName>style.visibility</p:attrName>
                                        </p:attrNameLst>
                                      </p:cBhvr>
                                      <p:to>
                                        <p:strVal val="visible"/>
                                      </p:to>
                                    </p:set>
                                    <p:animEffect transition="in" filter="fade">
                                      <p:cBhvr>
                                        <p:cTn id="42" dur="500"/>
                                        <p:tgtEl>
                                          <p:spTgt spid="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 grpId="0" animBg="1"/>
      <p:bldP spid="190" grpId="0" animBg="1"/>
      <p:bldP spid="19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92AF0-8495-E1D5-C814-31E13ED6F49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9520CE7-40EF-DF07-9379-565C7C87C94B}"/>
              </a:ext>
              <a:ext uri="{C183D7F6-B498-43B3-948B-1728B52AA6E4}">
                <adec:decorative xmlns:adec="http://schemas.microsoft.com/office/drawing/2017/decorative" val="1"/>
              </a:ext>
            </a:extLst>
          </p:cNvPr>
          <p:cNvPicPr>
            <a:picLocks noChangeAspect="1"/>
          </p:cNvPicPr>
          <p:nvPr/>
        </p:nvPicPr>
        <p:blipFill>
          <a:blip r:embed="rId3">
            <a:alphaModFix amt="80000"/>
          </a:blip>
          <a:srcRect l="34132" t="22596" r="34395" b="1617"/>
          <a:stretch/>
        </p:blipFill>
        <p:spPr>
          <a:xfrm>
            <a:off x="6351173" y="1726162"/>
            <a:ext cx="2700862" cy="4709159"/>
          </a:xfrm>
          <a:prstGeom prst="rect">
            <a:avLst/>
          </a:prstGeom>
        </p:spPr>
      </p:pic>
      <p:sp>
        <p:nvSpPr>
          <p:cNvPr id="26" name="Title 25">
            <a:extLst>
              <a:ext uri="{FF2B5EF4-FFF2-40B4-BE49-F238E27FC236}">
                <a16:creationId xmlns:a16="http://schemas.microsoft.com/office/drawing/2014/main" id="{DC0B2B08-FBAE-5BFE-49BA-85755EC273AD}"/>
              </a:ext>
            </a:extLst>
          </p:cNvPr>
          <p:cNvSpPr>
            <a:spLocks noGrp="1"/>
          </p:cNvSpPr>
          <p:nvPr>
            <p:ph type="title"/>
          </p:nvPr>
        </p:nvSpPr>
        <p:spPr/>
        <p:txBody>
          <a:bodyPr/>
          <a:lstStyle/>
          <a:p>
            <a:r>
              <a:rPr lang="en-US"/>
              <a:t>Zero Trust Workshop Flow</a:t>
            </a:r>
          </a:p>
        </p:txBody>
      </p:sp>
      <p:pic>
        <p:nvPicPr>
          <p:cNvPr id="29" name="Picture 28">
            <a:extLst>
              <a:ext uri="{FF2B5EF4-FFF2-40B4-BE49-F238E27FC236}">
                <a16:creationId xmlns:a16="http://schemas.microsoft.com/office/drawing/2014/main" id="{E368125C-72A0-63BE-BEA9-3EFB5962CF06}"/>
              </a:ext>
              <a:ext uri="{C183D7F6-B498-43B3-948B-1728B52AA6E4}">
                <adec:decorative xmlns:adec="http://schemas.microsoft.com/office/drawing/2017/decorative" val="1"/>
              </a:ext>
            </a:extLst>
          </p:cNvPr>
          <p:cNvPicPr>
            <a:picLocks noChangeAspect="1"/>
          </p:cNvPicPr>
          <p:nvPr/>
        </p:nvPicPr>
        <p:blipFill>
          <a:blip r:embed="rId3">
            <a:alphaModFix amt="80000"/>
          </a:blip>
          <a:srcRect l="34132" t="22596" r="34395" b="1617"/>
          <a:stretch/>
        </p:blipFill>
        <p:spPr>
          <a:xfrm>
            <a:off x="3376882" y="1726163"/>
            <a:ext cx="2700862" cy="4709159"/>
          </a:xfrm>
          <a:prstGeom prst="rect">
            <a:avLst/>
          </a:prstGeom>
        </p:spPr>
      </p:pic>
      <p:pic>
        <p:nvPicPr>
          <p:cNvPr id="30" name="Picture 29">
            <a:extLst>
              <a:ext uri="{FF2B5EF4-FFF2-40B4-BE49-F238E27FC236}">
                <a16:creationId xmlns:a16="http://schemas.microsoft.com/office/drawing/2014/main" id="{921AE978-F646-39E5-CCF6-3798C41986B6}"/>
              </a:ext>
              <a:ext uri="{C183D7F6-B498-43B3-948B-1728B52AA6E4}">
                <adec:decorative xmlns:adec="http://schemas.microsoft.com/office/drawing/2017/decorative" val="1"/>
              </a:ext>
            </a:extLst>
          </p:cNvPr>
          <p:cNvPicPr>
            <a:picLocks noChangeAspect="1"/>
          </p:cNvPicPr>
          <p:nvPr/>
        </p:nvPicPr>
        <p:blipFill>
          <a:blip r:embed="rId3">
            <a:alphaModFix amt="80000"/>
          </a:blip>
          <a:srcRect t="22596" r="68527" b="1617"/>
          <a:stretch/>
        </p:blipFill>
        <p:spPr>
          <a:xfrm>
            <a:off x="397051" y="1726163"/>
            <a:ext cx="2706402" cy="4709159"/>
          </a:xfrm>
          <a:prstGeom prst="rect">
            <a:avLst/>
          </a:prstGeom>
        </p:spPr>
      </p:pic>
      <p:grpSp>
        <p:nvGrpSpPr>
          <p:cNvPr id="31" name="Group 30">
            <a:extLst>
              <a:ext uri="{FF2B5EF4-FFF2-40B4-BE49-F238E27FC236}">
                <a16:creationId xmlns:a16="http://schemas.microsoft.com/office/drawing/2014/main" id="{43B18E85-50ED-EFAA-02C1-81E4DEDA0429}"/>
              </a:ext>
              <a:ext uri="{C183D7F6-B498-43B3-948B-1728B52AA6E4}">
                <adec:decorative xmlns:adec="http://schemas.microsoft.com/office/drawing/2017/decorative" val="1"/>
              </a:ext>
            </a:extLst>
          </p:cNvPr>
          <p:cNvGrpSpPr/>
          <p:nvPr/>
        </p:nvGrpSpPr>
        <p:grpSpPr>
          <a:xfrm>
            <a:off x="397050" y="3615096"/>
            <a:ext cx="2706402" cy="2820225"/>
            <a:chOff x="588963" y="2995127"/>
            <a:chExt cx="3476624" cy="3440195"/>
          </a:xfrm>
        </p:grpSpPr>
        <p:sp>
          <p:nvSpPr>
            <p:cNvPr id="32" name="Rectangle 31">
              <a:extLst>
                <a:ext uri="{FF2B5EF4-FFF2-40B4-BE49-F238E27FC236}">
                  <a16:creationId xmlns:a16="http://schemas.microsoft.com/office/drawing/2014/main" id="{26A72A0A-EEC5-FBD2-7973-86803316D7D1}"/>
                </a:ext>
              </a:extLst>
            </p:cNvPr>
            <p:cNvSpPr/>
            <p:nvPr/>
          </p:nvSpPr>
          <p:spPr bwMode="auto">
            <a:xfrm>
              <a:off x="588964" y="2995127"/>
              <a:ext cx="3476623" cy="3440195"/>
            </a:xfrm>
            <a:prstGeom prst="rect">
              <a:avLst/>
            </a:prstGeom>
            <a:solidFill>
              <a:srgbClr val="FFFFFF">
                <a:alpha val="3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33" name="Picture 32">
              <a:extLst>
                <a:ext uri="{FF2B5EF4-FFF2-40B4-BE49-F238E27FC236}">
                  <a16:creationId xmlns:a16="http://schemas.microsoft.com/office/drawing/2014/main" id="{62C54415-F676-1ACA-015A-7CB591DFD05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88963" y="2995127"/>
              <a:ext cx="3476623" cy="3440195"/>
            </a:xfrm>
            <a:prstGeom prst="roundRect">
              <a:avLst>
                <a:gd name="adj" fmla="val 0"/>
              </a:avLst>
            </a:prstGeom>
          </p:spPr>
        </p:pic>
      </p:grpSp>
      <p:sp>
        <p:nvSpPr>
          <p:cNvPr id="52" name="Rectangle 66">
            <a:extLst>
              <a:ext uri="{FF2B5EF4-FFF2-40B4-BE49-F238E27FC236}">
                <a16:creationId xmlns:a16="http://schemas.microsoft.com/office/drawing/2014/main" id="{8EFBC8BF-D330-97FC-C660-98E169B3A6C1}"/>
              </a:ext>
            </a:extLst>
          </p:cNvPr>
          <p:cNvSpPr/>
          <p:nvPr/>
        </p:nvSpPr>
        <p:spPr>
          <a:xfrm>
            <a:off x="907438" y="1401146"/>
            <a:ext cx="1683787" cy="246221"/>
          </a:xfrm>
          <a:prstGeom prst="rect">
            <a:avLst/>
          </a:prstGeom>
        </p:spPr>
        <p:txBody>
          <a:bodyPr wrap="square" lIns="0" tIns="0" rIns="0" bIns="0" anchor="t">
            <a:spAutoFit/>
          </a:bodyPr>
          <a:lstStyle/>
          <a:p>
            <a:pPr marL="0" lvl="1" algn="ctr" defTabSz="914351" fontAlgn="base">
              <a:spcAft>
                <a:spcPts val="1200"/>
              </a:spcAft>
              <a:defRPr/>
            </a:pPr>
            <a:r>
              <a:rPr lang="en-US" sz="1600">
                <a:solidFill>
                  <a:srgbClr val="000000"/>
                </a:solidFill>
                <a:ea typeface="ＭＳ Ｐゴシック" charset="0"/>
                <a:cs typeface="Segoe UI" panose="020B0502040204020203" pitchFamily="34" charset="0"/>
              </a:rPr>
              <a:t>Step 1</a:t>
            </a:r>
          </a:p>
        </p:txBody>
      </p:sp>
      <p:sp>
        <p:nvSpPr>
          <p:cNvPr id="34" name="Rectangle 66">
            <a:extLst>
              <a:ext uri="{FF2B5EF4-FFF2-40B4-BE49-F238E27FC236}">
                <a16:creationId xmlns:a16="http://schemas.microsoft.com/office/drawing/2014/main" id="{84CBF780-CE92-A15D-3348-7BE524E411C7}"/>
              </a:ext>
            </a:extLst>
          </p:cNvPr>
          <p:cNvSpPr/>
          <p:nvPr/>
        </p:nvSpPr>
        <p:spPr>
          <a:xfrm>
            <a:off x="540523" y="3820983"/>
            <a:ext cx="2424999" cy="1913794"/>
          </a:xfrm>
          <a:prstGeom prst="rect">
            <a:avLst/>
          </a:prstGeom>
        </p:spPr>
        <p:txBody>
          <a:bodyPr wrap="square" lIns="0" tIns="0" rIns="0" bIns="0" anchor="t">
            <a:spAutoFit/>
          </a:bodyPr>
          <a:lstStyle/>
          <a:p>
            <a:pPr marL="0" lvl="1" defTabSz="914351" fontAlgn="base">
              <a:spcAft>
                <a:spcPts val="1200"/>
              </a:spcAft>
              <a:defRPr/>
            </a:pPr>
            <a:r>
              <a:rPr lang="en-US" sz="2000">
                <a:solidFill>
                  <a:srgbClr val="000000"/>
                </a:solidFill>
                <a:ea typeface="ＭＳ Ｐゴシック" charset="0"/>
                <a:cs typeface="Segoe UI" panose="020B0502040204020203" pitchFamily="34" charset="0"/>
              </a:rPr>
              <a:t>Planning</a:t>
            </a:r>
          </a:p>
          <a:p>
            <a:pPr marL="0" lvl="1" defTabSz="914351" fontAlgn="base">
              <a:lnSpc>
                <a:spcPct val="110000"/>
              </a:lnSpc>
              <a:spcBef>
                <a:spcPts val="400"/>
              </a:spcBef>
              <a:defRPr/>
            </a:pPr>
            <a:r>
              <a:rPr lang="en-US" sz="1400">
                <a:ln w="3175">
                  <a:noFill/>
                </a:ln>
                <a:solidFill>
                  <a:srgbClr val="000000"/>
                </a:solidFill>
                <a:cs typeface="Segoe UI Semilight" panose="020B0402040204020203" pitchFamily="34" charset="0"/>
              </a:rPr>
              <a:t>Determine which pillars of the workshop your organization would like to have delivered and ensure all necessary teams are able to attend the workshop.</a:t>
            </a:r>
          </a:p>
        </p:txBody>
      </p:sp>
      <p:grpSp>
        <p:nvGrpSpPr>
          <p:cNvPr id="38" name="Group 37">
            <a:extLst>
              <a:ext uri="{FF2B5EF4-FFF2-40B4-BE49-F238E27FC236}">
                <a16:creationId xmlns:a16="http://schemas.microsoft.com/office/drawing/2014/main" id="{2B421538-1F44-11A2-8E0C-AE72CB69A2DF}"/>
              </a:ext>
              <a:ext uri="{C183D7F6-B498-43B3-948B-1728B52AA6E4}">
                <adec:decorative xmlns:adec="http://schemas.microsoft.com/office/drawing/2017/decorative" val="1"/>
              </a:ext>
            </a:extLst>
          </p:cNvPr>
          <p:cNvGrpSpPr/>
          <p:nvPr/>
        </p:nvGrpSpPr>
        <p:grpSpPr>
          <a:xfrm>
            <a:off x="6337141" y="3653108"/>
            <a:ext cx="2714894" cy="2820225"/>
            <a:chOff x="8158687" y="2995127"/>
            <a:chExt cx="3476624" cy="3440195"/>
          </a:xfrm>
        </p:grpSpPr>
        <p:sp>
          <p:nvSpPr>
            <p:cNvPr id="39" name="Rectangle 38">
              <a:extLst>
                <a:ext uri="{FF2B5EF4-FFF2-40B4-BE49-F238E27FC236}">
                  <a16:creationId xmlns:a16="http://schemas.microsoft.com/office/drawing/2014/main" id="{7ED15DA9-2A41-B0F0-01BC-ED74A3894DE6}"/>
                </a:ext>
              </a:extLst>
            </p:cNvPr>
            <p:cNvSpPr/>
            <p:nvPr/>
          </p:nvSpPr>
          <p:spPr bwMode="auto">
            <a:xfrm>
              <a:off x="8158688" y="2995127"/>
              <a:ext cx="3476623" cy="3440195"/>
            </a:xfrm>
            <a:prstGeom prst="rect">
              <a:avLst/>
            </a:prstGeom>
            <a:solidFill>
              <a:srgbClr val="FFFFFF">
                <a:alpha val="3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40" name="Picture 39">
              <a:extLst>
                <a:ext uri="{FF2B5EF4-FFF2-40B4-BE49-F238E27FC236}">
                  <a16:creationId xmlns:a16="http://schemas.microsoft.com/office/drawing/2014/main" id="{22FCF94F-335B-F29D-FDCE-AF1E137FAB1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158687" y="2995127"/>
              <a:ext cx="3476623" cy="3440195"/>
            </a:xfrm>
            <a:prstGeom prst="roundRect">
              <a:avLst>
                <a:gd name="adj" fmla="val 0"/>
              </a:avLst>
            </a:prstGeom>
          </p:spPr>
        </p:pic>
      </p:grpSp>
      <p:grpSp>
        <p:nvGrpSpPr>
          <p:cNvPr id="41" name="Group 40">
            <a:extLst>
              <a:ext uri="{FF2B5EF4-FFF2-40B4-BE49-F238E27FC236}">
                <a16:creationId xmlns:a16="http://schemas.microsoft.com/office/drawing/2014/main" id="{AC075431-7535-18B7-9526-15173F7D8024}"/>
              </a:ext>
              <a:ext uri="{C183D7F6-B498-43B3-948B-1728B52AA6E4}">
                <adec:decorative xmlns:adec="http://schemas.microsoft.com/office/drawing/2017/decorative" val="1"/>
              </a:ext>
            </a:extLst>
          </p:cNvPr>
          <p:cNvGrpSpPr/>
          <p:nvPr/>
        </p:nvGrpSpPr>
        <p:grpSpPr>
          <a:xfrm>
            <a:off x="3376882" y="3643353"/>
            <a:ext cx="2700862" cy="2820225"/>
            <a:chOff x="4359269" y="2995127"/>
            <a:chExt cx="3476624" cy="3440195"/>
          </a:xfrm>
        </p:grpSpPr>
        <p:sp>
          <p:nvSpPr>
            <p:cNvPr id="42" name="Rectangle 41">
              <a:extLst>
                <a:ext uri="{FF2B5EF4-FFF2-40B4-BE49-F238E27FC236}">
                  <a16:creationId xmlns:a16="http://schemas.microsoft.com/office/drawing/2014/main" id="{CF34413F-8E31-9700-9A58-631D74574E86}"/>
                </a:ext>
              </a:extLst>
            </p:cNvPr>
            <p:cNvSpPr/>
            <p:nvPr/>
          </p:nvSpPr>
          <p:spPr bwMode="auto">
            <a:xfrm>
              <a:off x="4359270" y="2995127"/>
              <a:ext cx="3476623" cy="3440195"/>
            </a:xfrm>
            <a:prstGeom prst="rect">
              <a:avLst/>
            </a:prstGeom>
            <a:gradFill flip="none" rotWithShape="1">
              <a:gsLst>
                <a:gs pos="31000">
                  <a:srgbClr val="FFFFFF">
                    <a:alpha val="35000"/>
                  </a:srgbClr>
                </a:gs>
                <a:gs pos="0">
                  <a:schemeClr val="bg1">
                    <a:alpha val="35000"/>
                  </a:schemeClr>
                </a:gs>
                <a:gs pos="96000">
                  <a:schemeClr val="bg1">
                    <a:alpha val="20000"/>
                  </a:schemeClr>
                </a:gs>
                <a:gs pos="57000">
                  <a:schemeClr val="bg1">
                    <a:alpha val="70000"/>
                  </a:schemeClr>
                </a:gs>
              </a:gsLst>
              <a:lin ang="162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43" name="Picture 42">
              <a:extLst>
                <a:ext uri="{FF2B5EF4-FFF2-40B4-BE49-F238E27FC236}">
                  <a16:creationId xmlns:a16="http://schemas.microsoft.com/office/drawing/2014/main" id="{29CDDE98-7DA9-D5C0-6F7B-3B7B82A0C2ED}"/>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359269" y="2995127"/>
              <a:ext cx="3476623" cy="3440195"/>
            </a:xfrm>
            <a:prstGeom prst="roundRect">
              <a:avLst>
                <a:gd name="adj" fmla="val 0"/>
              </a:avLst>
            </a:prstGeom>
          </p:spPr>
        </p:pic>
      </p:grpSp>
      <p:sp>
        <p:nvSpPr>
          <p:cNvPr id="53" name="Rectangle 52">
            <a:extLst>
              <a:ext uri="{FF2B5EF4-FFF2-40B4-BE49-F238E27FC236}">
                <a16:creationId xmlns:a16="http://schemas.microsoft.com/office/drawing/2014/main" id="{F2ABD1F2-D195-9D88-72E8-024C66E8E437}"/>
              </a:ext>
            </a:extLst>
          </p:cNvPr>
          <p:cNvSpPr/>
          <p:nvPr/>
        </p:nvSpPr>
        <p:spPr>
          <a:xfrm>
            <a:off x="3783231" y="1401146"/>
            <a:ext cx="1685925" cy="246221"/>
          </a:xfrm>
          <a:prstGeom prst="rect">
            <a:avLst/>
          </a:prstGeom>
        </p:spPr>
        <p:txBody>
          <a:bodyPr wrap="square" lIns="0" tIns="0" rIns="0" bIns="0" anchor="t">
            <a:spAutoFit/>
          </a:bodyPr>
          <a:lstStyle/>
          <a:p>
            <a:pPr marL="0" lvl="1" algn="ctr" defTabSz="914351" fontAlgn="base">
              <a:spcBef>
                <a:spcPts val="400"/>
              </a:spcBef>
              <a:spcAft>
                <a:spcPts val="1200"/>
              </a:spcAft>
              <a:defRPr/>
            </a:pPr>
            <a:r>
              <a:rPr lang="en-US" sz="1600">
                <a:solidFill>
                  <a:srgbClr val="000000"/>
                </a:solidFill>
                <a:ea typeface="ＭＳ Ｐゴシック" charset="0"/>
                <a:cs typeface="Segoe UI" panose="020B0502040204020203" pitchFamily="34" charset="0"/>
              </a:rPr>
              <a:t>Step 2</a:t>
            </a:r>
          </a:p>
        </p:txBody>
      </p:sp>
      <p:sp>
        <p:nvSpPr>
          <p:cNvPr id="44" name="Rectangle 43">
            <a:extLst>
              <a:ext uri="{FF2B5EF4-FFF2-40B4-BE49-F238E27FC236}">
                <a16:creationId xmlns:a16="http://schemas.microsoft.com/office/drawing/2014/main" id="{0AEAE80E-DAFC-ACC0-3BC2-21BA75E70D52}"/>
              </a:ext>
            </a:extLst>
          </p:cNvPr>
          <p:cNvSpPr/>
          <p:nvPr/>
        </p:nvSpPr>
        <p:spPr>
          <a:xfrm>
            <a:off x="3486875" y="3822378"/>
            <a:ext cx="2415971" cy="1439818"/>
          </a:xfrm>
          <a:prstGeom prst="rect">
            <a:avLst/>
          </a:prstGeom>
        </p:spPr>
        <p:txBody>
          <a:bodyPr wrap="square" lIns="0" tIns="0" rIns="0" bIns="0" anchor="t">
            <a:spAutoFit/>
          </a:bodyPr>
          <a:lstStyle/>
          <a:p>
            <a:pPr marL="0" lvl="1" defTabSz="914351" fontAlgn="base">
              <a:spcBef>
                <a:spcPts val="400"/>
              </a:spcBef>
              <a:spcAft>
                <a:spcPts val="1200"/>
              </a:spcAft>
              <a:defRPr/>
            </a:pPr>
            <a:r>
              <a:rPr lang="en-US" sz="2000">
                <a:solidFill>
                  <a:srgbClr val="000000"/>
                </a:solidFill>
                <a:ea typeface="ＭＳ Ｐゴシック" charset="0"/>
                <a:cs typeface="Segoe UI" panose="020B0502040204020203" pitchFamily="34" charset="0"/>
              </a:rPr>
              <a:t>ZT Assessment</a:t>
            </a:r>
          </a:p>
          <a:p>
            <a:pPr marL="0" lvl="1" defTabSz="914351" fontAlgn="base">
              <a:lnSpc>
                <a:spcPct val="110000"/>
              </a:lnSpc>
              <a:spcBef>
                <a:spcPts val="400"/>
              </a:spcBef>
              <a:spcAft>
                <a:spcPts val="1200"/>
              </a:spcAft>
              <a:defRPr/>
            </a:pPr>
            <a:r>
              <a:rPr lang="en-US" sz="1400">
                <a:ln w="3175">
                  <a:noFill/>
                </a:ln>
                <a:solidFill>
                  <a:srgbClr val="000000"/>
                </a:solidFill>
                <a:cs typeface="Segoe UI Semilight" panose="020B0402040204020203" pitchFamily="34" charset="0"/>
              </a:rPr>
              <a:t>Run the ZT Assessment PowerShell script on your tenant to confirm a strong security baseline.</a:t>
            </a:r>
          </a:p>
        </p:txBody>
      </p:sp>
      <p:sp>
        <p:nvSpPr>
          <p:cNvPr id="54" name="Rectangle 53">
            <a:extLst>
              <a:ext uri="{FF2B5EF4-FFF2-40B4-BE49-F238E27FC236}">
                <a16:creationId xmlns:a16="http://schemas.microsoft.com/office/drawing/2014/main" id="{D6C0C6FA-C386-9E9B-B10F-30C0C1CB6662}"/>
              </a:ext>
            </a:extLst>
          </p:cNvPr>
          <p:cNvSpPr/>
          <p:nvPr/>
        </p:nvSpPr>
        <p:spPr>
          <a:xfrm>
            <a:off x="6779342" y="1395340"/>
            <a:ext cx="1685925" cy="246221"/>
          </a:xfrm>
          <a:prstGeom prst="rect">
            <a:avLst/>
          </a:prstGeom>
        </p:spPr>
        <p:txBody>
          <a:bodyPr wrap="square" lIns="0" tIns="0" rIns="0" bIns="0" anchor="t">
            <a:spAutoFit/>
          </a:bodyPr>
          <a:lstStyle/>
          <a:p>
            <a:pPr marL="0" lvl="1" algn="ctr" defTabSz="914351" fontAlgn="base">
              <a:spcBef>
                <a:spcPts val="400"/>
              </a:spcBef>
              <a:spcAft>
                <a:spcPts val="1200"/>
              </a:spcAft>
              <a:defRPr/>
            </a:pPr>
            <a:r>
              <a:rPr lang="en-US" sz="1600">
                <a:solidFill>
                  <a:srgbClr val="000000"/>
                </a:solidFill>
                <a:ea typeface="ＭＳ Ｐゴシック" charset="0"/>
                <a:cs typeface="Segoe UI" panose="020B0502040204020203" pitchFamily="34" charset="0"/>
              </a:rPr>
              <a:t>Step 3</a:t>
            </a:r>
          </a:p>
        </p:txBody>
      </p:sp>
      <p:sp>
        <p:nvSpPr>
          <p:cNvPr id="45" name="Rectangle 44">
            <a:extLst>
              <a:ext uri="{FF2B5EF4-FFF2-40B4-BE49-F238E27FC236}">
                <a16:creationId xmlns:a16="http://schemas.microsoft.com/office/drawing/2014/main" id="{81875940-9DE5-7FF5-7108-5A9FFEFD23CC}"/>
              </a:ext>
            </a:extLst>
          </p:cNvPr>
          <p:cNvSpPr/>
          <p:nvPr/>
        </p:nvSpPr>
        <p:spPr>
          <a:xfrm>
            <a:off x="6462954" y="3848204"/>
            <a:ext cx="2543926" cy="1805623"/>
          </a:xfrm>
          <a:prstGeom prst="rect">
            <a:avLst/>
          </a:prstGeom>
        </p:spPr>
        <p:txBody>
          <a:bodyPr wrap="square" lIns="0" tIns="0" rIns="0" bIns="0" anchor="t">
            <a:spAutoFit/>
          </a:bodyPr>
          <a:lstStyle/>
          <a:p>
            <a:pPr marL="0" lvl="1" defTabSz="914351" fontAlgn="base">
              <a:spcBef>
                <a:spcPts val="400"/>
              </a:spcBef>
              <a:spcAft>
                <a:spcPts val="1200"/>
              </a:spcAft>
              <a:defRPr/>
            </a:pPr>
            <a:r>
              <a:rPr lang="en-US" sz="2000">
                <a:solidFill>
                  <a:srgbClr val="000000"/>
                </a:solidFill>
                <a:ea typeface="ＭＳ Ｐゴシック" charset="0"/>
                <a:cs typeface="Segoe UI" panose="020B0502040204020203" pitchFamily="34" charset="0"/>
              </a:rPr>
              <a:t>ZT Workshop</a:t>
            </a:r>
          </a:p>
          <a:p>
            <a:pPr marL="0" lvl="1" defTabSz="914351" fontAlgn="base">
              <a:spcBef>
                <a:spcPts val="400"/>
              </a:spcBef>
              <a:spcAft>
                <a:spcPts val="1200"/>
              </a:spcAft>
              <a:defRPr/>
            </a:pPr>
            <a:r>
              <a:rPr lang="en-US" sz="1400">
                <a:ln w="3175">
                  <a:noFill/>
                </a:ln>
                <a:solidFill>
                  <a:srgbClr val="000000"/>
                </a:solidFill>
                <a:cs typeface="Segoe UI Semilight" panose="020B0402040204020203" pitchFamily="34" charset="0"/>
              </a:rPr>
              <a:t>The Zero Trust Workshop is a collaborative effort between customers and Microsoft to develop a Zero Trust Strategy and Deployment Plan for the next 12–24 months.</a:t>
            </a:r>
          </a:p>
        </p:txBody>
      </p:sp>
      <p:grpSp>
        <p:nvGrpSpPr>
          <p:cNvPr id="62" name="Group 61">
            <a:extLst>
              <a:ext uri="{FF2B5EF4-FFF2-40B4-BE49-F238E27FC236}">
                <a16:creationId xmlns:a16="http://schemas.microsoft.com/office/drawing/2014/main" id="{5EA543C6-0F65-1C9A-0780-A42712F76B49}"/>
              </a:ext>
              <a:ext uri="{C183D7F6-B498-43B3-948B-1728B52AA6E4}">
                <adec:decorative xmlns:adec="http://schemas.microsoft.com/office/drawing/2017/decorative" val="1"/>
              </a:ext>
            </a:extLst>
          </p:cNvPr>
          <p:cNvGrpSpPr/>
          <p:nvPr/>
        </p:nvGrpSpPr>
        <p:grpSpPr>
          <a:xfrm>
            <a:off x="5469156" y="3820984"/>
            <a:ext cx="361076" cy="361072"/>
            <a:chOff x="3231721" y="1872148"/>
            <a:chExt cx="540727" cy="540722"/>
          </a:xfrm>
        </p:grpSpPr>
        <p:sp>
          <p:nvSpPr>
            <p:cNvPr id="36" name="Oval 35">
              <a:extLst>
                <a:ext uri="{FF2B5EF4-FFF2-40B4-BE49-F238E27FC236}">
                  <a16:creationId xmlns:a16="http://schemas.microsoft.com/office/drawing/2014/main" id="{14357334-6A5E-E166-ED56-58C693D8CDC6}"/>
                </a:ext>
              </a:extLst>
            </p:cNvPr>
            <p:cNvSpPr/>
            <p:nvPr/>
          </p:nvSpPr>
          <p:spPr bwMode="auto">
            <a:xfrm>
              <a:off x="3231721" y="1872148"/>
              <a:ext cx="540727" cy="540722"/>
            </a:xfrm>
            <a:prstGeom prst="ellipse">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55" name="Graphic 54">
              <a:extLst>
                <a:ext uri="{FF2B5EF4-FFF2-40B4-BE49-F238E27FC236}">
                  <a16:creationId xmlns:a16="http://schemas.microsoft.com/office/drawing/2014/main" id="{23C00635-C3F9-48FB-4325-D90CD2FB8D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6943" y="1977368"/>
              <a:ext cx="330282" cy="330282"/>
            </a:xfrm>
            <a:prstGeom prst="rect">
              <a:avLst/>
            </a:prstGeom>
          </p:spPr>
        </p:pic>
      </p:grpSp>
      <p:grpSp>
        <p:nvGrpSpPr>
          <p:cNvPr id="2" name="Group 1">
            <a:extLst>
              <a:ext uri="{FF2B5EF4-FFF2-40B4-BE49-F238E27FC236}">
                <a16:creationId xmlns:a16="http://schemas.microsoft.com/office/drawing/2014/main" id="{9AA66193-0C7B-8AFE-85B1-70FE8B467227}"/>
              </a:ext>
              <a:ext uri="{C183D7F6-B498-43B3-948B-1728B52AA6E4}">
                <adec:decorative xmlns:adec="http://schemas.microsoft.com/office/drawing/2017/decorative" val="1"/>
              </a:ext>
            </a:extLst>
          </p:cNvPr>
          <p:cNvGrpSpPr/>
          <p:nvPr/>
        </p:nvGrpSpPr>
        <p:grpSpPr>
          <a:xfrm>
            <a:off x="8465267" y="3848204"/>
            <a:ext cx="361076" cy="361072"/>
            <a:chOff x="7002030" y="2090284"/>
            <a:chExt cx="540727" cy="540722"/>
          </a:xfrm>
        </p:grpSpPr>
        <p:sp>
          <p:nvSpPr>
            <p:cNvPr id="3" name="Oval 2">
              <a:extLst>
                <a:ext uri="{FF2B5EF4-FFF2-40B4-BE49-F238E27FC236}">
                  <a16:creationId xmlns:a16="http://schemas.microsoft.com/office/drawing/2014/main" id="{31F07AFE-3F2F-050D-0859-1D17ED16D51F}"/>
                </a:ext>
              </a:extLst>
            </p:cNvPr>
            <p:cNvSpPr/>
            <p:nvPr/>
          </p:nvSpPr>
          <p:spPr bwMode="auto">
            <a:xfrm>
              <a:off x="7002030" y="2090284"/>
              <a:ext cx="540727" cy="540722"/>
            </a:xfrm>
            <a:prstGeom prst="ellipse">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4" name="Graphic 3">
              <a:extLst>
                <a:ext uri="{FF2B5EF4-FFF2-40B4-BE49-F238E27FC236}">
                  <a16:creationId xmlns:a16="http://schemas.microsoft.com/office/drawing/2014/main" id="{BBAEB9F1-AC64-F296-5CF8-46B85C87C5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09143" y="2197395"/>
              <a:ext cx="326500" cy="326500"/>
            </a:xfrm>
            <a:prstGeom prst="rect">
              <a:avLst/>
            </a:prstGeom>
          </p:spPr>
        </p:pic>
      </p:grpSp>
      <p:grpSp>
        <p:nvGrpSpPr>
          <p:cNvPr id="1024" name="Group 1023">
            <a:extLst>
              <a:ext uri="{FF2B5EF4-FFF2-40B4-BE49-F238E27FC236}">
                <a16:creationId xmlns:a16="http://schemas.microsoft.com/office/drawing/2014/main" id="{C63AEF9F-BA79-3479-01DE-30A72C15F61C}"/>
              </a:ext>
              <a:ext uri="{C183D7F6-B498-43B3-948B-1728B52AA6E4}">
                <adec:decorative xmlns:adec="http://schemas.microsoft.com/office/drawing/2017/decorative" val="1"/>
              </a:ext>
            </a:extLst>
          </p:cNvPr>
          <p:cNvGrpSpPr/>
          <p:nvPr/>
        </p:nvGrpSpPr>
        <p:grpSpPr>
          <a:xfrm>
            <a:off x="2395063" y="3820984"/>
            <a:ext cx="361076" cy="361072"/>
            <a:chOff x="10801444" y="2090284"/>
            <a:chExt cx="540727" cy="540722"/>
          </a:xfrm>
        </p:grpSpPr>
        <p:sp>
          <p:nvSpPr>
            <p:cNvPr id="47" name="Oval 46">
              <a:extLst>
                <a:ext uri="{FF2B5EF4-FFF2-40B4-BE49-F238E27FC236}">
                  <a16:creationId xmlns:a16="http://schemas.microsoft.com/office/drawing/2014/main" id="{B71395D4-73F3-F4EE-413D-3076BE491EAC}"/>
                </a:ext>
              </a:extLst>
            </p:cNvPr>
            <p:cNvSpPr/>
            <p:nvPr/>
          </p:nvSpPr>
          <p:spPr bwMode="auto">
            <a:xfrm>
              <a:off x="10801444" y="2090284"/>
              <a:ext cx="540727" cy="540722"/>
            </a:xfrm>
            <a:prstGeom prst="ellipse">
              <a:avLst/>
            </a:prstGeom>
            <a:solidFill>
              <a:schemeClr val="tx2"/>
            </a:solidFill>
            <a:ln w="63897" cap="flat">
              <a:no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46"/>
              <a:endParaRPr lang="en-US" sz="1600" err="1">
                <a:solidFill>
                  <a:schemeClr val="lt1"/>
                </a:solidFill>
                <a:latin typeface="Segoe UI Semibold"/>
                <a:cs typeface="Segoe UI Semibold" panose="020B0502040204020203" pitchFamily="34" charset="0"/>
              </a:endParaRPr>
            </a:p>
          </p:txBody>
        </p:sp>
        <p:pic>
          <p:nvPicPr>
            <p:cNvPr id="58" name="Graphic 57">
              <a:extLst>
                <a:ext uri="{FF2B5EF4-FFF2-40B4-BE49-F238E27FC236}">
                  <a16:creationId xmlns:a16="http://schemas.microsoft.com/office/drawing/2014/main" id="{2CAF5F76-886A-8F5F-5084-C6AB7AF476A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917538" y="2206376"/>
              <a:ext cx="308538" cy="308538"/>
            </a:xfrm>
            <a:prstGeom prst="rect">
              <a:avLst/>
            </a:prstGeom>
          </p:spPr>
        </p:pic>
      </p:grpSp>
      <p:pic>
        <p:nvPicPr>
          <p:cNvPr id="59" name="Picture 2">
            <a:extLst>
              <a:ext uri="{FF2B5EF4-FFF2-40B4-BE49-F238E27FC236}">
                <a16:creationId xmlns:a16="http://schemas.microsoft.com/office/drawing/2014/main" id="{A3FDF8B0-5959-0E10-9A23-058EA7A0E2E8}"/>
              </a:ext>
              <a:ext uri="{C183D7F6-B498-43B3-948B-1728B52AA6E4}">
                <adec:decorative xmlns:adec="http://schemas.microsoft.com/office/drawing/2017/decorative" val="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9320" t="10123" r="9320" b="29720"/>
          <a:stretch/>
        </p:blipFill>
        <p:spPr bwMode="auto">
          <a:xfrm>
            <a:off x="3441719" y="2079420"/>
            <a:ext cx="2552229" cy="1159454"/>
          </a:xfrm>
          <a:prstGeom prst="roundRect">
            <a:avLst>
              <a:gd name="adj" fmla="val 4614"/>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A5EE3AC0-C1D3-D953-98C8-2055C5AED2C6}"/>
              </a:ext>
              <a:ext uri="{C183D7F6-B498-43B3-948B-1728B52AA6E4}">
                <adec:decorative xmlns:adec="http://schemas.microsoft.com/office/drawing/2017/decorative" val="1"/>
              </a:ext>
            </a:extLst>
          </p:cNvPr>
          <p:cNvPicPr>
            <a:picLocks noChangeAspect="1"/>
          </p:cNvPicPr>
          <p:nvPr/>
        </p:nvPicPr>
        <p:blipFill>
          <a:blip r:embed="rId3">
            <a:alphaModFix amt="80000"/>
          </a:blip>
          <a:srcRect l="34132" t="22596" r="34395" b="1617"/>
          <a:stretch/>
        </p:blipFill>
        <p:spPr>
          <a:xfrm>
            <a:off x="9241668" y="1730234"/>
            <a:ext cx="2700862" cy="4709159"/>
          </a:xfrm>
          <a:prstGeom prst="rect">
            <a:avLst/>
          </a:prstGeom>
        </p:spPr>
      </p:pic>
      <p:grpSp>
        <p:nvGrpSpPr>
          <p:cNvPr id="12" name="Group 11">
            <a:extLst>
              <a:ext uri="{FF2B5EF4-FFF2-40B4-BE49-F238E27FC236}">
                <a16:creationId xmlns:a16="http://schemas.microsoft.com/office/drawing/2014/main" id="{3662A59D-8640-3E55-904A-175608C21647}"/>
              </a:ext>
              <a:ext uri="{C183D7F6-B498-43B3-948B-1728B52AA6E4}">
                <adec:decorative xmlns:adec="http://schemas.microsoft.com/office/drawing/2017/decorative" val="1"/>
              </a:ext>
            </a:extLst>
          </p:cNvPr>
          <p:cNvGrpSpPr/>
          <p:nvPr/>
        </p:nvGrpSpPr>
        <p:grpSpPr>
          <a:xfrm>
            <a:off x="9227636" y="3653108"/>
            <a:ext cx="2714894" cy="2820225"/>
            <a:chOff x="8158687" y="2995127"/>
            <a:chExt cx="3476624" cy="3440195"/>
          </a:xfrm>
        </p:grpSpPr>
        <p:sp>
          <p:nvSpPr>
            <p:cNvPr id="13" name="Rectangle 12">
              <a:extLst>
                <a:ext uri="{FF2B5EF4-FFF2-40B4-BE49-F238E27FC236}">
                  <a16:creationId xmlns:a16="http://schemas.microsoft.com/office/drawing/2014/main" id="{EC5554A4-8B2F-F0DC-8F46-59F66CC1CA04}"/>
                </a:ext>
              </a:extLst>
            </p:cNvPr>
            <p:cNvSpPr/>
            <p:nvPr/>
          </p:nvSpPr>
          <p:spPr bwMode="auto">
            <a:xfrm>
              <a:off x="8158688" y="2995127"/>
              <a:ext cx="3476623" cy="3440195"/>
            </a:xfrm>
            <a:prstGeom prst="rect">
              <a:avLst/>
            </a:prstGeom>
            <a:solidFill>
              <a:srgbClr val="FFFFFF">
                <a:alpha val="3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14" name="Picture 13">
              <a:extLst>
                <a:ext uri="{FF2B5EF4-FFF2-40B4-BE49-F238E27FC236}">
                  <a16:creationId xmlns:a16="http://schemas.microsoft.com/office/drawing/2014/main" id="{2FC2D5A9-7F56-009A-5F05-F70EE713EA6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158687" y="2995127"/>
              <a:ext cx="3476623" cy="3440195"/>
            </a:xfrm>
            <a:prstGeom prst="roundRect">
              <a:avLst>
                <a:gd name="adj" fmla="val 0"/>
              </a:avLst>
            </a:prstGeom>
          </p:spPr>
        </p:pic>
      </p:grpSp>
      <p:sp>
        <p:nvSpPr>
          <p:cNvPr id="15" name="Rectangle 14">
            <a:extLst>
              <a:ext uri="{FF2B5EF4-FFF2-40B4-BE49-F238E27FC236}">
                <a16:creationId xmlns:a16="http://schemas.microsoft.com/office/drawing/2014/main" id="{FF60853D-1AB0-A122-5DD8-D6EB1A31E9AD}"/>
              </a:ext>
            </a:extLst>
          </p:cNvPr>
          <p:cNvSpPr/>
          <p:nvPr/>
        </p:nvSpPr>
        <p:spPr>
          <a:xfrm>
            <a:off x="9398603" y="3887825"/>
            <a:ext cx="2543926" cy="1805623"/>
          </a:xfrm>
          <a:prstGeom prst="rect">
            <a:avLst/>
          </a:prstGeom>
        </p:spPr>
        <p:txBody>
          <a:bodyPr wrap="square" lIns="0" tIns="0" rIns="0" bIns="0" anchor="t">
            <a:spAutoFit/>
          </a:bodyPr>
          <a:lstStyle/>
          <a:p>
            <a:pPr marL="0" lvl="1" defTabSz="914351" fontAlgn="base">
              <a:spcBef>
                <a:spcPts val="400"/>
              </a:spcBef>
              <a:spcAft>
                <a:spcPts val="1200"/>
              </a:spcAft>
              <a:defRPr/>
            </a:pPr>
            <a:r>
              <a:rPr lang="en-US" sz="2000">
                <a:solidFill>
                  <a:srgbClr val="000000"/>
                </a:solidFill>
                <a:ea typeface="ＭＳ Ｐゴシック" charset="0"/>
                <a:cs typeface="Segoe UI" panose="020B0502040204020203" pitchFamily="34" charset="0"/>
              </a:rPr>
              <a:t>Implementation</a:t>
            </a:r>
          </a:p>
          <a:p>
            <a:pPr marL="0" lvl="1" defTabSz="914351" fontAlgn="base">
              <a:spcBef>
                <a:spcPts val="400"/>
              </a:spcBef>
              <a:spcAft>
                <a:spcPts val="1200"/>
              </a:spcAft>
              <a:defRPr/>
            </a:pPr>
            <a:r>
              <a:rPr lang="en-US" sz="1400">
                <a:ln w="3175">
                  <a:noFill/>
                </a:ln>
                <a:solidFill>
                  <a:srgbClr val="000000"/>
                </a:solidFill>
                <a:cs typeface="Segoe UI Semilight" panose="020B0402040204020203" pitchFamily="34" charset="0"/>
              </a:rPr>
              <a:t>Generate insights and reports based on Workshop and Assessment findings to determine which items your organization needs to tackle first.</a:t>
            </a:r>
          </a:p>
        </p:txBody>
      </p:sp>
      <p:sp>
        <p:nvSpPr>
          <p:cNvPr id="18" name="Rectangle 17">
            <a:extLst>
              <a:ext uri="{FF2B5EF4-FFF2-40B4-BE49-F238E27FC236}">
                <a16:creationId xmlns:a16="http://schemas.microsoft.com/office/drawing/2014/main" id="{38BBCB71-0594-88B3-7E65-FE335BB1063C}"/>
              </a:ext>
            </a:extLst>
          </p:cNvPr>
          <p:cNvSpPr/>
          <p:nvPr/>
        </p:nvSpPr>
        <p:spPr>
          <a:xfrm>
            <a:off x="9749136" y="1399367"/>
            <a:ext cx="1685925" cy="246221"/>
          </a:xfrm>
          <a:prstGeom prst="rect">
            <a:avLst/>
          </a:prstGeom>
        </p:spPr>
        <p:txBody>
          <a:bodyPr wrap="square" lIns="0" tIns="0" rIns="0" bIns="0" anchor="t">
            <a:spAutoFit/>
          </a:bodyPr>
          <a:lstStyle/>
          <a:p>
            <a:pPr marL="0" lvl="1" algn="ctr" defTabSz="914351" fontAlgn="base">
              <a:spcBef>
                <a:spcPts val="400"/>
              </a:spcBef>
              <a:spcAft>
                <a:spcPts val="1200"/>
              </a:spcAft>
              <a:defRPr/>
            </a:pPr>
            <a:r>
              <a:rPr lang="en-US" sz="1600">
                <a:solidFill>
                  <a:srgbClr val="000000"/>
                </a:solidFill>
                <a:ea typeface="ＭＳ Ｐゴシック" charset="0"/>
                <a:cs typeface="Segoe UI" panose="020B0502040204020203" pitchFamily="34" charset="0"/>
              </a:rPr>
              <a:t>Step 4</a:t>
            </a:r>
          </a:p>
        </p:txBody>
      </p:sp>
      <p:grpSp>
        <p:nvGrpSpPr>
          <p:cNvPr id="22" name="Group 21">
            <a:extLst>
              <a:ext uri="{FF2B5EF4-FFF2-40B4-BE49-F238E27FC236}">
                <a16:creationId xmlns:a16="http://schemas.microsoft.com/office/drawing/2014/main" id="{0D400491-4C22-128D-AA43-E53179A87B8B}"/>
              </a:ext>
              <a:ext uri="{C183D7F6-B498-43B3-948B-1728B52AA6E4}">
                <adec:decorative xmlns:adec="http://schemas.microsoft.com/office/drawing/2017/decorative" val="1"/>
              </a:ext>
            </a:extLst>
          </p:cNvPr>
          <p:cNvGrpSpPr/>
          <p:nvPr/>
        </p:nvGrpSpPr>
        <p:grpSpPr>
          <a:xfrm>
            <a:off x="11356181" y="3848204"/>
            <a:ext cx="361076" cy="361072"/>
            <a:chOff x="7002030" y="2090284"/>
            <a:chExt cx="540727" cy="540722"/>
          </a:xfrm>
        </p:grpSpPr>
        <p:sp>
          <p:nvSpPr>
            <p:cNvPr id="23" name="Oval 22">
              <a:extLst>
                <a:ext uri="{FF2B5EF4-FFF2-40B4-BE49-F238E27FC236}">
                  <a16:creationId xmlns:a16="http://schemas.microsoft.com/office/drawing/2014/main" id="{7AB09029-47B7-E4BB-44BE-0976F517524C}"/>
                </a:ext>
              </a:extLst>
            </p:cNvPr>
            <p:cNvSpPr/>
            <p:nvPr/>
          </p:nvSpPr>
          <p:spPr bwMode="auto">
            <a:xfrm>
              <a:off x="7002030" y="2090284"/>
              <a:ext cx="540727" cy="540722"/>
            </a:xfrm>
            <a:prstGeom prst="ellipse">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24" name="Graphic 23" descr="Badge Tick1 with solid fill">
              <a:extLst>
                <a:ext uri="{FF2B5EF4-FFF2-40B4-BE49-F238E27FC236}">
                  <a16:creationId xmlns:a16="http://schemas.microsoft.com/office/drawing/2014/main" id="{739911ED-129D-948E-CD05-E7AFE20CAD5D}"/>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7109143" y="2197394"/>
              <a:ext cx="326499" cy="326500"/>
            </a:xfrm>
            <a:prstGeom prst="rect">
              <a:avLst/>
            </a:prstGeom>
          </p:spPr>
        </p:pic>
      </p:grpSp>
      <p:pic>
        <p:nvPicPr>
          <p:cNvPr id="7" name="Picture 6" descr="The image is a visual representation of a Zero Trust Workshop, which includes various components such as Identity, Devices, Data, Network, Infrastructure, Security Operations, and AI, DevSecOps, and different implementation efforts, user impacts, and areas to filter. It also includes a list of elements such as account states, app access, and infrastructure servers.&#10;&#10;AI-generated content may be incorrect.">
            <a:extLst>
              <a:ext uri="{FF2B5EF4-FFF2-40B4-BE49-F238E27FC236}">
                <a16:creationId xmlns:a16="http://schemas.microsoft.com/office/drawing/2014/main" id="{3BBECDCE-6481-7E61-3233-FE24620A94AC}"/>
              </a:ext>
            </a:extLst>
          </p:cNvPr>
          <p:cNvPicPr>
            <a:picLocks noChangeAspect="1"/>
          </p:cNvPicPr>
          <p:nvPr/>
        </p:nvPicPr>
        <p:blipFill>
          <a:blip r:embed="rId10"/>
          <a:stretch>
            <a:fillRect/>
          </a:stretch>
        </p:blipFill>
        <p:spPr>
          <a:xfrm>
            <a:off x="6401093" y="2062583"/>
            <a:ext cx="2586987" cy="1193127"/>
          </a:xfrm>
          <a:prstGeom prst="rect">
            <a:avLst/>
          </a:prstGeom>
        </p:spPr>
      </p:pic>
      <p:pic>
        <p:nvPicPr>
          <p:cNvPr id="16" name="Picture 15" descr="The Zero Trust Workshop progress report dashboard shows the remaining tasks across various pillars, including Identity, Devices, Data, Network, Infrastructure, Security Operations, and DevSecOps, with varying numbers of tasks remaining.&#10;&#10;AI-generated content may be incorrect.">
            <a:extLst>
              <a:ext uri="{FF2B5EF4-FFF2-40B4-BE49-F238E27FC236}">
                <a16:creationId xmlns:a16="http://schemas.microsoft.com/office/drawing/2014/main" id="{DB368F34-9900-777E-6B32-1BC266CFC5F5}"/>
              </a:ext>
            </a:extLst>
          </p:cNvPr>
          <p:cNvPicPr>
            <a:picLocks noChangeAspect="1"/>
          </p:cNvPicPr>
          <p:nvPr/>
        </p:nvPicPr>
        <p:blipFill>
          <a:blip r:embed="rId11"/>
          <a:stretch>
            <a:fillRect/>
          </a:stretch>
        </p:blipFill>
        <p:spPr>
          <a:xfrm>
            <a:off x="9398603" y="1793625"/>
            <a:ext cx="2444386" cy="1761935"/>
          </a:xfrm>
          <a:prstGeom prst="rect">
            <a:avLst/>
          </a:prstGeom>
        </p:spPr>
      </p:pic>
      <p:pic>
        <p:nvPicPr>
          <p:cNvPr id="20" name="Picture 19" descr="The image displays a diagram with various components of a Zero Trust Workshop, including pillars for identities, endpoints, data, AI, infrastructure, network, and DevSecOps.&#10;&#10;AI-generated content may be incorrect.">
            <a:extLst>
              <a:ext uri="{FF2B5EF4-FFF2-40B4-BE49-F238E27FC236}">
                <a16:creationId xmlns:a16="http://schemas.microsoft.com/office/drawing/2014/main" id="{1B834B4D-B1AF-B0CC-68ED-F598A23817C4}"/>
              </a:ext>
            </a:extLst>
          </p:cNvPr>
          <p:cNvPicPr>
            <a:picLocks noChangeAspect="1"/>
          </p:cNvPicPr>
          <p:nvPr/>
        </p:nvPicPr>
        <p:blipFill>
          <a:blip r:embed="rId12"/>
          <a:stretch>
            <a:fillRect/>
          </a:stretch>
        </p:blipFill>
        <p:spPr>
          <a:xfrm>
            <a:off x="565857" y="1887076"/>
            <a:ext cx="2366948" cy="1575032"/>
          </a:xfrm>
          <a:prstGeom prst="rect">
            <a:avLst/>
          </a:prstGeom>
        </p:spPr>
      </p:pic>
    </p:spTree>
    <p:extLst>
      <p:ext uri="{BB962C8B-B14F-4D97-AF65-F5344CB8AC3E}">
        <p14:creationId xmlns:p14="http://schemas.microsoft.com/office/powerpoint/2010/main" val="26328157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DB8F-63AB-DFA1-38CD-0EB26247D89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8C60FDA-22D7-9B14-B0D9-047A7BC5E7BD}"/>
              </a:ext>
            </a:extLst>
          </p:cNvPr>
          <p:cNvSpPr>
            <a:spLocks noGrp="1" noRot="1" noMove="1" noResize="1" noEditPoints="1" noAdjustHandles="1" noChangeArrowheads="1" noChangeShapeType="1"/>
          </p:cNvSpPr>
          <p:nvPr/>
        </p:nvSpPr>
        <p:spPr bwMode="auto">
          <a:xfrm>
            <a:off x="4795285" y="0"/>
            <a:ext cx="7396716" cy="6858000"/>
          </a:xfrm>
          <a:prstGeom prst="rect">
            <a:avLst/>
          </a:prstGeom>
          <a:gradFill flip="none" rotWithShape="1">
            <a:gsLst>
              <a:gs pos="1149">
                <a:schemeClr val="tx1">
                  <a:alpha val="0"/>
                </a:schemeClr>
              </a:gs>
              <a:gs pos="11000">
                <a:schemeClr val="tx1"/>
              </a:gs>
              <a:gs pos="98000">
                <a:schemeClr val="tx1"/>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2" name="Title 1">
            <a:extLst>
              <a:ext uri="{FF2B5EF4-FFF2-40B4-BE49-F238E27FC236}">
                <a16:creationId xmlns:a16="http://schemas.microsoft.com/office/drawing/2014/main" id="{D66750CC-5CE7-C0C6-960E-43E6F1E8D1EB}"/>
              </a:ext>
            </a:extLst>
          </p:cNvPr>
          <p:cNvSpPr>
            <a:spLocks noGrp="1" noRot="1" noMove="1" noResize="1" noEditPoints="1" noAdjustHandles="1" noChangeArrowheads="1" noChangeShapeType="1"/>
          </p:cNvSpPr>
          <p:nvPr>
            <p:ph type="title" idx="4294967295"/>
          </p:nvPr>
        </p:nvSpPr>
        <p:spPr>
          <a:xfrm>
            <a:off x="590871" y="1303866"/>
            <a:ext cx="4209434" cy="1327740"/>
          </a:xfrm>
        </p:spPr>
        <p:txBody>
          <a:bodyPr>
            <a:noAutofit/>
          </a:bodyPr>
          <a:lstStyle/>
          <a:p>
            <a:pPr algn="ctr"/>
            <a:r>
              <a:rPr lang="en-US" sz="3500" spc="-70">
                <a:solidFill>
                  <a:schemeClr val="bg2"/>
                </a:solidFill>
              </a:rPr>
              <a:t>Microsoft Zero Trust</a:t>
            </a:r>
            <a:br>
              <a:rPr lang="en-US" sz="3500" spc="-70">
                <a:solidFill>
                  <a:schemeClr val="bg2"/>
                </a:solidFill>
              </a:rPr>
            </a:br>
            <a:r>
              <a:rPr lang="en-US" sz="3500" spc="-70">
                <a:solidFill>
                  <a:schemeClr val="bg2"/>
                </a:solidFill>
              </a:rPr>
              <a:t>Assessment Tool</a:t>
            </a:r>
          </a:p>
        </p:txBody>
      </p:sp>
      <p:sp>
        <p:nvSpPr>
          <p:cNvPr id="4" name="Content Placeholder 2">
            <a:extLst>
              <a:ext uri="{FF2B5EF4-FFF2-40B4-BE49-F238E27FC236}">
                <a16:creationId xmlns:a16="http://schemas.microsoft.com/office/drawing/2014/main" id="{79E155B5-F7DD-D4DC-F8D6-9EBFB56BB561}"/>
              </a:ext>
            </a:extLst>
          </p:cNvPr>
          <p:cNvSpPr txBox="1">
            <a:spLocks noGrp="1" noRot="1" noMove="1" noResize="1" noEditPoints="1" noAdjustHandles="1" noChangeArrowheads="1" noChangeShapeType="1"/>
          </p:cNvSpPr>
          <p:nvPr/>
        </p:nvSpPr>
        <p:spPr>
          <a:xfrm>
            <a:off x="937294" y="3152597"/>
            <a:ext cx="3516589" cy="1723549"/>
          </a:xfrm>
          <a:prstGeom prst="rect">
            <a:avLst/>
          </a:prstGeom>
          <a:noFill/>
        </p:spPr>
        <p:txBody>
          <a:bodyPr vert="horz" wrap="square" lIns="0" tIns="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Sans Display Semilight"/>
                <a:ea typeface="+mn-ea"/>
                <a:cs typeface="+mn-cs"/>
              </a:rPr>
              <a:t>The Zero Trust Assessment transforms this process with automation to test for hundreds of security configuration items aligned with the Secure Future Initiative (SFI) and Zero Trust pillars, then guides you through remediation steps to help operationalize Zero Trust principles.</a:t>
            </a:r>
            <a:endParaRPr kumimoji="0" lang="en-US" sz="1600" b="1" i="0" u="none" strike="noStrike" kern="1200" cap="none" spc="0" normalizeH="0" baseline="0" noProof="0">
              <a:ln>
                <a:noFill/>
              </a:ln>
              <a:solidFill>
                <a:srgbClr val="000000"/>
              </a:solidFill>
              <a:effectLst/>
              <a:uLnTx/>
              <a:uFillTx/>
              <a:latin typeface="Segoe Sans Display Semilight"/>
              <a:ea typeface="+mn-ea"/>
              <a:cs typeface="+mn-cs"/>
            </a:endParaRPr>
          </a:p>
        </p:txBody>
      </p:sp>
      <p:pic>
        <p:nvPicPr>
          <p:cNvPr id="8" name="Picture 7">
            <a:extLst>
              <a:ext uri="{FF2B5EF4-FFF2-40B4-BE49-F238E27FC236}">
                <a16:creationId xmlns:a16="http://schemas.microsoft.com/office/drawing/2014/main" id="{B13F1D90-EA66-B329-62FB-125FA4F00D9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28A0092B-C50C-407E-A947-70E740481C1C}">
                <a14:useLocalDpi xmlns:a14="http://schemas.microsoft.com/office/drawing/2010/main" val="0"/>
              </a:ext>
            </a:extLst>
          </a:blip>
          <a:srcRect/>
          <a:stretch>
            <a:fillRect/>
          </a:stretch>
        </p:blipFill>
        <p:spPr bwMode="ltGray">
          <a:xfrm rot="5400000">
            <a:off x="2649135" y="1736529"/>
            <a:ext cx="92907" cy="1909771"/>
          </a:xfrm>
          <a:prstGeom prst="rect">
            <a:avLst/>
          </a:prstGeom>
        </p:spPr>
      </p:pic>
      <p:sp>
        <p:nvSpPr>
          <p:cNvPr id="3" name="Rectangle 2">
            <a:extLst>
              <a:ext uri="{FF2B5EF4-FFF2-40B4-BE49-F238E27FC236}">
                <a16:creationId xmlns:a16="http://schemas.microsoft.com/office/drawing/2014/main" id="{4F0BC890-46F5-8990-E53F-CC39AFE1C0B8}"/>
              </a:ext>
            </a:extLst>
          </p:cNvPr>
          <p:cNvSpPr/>
          <p:nvPr/>
        </p:nvSpPr>
        <p:spPr bwMode="auto">
          <a:xfrm>
            <a:off x="6794576" y="1874292"/>
            <a:ext cx="1969827" cy="132838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5" name="Rectangle 4">
            <a:extLst>
              <a:ext uri="{FF2B5EF4-FFF2-40B4-BE49-F238E27FC236}">
                <a16:creationId xmlns:a16="http://schemas.microsoft.com/office/drawing/2014/main" id="{7B078C8A-619F-7970-1D8E-591BD8AEF650}"/>
              </a:ext>
            </a:extLst>
          </p:cNvPr>
          <p:cNvSpPr/>
          <p:nvPr/>
        </p:nvSpPr>
        <p:spPr bwMode="auto">
          <a:xfrm>
            <a:off x="9004719" y="1874292"/>
            <a:ext cx="1969827" cy="1384058"/>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6" name="Rectangle 5">
            <a:extLst>
              <a:ext uri="{FF2B5EF4-FFF2-40B4-BE49-F238E27FC236}">
                <a16:creationId xmlns:a16="http://schemas.microsoft.com/office/drawing/2014/main" id="{CD006DCD-258F-3758-F494-BDFF4BF771C1}"/>
              </a:ext>
            </a:extLst>
          </p:cNvPr>
          <p:cNvSpPr/>
          <p:nvPr/>
        </p:nvSpPr>
        <p:spPr bwMode="auto">
          <a:xfrm>
            <a:off x="6794575" y="3627490"/>
            <a:ext cx="1969827" cy="132838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9" name="Rectangle 8">
            <a:extLst>
              <a:ext uri="{FF2B5EF4-FFF2-40B4-BE49-F238E27FC236}">
                <a16:creationId xmlns:a16="http://schemas.microsoft.com/office/drawing/2014/main" id="{AA206F4E-BF2C-7E3F-3DF9-0BA3402B1C5F}"/>
              </a:ext>
            </a:extLst>
          </p:cNvPr>
          <p:cNvSpPr/>
          <p:nvPr/>
        </p:nvSpPr>
        <p:spPr bwMode="auto">
          <a:xfrm>
            <a:off x="9004718" y="3655327"/>
            <a:ext cx="1969827" cy="132838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10" name="Rectangle 9">
            <a:extLst>
              <a:ext uri="{FF2B5EF4-FFF2-40B4-BE49-F238E27FC236}">
                <a16:creationId xmlns:a16="http://schemas.microsoft.com/office/drawing/2014/main" id="{EB4F1B0D-DD8F-802D-8653-81C7B04319C4}"/>
              </a:ext>
            </a:extLst>
          </p:cNvPr>
          <p:cNvSpPr/>
          <p:nvPr/>
        </p:nvSpPr>
        <p:spPr bwMode="auto">
          <a:xfrm>
            <a:off x="6794575" y="5380687"/>
            <a:ext cx="1312196" cy="1245301"/>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12" name="Rectangle 11">
            <a:extLst>
              <a:ext uri="{FF2B5EF4-FFF2-40B4-BE49-F238E27FC236}">
                <a16:creationId xmlns:a16="http://schemas.microsoft.com/office/drawing/2014/main" id="{709EECFF-F8B8-12E0-1DFD-90862E6F6F93}"/>
              </a:ext>
            </a:extLst>
          </p:cNvPr>
          <p:cNvSpPr/>
          <p:nvPr/>
        </p:nvSpPr>
        <p:spPr bwMode="auto">
          <a:xfrm>
            <a:off x="8448173" y="5380686"/>
            <a:ext cx="946036" cy="942777"/>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13" name="Rectangle 12">
            <a:extLst>
              <a:ext uri="{FF2B5EF4-FFF2-40B4-BE49-F238E27FC236}">
                <a16:creationId xmlns:a16="http://schemas.microsoft.com/office/drawing/2014/main" id="{03078144-ACA0-1C09-C219-B5646FD90A3B}"/>
              </a:ext>
            </a:extLst>
          </p:cNvPr>
          <p:cNvSpPr/>
          <p:nvPr/>
        </p:nvSpPr>
        <p:spPr bwMode="auto">
          <a:xfrm>
            <a:off x="8246897" y="6323462"/>
            <a:ext cx="1312196" cy="302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14" name="Rectangle 13">
            <a:extLst>
              <a:ext uri="{FF2B5EF4-FFF2-40B4-BE49-F238E27FC236}">
                <a16:creationId xmlns:a16="http://schemas.microsoft.com/office/drawing/2014/main" id="{1AFB794B-3542-6C1C-9E3E-B567D8C3030D}"/>
              </a:ext>
            </a:extLst>
          </p:cNvPr>
          <p:cNvSpPr/>
          <p:nvPr/>
        </p:nvSpPr>
        <p:spPr bwMode="auto">
          <a:xfrm>
            <a:off x="9835870" y="5380686"/>
            <a:ext cx="946036" cy="942777"/>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15" name="Rectangle 14">
            <a:extLst>
              <a:ext uri="{FF2B5EF4-FFF2-40B4-BE49-F238E27FC236}">
                <a16:creationId xmlns:a16="http://schemas.microsoft.com/office/drawing/2014/main" id="{71C12791-FA44-06EB-EE9A-F5037F9A47E8}"/>
              </a:ext>
            </a:extLst>
          </p:cNvPr>
          <p:cNvSpPr/>
          <p:nvPr/>
        </p:nvSpPr>
        <p:spPr bwMode="auto">
          <a:xfrm>
            <a:off x="9707538" y="6346375"/>
            <a:ext cx="1312196" cy="302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17" name="Picture 16" descr="The image displays a Zero Trust Assessment dashboard with various sections such as Identity, Devices, Network, Infrastructure, Data, SecOps, and Contoso information, including user and device statistics, compliance levels, and authentication methods.&#10;&#10;AI-generated content may be incorrect.">
            <a:extLst>
              <a:ext uri="{FF2B5EF4-FFF2-40B4-BE49-F238E27FC236}">
                <a16:creationId xmlns:a16="http://schemas.microsoft.com/office/drawing/2014/main" id="{73991A57-F8A0-01DA-0A0C-E8EA7D9AD889}"/>
              </a:ext>
            </a:extLst>
          </p:cNvPr>
          <p:cNvPicPr>
            <a:picLocks noChangeAspect="1"/>
          </p:cNvPicPr>
          <p:nvPr/>
        </p:nvPicPr>
        <p:blipFill>
          <a:blip r:embed="rId4"/>
          <a:stretch>
            <a:fillRect/>
          </a:stretch>
        </p:blipFill>
        <p:spPr>
          <a:xfrm>
            <a:off x="5319399" y="1368934"/>
            <a:ext cx="6472282" cy="4120132"/>
          </a:xfrm>
          <a:prstGeom prst="rect">
            <a:avLst/>
          </a:prstGeom>
        </p:spPr>
      </p:pic>
    </p:spTree>
    <p:extLst>
      <p:ext uri="{BB962C8B-B14F-4D97-AF65-F5344CB8AC3E}">
        <p14:creationId xmlns:p14="http://schemas.microsoft.com/office/powerpoint/2010/main" val="37292610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8" fill="hold" grpId="0" nodeType="withEffect">
                                  <p:stCondLst>
                                    <p:cond delay="0"/>
                                  </p:stCondLst>
                                  <p:childTnLst>
                                    <p:animEffect transition="out" filter="wipe(left)">
                                      <p:cBhvr>
                                        <p:cTn id="6" dur="750"/>
                                        <p:tgtEl>
                                          <p:spTgt spid="3"/>
                                        </p:tgtEl>
                                      </p:cBhvr>
                                    </p:animEffect>
                                    <p:set>
                                      <p:cBhvr>
                                        <p:cTn id="7" dur="1" fill="hold">
                                          <p:stCondLst>
                                            <p:cond delay="749"/>
                                          </p:stCondLst>
                                        </p:cTn>
                                        <p:tgtEl>
                                          <p:spTgt spid="3"/>
                                        </p:tgtEl>
                                        <p:attrNameLst>
                                          <p:attrName>style.visibility</p:attrName>
                                        </p:attrNameLst>
                                      </p:cBhvr>
                                      <p:to>
                                        <p:strVal val="hidden"/>
                                      </p:to>
                                    </p:set>
                                  </p:childTnLst>
                                </p:cTn>
                              </p:par>
                            </p:childTnLst>
                          </p:cTn>
                        </p:par>
                        <p:par>
                          <p:cTn id="8" fill="hold">
                            <p:stCondLst>
                              <p:cond delay="750"/>
                            </p:stCondLst>
                            <p:childTnLst>
                              <p:par>
                                <p:cTn id="9" presetID="22" presetClass="exit" presetSubtype="8" fill="hold" grpId="0" nodeType="afterEffect">
                                  <p:stCondLst>
                                    <p:cond delay="0"/>
                                  </p:stCondLst>
                                  <p:childTnLst>
                                    <p:animEffect transition="out" filter="wipe(left)">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par>
                          <p:cTn id="12" fill="hold">
                            <p:stCondLst>
                              <p:cond delay="1250"/>
                            </p:stCondLst>
                            <p:childTnLst>
                              <p:par>
                                <p:cTn id="13" presetID="22" presetClass="exit" presetSubtype="8" fill="hold" grpId="0" nodeType="afterEffect">
                                  <p:stCondLst>
                                    <p:cond delay="0"/>
                                  </p:stCondLst>
                                  <p:childTnLst>
                                    <p:animEffect transition="out" filter="wipe(left)">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childTnLst>
                          </p:cTn>
                        </p:par>
                        <p:par>
                          <p:cTn id="16" fill="hold">
                            <p:stCondLst>
                              <p:cond delay="1750"/>
                            </p:stCondLst>
                            <p:childTnLst>
                              <p:par>
                                <p:cTn id="17" presetID="22" presetClass="exit" presetSubtype="8" fill="hold" grpId="0" nodeType="afterEffect">
                                  <p:stCondLst>
                                    <p:cond delay="0"/>
                                  </p:stCondLst>
                                  <p:childTnLst>
                                    <p:animEffect transition="out" filter="wipe(left)">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par>
                          <p:cTn id="20" fill="hold">
                            <p:stCondLst>
                              <p:cond delay="2250"/>
                            </p:stCondLst>
                            <p:childTnLst>
                              <p:par>
                                <p:cTn id="21" presetID="22" presetClass="exit" presetSubtype="8" fill="hold" grpId="0" nodeType="afterEffect">
                                  <p:stCondLst>
                                    <p:cond delay="0"/>
                                  </p:stCondLst>
                                  <p:childTnLst>
                                    <p:animEffect transition="out" filter="wipe(left)">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childTnLst>
                          </p:cTn>
                        </p:par>
                        <p:par>
                          <p:cTn id="24" fill="hold">
                            <p:stCondLst>
                              <p:cond delay="2750"/>
                            </p:stCondLst>
                            <p:childTnLst>
                              <p:par>
                                <p:cTn id="25" presetID="21" presetClass="exit" presetSubtype="1" fill="hold" grpId="0" nodeType="afterEffect">
                                  <p:stCondLst>
                                    <p:cond delay="0"/>
                                  </p:stCondLst>
                                  <p:childTnLst>
                                    <p:animEffect transition="out" filter="wheel(1)">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par>
                                <p:cTn id="28" presetID="22" presetClass="exit" presetSubtype="8" fill="hold" grpId="0" nodeType="withEffect">
                                  <p:stCondLst>
                                    <p:cond delay="0"/>
                                  </p:stCondLst>
                                  <p:childTnLst>
                                    <p:animEffect transition="out" filter="wipe(left)">
                                      <p:cBhvr>
                                        <p:cTn id="29" dur="500"/>
                                        <p:tgtEl>
                                          <p:spTgt spid="13"/>
                                        </p:tgtEl>
                                      </p:cBhvr>
                                    </p:animEffect>
                                    <p:set>
                                      <p:cBhvr>
                                        <p:cTn id="30" dur="1" fill="hold">
                                          <p:stCondLst>
                                            <p:cond delay="499"/>
                                          </p:stCondLst>
                                        </p:cTn>
                                        <p:tgtEl>
                                          <p:spTgt spid="13"/>
                                        </p:tgtEl>
                                        <p:attrNameLst>
                                          <p:attrName>style.visibility</p:attrName>
                                        </p:attrNameLst>
                                      </p:cBhvr>
                                      <p:to>
                                        <p:strVal val="hidden"/>
                                      </p:to>
                                    </p:set>
                                  </p:childTnLst>
                                </p:cTn>
                              </p:par>
                            </p:childTnLst>
                          </p:cTn>
                        </p:par>
                        <p:par>
                          <p:cTn id="31" fill="hold">
                            <p:stCondLst>
                              <p:cond delay="3250"/>
                            </p:stCondLst>
                            <p:childTnLst>
                              <p:par>
                                <p:cTn id="32" presetID="21" presetClass="exit" presetSubtype="1" fill="hold" grpId="0" nodeType="afterEffect">
                                  <p:stCondLst>
                                    <p:cond delay="0"/>
                                  </p:stCondLst>
                                  <p:childTnLst>
                                    <p:animEffect transition="out" filter="wheel(1)">
                                      <p:cBhvr>
                                        <p:cTn id="33" dur="500"/>
                                        <p:tgtEl>
                                          <p:spTgt spid="14"/>
                                        </p:tgtEl>
                                      </p:cBhvr>
                                    </p:animEffect>
                                    <p:set>
                                      <p:cBhvr>
                                        <p:cTn id="34" dur="1" fill="hold">
                                          <p:stCondLst>
                                            <p:cond delay="499"/>
                                          </p:stCondLst>
                                        </p:cTn>
                                        <p:tgtEl>
                                          <p:spTgt spid="14"/>
                                        </p:tgtEl>
                                        <p:attrNameLst>
                                          <p:attrName>style.visibility</p:attrName>
                                        </p:attrNameLst>
                                      </p:cBhvr>
                                      <p:to>
                                        <p:strVal val="hidden"/>
                                      </p:to>
                                    </p:set>
                                  </p:childTnLst>
                                </p:cTn>
                              </p:par>
                              <p:par>
                                <p:cTn id="35" presetID="22" presetClass="exit" presetSubtype="8" fill="hold" grpId="0" nodeType="withEffect">
                                  <p:stCondLst>
                                    <p:cond delay="0"/>
                                  </p:stCondLst>
                                  <p:childTnLst>
                                    <p:animEffect transition="out" filter="wipe(left)">
                                      <p:cBhvr>
                                        <p:cTn id="36" dur="750"/>
                                        <p:tgtEl>
                                          <p:spTgt spid="15"/>
                                        </p:tgtEl>
                                      </p:cBhvr>
                                    </p:animEffect>
                                    <p:set>
                                      <p:cBhvr>
                                        <p:cTn id="37" dur="1" fill="hold">
                                          <p:stCondLst>
                                            <p:cond delay="74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9" grpId="0" animBg="1"/>
      <p:bldP spid="10" grpId="0" animBg="1"/>
      <p:bldP spid="12" grpId="0" animBg="1"/>
      <p:bldP spid="13" grpId="0" animBg="1"/>
      <p:bldP spid="14"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FB38E-A523-D1C0-30CD-4B4969A32601}"/>
              </a:ext>
            </a:extLst>
          </p:cNvPr>
          <p:cNvSpPr>
            <a:spLocks noGrp="1"/>
          </p:cNvSpPr>
          <p:nvPr>
            <p:ph type="title"/>
          </p:nvPr>
        </p:nvSpPr>
        <p:spPr>
          <a:xfrm>
            <a:off x="588263" y="457200"/>
            <a:ext cx="11018520" cy="553998"/>
          </a:xfrm>
        </p:spPr>
        <p:txBody>
          <a:bodyPr/>
          <a:lstStyle/>
          <a:p>
            <a:r>
              <a:rPr lang="en-US"/>
              <a:t>Step 1: Planning</a:t>
            </a:r>
          </a:p>
        </p:txBody>
      </p:sp>
      <p:sp>
        <p:nvSpPr>
          <p:cNvPr id="3" name="Content Placeholder 2">
            <a:extLst>
              <a:ext uri="{FF2B5EF4-FFF2-40B4-BE49-F238E27FC236}">
                <a16:creationId xmlns:a16="http://schemas.microsoft.com/office/drawing/2014/main" id="{A8C1EE7E-03BA-743E-21CF-F0E21DBA95DD}"/>
              </a:ext>
            </a:extLst>
          </p:cNvPr>
          <p:cNvSpPr>
            <a:spLocks noGrp="1"/>
          </p:cNvSpPr>
          <p:nvPr>
            <p:ph sz="quarter" idx="10"/>
          </p:nvPr>
        </p:nvSpPr>
        <p:spPr>
          <a:xfrm>
            <a:off x="584200" y="1275558"/>
            <a:ext cx="11113478" cy="615553"/>
          </a:xfrm>
        </p:spPr>
        <p:txBody>
          <a:bodyPr/>
          <a:lstStyle/>
          <a:p>
            <a:pPr marL="0" indent="0">
              <a:buNone/>
            </a:pPr>
            <a:r>
              <a:rPr lang="en-US"/>
              <a:t>Determine which pillars of the workshop you would like to have delivered. Organizations can have all pillars delivered or just a subset of them. </a:t>
            </a:r>
          </a:p>
        </p:txBody>
      </p:sp>
      <p:graphicFrame>
        <p:nvGraphicFramePr>
          <p:cNvPr id="4" name="Table 3">
            <a:extLst>
              <a:ext uri="{FF2B5EF4-FFF2-40B4-BE49-F238E27FC236}">
                <a16:creationId xmlns:a16="http://schemas.microsoft.com/office/drawing/2014/main" id="{292402D2-2E34-661A-EDAC-1918AA654F99}"/>
              </a:ext>
            </a:extLst>
          </p:cNvPr>
          <p:cNvGraphicFramePr>
            <a:graphicFrameLocks noGrp="1"/>
          </p:cNvGraphicFramePr>
          <p:nvPr/>
        </p:nvGraphicFramePr>
        <p:xfrm>
          <a:off x="217392" y="2155471"/>
          <a:ext cx="11847092" cy="1439059"/>
        </p:xfrm>
        <a:graphic>
          <a:graphicData uri="http://schemas.openxmlformats.org/drawingml/2006/table">
            <a:tbl>
              <a:tblPr firstRow="1" bandRow="1">
                <a:tableStyleId>{5C22544A-7EE6-4342-B048-85BDC9FD1C3A}</a:tableStyleId>
              </a:tblPr>
              <a:tblGrid>
                <a:gridCol w="1525128">
                  <a:extLst>
                    <a:ext uri="{9D8B030D-6E8A-4147-A177-3AD203B41FA5}">
                      <a16:colId xmlns:a16="http://schemas.microsoft.com/office/drawing/2014/main" val="3431902231"/>
                    </a:ext>
                  </a:extLst>
                </a:gridCol>
                <a:gridCol w="1525128">
                  <a:extLst>
                    <a:ext uri="{9D8B030D-6E8A-4147-A177-3AD203B41FA5}">
                      <a16:colId xmlns:a16="http://schemas.microsoft.com/office/drawing/2014/main" val="1073841895"/>
                    </a:ext>
                  </a:extLst>
                </a:gridCol>
                <a:gridCol w="1525128">
                  <a:extLst>
                    <a:ext uri="{9D8B030D-6E8A-4147-A177-3AD203B41FA5}">
                      <a16:colId xmlns:a16="http://schemas.microsoft.com/office/drawing/2014/main" val="12896422"/>
                    </a:ext>
                  </a:extLst>
                </a:gridCol>
                <a:gridCol w="1525128">
                  <a:extLst>
                    <a:ext uri="{9D8B030D-6E8A-4147-A177-3AD203B41FA5}">
                      <a16:colId xmlns:a16="http://schemas.microsoft.com/office/drawing/2014/main" val="4060317311"/>
                    </a:ext>
                  </a:extLst>
                </a:gridCol>
                <a:gridCol w="1737485">
                  <a:extLst>
                    <a:ext uri="{9D8B030D-6E8A-4147-A177-3AD203B41FA5}">
                      <a16:colId xmlns:a16="http://schemas.microsoft.com/office/drawing/2014/main" val="3843692968"/>
                    </a:ext>
                  </a:extLst>
                </a:gridCol>
                <a:gridCol w="1666701">
                  <a:extLst>
                    <a:ext uri="{9D8B030D-6E8A-4147-A177-3AD203B41FA5}">
                      <a16:colId xmlns:a16="http://schemas.microsoft.com/office/drawing/2014/main" val="2545431583"/>
                    </a:ext>
                  </a:extLst>
                </a:gridCol>
                <a:gridCol w="1251532">
                  <a:extLst>
                    <a:ext uri="{9D8B030D-6E8A-4147-A177-3AD203B41FA5}">
                      <a16:colId xmlns:a16="http://schemas.microsoft.com/office/drawing/2014/main" val="3534544453"/>
                    </a:ext>
                  </a:extLst>
                </a:gridCol>
                <a:gridCol w="1090862">
                  <a:extLst>
                    <a:ext uri="{9D8B030D-6E8A-4147-A177-3AD203B41FA5}">
                      <a16:colId xmlns:a16="http://schemas.microsoft.com/office/drawing/2014/main" val="435657379"/>
                    </a:ext>
                  </a:extLst>
                </a:gridCol>
              </a:tblGrid>
              <a:tr h="408498">
                <a:tc>
                  <a:txBody>
                    <a:bodyPr/>
                    <a:lstStyle/>
                    <a:p>
                      <a:pPr algn="ctr"/>
                      <a:r>
                        <a:rPr lang="en-US"/>
                        <a:t>Identity</a:t>
                      </a:r>
                    </a:p>
                  </a:txBody>
                  <a:tcPr anchor="ctr"/>
                </a:tc>
                <a:tc>
                  <a:txBody>
                    <a:bodyPr/>
                    <a:lstStyle/>
                    <a:p>
                      <a:pPr algn="ctr"/>
                      <a:r>
                        <a:rPr lang="en-US"/>
                        <a:t>Devices</a:t>
                      </a:r>
                    </a:p>
                  </a:txBody>
                  <a:tcPr anchor="ctr"/>
                </a:tc>
                <a:tc>
                  <a:txBody>
                    <a:bodyPr/>
                    <a:lstStyle/>
                    <a:p>
                      <a:pPr algn="ctr"/>
                      <a:r>
                        <a:rPr lang="en-US"/>
                        <a:t>Data</a:t>
                      </a:r>
                    </a:p>
                  </a:txBody>
                  <a:tcPr anchor="ctr"/>
                </a:tc>
                <a:tc>
                  <a:txBody>
                    <a:bodyPr/>
                    <a:lstStyle/>
                    <a:p>
                      <a:pPr algn="ctr"/>
                      <a:r>
                        <a:rPr lang="en-US"/>
                        <a:t>Network</a:t>
                      </a:r>
                    </a:p>
                  </a:txBody>
                  <a:tcPr anchor="ctr"/>
                </a:tc>
                <a:tc>
                  <a:txBody>
                    <a:bodyPr/>
                    <a:lstStyle/>
                    <a:p>
                      <a:pPr algn="ctr"/>
                      <a:r>
                        <a:rPr lang="en-US"/>
                        <a:t>Infrastructure</a:t>
                      </a:r>
                    </a:p>
                  </a:txBody>
                  <a:tcPr anchor="ctr"/>
                </a:tc>
                <a:tc>
                  <a:txBody>
                    <a:bodyPr/>
                    <a:lstStyle/>
                    <a:p>
                      <a:pPr algn="ctr"/>
                      <a:r>
                        <a:rPr lang="en-US"/>
                        <a:t>Security Operations</a:t>
                      </a:r>
                    </a:p>
                  </a:txBody>
                  <a:tcPr anchor="ctr"/>
                </a:tc>
                <a:tc>
                  <a:txBody>
                    <a:bodyPr/>
                    <a:lstStyle/>
                    <a:p>
                      <a:pPr algn="ctr"/>
                      <a:r>
                        <a:rPr lang="en-US"/>
                        <a:t>AI</a:t>
                      </a:r>
                    </a:p>
                  </a:txBody>
                  <a:tcPr anchor="ctr"/>
                </a:tc>
                <a:tc>
                  <a:txBody>
                    <a:bodyPr/>
                    <a:lstStyle/>
                    <a:p>
                      <a:pPr algn="ctr"/>
                      <a:r>
                        <a:rPr lang="en-US" dirty="0"/>
                        <a:t>DevSecOps</a:t>
                      </a:r>
                    </a:p>
                  </a:txBody>
                  <a:tcPr anchor="ctr"/>
                </a:tc>
                <a:extLst>
                  <a:ext uri="{0D108BD9-81ED-4DB2-BD59-A6C34878D82A}">
                    <a16:rowId xmlns:a16="http://schemas.microsoft.com/office/drawing/2014/main" val="1340435451"/>
                  </a:ext>
                </a:extLst>
              </a:tr>
              <a:tr h="798979">
                <a:tc>
                  <a:txBody>
                    <a:bodyPr/>
                    <a:lstStyle/>
                    <a:p>
                      <a:pPr algn="ctr"/>
                      <a:r>
                        <a:rPr lang="en-US"/>
                        <a:t>5 hours</a:t>
                      </a:r>
                    </a:p>
                  </a:txBody>
                  <a:tcPr anchor="ctr"/>
                </a:tc>
                <a:tc>
                  <a:txBody>
                    <a:bodyPr/>
                    <a:lstStyle/>
                    <a:p>
                      <a:pPr algn="ctr"/>
                      <a:r>
                        <a:rPr lang="en-US"/>
                        <a:t>3-6 hours</a:t>
                      </a:r>
                    </a:p>
                  </a:txBody>
                  <a:tcPr anchor="ctr"/>
                </a:tc>
                <a:tc>
                  <a:txBody>
                    <a:bodyPr/>
                    <a:lstStyle/>
                    <a:p>
                      <a:pPr algn="ctr"/>
                      <a:r>
                        <a:rPr lang="en-US"/>
                        <a:t>4 hours</a:t>
                      </a:r>
                    </a:p>
                  </a:txBody>
                  <a:tcPr anchor="ctr"/>
                </a:tc>
                <a:tc>
                  <a:txBody>
                    <a:bodyPr/>
                    <a:lstStyle/>
                    <a:p>
                      <a:pPr algn="ctr"/>
                      <a:r>
                        <a:rPr lang="en-US"/>
                        <a:t>4 hours</a:t>
                      </a:r>
                    </a:p>
                  </a:txBody>
                  <a:tcPr anchor="ctr"/>
                </a:tc>
                <a:tc>
                  <a:txBody>
                    <a:bodyPr/>
                    <a:lstStyle/>
                    <a:p>
                      <a:pPr algn="ctr"/>
                      <a:r>
                        <a:rPr lang="en-US"/>
                        <a:t>4-6 hours</a:t>
                      </a:r>
                    </a:p>
                  </a:txBody>
                  <a:tcPr anchor="ctr"/>
                </a:tc>
                <a:tc>
                  <a:txBody>
                    <a:bodyPr/>
                    <a:lstStyle/>
                    <a:p>
                      <a:pPr algn="ctr"/>
                      <a:r>
                        <a:rPr lang="en-US"/>
                        <a:t>3.5 hours</a:t>
                      </a:r>
                    </a:p>
                  </a:txBody>
                  <a:tcPr anchor="ctr"/>
                </a:tc>
                <a:tc>
                  <a:txBody>
                    <a:bodyPr/>
                    <a:lstStyle/>
                    <a:p>
                      <a:pPr algn="ctr"/>
                      <a:r>
                        <a:rPr lang="en-US"/>
                        <a:t>6 hours</a:t>
                      </a:r>
                    </a:p>
                  </a:txBody>
                  <a:tcPr anchor="ctr"/>
                </a:tc>
                <a:tc>
                  <a:txBody>
                    <a:bodyPr/>
                    <a:lstStyle/>
                    <a:p>
                      <a:pPr algn="ctr"/>
                      <a:r>
                        <a:rPr lang="en-US"/>
                        <a:t>6 hours</a:t>
                      </a:r>
                    </a:p>
                  </a:txBody>
                  <a:tcPr anchor="ctr"/>
                </a:tc>
                <a:extLst>
                  <a:ext uri="{0D108BD9-81ED-4DB2-BD59-A6C34878D82A}">
                    <a16:rowId xmlns:a16="http://schemas.microsoft.com/office/drawing/2014/main" val="2238193457"/>
                  </a:ext>
                </a:extLst>
              </a:tr>
            </a:tbl>
          </a:graphicData>
        </a:graphic>
      </p:graphicFrame>
      <p:sp>
        <p:nvSpPr>
          <p:cNvPr id="10" name="TextBox 9">
            <a:extLst>
              <a:ext uri="{FF2B5EF4-FFF2-40B4-BE49-F238E27FC236}">
                <a16:creationId xmlns:a16="http://schemas.microsoft.com/office/drawing/2014/main" id="{8A7402FC-3B5E-D93E-F3FB-F2E149C82D94}"/>
              </a:ext>
            </a:extLst>
          </p:cNvPr>
          <p:cNvSpPr txBox="1"/>
          <p:nvPr/>
        </p:nvSpPr>
        <p:spPr>
          <a:xfrm>
            <a:off x="584199" y="3858890"/>
            <a:ext cx="11113479" cy="907171"/>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765" b="0" i="0" u="none" strike="noStrike" kern="1200" cap="none" spc="0" normalizeH="0" baseline="0" noProof="0">
                <a:ln>
                  <a:noFill/>
                </a:ln>
                <a:solidFill>
                  <a:srgbClr val="000000"/>
                </a:solidFill>
                <a:effectLst/>
                <a:uLnTx/>
                <a:uFillTx/>
                <a:latin typeface="Segoe Sans Display"/>
                <a:ea typeface="+mn-ea"/>
                <a:cs typeface="+mn-cs"/>
              </a:rPr>
              <a:t>Please note that the times listed above are for the full pillar deliveries. If there are certain areas you want to focus on within specific pillars, you can work with your delivery resource to design a more focused workshop that suits your needs. More information can be found here: </a:t>
            </a:r>
            <a:r>
              <a:rPr kumimoji="0" lang="en-US" sz="1765" b="0" i="0" u="none" strike="noStrike" kern="1200" cap="none" spc="0" normalizeH="0" baseline="0" noProof="0">
                <a:ln>
                  <a:noFill/>
                </a:ln>
                <a:solidFill>
                  <a:srgbClr val="000000"/>
                </a:solidFill>
                <a:effectLst/>
                <a:uLnTx/>
                <a:uFillTx/>
                <a:latin typeface="Segoe Sans Display"/>
                <a:ea typeface="+mn-ea"/>
                <a:cs typeface="+mn-cs"/>
                <a:hlinkClick r:id="rId2"/>
              </a:rPr>
              <a:t>Delivery Guide</a:t>
            </a:r>
            <a:endParaRPr kumimoji="0" lang="en-US" sz="1765" b="0" i="0" u="none" strike="noStrike" kern="1200" cap="none" spc="0" normalizeH="0" baseline="0" noProof="0">
              <a:ln>
                <a:noFill/>
              </a:ln>
              <a:solidFill>
                <a:srgbClr val="000000"/>
              </a:solidFill>
              <a:effectLst/>
              <a:uLnTx/>
              <a:uFillTx/>
              <a:latin typeface="Segoe Sans Display"/>
              <a:ea typeface="+mn-ea"/>
              <a:cs typeface="+mn-cs"/>
            </a:endParaRPr>
          </a:p>
        </p:txBody>
      </p:sp>
    </p:spTree>
    <p:extLst>
      <p:ext uri="{BB962C8B-B14F-4D97-AF65-F5344CB8AC3E}">
        <p14:creationId xmlns:p14="http://schemas.microsoft.com/office/powerpoint/2010/main" val="33893588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3D54B-EB32-4CB1-C587-801FB668D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6B0D1-09FC-E4A4-8E42-68C73F1D4B3D}"/>
              </a:ext>
            </a:extLst>
          </p:cNvPr>
          <p:cNvSpPr>
            <a:spLocks noGrp="1"/>
          </p:cNvSpPr>
          <p:nvPr>
            <p:ph type="title"/>
          </p:nvPr>
        </p:nvSpPr>
        <p:spPr>
          <a:xfrm>
            <a:off x="588263" y="457200"/>
            <a:ext cx="11018520" cy="553998"/>
          </a:xfrm>
        </p:spPr>
        <p:txBody>
          <a:bodyPr/>
          <a:lstStyle/>
          <a:p>
            <a:r>
              <a:rPr lang="en-US"/>
              <a:t>Step 2: Zero Trust Assessment</a:t>
            </a:r>
          </a:p>
        </p:txBody>
      </p:sp>
      <p:sp>
        <p:nvSpPr>
          <p:cNvPr id="3" name="Content Placeholder 2">
            <a:extLst>
              <a:ext uri="{FF2B5EF4-FFF2-40B4-BE49-F238E27FC236}">
                <a16:creationId xmlns:a16="http://schemas.microsoft.com/office/drawing/2014/main" id="{69188BCE-A328-6F80-11CC-F7C88DCA6105}"/>
              </a:ext>
            </a:extLst>
          </p:cNvPr>
          <p:cNvSpPr>
            <a:spLocks noGrp="1"/>
          </p:cNvSpPr>
          <p:nvPr>
            <p:ph sz="quarter" idx="10"/>
          </p:nvPr>
        </p:nvSpPr>
        <p:spPr>
          <a:xfrm>
            <a:off x="584200" y="1275558"/>
            <a:ext cx="11018838" cy="923330"/>
          </a:xfrm>
        </p:spPr>
        <p:txBody>
          <a:bodyPr/>
          <a:lstStyle/>
          <a:p>
            <a:pPr marL="0" indent="0">
              <a:buNone/>
            </a:pPr>
            <a:r>
              <a:rPr lang="en-US"/>
              <a:t>Run the ZT Assessment script and share the results with your delivery resource. Your delivery resource will be able to use these results to better tailor the Workshop to your organization’s needs. Instructions for how to run the Assessment can be found here: </a:t>
            </a:r>
            <a:r>
              <a:rPr lang="en-US">
                <a:hlinkClick r:id="rId2"/>
              </a:rPr>
              <a:t>Assessment Guide</a:t>
            </a:r>
            <a:endParaRPr lang="en-US"/>
          </a:p>
        </p:txBody>
      </p:sp>
      <p:sp>
        <p:nvSpPr>
          <p:cNvPr id="6" name="TextBox 5">
            <a:extLst>
              <a:ext uri="{FF2B5EF4-FFF2-40B4-BE49-F238E27FC236}">
                <a16:creationId xmlns:a16="http://schemas.microsoft.com/office/drawing/2014/main" id="{42FA5914-78F9-2FE7-27CF-078C446D1087}"/>
              </a:ext>
            </a:extLst>
          </p:cNvPr>
          <p:cNvSpPr txBox="1"/>
          <p:nvPr/>
        </p:nvSpPr>
        <p:spPr>
          <a:xfrm>
            <a:off x="583878" y="5730387"/>
            <a:ext cx="11018519" cy="635559"/>
          </a:xfrm>
          <a:prstGeom prst="rect">
            <a:avLst/>
          </a:prstGeom>
          <a:noFill/>
        </p:spPr>
        <p:txBody>
          <a:bodyPr wrap="square">
            <a:spAutoFit/>
          </a:bodyPr>
          <a:lstStyle/>
          <a:p>
            <a:pPr marL="0" indent="0">
              <a:buNone/>
            </a:pPr>
            <a:r>
              <a:rPr lang="en-US"/>
              <a:t>To allow your delivery resource ample time to prepare, please share your Assessment findings with your delivery resource 1-2 weeks prior to your Workshop delivery date.</a:t>
            </a:r>
          </a:p>
        </p:txBody>
      </p:sp>
      <p:pic>
        <p:nvPicPr>
          <p:cNvPr id="5" name="Picture 4" descr="The image displays a Zero Trust Assessment dashboard with various sections such as Identity, Devices, Network, Infrastructure, Data, SecOps, and Contoso information, including user and device statistics, compliance levels, and authentication methods.&#10;&#10;AI-generated content may be incorrect.">
            <a:extLst>
              <a:ext uri="{FF2B5EF4-FFF2-40B4-BE49-F238E27FC236}">
                <a16:creationId xmlns:a16="http://schemas.microsoft.com/office/drawing/2014/main" id="{494A6FC3-9E81-DB10-9F17-8E32FF9FFD15}"/>
              </a:ext>
            </a:extLst>
          </p:cNvPr>
          <p:cNvPicPr>
            <a:picLocks noChangeAspect="1"/>
          </p:cNvPicPr>
          <p:nvPr/>
        </p:nvPicPr>
        <p:blipFill>
          <a:blip r:embed="rId3"/>
          <a:stretch>
            <a:fillRect/>
          </a:stretch>
        </p:blipFill>
        <p:spPr>
          <a:xfrm>
            <a:off x="583878" y="2463248"/>
            <a:ext cx="4899916" cy="3119194"/>
          </a:xfrm>
          <a:prstGeom prst="rect">
            <a:avLst/>
          </a:prstGeom>
        </p:spPr>
      </p:pic>
      <p:pic>
        <p:nvPicPr>
          <p:cNvPr id="8" name="Picture 7">
            <a:extLst>
              <a:ext uri="{FF2B5EF4-FFF2-40B4-BE49-F238E27FC236}">
                <a16:creationId xmlns:a16="http://schemas.microsoft.com/office/drawing/2014/main" id="{6C3E9A63-77C6-581C-CFD5-59EAE7C4FB1E}"/>
              </a:ext>
            </a:extLst>
          </p:cNvPr>
          <p:cNvPicPr>
            <a:picLocks noChangeAspect="1"/>
          </p:cNvPicPr>
          <p:nvPr/>
        </p:nvPicPr>
        <p:blipFill>
          <a:blip r:embed="rId4"/>
          <a:stretch>
            <a:fillRect/>
          </a:stretch>
        </p:blipFill>
        <p:spPr>
          <a:xfrm>
            <a:off x="5914054" y="2463248"/>
            <a:ext cx="4266696" cy="3124098"/>
          </a:xfrm>
          <a:prstGeom prst="rect">
            <a:avLst/>
          </a:prstGeom>
        </p:spPr>
      </p:pic>
    </p:spTree>
    <p:extLst>
      <p:ext uri="{BB962C8B-B14F-4D97-AF65-F5344CB8AC3E}">
        <p14:creationId xmlns:p14="http://schemas.microsoft.com/office/powerpoint/2010/main" val="363229609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AE9DA-7E8A-81FE-FB50-661CB55A7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64465-F3DD-5CA3-FCA1-7A0EB5D9ECAE}"/>
              </a:ext>
            </a:extLst>
          </p:cNvPr>
          <p:cNvSpPr>
            <a:spLocks noGrp="1"/>
          </p:cNvSpPr>
          <p:nvPr>
            <p:ph type="title"/>
          </p:nvPr>
        </p:nvSpPr>
        <p:spPr>
          <a:xfrm>
            <a:off x="588263" y="457200"/>
            <a:ext cx="11018520" cy="553998"/>
          </a:xfrm>
        </p:spPr>
        <p:txBody>
          <a:bodyPr/>
          <a:lstStyle/>
          <a:p>
            <a:r>
              <a:rPr lang="en-US"/>
              <a:t>Step 3: Zero Trust Workshop</a:t>
            </a:r>
          </a:p>
        </p:txBody>
      </p:sp>
      <p:sp>
        <p:nvSpPr>
          <p:cNvPr id="3" name="Content Placeholder 2">
            <a:extLst>
              <a:ext uri="{FF2B5EF4-FFF2-40B4-BE49-F238E27FC236}">
                <a16:creationId xmlns:a16="http://schemas.microsoft.com/office/drawing/2014/main" id="{94BEBEFE-3A31-3265-E0C5-098383B34D74}"/>
              </a:ext>
            </a:extLst>
          </p:cNvPr>
          <p:cNvSpPr>
            <a:spLocks noGrp="1"/>
          </p:cNvSpPr>
          <p:nvPr>
            <p:ph sz="quarter" idx="10"/>
          </p:nvPr>
        </p:nvSpPr>
        <p:spPr>
          <a:xfrm>
            <a:off x="584200" y="1275558"/>
            <a:ext cx="11113478" cy="615553"/>
          </a:xfrm>
        </p:spPr>
        <p:txBody>
          <a:bodyPr/>
          <a:lstStyle/>
          <a:p>
            <a:pPr marL="0" indent="0">
              <a:buNone/>
            </a:pPr>
            <a:r>
              <a:rPr lang="en-US"/>
              <a:t>To maximize workshop effectiveness, please note the recommended audiences for each of the pillars of the Workshop, which can be found here: </a:t>
            </a:r>
            <a:r>
              <a:rPr lang="en-US">
                <a:hlinkClick r:id="rId2"/>
              </a:rPr>
              <a:t>Delivery Guide</a:t>
            </a:r>
            <a:endParaRPr lang="en-US"/>
          </a:p>
        </p:txBody>
      </p:sp>
      <p:pic>
        <p:nvPicPr>
          <p:cNvPr id="5" name="Picture 4" descr="The image is a visual representation of a Zero Trust Workshop, which includes various components such as Identity, Devices, Data, Network, Infrastructure, Security Operations, and AI, DevSecOps, and different implementation efforts, user impacts, and areas to filter. It also includes a list of elements such as account states, app access, and infrastructure servers.&#10;&#10;AI-generated content may be incorrect.">
            <a:extLst>
              <a:ext uri="{FF2B5EF4-FFF2-40B4-BE49-F238E27FC236}">
                <a16:creationId xmlns:a16="http://schemas.microsoft.com/office/drawing/2014/main" id="{2B5939A2-9506-6DAB-812E-5CDC6526D5B9}"/>
              </a:ext>
            </a:extLst>
          </p:cNvPr>
          <p:cNvPicPr>
            <a:picLocks noChangeAspect="1"/>
          </p:cNvPicPr>
          <p:nvPr/>
        </p:nvPicPr>
        <p:blipFill>
          <a:blip r:embed="rId3"/>
          <a:stretch>
            <a:fillRect/>
          </a:stretch>
        </p:blipFill>
        <p:spPr>
          <a:xfrm>
            <a:off x="934791" y="1976224"/>
            <a:ext cx="10322417" cy="4760735"/>
          </a:xfrm>
          <a:prstGeom prst="rect">
            <a:avLst/>
          </a:prstGeom>
        </p:spPr>
      </p:pic>
    </p:spTree>
    <p:extLst>
      <p:ext uri="{BB962C8B-B14F-4D97-AF65-F5344CB8AC3E}">
        <p14:creationId xmlns:p14="http://schemas.microsoft.com/office/powerpoint/2010/main" val="395401747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DA9A0-7255-A8BB-9764-0FFCA08CD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94CDF-C1A2-6211-EEA0-9C07A07CFCCB}"/>
              </a:ext>
            </a:extLst>
          </p:cNvPr>
          <p:cNvSpPr>
            <a:spLocks noGrp="1"/>
          </p:cNvSpPr>
          <p:nvPr>
            <p:ph type="title"/>
          </p:nvPr>
        </p:nvSpPr>
        <p:spPr>
          <a:xfrm>
            <a:off x="588263" y="457200"/>
            <a:ext cx="11018520" cy="553998"/>
          </a:xfrm>
        </p:spPr>
        <p:txBody>
          <a:bodyPr/>
          <a:lstStyle/>
          <a:p>
            <a:r>
              <a:rPr lang="en-US"/>
              <a:t>Step 4: Implementation</a:t>
            </a:r>
          </a:p>
        </p:txBody>
      </p:sp>
      <p:sp>
        <p:nvSpPr>
          <p:cNvPr id="3" name="Content Placeholder 2">
            <a:extLst>
              <a:ext uri="{FF2B5EF4-FFF2-40B4-BE49-F238E27FC236}">
                <a16:creationId xmlns:a16="http://schemas.microsoft.com/office/drawing/2014/main" id="{61FB4295-8C67-E0D7-E3DC-2727D73A8978}"/>
              </a:ext>
            </a:extLst>
          </p:cNvPr>
          <p:cNvSpPr>
            <a:spLocks noGrp="1"/>
          </p:cNvSpPr>
          <p:nvPr>
            <p:ph sz="quarter" idx="10"/>
          </p:nvPr>
        </p:nvSpPr>
        <p:spPr>
          <a:xfrm>
            <a:off x="584200" y="1275558"/>
            <a:ext cx="11113478" cy="923330"/>
          </a:xfrm>
        </p:spPr>
        <p:txBody>
          <a:bodyPr/>
          <a:lstStyle/>
          <a:p>
            <a:pPr marL="0" indent="0">
              <a:buNone/>
            </a:pPr>
            <a:r>
              <a:rPr lang="en-US"/>
              <a:t>After completing the Workshop and Assessment, you can generate a report that will provide you with a prioritized implementation roadmap. This roadmap will break down the items you should address immediately and the items that need to be addressed in the next 30/60/90+ days.</a:t>
            </a:r>
          </a:p>
        </p:txBody>
      </p:sp>
      <p:pic>
        <p:nvPicPr>
          <p:cNvPr id="6" name="Picture 5">
            <a:extLst>
              <a:ext uri="{FF2B5EF4-FFF2-40B4-BE49-F238E27FC236}">
                <a16:creationId xmlns:a16="http://schemas.microsoft.com/office/drawing/2014/main" id="{EB2F7810-A138-B414-7F17-694A53366E45}"/>
              </a:ext>
            </a:extLst>
          </p:cNvPr>
          <p:cNvPicPr>
            <a:picLocks noChangeAspect="1"/>
          </p:cNvPicPr>
          <p:nvPr/>
        </p:nvPicPr>
        <p:blipFill>
          <a:blip r:embed="rId2"/>
          <a:stretch>
            <a:fillRect/>
          </a:stretch>
        </p:blipFill>
        <p:spPr>
          <a:xfrm>
            <a:off x="3187175" y="2301920"/>
            <a:ext cx="5907527" cy="4258198"/>
          </a:xfrm>
          <a:prstGeom prst="rect">
            <a:avLst/>
          </a:prstGeom>
        </p:spPr>
      </p:pic>
    </p:spTree>
    <p:extLst>
      <p:ext uri="{BB962C8B-B14F-4D97-AF65-F5344CB8AC3E}">
        <p14:creationId xmlns:p14="http://schemas.microsoft.com/office/powerpoint/2010/main" val="338655724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28BA8-5140-3FEB-B666-C8700C6CC572}"/>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B8ECD443-6335-A75E-92A0-8F3189892994}"/>
              </a:ext>
            </a:extLst>
          </p:cNvPr>
          <p:cNvSpPr>
            <a:spLocks noGrp="1" noRot="1" noMove="1" noResize="1" noEditPoints="1" noAdjustHandles="1" noChangeArrowheads="1" noChangeShapeType="1"/>
          </p:cNvSpPr>
          <p:nvPr/>
        </p:nvSpPr>
        <p:spPr bwMode="auto">
          <a:xfrm>
            <a:off x="358775" y="809625"/>
            <a:ext cx="3609348" cy="5246632"/>
          </a:xfrm>
          <a:prstGeom prst="roundRect">
            <a:avLst>
              <a:gd name="adj" fmla="val 7681"/>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091F2C"/>
              </a:solidFill>
              <a:effectLst/>
              <a:uLnTx/>
              <a:uFillTx/>
              <a:latin typeface="Arial" charset="0"/>
              <a:ea typeface="+mn-ea"/>
              <a:cs typeface="Segoe UI" pitchFamily="34" charset="0"/>
            </a:endParaRPr>
          </a:p>
        </p:txBody>
      </p:sp>
      <p:sp>
        <p:nvSpPr>
          <p:cNvPr id="2" name="Content Placeholder 2">
            <a:extLst>
              <a:ext uri="{FF2B5EF4-FFF2-40B4-BE49-F238E27FC236}">
                <a16:creationId xmlns:a16="http://schemas.microsoft.com/office/drawing/2014/main" id="{01227956-6071-3E36-8D33-93CDE216593B}"/>
              </a:ext>
            </a:extLst>
          </p:cNvPr>
          <p:cNvSpPr txBox="1">
            <a:spLocks noGrp="1" noRot="1" noMove="1" noResize="1" noEditPoints="1" noAdjustHandles="1" noChangeArrowheads="1" noChangeShapeType="1"/>
          </p:cNvSpPr>
          <p:nvPr/>
        </p:nvSpPr>
        <p:spPr>
          <a:xfrm>
            <a:off x="545804" y="4248318"/>
            <a:ext cx="3118884" cy="646331"/>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7013" marR="0" lvl="0" indent="-227013"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a:pP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hlinkClick r:id="rId3">
                  <a:extLst>
                    <a:ext uri="{A12FA001-AC4F-418D-AE19-62706E023703}">
                      <ahyp:hlinkClr xmlns:ahyp="http://schemas.microsoft.com/office/drawing/2018/hyperlinkcolor" val="tx"/>
                    </a:ext>
                  </a:extLst>
                </a:hlinkClick>
              </a:rPr>
              <a:t>https://aka.ms/zerotrust/AIZTvideo</a:t>
            </a:r>
            <a:endPar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endParaRPr>
          </a:p>
          <a:p>
            <a:pPr marL="227013" marR="0" lvl="0" indent="-227013"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hlinkClick r:id="rId4">
                  <a:extLst>
                    <a:ext uri="{A12FA001-AC4F-418D-AE19-62706E023703}">
                      <ahyp:hlinkClr xmlns:ahyp="http://schemas.microsoft.com/office/drawing/2018/hyperlinkcolor" val="tx"/>
                    </a:ext>
                  </a:extLst>
                </a:hlinkClick>
              </a:rPr>
              <a:t>Zero Trust Security and Strategy</a:t>
            </a:r>
            <a:endParaRPr kumimoji="0" lang="en-US" sz="16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endParaRPr>
          </a:p>
        </p:txBody>
      </p:sp>
      <p:pic>
        <p:nvPicPr>
          <p:cNvPr id="14" name="Picture 13">
            <a:extLst>
              <a:ext uri="{FF2B5EF4-FFF2-40B4-BE49-F238E27FC236}">
                <a16:creationId xmlns:a16="http://schemas.microsoft.com/office/drawing/2014/main" id="{6B4FE9DE-E6E0-65F6-151D-C8AF10F7D057}"/>
              </a:ext>
            </a:extLst>
          </p:cNvPr>
          <p:cNvPicPr>
            <a:picLocks noGrp="1" noRot="1" noChangeAspect="1" noMove="1" noResize="1" noEditPoints="1" noAdjustHandles="1" noChangeArrowheads="1" noChangeShapeType="1" noCrop="1"/>
          </p:cNvPicPr>
          <p:nvPr/>
        </p:nvPicPr>
        <p:blipFill>
          <a:blip r:embed="rId5"/>
          <a:srcRect l="5050" t="5482" r="8056" b="8227"/>
          <a:stretch>
            <a:fillRect/>
          </a:stretch>
        </p:blipFill>
        <p:spPr>
          <a:xfrm>
            <a:off x="714237" y="2024403"/>
            <a:ext cx="2898425" cy="1867336"/>
          </a:xfrm>
          <a:prstGeom prst="roundRect">
            <a:avLst>
              <a:gd name="adj" fmla="val 2118"/>
            </a:avLst>
          </a:prstGeom>
          <a:effectLst>
            <a:outerShdw blurRad="101600" dist="101600" dir="5400000" algn="t" rotWithShape="0">
              <a:prstClr val="black">
                <a:alpha val="20000"/>
              </a:prstClr>
            </a:outerShdw>
          </a:effectLst>
        </p:spPr>
      </p:pic>
      <p:sp>
        <p:nvSpPr>
          <p:cNvPr id="15" name="Content Placeholder 2">
            <a:extLst>
              <a:ext uri="{FF2B5EF4-FFF2-40B4-BE49-F238E27FC236}">
                <a16:creationId xmlns:a16="http://schemas.microsoft.com/office/drawing/2014/main" id="{B8267616-DF73-75E5-8034-EB61DA6A196F}"/>
              </a:ext>
            </a:extLst>
          </p:cNvPr>
          <p:cNvSpPr txBox="1">
            <a:spLocks noGrp="1" noRot="1" noMove="1" noResize="1" noEditPoints="1" noAdjustHandles="1" noChangeArrowheads="1" noChangeShapeType="1"/>
          </p:cNvSpPr>
          <p:nvPr/>
        </p:nvSpPr>
        <p:spPr>
          <a:xfrm>
            <a:off x="358775" y="988557"/>
            <a:ext cx="3609348" cy="738664"/>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2400" b="1" i="0" u="none" strike="noStrike" kern="1200" cap="none" spc="0" normalizeH="0" baseline="0" noProof="0">
                <a:ln w="3175">
                  <a:noFill/>
                </a:ln>
                <a:solidFill>
                  <a:srgbClr val="091F2C"/>
                </a:solidFill>
                <a:effectLst/>
                <a:uLnTx/>
                <a:uFillTx/>
                <a:latin typeface="Segoe Sans Display Semilight"/>
                <a:ea typeface="+mn-ea"/>
                <a:cs typeface="Segoe UI" panose="020B0502040204020203" pitchFamily="34" charset="0"/>
              </a:rPr>
              <a:t>Watch the latest</a:t>
            </a:r>
            <a:br>
              <a:rPr kumimoji="0" lang="en-US" sz="2400" b="1" i="0" u="none" strike="noStrike" kern="1200" cap="none" spc="0" normalizeH="0" baseline="0" noProof="0">
                <a:ln w="3175">
                  <a:noFill/>
                </a:ln>
                <a:solidFill>
                  <a:srgbClr val="091F2C"/>
                </a:solidFill>
                <a:effectLst/>
                <a:uLnTx/>
                <a:uFillTx/>
                <a:latin typeface="Segoe Sans Display Semilight"/>
                <a:ea typeface="+mn-ea"/>
                <a:cs typeface="Segoe UI" panose="020B0502040204020203" pitchFamily="34" charset="0"/>
              </a:rPr>
            </a:br>
            <a:r>
              <a:rPr kumimoji="0" lang="en-US" sz="2400" b="1" i="0" u="none" strike="noStrike" kern="1200" cap="none" spc="0" normalizeH="0" baseline="0" noProof="0">
                <a:ln w="3175">
                  <a:noFill/>
                </a:ln>
                <a:solidFill>
                  <a:srgbClr val="091F2C"/>
                </a:solidFill>
                <a:effectLst/>
                <a:uLnTx/>
                <a:uFillTx/>
                <a:latin typeface="Segoe Sans Display Semilight"/>
                <a:ea typeface="+mn-ea"/>
                <a:cs typeface="Segoe UI" panose="020B0502040204020203" pitchFamily="34" charset="0"/>
              </a:rPr>
              <a:t>Mechanics video</a:t>
            </a:r>
          </a:p>
        </p:txBody>
      </p:sp>
      <p:sp>
        <p:nvSpPr>
          <p:cNvPr id="20" name="Rectangle: Rounded Corners 19">
            <a:extLst>
              <a:ext uri="{FF2B5EF4-FFF2-40B4-BE49-F238E27FC236}">
                <a16:creationId xmlns:a16="http://schemas.microsoft.com/office/drawing/2014/main" id="{2103DDE3-05F7-4BC9-114F-BDA87310DB67}"/>
              </a:ext>
            </a:extLst>
          </p:cNvPr>
          <p:cNvSpPr>
            <a:spLocks noGrp="1" noRot="1" noMove="1" noResize="1" noEditPoints="1" noAdjustHandles="1" noChangeArrowheads="1" noChangeShapeType="1"/>
          </p:cNvSpPr>
          <p:nvPr/>
        </p:nvSpPr>
        <p:spPr bwMode="auto">
          <a:xfrm>
            <a:off x="4294189" y="826429"/>
            <a:ext cx="3609348" cy="5246632"/>
          </a:xfrm>
          <a:prstGeom prst="roundRect">
            <a:avLst>
              <a:gd name="adj" fmla="val 6624"/>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091F2C"/>
              </a:solidFill>
              <a:effectLst/>
              <a:uLnTx/>
              <a:uFillTx/>
              <a:latin typeface="Arial" charset="0"/>
              <a:ea typeface="+mn-ea"/>
              <a:cs typeface="Segoe UI" pitchFamily="34" charset="0"/>
            </a:endParaRPr>
          </a:p>
        </p:txBody>
      </p:sp>
      <p:sp>
        <p:nvSpPr>
          <p:cNvPr id="21" name="Content Placeholder 2">
            <a:extLst>
              <a:ext uri="{FF2B5EF4-FFF2-40B4-BE49-F238E27FC236}">
                <a16:creationId xmlns:a16="http://schemas.microsoft.com/office/drawing/2014/main" id="{E0BC81C0-A481-B438-C668-F20E0AF6AA6B}"/>
              </a:ext>
            </a:extLst>
          </p:cNvPr>
          <p:cNvSpPr txBox="1">
            <a:spLocks noGrp="1" noRot="1" noMove="1" noResize="1" noEditPoints="1" noAdjustHandles="1" noChangeArrowheads="1" noChangeShapeType="1"/>
          </p:cNvSpPr>
          <p:nvPr/>
        </p:nvSpPr>
        <p:spPr>
          <a:xfrm>
            <a:off x="4481218" y="4248318"/>
            <a:ext cx="3518012" cy="113877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7013" marR="0" lvl="0" indent="-227013"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a:pP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rPr>
              <a:t>Run your own workshop: </a:t>
            </a: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hlinkClick r:id="rId6">
                  <a:extLst>
                    <a:ext uri="{A12FA001-AC4F-418D-AE19-62706E023703}">
                      <ahyp:hlinkClr xmlns:ahyp="http://schemas.microsoft.com/office/drawing/2018/hyperlinkcolor" val="tx"/>
                    </a:ext>
                  </a:extLst>
                </a:hlinkClick>
              </a:rPr>
              <a:t>https://aka.ms/ZTWorkshop </a:t>
            </a:r>
            <a:endPar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endParaRPr>
          </a:p>
          <a:p>
            <a:pPr marL="227013" marR="0" lvl="0" indent="-227013"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a:pP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rPr>
              <a:t>Schedule a delivery (CAT PM): </a:t>
            </a: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hlinkClick r:id="rId7">
                  <a:extLst>
                    <a:ext uri="{A12FA001-AC4F-418D-AE19-62706E023703}">
                      <ahyp:hlinkClr xmlns:ahyp="http://schemas.microsoft.com/office/drawing/2018/hyperlinkcolor" val="tx"/>
                    </a:ext>
                  </a:extLst>
                </a:hlinkClick>
              </a:rPr>
              <a:t>https://aka.ms/ZTworkshop/request </a:t>
            </a:r>
            <a:endPar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endParaRPr>
          </a:p>
        </p:txBody>
      </p:sp>
      <p:sp>
        <p:nvSpPr>
          <p:cNvPr id="23" name="Content Placeholder 2">
            <a:extLst>
              <a:ext uri="{FF2B5EF4-FFF2-40B4-BE49-F238E27FC236}">
                <a16:creationId xmlns:a16="http://schemas.microsoft.com/office/drawing/2014/main" id="{20CD5C12-19BC-58D0-4744-5EBFF18AF5DA}"/>
              </a:ext>
            </a:extLst>
          </p:cNvPr>
          <p:cNvSpPr txBox="1">
            <a:spLocks noGrp="1" noRot="1" noMove="1" noResize="1" noEditPoints="1" noAdjustHandles="1" noChangeArrowheads="1" noChangeShapeType="1"/>
          </p:cNvSpPr>
          <p:nvPr/>
        </p:nvSpPr>
        <p:spPr>
          <a:xfrm>
            <a:off x="4294189" y="1005361"/>
            <a:ext cx="3609348" cy="369332"/>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2400" b="1" i="0" u="none" strike="noStrike" kern="1200" cap="none" spc="0" normalizeH="0" baseline="0" noProof="0">
                <a:ln w="3175">
                  <a:noFill/>
                </a:ln>
                <a:solidFill>
                  <a:srgbClr val="091F2C"/>
                </a:solidFill>
                <a:effectLst/>
                <a:uLnTx/>
                <a:uFillTx/>
                <a:latin typeface="Segoe Sans Display Semilight"/>
                <a:ea typeface="+mn-ea"/>
                <a:cs typeface="Segoe UI" panose="020B0502040204020203" pitchFamily="34" charset="0"/>
              </a:rPr>
              <a:t>Zero Trust Workshop</a:t>
            </a:r>
          </a:p>
        </p:txBody>
      </p:sp>
      <p:pic>
        <p:nvPicPr>
          <p:cNvPr id="25" name="Picture 24">
            <a:extLst>
              <a:ext uri="{FF2B5EF4-FFF2-40B4-BE49-F238E27FC236}">
                <a16:creationId xmlns:a16="http://schemas.microsoft.com/office/drawing/2014/main" id="{DDD2F59D-6179-904A-BF81-FF38D113D617}"/>
              </a:ext>
            </a:extLst>
          </p:cNvPr>
          <p:cNvPicPr>
            <a:picLocks noGrp="1" noRot="1" noChangeAspect="1" noMove="1" noResize="1" noEditPoints="1" noAdjustHandles="1" noChangeArrowheads="1" noChangeShapeType="1" noCrop="1"/>
          </p:cNvPicPr>
          <p:nvPr/>
        </p:nvPicPr>
        <p:blipFill>
          <a:blip r:embed="rId8"/>
          <a:stretch>
            <a:fillRect/>
          </a:stretch>
        </p:blipFill>
        <p:spPr>
          <a:xfrm>
            <a:off x="4623163" y="2024403"/>
            <a:ext cx="2951400" cy="1867336"/>
          </a:xfrm>
          <a:prstGeom prst="roundRect">
            <a:avLst>
              <a:gd name="adj" fmla="val 2875"/>
            </a:avLst>
          </a:prstGeom>
          <a:effectLst>
            <a:outerShdw blurRad="101600" dist="101600" dir="5400000" algn="t" rotWithShape="0">
              <a:prstClr val="black">
                <a:alpha val="20000"/>
              </a:prstClr>
            </a:outerShdw>
          </a:effectLst>
        </p:spPr>
      </p:pic>
      <p:sp>
        <p:nvSpPr>
          <p:cNvPr id="26" name="Rectangle: Rounded Corners 25">
            <a:extLst>
              <a:ext uri="{FF2B5EF4-FFF2-40B4-BE49-F238E27FC236}">
                <a16:creationId xmlns:a16="http://schemas.microsoft.com/office/drawing/2014/main" id="{F93B5DBC-AFED-2152-A32D-9EA54E6CC6D6}"/>
              </a:ext>
            </a:extLst>
          </p:cNvPr>
          <p:cNvSpPr>
            <a:spLocks noGrp="1" noRot="1" noMove="1" noResize="1" noEditPoints="1" noAdjustHandles="1" noChangeArrowheads="1" noChangeShapeType="1"/>
          </p:cNvSpPr>
          <p:nvPr/>
        </p:nvSpPr>
        <p:spPr bwMode="auto">
          <a:xfrm>
            <a:off x="8222290" y="826429"/>
            <a:ext cx="3609348" cy="5246632"/>
          </a:xfrm>
          <a:prstGeom prst="roundRect">
            <a:avLst>
              <a:gd name="adj" fmla="val 5743"/>
            </a:avLst>
          </a:prstGeom>
          <a:gradFill flip="none" rotWithShape="1">
            <a:gsLst>
              <a:gs pos="47050">
                <a:schemeClr val="tx1"/>
              </a:gs>
              <a:gs pos="100000">
                <a:srgbClr val="D5EDFF"/>
              </a:gs>
              <a:gs pos="0">
                <a:schemeClr val="tx1">
                  <a:lumMod val="95000"/>
                </a:schemeClr>
              </a:gs>
            </a:gsLst>
            <a:lin ang="2700000" scaled="1"/>
            <a:tileRect/>
          </a:gradFill>
          <a:ln>
            <a:gradFill>
              <a:gsLst>
                <a:gs pos="0">
                  <a:schemeClr val="accent1">
                    <a:lumMod val="5000"/>
                    <a:lumOff val="95000"/>
                  </a:schemeClr>
                </a:gs>
                <a:gs pos="100000">
                  <a:schemeClr val="tx1">
                    <a:alpha val="0"/>
                  </a:schemeClr>
                </a:gs>
              </a:gsLst>
              <a:lin ang="5400000" scaled="1"/>
            </a:gradFill>
            <a:headEnd type="none" w="med" len="med"/>
            <a:tailEnd type="none" w="med" len="med"/>
          </a:ln>
          <a:effectLst>
            <a:outerShdw blurRad="152400" dist="152400" dir="5400000" algn="tl" rotWithShape="0">
              <a:schemeClr val="accent6">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091F2C"/>
              </a:solidFill>
              <a:effectLst/>
              <a:uLnTx/>
              <a:uFillTx/>
              <a:latin typeface="Arial" charset="0"/>
              <a:ea typeface="+mn-ea"/>
              <a:cs typeface="Segoe UI" pitchFamily="34" charset="0"/>
            </a:endParaRPr>
          </a:p>
        </p:txBody>
      </p:sp>
      <p:sp>
        <p:nvSpPr>
          <p:cNvPr id="27" name="Content Placeholder 2">
            <a:extLst>
              <a:ext uri="{FF2B5EF4-FFF2-40B4-BE49-F238E27FC236}">
                <a16:creationId xmlns:a16="http://schemas.microsoft.com/office/drawing/2014/main" id="{4741F740-5C84-EB49-0547-8ED40B0F5709}"/>
              </a:ext>
            </a:extLst>
          </p:cNvPr>
          <p:cNvSpPr txBox="1">
            <a:spLocks noGrp="1" noRot="1" noMove="1" noResize="1" noEditPoints="1" noAdjustHandles="1" noChangeArrowheads="1" noChangeShapeType="1"/>
          </p:cNvSpPr>
          <p:nvPr/>
        </p:nvSpPr>
        <p:spPr>
          <a:xfrm>
            <a:off x="8409319" y="4248317"/>
            <a:ext cx="3518012" cy="113877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7013" marR="0" lvl="0" indent="-227013"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a:pP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rPr>
              <a:t>See a demo </a:t>
            </a: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hlinkClick r:id="rId9">
                  <a:extLst>
                    <a:ext uri="{A12FA001-AC4F-418D-AE19-62706E023703}">
                      <ahyp:hlinkClr xmlns:ahyp="http://schemas.microsoft.com/office/drawing/2018/hyperlinkcolor" val="tx"/>
                    </a:ext>
                  </a:extLst>
                </a:hlinkClick>
              </a:rPr>
              <a:t>https://aka.ms/zerotrust/demo</a:t>
            </a: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rPr>
              <a:t> </a:t>
            </a:r>
          </a:p>
          <a:p>
            <a:pPr marL="227013" marR="0" lvl="0" indent="-227013"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a:pP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rPr>
              <a:t>Learn more and run your own: </a:t>
            </a: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hlinkClick r:id="rId10">
                  <a:extLst>
                    <a:ext uri="{A12FA001-AC4F-418D-AE19-62706E023703}">
                      <ahyp:hlinkClr xmlns:ahyp="http://schemas.microsoft.com/office/drawing/2018/hyperlinkcolor" val="tx"/>
                    </a:ext>
                  </a:extLst>
                </a:hlinkClick>
              </a:rPr>
              <a:t>https://aka.ms/zerotrust/assessment</a:t>
            </a:r>
            <a:r>
              <a:rPr kumimoji="0" lang="en-US" sz="1600" b="0" i="0" u="none" strike="noStrike" kern="1200" cap="none" spc="-50" normalizeH="0" baseline="0" noProof="0">
                <a:ln w="3175">
                  <a:noFill/>
                </a:ln>
                <a:solidFill>
                  <a:srgbClr val="091F2C"/>
                </a:solidFill>
                <a:effectLst/>
                <a:uLnTx/>
                <a:uFillTx/>
                <a:latin typeface="Segoe Sans Display Semilight"/>
                <a:ea typeface="+mn-ea"/>
                <a:cs typeface="Segoe UI" panose="020B0502040204020203" pitchFamily="34" charset="0"/>
              </a:rPr>
              <a:t> </a:t>
            </a:r>
          </a:p>
        </p:txBody>
      </p:sp>
      <p:sp>
        <p:nvSpPr>
          <p:cNvPr id="28" name="Content Placeholder 2">
            <a:extLst>
              <a:ext uri="{FF2B5EF4-FFF2-40B4-BE49-F238E27FC236}">
                <a16:creationId xmlns:a16="http://schemas.microsoft.com/office/drawing/2014/main" id="{70D11B01-400D-1F39-115E-0C2866D42FD1}"/>
              </a:ext>
            </a:extLst>
          </p:cNvPr>
          <p:cNvSpPr txBox="1">
            <a:spLocks noGrp="1" noRot="1" noMove="1" noResize="1" noEditPoints="1" noAdjustHandles="1" noChangeArrowheads="1" noChangeShapeType="1"/>
          </p:cNvSpPr>
          <p:nvPr/>
        </p:nvSpPr>
        <p:spPr>
          <a:xfrm>
            <a:off x="8222290" y="1005361"/>
            <a:ext cx="3609348" cy="369332"/>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2400" b="1" i="0" u="none" strike="noStrike" kern="1200" cap="none" spc="0" normalizeH="0" baseline="0" noProof="0">
                <a:ln w="3175">
                  <a:noFill/>
                </a:ln>
                <a:solidFill>
                  <a:srgbClr val="091F2C"/>
                </a:solidFill>
                <a:effectLst/>
                <a:uLnTx/>
                <a:uFillTx/>
                <a:latin typeface="Segoe Sans Display Semilight"/>
                <a:ea typeface="+mn-ea"/>
                <a:cs typeface="Segoe UI" panose="020B0502040204020203" pitchFamily="34" charset="0"/>
              </a:rPr>
              <a:t>Zero Trust Assessment</a:t>
            </a:r>
          </a:p>
        </p:txBody>
      </p:sp>
      <p:pic>
        <p:nvPicPr>
          <p:cNvPr id="30" name="Picture 29" descr="Screenshot of a sample report output from the Zero Trust Assessment tool.">
            <a:extLst>
              <a:ext uri="{FF2B5EF4-FFF2-40B4-BE49-F238E27FC236}">
                <a16:creationId xmlns:a16="http://schemas.microsoft.com/office/drawing/2014/main" id="{3181D396-03D1-A360-8900-0EA30F960C75}"/>
              </a:ext>
            </a:extLst>
          </p:cNvPr>
          <p:cNvPicPr>
            <a:picLocks noGrp="1" noRot="1" noChangeAspect="1" noMove="1" noResize="1" noEditPoints="1" noAdjustHandles="1" noChangeArrowheads="1" noChangeShapeType="1" noCrop="1"/>
          </p:cNvPicPr>
          <p:nvPr/>
        </p:nvPicPr>
        <p:blipFill>
          <a:blip r:embed="rId11"/>
          <a:srcRect l="8891" t="4862" r="9531" b="54221"/>
          <a:stretch>
            <a:fillRect/>
          </a:stretch>
        </p:blipFill>
        <p:spPr>
          <a:xfrm>
            <a:off x="8551264" y="2024404"/>
            <a:ext cx="2951400" cy="1818172"/>
          </a:xfrm>
          <a:prstGeom prst="roundRect">
            <a:avLst>
              <a:gd name="adj" fmla="val 2156"/>
            </a:avLst>
          </a:prstGeom>
          <a:effectLst>
            <a:outerShdw blurRad="101600" dist="101600" dir="5400000" algn="t" rotWithShape="0">
              <a:prstClr val="black">
                <a:alpha val="20000"/>
              </a:prstClr>
            </a:outerShdw>
          </a:effectLst>
        </p:spPr>
      </p:pic>
    </p:spTree>
    <p:extLst>
      <p:ext uri="{BB962C8B-B14F-4D97-AF65-F5344CB8AC3E}">
        <p14:creationId xmlns:p14="http://schemas.microsoft.com/office/powerpoint/2010/main" val="19841118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A2EB6AE-7322-EF64-A1C3-A559CA24CE08}"/>
              </a:ext>
              <a:ext uri="{C183D7F6-B498-43B3-948B-1728B52AA6E4}">
                <adec:decorative xmlns:adec="http://schemas.microsoft.com/office/drawing/2017/decorative" val="1"/>
              </a:ext>
            </a:extLst>
          </p:cNvPr>
          <p:cNvSpPr/>
          <p:nvPr/>
        </p:nvSpPr>
        <p:spPr bwMode="auto">
          <a:xfrm>
            <a:off x="1136429" y="1721599"/>
            <a:ext cx="3337560" cy="393192"/>
          </a:xfrm>
          <a:prstGeom prst="roundRect">
            <a:avLst>
              <a:gd name="adj" fmla="val 50000"/>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indent="0" algn="l" defTabSz="932472" rtl="0" eaLnBrk="1" fontAlgn="base" latinLnBrk="0" hangingPunct="1">
              <a:lnSpc>
                <a:spcPct val="100000"/>
              </a:lnSpc>
              <a:spcBef>
                <a:spcPct val="0"/>
              </a:spcBef>
              <a:spcAft>
                <a:spcPct val="0"/>
              </a:spcAft>
              <a:buClrTx/>
              <a:buSzTx/>
              <a:buFontTx/>
              <a:buNone/>
              <a:tabLst/>
            </a:pPr>
            <a:endParaRPr kumimoji="0" lang="en-IN"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4" name="Title 3">
            <a:extLst>
              <a:ext uri="{FF2B5EF4-FFF2-40B4-BE49-F238E27FC236}">
                <a16:creationId xmlns:a16="http://schemas.microsoft.com/office/drawing/2014/main" id="{AEA9A1AD-F6AC-303C-75B8-ABDF07890365}"/>
              </a:ext>
            </a:extLst>
          </p:cNvPr>
          <p:cNvSpPr>
            <a:spLocks noGrp="1"/>
          </p:cNvSpPr>
          <p:nvPr>
            <p:ph type="title"/>
          </p:nvPr>
        </p:nvSpPr>
        <p:spPr/>
        <p:txBody>
          <a:bodyPr wrap="square" anchor="t">
            <a:normAutofit/>
          </a:bodyPr>
          <a:lstStyle/>
          <a:p>
            <a:r>
              <a:rPr lang="en-US"/>
              <a:t>Get started with a Zero Trust workshop</a:t>
            </a:r>
          </a:p>
        </p:txBody>
      </p:sp>
      <p:sp>
        <p:nvSpPr>
          <p:cNvPr id="3" name="Content Placeholder 2">
            <a:extLst>
              <a:ext uri="{FF2B5EF4-FFF2-40B4-BE49-F238E27FC236}">
                <a16:creationId xmlns:a16="http://schemas.microsoft.com/office/drawing/2014/main" id="{D10288E9-0EF4-B613-30F1-101DA114A867}"/>
              </a:ext>
            </a:extLst>
          </p:cNvPr>
          <p:cNvSpPr txBox="1">
            <a:spLocks/>
          </p:cNvSpPr>
          <p:nvPr/>
        </p:nvSpPr>
        <p:spPr>
          <a:xfrm>
            <a:off x="588963" y="1701754"/>
            <a:ext cx="6847535" cy="3903633"/>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800" b="0" i="0" u="none" strike="noStrike" kern="1200" cap="none" spc="0" normalizeH="0" baseline="0">
                <a:ln w="3175">
                  <a:noFill/>
                </a:ln>
                <a:solidFill>
                  <a:schemeClr val="bg1"/>
                </a:solidFill>
                <a:effectLst/>
                <a:uLnTx/>
                <a:uFillTx/>
                <a:latin typeface="Segoe UI Semilight" panose="020B0402040204020203" pitchFamily="34" charset="0"/>
                <a:ea typeface="+mn-ea"/>
                <a:cs typeface="Segoe UI Semilight" panose="020B0402040204020203" pitchFamily="34" charset="0"/>
              </a:defRPr>
            </a:lvl1pPr>
            <a:lvl2pPr marL="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Segoe UI" panose="020B0502040204020203" pitchFamily="34" charset="0"/>
                <a:ea typeface="+mn-ea"/>
                <a:cs typeface="Segoe UI" panose="020B0502040204020203" pitchFamily="34" charset="0"/>
              </a:defRPr>
            </a:lvl2pPr>
            <a:lvl3pPr marL="4572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Segoe UI" panose="020B0502040204020203" pitchFamily="34" charset="0"/>
                <a:ea typeface="+mn-ea"/>
                <a:cs typeface="Segoe UI" panose="020B0502040204020203" pitchFamily="34" charset="0"/>
              </a:defRPr>
            </a:lvl3pPr>
            <a:lvl4pPr marL="9144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Segoe UI" panose="020B0502040204020203" pitchFamily="34" charset="0"/>
                <a:ea typeface="+mn-ea"/>
                <a:cs typeface="Segoe UI" panose="020B0502040204020203" pitchFamily="34" charset="0"/>
              </a:defRPr>
            </a:lvl4pPr>
            <a:lvl5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1000"/>
              </a:spcAft>
            </a:pPr>
            <a:r>
              <a:rPr lang="en-US" sz="2000">
                <a:solidFill>
                  <a:schemeClr val="tx1"/>
                </a:solidFill>
                <a:latin typeface="+mn-lt"/>
                <a:cs typeface="Segoe UI Semibold" panose="020B0702040204020203" pitchFamily="34" charset="0"/>
              </a:rPr>
              <a:t>Visit </a:t>
            </a:r>
            <a:r>
              <a:rPr lang="en-US" sz="2000">
                <a:latin typeface="+mn-lt"/>
                <a:cs typeface="Segoe UI Semibold" panose="020B0702040204020203" pitchFamily="34" charset="0"/>
              </a:rPr>
              <a:t>  </a:t>
            </a:r>
            <a:r>
              <a:rPr lang="en-US" sz="2000">
                <a:latin typeface="+mn-lt"/>
                <a:cs typeface="Segoe UI Semibold" panose="020B0702040204020203" pitchFamily="34" charset="0"/>
                <a:hlinkClick r:id="rId2">
                  <a:extLst>
                    <a:ext uri="{A12FA001-AC4F-418D-AE19-62706E023703}">
                      <ahyp:hlinkClr xmlns:ahyp="http://schemas.microsoft.com/office/drawing/2018/hyperlinkcolor" val="tx"/>
                    </a:ext>
                  </a:extLst>
                </a:hlinkClick>
              </a:rPr>
              <a:t>https://aka.ms/ZTWorkshop</a:t>
            </a:r>
            <a:r>
              <a:rPr lang="en-US" sz="2000">
                <a:latin typeface="+mn-lt"/>
                <a:cs typeface="Segoe UI Semibold" panose="020B0702040204020203" pitchFamily="34" charset="0"/>
              </a:rPr>
              <a:t> </a:t>
            </a:r>
            <a:r>
              <a:rPr lang="en-US" sz="2000">
                <a:solidFill>
                  <a:schemeClr val="tx1"/>
                </a:solidFill>
                <a:latin typeface="+mn-lt"/>
                <a:cs typeface="Segoe UI Semibold" panose="020B0702040204020203" pitchFamily="34" charset="0"/>
              </a:rPr>
              <a:t> </a:t>
            </a:r>
          </a:p>
          <a:p>
            <a:pPr>
              <a:lnSpc>
                <a:spcPct val="120000"/>
              </a:lnSpc>
              <a:spcBef>
                <a:spcPts val="0"/>
              </a:spcBef>
              <a:spcAft>
                <a:spcPts val="1000"/>
              </a:spcAft>
            </a:pPr>
            <a:r>
              <a:rPr lang="en-US" sz="2000">
                <a:solidFill>
                  <a:schemeClr val="tx1"/>
                </a:solidFill>
                <a:latin typeface="+mn-lt"/>
                <a:cs typeface="Segoe UI Semibold" panose="020B0702040204020203" pitchFamily="34" charset="0"/>
              </a:rPr>
              <a:t>for comprehensive resources to help you on your Zero Trust journey. </a:t>
            </a:r>
          </a:p>
          <a:p>
            <a:pPr>
              <a:lnSpc>
                <a:spcPct val="100000"/>
              </a:lnSpc>
              <a:spcBef>
                <a:spcPts val="0"/>
              </a:spcBef>
              <a:spcAft>
                <a:spcPts val="1000"/>
              </a:spcAft>
            </a:pPr>
            <a:endParaRPr lang="en-US" sz="2000">
              <a:solidFill>
                <a:schemeClr val="tx1"/>
              </a:solidFill>
              <a:latin typeface="+mn-lt"/>
              <a:cs typeface="Segoe UI Semibold" panose="020B0702040204020203" pitchFamily="34" charset="0"/>
            </a:endParaRPr>
          </a:p>
          <a:p>
            <a:pPr>
              <a:lnSpc>
                <a:spcPct val="100000"/>
              </a:lnSpc>
              <a:spcBef>
                <a:spcPts val="0"/>
              </a:spcBef>
              <a:spcAft>
                <a:spcPts val="1000"/>
              </a:spcAft>
            </a:pPr>
            <a:r>
              <a:rPr lang="en-US" sz="2000">
                <a:solidFill>
                  <a:schemeClr val="tx1"/>
                </a:solidFill>
                <a:latin typeface="+mn-lt"/>
                <a:cs typeface="Segoe UI Semibold" panose="020B0702040204020203" pitchFamily="34" charset="0"/>
              </a:rPr>
              <a:t>Access Comprehensive Guides: Get step-by-step instructions to implement Zero Trust in your organization.</a:t>
            </a:r>
          </a:p>
          <a:p>
            <a:pPr>
              <a:lnSpc>
                <a:spcPct val="100000"/>
              </a:lnSpc>
              <a:spcBef>
                <a:spcPts val="0"/>
              </a:spcBef>
              <a:spcAft>
                <a:spcPts val="1000"/>
              </a:spcAft>
            </a:pPr>
            <a:r>
              <a:rPr lang="en-US" sz="2000">
                <a:solidFill>
                  <a:schemeClr val="tx1"/>
                </a:solidFill>
                <a:latin typeface="+mn-lt"/>
                <a:cs typeface="Segoe UI Semibold" panose="020B0702040204020203" pitchFamily="34" charset="0"/>
              </a:rPr>
              <a:t>Utilize Expert Resources: Leverage our curated materials, including videos, articles, and tutorials.</a:t>
            </a:r>
          </a:p>
          <a:p>
            <a:pPr>
              <a:lnSpc>
                <a:spcPct val="100000"/>
              </a:lnSpc>
              <a:spcBef>
                <a:spcPts val="0"/>
              </a:spcBef>
              <a:spcAft>
                <a:spcPts val="1000"/>
              </a:spcAft>
            </a:pPr>
            <a:r>
              <a:rPr lang="en-US" sz="2000">
                <a:solidFill>
                  <a:schemeClr val="tx1"/>
                </a:solidFill>
                <a:latin typeface="+mn-lt"/>
                <a:cs typeface="Segoe UI Semibold" panose="020B0702040204020203" pitchFamily="34" charset="0"/>
              </a:rPr>
              <a:t>Enhance Your Security Posture: Learn how to apply Zero Trust principles to reduce risk and improve compliance.</a:t>
            </a:r>
          </a:p>
        </p:txBody>
      </p:sp>
      <p:pic>
        <p:nvPicPr>
          <p:cNvPr id="2" name="Picture 1" descr="A close-up shot of a data centre. The data centre is glowing in a vibrant​ green and yellow hue and slightly blurred. The style is evocative of a security scan. ">
            <a:extLst>
              <a:ext uri="{FF2B5EF4-FFF2-40B4-BE49-F238E27FC236}">
                <a16:creationId xmlns:a16="http://schemas.microsoft.com/office/drawing/2014/main" id="{C4EBA992-B672-9CA6-C7CB-DD32AB6FA6F2}"/>
              </a:ext>
            </a:extLst>
          </p:cNvPr>
          <p:cNvPicPr>
            <a:picLocks noChangeAspect="1"/>
          </p:cNvPicPr>
          <p:nvPr/>
        </p:nvPicPr>
        <p:blipFill>
          <a:blip r:embed="rId3">
            <a:extLst>
              <a:ext uri="{28A0092B-C50C-407E-A947-70E740481C1C}">
                <a14:useLocalDpi xmlns:a14="http://schemas.microsoft.com/office/drawing/2010/main"/>
              </a:ext>
            </a:extLst>
          </a:blip>
          <a:srcRect l="71543" t="701" r="701" b="701"/>
          <a:stretch/>
        </p:blipFill>
        <p:spPr>
          <a:xfrm>
            <a:off x="8742783" y="0"/>
            <a:ext cx="3449216" cy="6858000"/>
          </a:xfrm>
          <a:prstGeom prst="rect">
            <a:avLst/>
          </a:prstGeom>
        </p:spPr>
      </p:pic>
    </p:spTree>
    <p:extLst>
      <p:ext uri="{BB962C8B-B14F-4D97-AF65-F5344CB8AC3E}">
        <p14:creationId xmlns:p14="http://schemas.microsoft.com/office/powerpoint/2010/main" val="244970559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1FC2-F1D8-40EF-12BE-810026758E0B}"/>
              </a:ext>
            </a:extLst>
          </p:cNvPr>
          <p:cNvSpPr>
            <a:spLocks noGrp="1"/>
          </p:cNvSpPr>
          <p:nvPr>
            <p:ph type="title"/>
          </p:nvPr>
        </p:nvSpPr>
        <p:spPr>
          <a:xfrm>
            <a:off x="586740" y="3152001"/>
            <a:ext cx="11018520" cy="553998"/>
          </a:xfrm>
        </p:spPr>
        <p:txBody>
          <a:bodyPr/>
          <a:lstStyle/>
          <a:p>
            <a:r>
              <a:rPr lang="en-US"/>
              <a:t>Appendix</a:t>
            </a:r>
          </a:p>
        </p:txBody>
      </p:sp>
    </p:spTree>
    <p:extLst>
      <p:ext uri="{BB962C8B-B14F-4D97-AF65-F5344CB8AC3E}">
        <p14:creationId xmlns:p14="http://schemas.microsoft.com/office/powerpoint/2010/main" val="21395346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60965246-ED5D-40C3-DE84-4A50E292E568}"/>
              </a:ext>
            </a:extLst>
          </p:cNvPr>
          <p:cNvGrpSpPr/>
          <p:nvPr/>
        </p:nvGrpSpPr>
        <p:grpSpPr>
          <a:xfrm rot="16200000">
            <a:off x="5102405" y="2333117"/>
            <a:ext cx="3873336" cy="2072671"/>
            <a:chOff x="6942509" y="3678467"/>
            <a:chExt cx="571119" cy="1690391"/>
          </a:xfrm>
        </p:grpSpPr>
        <p:cxnSp>
          <p:nvCxnSpPr>
            <p:cNvPr id="28" name="Straight Connector 27">
              <a:extLst>
                <a:ext uri="{FF2B5EF4-FFF2-40B4-BE49-F238E27FC236}">
                  <a16:creationId xmlns:a16="http://schemas.microsoft.com/office/drawing/2014/main" id="{CD3044E5-FCA3-E042-DBD1-1856D3EA3F96}"/>
                </a:ext>
              </a:extLst>
            </p:cNvPr>
            <p:cNvCxnSpPr>
              <a:cxnSpLocks/>
            </p:cNvCxnSpPr>
            <p:nvPr/>
          </p:nvCxnSpPr>
          <p:spPr>
            <a:xfrm flipH="1">
              <a:off x="6942509" y="5368857"/>
              <a:ext cx="571119" cy="1"/>
            </a:xfrm>
            <a:prstGeom prst="line">
              <a:avLst/>
            </a:prstGeom>
            <a:ln w="15875" cap="rnd">
              <a:solidFill>
                <a:srgbClr val="9D9D9D"/>
              </a:solidFill>
              <a:prstDash val="sysDash"/>
              <a:roun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16D2715-17A3-60B6-7CA5-4600343FE7E1}"/>
                </a:ext>
              </a:extLst>
            </p:cNvPr>
            <p:cNvCxnSpPr>
              <a:cxnSpLocks/>
            </p:cNvCxnSpPr>
            <p:nvPr/>
          </p:nvCxnSpPr>
          <p:spPr>
            <a:xfrm flipH="1" flipV="1">
              <a:off x="6942509" y="3678467"/>
              <a:ext cx="1" cy="1690391"/>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B0A0A6E-B8BA-C46F-8E9D-58A23941EFD4}"/>
                </a:ext>
              </a:extLst>
            </p:cNvPr>
            <p:cNvCxnSpPr>
              <a:cxnSpLocks/>
            </p:cNvCxnSpPr>
            <p:nvPr/>
          </p:nvCxnSpPr>
          <p:spPr>
            <a:xfrm flipH="1" flipV="1">
              <a:off x="7513627" y="3678467"/>
              <a:ext cx="1" cy="1690391"/>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77" name="Straight Connector 76">
            <a:extLst>
              <a:ext uri="{FF2B5EF4-FFF2-40B4-BE49-F238E27FC236}">
                <a16:creationId xmlns:a16="http://schemas.microsoft.com/office/drawing/2014/main" id="{01B54E22-A84A-8BB4-858D-0E04C5CEE6AA}"/>
              </a:ext>
            </a:extLst>
          </p:cNvPr>
          <p:cNvCxnSpPr>
            <a:cxnSpLocks/>
            <a:stCxn id="281" idx="2"/>
          </p:cNvCxnSpPr>
          <p:nvPr/>
        </p:nvCxnSpPr>
        <p:spPr>
          <a:xfrm>
            <a:off x="5078503" y="1824265"/>
            <a:ext cx="0" cy="991447"/>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2EF01089-86EE-BCD2-9A66-43559B046000}"/>
              </a:ext>
            </a:extLst>
          </p:cNvPr>
          <p:cNvCxnSpPr>
            <a:cxnSpLocks/>
          </p:cNvCxnSpPr>
          <p:nvPr/>
        </p:nvCxnSpPr>
        <p:spPr>
          <a:xfrm>
            <a:off x="11064509" y="1522070"/>
            <a:ext cx="189570" cy="0"/>
          </a:xfrm>
          <a:prstGeom prst="line">
            <a:avLst/>
          </a:prstGeom>
          <a:ln w="15875" cap="rnd">
            <a:solidFill>
              <a:srgbClr val="9D9D9D"/>
            </a:solidFill>
            <a:prstDash val="sysDash"/>
            <a:round/>
            <a:tailEnd w="med" len="med"/>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C336D810-258F-0240-823A-D83E025B8CDB}"/>
              </a:ext>
            </a:extLst>
          </p:cNvPr>
          <p:cNvCxnSpPr>
            <a:cxnSpLocks/>
          </p:cNvCxnSpPr>
          <p:nvPr/>
        </p:nvCxnSpPr>
        <p:spPr>
          <a:xfrm>
            <a:off x="11064509" y="3191566"/>
            <a:ext cx="189570" cy="0"/>
          </a:xfrm>
          <a:prstGeom prst="line">
            <a:avLst/>
          </a:prstGeom>
          <a:ln w="15875" cap="rnd">
            <a:solidFill>
              <a:srgbClr val="9D9D9D"/>
            </a:solidFill>
            <a:prstDash val="sysDash"/>
            <a:round/>
            <a:tailEnd w="med" len="med"/>
          </a:ln>
        </p:spPr>
        <p:style>
          <a:lnRef idx="1">
            <a:schemeClr val="accent1"/>
          </a:lnRef>
          <a:fillRef idx="0">
            <a:schemeClr val="accent1"/>
          </a:fillRef>
          <a:effectRef idx="0">
            <a:schemeClr val="accent1"/>
          </a:effectRef>
          <a:fontRef idx="minor">
            <a:schemeClr val="tx1"/>
          </a:fontRef>
        </p:style>
      </p:cxnSp>
      <p:grpSp>
        <p:nvGrpSpPr>
          <p:cNvPr id="329" name="Group 328">
            <a:extLst>
              <a:ext uri="{FF2B5EF4-FFF2-40B4-BE49-F238E27FC236}">
                <a16:creationId xmlns:a16="http://schemas.microsoft.com/office/drawing/2014/main" id="{8918F16E-AA35-5BFC-4E90-319A0C2BE0A1}"/>
              </a:ext>
            </a:extLst>
          </p:cNvPr>
          <p:cNvGrpSpPr/>
          <p:nvPr/>
        </p:nvGrpSpPr>
        <p:grpSpPr>
          <a:xfrm>
            <a:off x="7569871" y="3447345"/>
            <a:ext cx="978408" cy="1128583"/>
            <a:chOff x="4197296" y="1027373"/>
            <a:chExt cx="1762125" cy="1128743"/>
          </a:xfrm>
        </p:grpSpPr>
        <p:sp>
          <p:nvSpPr>
            <p:cNvPr id="330" name="Rectangle: Rounded Corners 329">
              <a:extLst>
                <a:ext uri="{FF2B5EF4-FFF2-40B4-BE49-F238E27FC236}">
                  <a16:creationId xmlns:a16="http://schemas.microsoft.com/office/drawing/2014/main" id="{1E4522F9-C75B-2D0D-966B-E78102E48534}"/>
                </a:ext>
              </a:extLst>
            </p:cNvPr>
            <p:cNvSpPr/>
            <p:nvPr/>
          </p:nvSpPr>
          <p:spPr>
            <a:xfrm>
              <a:off x="4197296" y="1027373"/>
              <a:ext cx="1762125" cy="1128743"/>
            </a:xfrm>
            <a:prstGeom prst="roundRect">
              <a:avLst>
                <a:gd name="adj" fmla="val 4372"/>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lIns="18288" rIns="18288" rtlCol="0" anchor="ctr"/>
            <a:lstStyle/>
            <a:p>
              <a:pPr algn="ctr"/>
              <a:endParaRPr lang="en-US" sz="1800"/>
            </a:p>
          </p:txBody>
        </p:sp>
        <p:sp>
          <p:nvSpPr>
            <p:cNvPr id="331" name="Rectangle: Rounded Corners 330">
              <a:extLst>
                <a:ext uri="{FF2B5EF4-FFF2-40B4-BE49-F238E27FC236}">
                  <a16:creationId xmlns:a16="http://schemas.microsoft.com/office/drawing/2014/main" id="{F2DADBB9-4B7A-48F5-696B-408ACAB75783}"/>
                </a:ext>
              </a:extLst>
            </p:cNvPr>
            <p:cNvSpPr/>
            <p:nvPr/>
          </p:nvSpPr>
          <p:spPr>
            <a:xfrm>
              <a:off x="4197296" y="1195560"/>
              <a:ext cx="1762125" cy="254853"/>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288" rIns="18288" rtlCol="0" anchor="ctr"/>
            <a:lstStyle/>
            <a:p>
              <a:pPr algn="ctr"/>
              <a:r>
                <a:rPr lang="en-US" sz="800">
                  <a:solidFill>
                    <a:srgbClr val="000000"/>
                  </a:solidFill>
                  <a:latin typeface="+mj-lt"/>
                  <a:cs typeface="Segoe UI" panose="020B0502040204020203" pitchFamily="34" charset="0"/>
                </a:rPr>
                <a:t>Microsoft </a:t>
              </a:r>
              <a:r>
                <a:rPr lang="en-US" sz="800" err="1">
                  <a:solidFill>
                    <a:srgbClr val="000000"/>
                  </a:solidFill>
                  <a:latin typeface="+mj-lt"/>
                  <a:cs typeface="Segoe UI" panose="020B0502040204020203" pitchFamily="34" charset="0"/>
                </a:rPr>
                <a:t>Entra</a:t>
              </a:r>
              <a:r>
                <a:rPr lang="en-US" sz="800">
                  <a:solidFill>
                    <a:srgbClr val="000000"/>
                  </a:solidFill>
                  <a:latin typeface="+mj-lt"/>
                  <a:cs typeface="Segoe UI" panose="020B0502040204020203" pitchFamily="34" charset="0"/>
                </a:rPr>
                <a:t> ID</a:t>
              </a:r>
              <a:br>
                <a:rPr lang="en-US" sz="800">
                  <a:solidFill>
                    <a:srgbClr val="000000"/>
                  </a:solidFill>
                  <a:latin typeface="+mj-lt"/>
                  <a:cs typeface="Segoe UI" panose="020B0502040204020203" pitchFamily="34" charset="0"/>
                </a:rPr>
              </a:br>
              <a:r>
                <a:rPr lang="en-US" sz="800">
                  <a:solidFill>
                    <a:srgbClr val="000000"/>
                  </a:solidFill>
                  <a:latin typeface="+mj-lt"/>
                  <a:cs typeface="Segoe UI" panose="020B0502040204020203" pitchFamily="34" charset="0"/>
                </a:rPr>
                <a:t>Application Proxy</a:t>
              </a:r>
            </a:p>
          </p:txBody>
        </p:sp>
        <p:sp>
          <p:nvSpPr>
            <p:cNvPr id="332" name="Rectangle: Rounded Corners 331">
              <a:extLst>
                <a:ext uri="{FF2B5EF4-FFF2-40B4-BE49-F238E27FC236}">
                  <a16:creationId xmlns:a16="http://schemas.microsoft.com/office/drawing/2014/main" id="{0D552C2D-EB00-A4D6-4513-3A48B12D4B17}"/>
                </a:ext>
              </a:extLst>
            </p:cNvPr>
            <p:cNvSpPr/>
            <p:nvPr/>
          </p:nvSpPr>
          <p:spPr>
            <a:xfrm>
              <a:off x="4197296" y="1550569"/>
              <a:ext cx="1762125" cy="220187"/>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288" rIns="18288" rtlCol="0" anchor="ctr"/>
            <a:lstStyle/>
            <a:p>
              <a:pPr algn="ctr"/>
              <a:r>
                <a:rPr lang="en-US" sz="800">
                  <a:solidFill>
                    <a:srgbClr val="000000"/>
                  </a:solidFill>
                  <a:latin typeface="+mj-lt"/>
                  <a:cs typeface="Segoe UI" panose="020B0502040204020203" pitchFamily="34" charset="0"/>
                </a:rPr>
                <a:t>Microsoft </a:t>
              </a:r>
              <a:r>
                <a:rPr lang="en-US" sz="800" err="1">
                  <a:solidFill>
                    <a:srgbClr val="000000"/>
                  </a:solidFill>
                  <a:latin typeface="+mj-lt"/>
                  <a:cs typeface="Segoe UI" panose="020B0502040204020203" pitchFamily="34" charset="0"/>
                </a:rPr>
                <a:t>Entra</a:t>
              </a:r>
              <a:r>
                <a:rPr lang="en-US" sz="800">
                  <a:solidFill>
                    <a:srgbClr val="000000"/>
                  </a:solidFill>
                  <a:latin typeface="+mj-lt"/>
                  <a:cs typeface="Segoe UI" panose="020B0502040204020203" pitchFamily="34" charset="0"/>
                </a:rPr>
                <a:t> Internet Access</a:t>
              </a:r>
            </a:p>
          </p:txBody>
        </p:sp>
        <p:sp>
          <p:nvSpPr>
            <p:cNvPr id="333" name="Rectangle: Rounded Corners 332">
              <a:extLst>
                <a:ext uri="{FF2B5EF4-FFF2-40B4-BE49-F238E27FC236}">
                  <a16:creationId xmlns:a16="http://schemas.microsoft.com/office/drawing/2014/main" id="{BE42A268-A9AD-B246-6960-2D3508A9070C}"/>
                </a:ext>
              </a:extLst>
            </p:cNvPr>
            <p:cNvSpPr/>
            <p:nvPr/>
          </p:nvSpPr>
          <p:spPr>
            <a:xfrm>
              <a:off x="4197296" y="1870913"/>
              <a:ext cx="1762125" cy="235124"/>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288" rIns="18288" rtlCol="0" anchor="ctr"/>
            <a:lstStyle/>
            <a:p>
              <a:pPr algn="ctr"/>
              <a:r>
                <a:rPr lang="en-US" sz="800">
                  <a:solidFill>
                    <a:srgbClr val="000000"/>
                  </a:solidFill>
                  <a:latin typeface="+mj-lt"/>
                  <a:cs typeface="Segoe UI" panose="020B0502040204020203" pitchFamily="34" charset="0"/>
                </a:rPr>
                <a:t>Microsoft </a:t>
              </a:r>
              <a:r>
                <a:rPr lang="en-US" sz="800" err="1">
                  <a:solidFill>
                    <a:srgbClr val="000000"/>
                  </a:solidFill>
                  <a:latin typeface="+mj-lt"/>
                  <a:cs typeface="Segoe UI" panose="020B0502040204020203" pitchFamily="34" charset="0"/>
                </a:rPr>
                <a:t>Entra</a:t>
              </a:r>
              <a:r>
                <a:rPr lang="en-US" sz="800">
                  <a:solidFill>
                    <a:srgbClr val="000000"/>
                  </a:solidFill>
                  <a:latin typeface="+mj-lt"/>
                  <a:cs typeface="Segoe UI" panose="020B0502040204020203" pitchFamily="34" charset="0"/>
                </a:rPr>
                <a:t> Private Access</a:t>
              </a:r>
            </a:p>
          </p:txBody>
        </p:sp>
        <p:cxnSp>
          <p:nvCxnSpPr>
            <p:cNvPr id="334" name="Straight Connector 333">
              <a:extLst>
                <a:ext uri="{FF2B5EF4-FFF2-40B4-BE49-F238E27FC236}">
                  <a16:creationId xmlns:a16="http://schemas.microsoft.com/office/drawing/2014/main" id="{D61D20F5-DA41-892A-6FDA-9152E078254C}"/>
                </a:ext>
              </a:extLst>
            </p:cNvPr>
            <p:cNvCxnSpPr>
              <a:cxnSpLocks/>
            </p:cNvCxnSpPr>
            <p:nvPr/>
          </p:nvCxnSpPr>
          <p:spPr>
            <a:xfrm>
              <a:off x="4197296" y="1500491"/>
              <a:ext cx="176212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A2CDA4B6-F91B-C672-7B2F-4B171EF554CD}"/>
                </a:ext>
              </a:extLst>
            </p:cNvPr>
            <p:cNvCxnSpPr>
              <a:cxnSpLocks/>
            </p:cNvCxnSpPr>
            <p:nvPr/>
          </p:nvCxnSpPr>
          <p:spPr>
            <a:xfrm>
              <a:off x="4197296" y="1820834"/>
              <a:ext cx="176212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grpSp>
      <p:grpSp>
        <p:nvGrpSpPr>
          <p:cNvPr id="336" name="Group 335">
            <a:extLst>
              <a:ext uri="{FF2B5EF4-FFF2-40B4-BE49-F238E27FC236}">
                <a16:creationId xmlns:a16="http://schemas.microsoft.com/office/drawing/2014/main" id="{C8F23947-8494-89C1-D3B0-DE3C1CFAFD21}"/>
              </a:ext>
            </a:extLst>
          </p:cNvPr>
          <p:cNvGrpSpPr/>
          <p:nvPr/>
        </p:nvGrpSpPr>
        <p:grpSpPr>
          <a:xfrm>
            <a:off x="969301" y="2660180"/>
            <a:ext cx="981469" cy="1235537"/>
            <a:chOff x="968573" y="1929439"/>
            <a:chExt cx="981608" cy="1235711"/>
          </a:xfrm>
        </p:grpSpPr>
        <p:sp>
          <p:nvSpPr>
            <p:cNvPr id="337" name="Rectangle: Rounded Corners 336">
              <a:extLst>
                <a:ext uri="{FF2B5EF4-FFF2-40B4-BE49-F238E27FC236}">
                  <a16:creationId xmlns:a16="http://schemas.microsoft.com/office/drawing/2014/main" id="{AD6DA79D-8267-BF68-EF6C-2C7351BD41AD}"/>
                </a:ext>
              </a:extLst>
            </p:cNvPr>
            <p:cNvSpPr/>
            <p:nvPr/>
          </p:nvSpPr>
          <p:spPr>
            <a:xfrm>
              <a:off x="968574" y="1929439"/>
              <a:ext cx="981607" cy="1235711"/>
            </a:xfrm>
            <a:prstGeom prst="roundRect">
              <a:avLst>
                <a:gd name="adj" fmla="val 7165"/>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8" name="Rectangle: Rounded Corners 337">
              <a:extLst>
                <a:ext uri="{FF2B5EF4-FFF2-40B4-BE49-F238E27FC236}">
                  <a16:creationId xmlns:a16="http://schemas.microsoft.com/office/drawing/2014/main" id="{3C085F41-410E-1849-0730-DF8C7BDBA4E0}"/>
                </a:ext>
              </a:extLst>
            </p:cNvPr>
            <p:cNvSpPr/>
            <p:nvPr/>
          </p:nvSpPr>
          <p:spPr>
            <a:xfrm>
              <a:off x="968574" y="2310445"/>
              <a:ext cx="981607" cy="403986"/>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 Entra Workload ID</a:t>
              </a:r>
            </a:p>
          </p:txBody>
        </p:sp>
        <p:sp>
          <p:nvSpPr>
            <p:cNvPr id="3" name="Rectangle: Rounded Corners 337">
              <a:extLst>
                <a:ext uri="{FF2B5EF4-FFF2-40B4-BE49-F238E27FC236}">
                  <a16:creationId xmlns:a16="http://schemas.microsoft.com/office/drawing/2014/main" id="{A8F7F115-639E-D503-8A84-AF8C1CE29B0E}"/>
                </a:ext>
              </a:extLst>
            </p:cNvPr>
            <p:cNvSpPr/>
            <p:nvPr/>
          </p:nvSpPr>
          <p:spPr>
            <a:xfrm>
              <a:off x="968573" y="2700138"/>
              <a:ext cx="981607" cy="403986"/>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 Entra Agent ID</a:t>
              </a:r>
            </a:p>
          </p:txBody>
        </p:sp>
      </p:grpSp>
      <p:grpSp>
        <p:nvGrpSpPr>
          <p:cNvPr id="339" name="Group 338">
            <a:extLst>
              <a:ext uri="{FF2B5EF4-FFF2-40B4-BE49-F238E27FC236}">
                <a16:creationId xmlns:a16="http://schemas.microsoft.com/office/drawing/2014/main" id="{C15D1842-C080-6066-CB18-AEF6353B9631}"/>
              </a:ext>
            </a:extLst>
          </p:cNvPr>
          <p:cNvGrpSpPr/>
          <p:nvPr/>
        </p:nvGrpSpPr>
        <p:grpSpPr>
          <a:xfrm>
            <a:off x="4197565" y="5627852"/>
            <a:ext cx="1761875" cy="733322"/>
            <a:chOff x="4197296" y="5167190"/>
            <a:chExt cx="1762125" cy="733425"/>
          </a:xfrm>
        </p:grpSpPr>
        <p:sp>
          <p:nvSpPr>
            <p:cNvPr id="340" name="Rectangle: Rounded Corners 339">
              <a:extLst>
                <a:ext uri="{FF2B5EF4-FFF2-40B4-BE49-F238E27FC236}">
                  <a16:creationId xmlns:a16="http://schemas.microsoft.com/office/drawing/2014/main" id="{24160615-CC24-51F0-0C72-2B9C5F455A70}"/>
                </a:ext>
              </a:extLst>
            </p:cNvPr>
            <p:cNvSpPr/>
            <p:nvPr/>
          </p:nvSpPr>
          <p:spPr>
            <a:xfrm>
              <a:off x="4197296" y="5167190"/>
              <a:ext cx="1762125" cy="704845"/>
            </a:xfrm>
            <a:prstGeom prst="roundRect">
              <a:avLst>
                <a:gd name="adj" fmla="val 8454"/>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1" name="Rectangle: Rounded Corners 340">
              <a:extLst>
                <a:ext uri="{FF2B5EF4-FFF2-40B4-BE49-F238E27FC236}">
                  <a16:creationId xmlns:a16="http://schemas.microsoft.com/office/drawing/2014/main" id="{C731CF9F-A505-EBD0-85E7-20D95BCADC0D}"/>
                </a:ext>
              </a:extLst>
            </p:cNvPr>
            <p:cNvSpPr/>
            <p:nvPr/>
          </p:nvSpPr>
          <p:spPr>
            <a:xfrm>
              <a:off x="4197296" y="5548196"/>
              <a:ext cx="1762125" cy="35241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a:t>
              </a:r>
              <a:r>
                <a:rPr lang="en-US" sz="800">
                  <a:solidFill>
                    <a:srgbClr val="000000"/>
                  </a:solidFill>
                  <a:latin typeface="Segoe UI" panose="020B0502040204020203" pitchFamily="34" charset="0"/>
                  <a:cs typeface="Segoe UI" panose="020B0502040204020203" pitchFamily="34" charset="0"/>
                </a:rPr>
                <a:t> </a:t>
              </a:r>
              <a:r>
                <a:rPr lang="en-US" sz="800">
                  <a:solidFill>
                    <a:srgbClr val="000000"/>
                  </a:solidFill>
                  <a:latin typeface="+mj-lt"/>
                  <a:cs typeface="Segoe UI" panose="020B0502040204020203" pitchFamily="34" charset="0"/>
                </a:rPr>
                <a:t>Sentinel</a:t>
              </a:r>
            </a:p>
          </p:txBody>
        </p:sp>
      </p:grpSp>
      <p:grpSp>
        <p:nvGrpSpPr>
          <p:cNvPr id="342" name="Group 341">
            <a:extLst>
              <a:ext uri="{FF2B5EF4-FFF2-40B4-BE49-F238E27FC236}">
                <a16:creationId xmlns:a16="http://schemas.microsoft.com/office/drawing/2014/main" id="{A6CA6920-F2CA-CA34-3B8F-E74E34E06631}"/>
              </a:ext>
            </a:extLst>
          </p:cNvPr>
          <p:cNvGrpSpPr/>
          <p:nvPr/>
        </p:nvGrpSpPr>
        <p:grpSpPr>
          <a:xfrm>
            <a:off x="969302" y="2293280"/>
            <a:ext cx="981468" cy="784881"/>
            <a:chOff x="968574" y="1929440"/>
            <a:chExt cx="981607" cy="784991"/>
          </a:xfrm>
        </p:grpSpPr>
        <p:sp>
          <p:nvSpPr>
            <p:cNvPr id="343" name="Rectangle: Rounded Corners 342">
              <a:extLst>
                <a:ext uri="{FF2B5EF4-FFF2-40B4-BE49-F238E27FC236}">
                  <a16:creationId xmlns:a16="http://schemas.microsoft.com/office/drawing/2014/main" id="{CC1D4D54-53DE-4633-5D02-B6F0B49E5E5C}"/>
                </a:ext>
              </a:extLst>
            </p:cNvPr>
            <p:cNvSpPr/>
            <p:nvPr/>
          </p:nvSpPr>
          <p:spPr>
            <a:xfrm>
              <a:off x="968574" y="1929440"/>
              <a:ext cx="981607" cy="756412"/>
            </a:xfrm>
            <a:prstGeom prst="roundRect">
              <a:avLst>
                <a:gd name="adj" fmla="val 7165"/>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4" name="Rectangle: Rounded Corners 343">
              <a:extLst>
                <a:ext uri="{FF2B5EF4-FFF2-40B4-BE49-F238E27FC236}">
                  <a16:creationId xmlns:a16="http://schemas.microsoft.com/office/drawing/2014/main" id="{45F39EF7-A9C6-63B8-2358-986C12087142}"/>
                </a:ext>
              </a:extLst>
            </p:cNvPr>
            <p:cNvSpPr/>
            <p:nvPr/>
          </p:nvSpPr>
          <p:spPr>
            <a:xfrm>
              <a:off x="968574" y="2310445"/>
              <a:ext cx="981607" cy="403986"/>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a:t>
              </a:r>
              <a:br>
                <a:rPr lang="en-US" sz="800">
                  <a:solidFill>
                    <a:srgbClr val="000000"/>
                  </a:solidFill>
                  <a:latin typeface="+mj-lt"/>
                  <a:cs typeface="Segoe UI" panose="020B0502040204020203" pitchFamily="34" charset="0"/>
                </a:rPr>
              </a:br>
              <a:r>
                <a:rPr lang="en-US" sz="800" err="1">
                  <a:solidFill>
                    <a:srgbClr val="000000"/>
                  </a:solidFill>
                  <a:latin typeface="+mj-lt"/>
                  <a:cs typeface="Segoe UI" panose="020B0502040204020203" pitchFamily="34" charset="0"/>
                </a:rPr>
                <a:t>Entra</a:t>
              </a:r>
              <a:r>
                <a:rPr lang="en-US" sz="800">
                  <a:solidFill>
                    <a:srgbClr val="000000"/>
                  </a:solidFill>
                  <a:latin typeface="+mj-lt"/>
                  <a:cs typeface="Segoe UI" panose="020B0502040204020203" pitchFamily="34" charset="0"/>
                </a:rPr>
                <a:t> ID</a:t>
              </a:r>
            </a:p>
          </p:txBody>
        </p:sp>
      </p:grpSp>
      <p:grpSp>
        <p:nvGrpSpPr>
          <p:cNvPr id="345" name="Group 344">
            <a:extLst>
              <a:ext uri="{FF2B5EF4-FFF2-40B4-BE49-F238E27FC236}">
                <a16:creationId xmlns:a16="http://schemas.microsoft.com/office/drawing/2014/main" id="{18FB2C8D-198B-FE81-5519-82F0CC796B46}"/>
              </a:ext>
            </a:extLst>
          </p:cNvPr>
          <p:cNvGrpSpPr/>
          <p:nvPr/>
        </p:nvGrpSpPr>
        <p:grpSpPr>
          <a:xfrm>
            <a:off x="969302" y="4529948"/>
            <a:ext cx="981468" cy="1192713"/>
            <a:chOff x="968574" y="4110947"/>
            <a:chExt cx="981607" cy="1192882"/>
          </a:xfrm>
        </p:grpSpPr>
        <p:sp>
          <p:nvSpPr>
            <p:cNvPr id="346" name="Rectangle: Rounded Corners 345">
              <a:extLst>
                <a:ext uri="{FF2B5EF4-FFF2-40B4-BE49-F238E27FC236}">
                  <a16:creationId xmlns:a16="http://schemas.microsoft.com/office/drawing/2014/main" id="{450C1F58-40D8-C7BE-E3B9-8011CF495929}"/>
                </a:ext>
              </a:extLst>
            </p:cNvPr>
            <p:cNvSpPr/>
            <p:nvPr/>
          </p:nvSpPr>
          <p:spPr>
            <a:xfrm>
              <a:off x="968574" y="4110947"/>
              <a:ext cx="981607" cy="1192882"/>
            </a:xfrm>
            <a:prstGeom prst="roundRect">
              <a:avLst>
                <a:gd name="adj" fmla="val 7165"/>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7" name="Rectangle: Rounded Corners 346">
              <a:extLst>
                <a:ext uri="{FF2B5EF4-FFF2-40B4-BE49-F238E27FC236}">
                  <a16:creationId xmlns:a16="http://schemas.microsoft.com/office/drawing/2014/main" id="{1B9CF308-17F0-8850-839C-CFAA4ADA436A}"/>
                </a:ext>
              </a:extLst>
            </p:cNvPr>
            <p:cNvSpPr/>
            <p:nvPr/>
          </p:nvSpPr>
          <p:spPr>
            <a:xfrm>
              <a:off x="968574" y="4462623"/>
              <a:ext cx="981607" cy="403125"/>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a:t>
              </a:r>
              <a:br>
                <a:rPr lang="en-US" sz="800">
                  <a:solidFill>
                    <a:srgbClr val="000000"/>
                  </a:solidFill>
                  <a:latin typeface="+mj-lt"/>
                  <a:cs typeface="Segoe UI" panose="020B0502040204020203" pitchFamily="34" charset="0"/>
                </a:rPr>
              </a:br>
              <a:r>
                <a:rPr lang="en-US" sz="800">
                  <a:solidFill>
                    <a:srgbClr val="000000"/>
                  </a:solidFill>
                  <a:latin typeface="+mj-lt"/>
                  <a:cs typeface="Segoe UI" panose="020B0502040204020203" pitchFamily="34" charset="0"/>
                </a:rPr>
                <a:t>Intune</a:t>
              </a:r>
            </a:p>
          </p:txBody>
        </p:sp>
        <p:sp>
          <p:nvSpPr>
            <p:cNvPr id="348" name="Rectangle: Rounded Corners 347">
              <a:extLst>
                <a:ext uri="{FF2B5EF4-FFF2-40B4-BE49-F238E27FC236}">
                  <a16:creationId xmlns:a16="http://schemas.microsoft.com/office/drawing/2014/main" id="{ADC3298C-EA16-C047-344C-56A291775189}"/>
                </a:ext>
              </a:extLst>
            </p:cNvPr>
            <p:cNvSpPr/>
            <p:nvPr/>
          </p:nvSpPr>
          <p:spPr>
            <a:xfrm>
              <a:off x="968574" y="4865746"/>
              <a:ext cx="981607" cy="438077"/>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 Defender for Endpoint </a:t>
              </a:r>
            </a:p>
          </p:txBody>
        </p:sp>
        <p:cxnSp>
          <p:nvCxnSpPr>
            <p:cNvPr id="349" name="Straight Connector 348">
              <a:extLst>
                <a:ext uri="{FF2B5EF4-FFF2-40B4-BE49-F238E27FC236}">
                  <a16:creationId xmlns:a16="http://schemas.microsoft.com/office/drawing/2014/main" id="{12FB7404-BAC9-65B2-4217-79419DCEA421}"/>
                </a:ext>
              </a:extLst>
            </p:cNvPr>
            <p:cNvCxnSpPr>
              <a:cxnSpLocks/>
            </p:cNvCxnSpPr>
            <p:nvPr/>
          </p:nvCxnSpPr>
          <p:spPr>
            <a:xfrm>
              <a:off x="968574" y="4865748"/>
              <a:ext cx="981607"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grpSp>
      <p:grpSp>
        <p:nvGrpSpPr>
          <p:cNvPr id="350" name="Group 349">
            <a:extLst>
              <a:ext uri="{FF2B5EF4-FFF2-40B4-BE49-F238E27FC236}">
                <a16:creationId xmlns:a16="http://schemas.microsoft.com/office/drawing/2014/main" id="{47F30C82-0646-061C-E3DA-476361FF6B05}"/>
              </a:ext>
            </a:extLst>
          </p:cNvPr>
          <p:cNvGrpSpPr/>
          <p:nvPr/>
        </p:nvGrpSpPr>
        <p:grpSpPr>
          <a:xfrm>
            <a:off x="9883196" y="3089216"/>
            <a:ext cx="1181312" cy="939657"/>
            <a:chOff x="9883733" y="2933939"/>
            <a:chExt cx="1181480" cy="939790"/>
          </a:xfrm>
        </p:grpSpPr>
        <p:sp>
          <p:nvSpPr>
            <p:cNvPr id="351" name="Rectangle: Rounded Corners 350">
              <a:extLst>
                <a:ext uri="{FF2B5EF4-FFF2-40B4-BE49-F238E27FC236}">
                  <a16:creationId xmlns:a16="http://schemas.microsoft.com/office/drawing/2014/main" id="{B668466C-C70C-45C2-45D0-02DC306EA441}"/>
                </a:ext>
              </a:extLst>
            </p:cNvPr>
            <p:cNvSpPr/>
            <p:nvPr/>
          </p:nvSpPr>
          <p:spPr>
            <a:xfrm>
              <a:off x="9883733" y="2933939"/>
              <a:ext cx="1181480" cy="939790"/>
            </a:xfrm>
            <a:prstGeom prst="roundRect">
              <a:avLst>
                <a:gd name="adj" fmla="val 10523"/>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52" name="Rectangle: Rounded Corners 351">
              <a:extLst>
                <a:ext uri="{FF2B5EF4-FFF2-40B4-BE49-F238E27FC236}">
                  <a16:creationId xmlns:a16="http://schemas.microsoft.com/office/drawing/2014/main" id="{99A7793A-EBA9-AC8F-F154-A0FF33996B60}"/>
                </a:ext>
              </a:extLst>
            </p:cNvPr>
            <p:cNvSpPr/>
            <p:nvPr/>
          </p:nvSpPr>
          <p:spPr>
            <a:xfrm>
              <a:off x="9883733" y="3286365"/>
              <a:ext cx="1181480" cy="302198"/>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 </a:t>
              </a:r>
              <a:r>
                <a:rPr lang="en-US" sz="800" err="1">
                  <a:solidFill>
                    <a:srgbClr val="000000"/>
                  </a:solidFill>
                  <a:latin typeface="+mj-lt"/>
                  <a:cs typeface="Segoe UI" panose="020B0502040204020203" pitchFamily="34" charset="0"/>
                </a:rPr>
                <a:t>Entra</a:t>
              </a:r>
              <a:r>
                <a:rPr lang="en-US" sz="800">
                  <a:solidFill>
                    <a:srgbClr val="000000"/>
                  </a:solidFill>
                  <a:latin typeface="+mj-lt"/>
                  <a:cs typeface="Segoe UI" panose="020B0502040204020203" pitchFamily="34" charset="0"/>
                </a:rPr>
                <a:t> ID</a:t>
              </a:r>
            </a:p>
          </p:txBody>
        </p:sp>
        <p:sp>
          <p:nvSpPr>
            <p:cNvPr id="353" name="Rectangle: Rounded Corners 352">
              <a:extLst>
                <a:ext uri="{FF2B5EF4-FFF2-40B4-BE49-F238E27FC236}">
                  <a16:creationId xmlns:a16="http://schemas.microsoft.com/office/drawing/2014/main" id="{7CC9BD15-13FB-2291-D2FC-81E27DD83C37}"/>
                </a:ext>
              </a:extLst>
            </p:cNvPr>
            <p:cNvSpPr/>
            <p:nvPr/>
          </p:nvSpPr>
          <p:spPr>
            <a:xfrm>
              <a:off x="9883733" y="3586386"/>
              <a:ext cx="1181480" cy="287343"/>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n-NO" sz="800">
                  <a:solidFill>
                    <a:srgbClr val="000000"/>
                  </a:solidFill>
                  <a:latin typeface="+mj-lt"/>
                  <a:cs typeface="Segoe UI" panose="020B0502040204020203" pitchFamily="34" charset="0"/>
                </a:rPr>
                <a:t>Microsoft Defender for Cloud Apps</a:t>
              </a:r>
            </a:p>
          </p:txBody>
        </p:sp>
        <p:cxnSp>
          <p:nvCxnSpPr>
            <p:cNvPr id="354" name="Straight Connector 353">
              <a:extLst>
                <a:ext uri="{FF2B5EF4-FFF2-40B4-BE49-F238E27FC236}">
                  <a16:creationId xmlns:a16="http://schemas.microsoft.com/office/drawing/2014/main" id="{5EB4FF1F-42CF-BBCA-CB8E-71F6FF125B6B}"/>
                </a:ext>
              </a:extLst>
            </p:cNvPr>
            <p:cNvCxnSpPr>
              <a:cxnSpLocks/>
            </p:cNvCxnSpPr>
            <p:nvPr/>
          </p:nvCxnSpPr>
          <p:spPr>
            <a:xfrm>
              <a:off x="9883733" y="3589225"/>
              <a:ext cx="1181480"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grpSp>
      <p:grpSp>
        <p:nvGrpSpPr>
          <p:cNvPr id="355" name="Group 354">
            <a:extLst>
              <a:ext uri="{FF2B5EF4-FFF2-40B4-BE49-F238E27FC236}">
                <a16:creationId xmlns:a16="http://schemas.microsoft.com/office/drawing/2014/main" id="{860E54AD-1620-AC92-C890-62B247B28754}"/>
              </a:ext>
            </a:extLst>
          </p:cNvPr>
          <p:cNvGrpSpPr/>
          <p:nvPr/>
        </p:nvGrpSpPr>
        <p:grpSpPr>
          <a:xfrm>
            <a:off x="9867953" y="1488285"/>
            <a:ext cx="1242004" cy="1153193"/>
            <a:chOff x="9868491" y="1706200"/>
            <a:chExt cx="1242181" cy="1068649"/>
          </a:xfrm>
        </p:grpSpPr>
        <p:sp>
          <p:nvSpPr>
            <p:cNvPr id="356" name="Rectangle: Rounded Corners 355">
              <a:extLst>
                <a:ext uri="{FF2B5EF4-FFF2-40B4-BE49-F238E27FC236}">
                  <a16:creationId xmlns:a16="http://schemas.microsoft.com/office/drawing/2014/main" id="{348ADE60-327C-A7D6-50A0-89D7B8B35182}"/>
                </a:ext>
              </a:extLst>
            </p:cNvPr>
            <p:cNvSpPr/>
            <p:nvPr/>
          </p:nvSpPr>
          <p:spPr>
            <a:xfrm>
              <a:off x="9883732" y="1706200"/>
              <a:ext cx="1181480" cy="819665"/>
            </a:xfrm>
            <a:prstGeom prst="roundRect">
              <a:avLst>
                <a:gd name="adj" fmla="val 10187"/>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a:p>
              <a:pPr algn="ctr"/>
              <a:endParaRPr lang="en-US" sz="1800"/>
            </a:p>
            <a:p>
              <a:pPr algn="ctr"/>
              <a:endParaRPr lang="en-US" sz="1800"/>
            </a:p>
            <a:p>
              <a:pPr algn="ctr"/>
              <a:endParaRPr lang="en-US" sz="1800"/>
            </a:p>
          </p:txBody>
        </p:sp>
        <p:sp>
          <p:nvSpPr>
            <p:cNvPr id="357" name="Rectangle: Rounded Corners 356">
              <a:extLst>
                <a:ext uri="{FF2B5EF4-FFF2-40B4-BE49-F238E27FC236}">
                  <a16:creationId xmlns:a16="http://schemas.microsoft.com/office/drawing/2014/main" id="{D228CAA6-E9B3-28BC-09BF-A2177306F361}"/>
                </a:ext>
              </a:extLst>
            </p:cNvPr>
            <p:cNvSpPr/>
            <p:nvPr/>
          </p:nvSpPr>
          <p:spPr>
            <a:xfrm>
              <a:off x="9883733" y="2058626"/>
              <a:ext cx="1181480" cy="261884"/>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 Defender </a:t>
              </a:r>
              <a:br>
                <a:rPr lang="en-US" sz="800">
                  <a:solidFill>
                    <a:srgbClr val="000000"/>
                  </a:solidFill>
                  <a:latin typeface="+mj-lt"/>
                  <a:cs typeface="Segoe UI" panose="020B0502040204020203" pitchFamily="34" charset="0"/>
                </a:rPr>
              </a:br>
              <a:r>
                <a:rPr lang="en-US" sz="800">
                  <a:solidFill>
                    <a:srgbClr val="000000"/>
                  </a:solidFill>
                  <a:latin typeface="+mj-lt"/>
                  <a:cs typeface="Segoe UI" panose="020B0502040204020203" pitchFamily="34" charset="0"/>
                </a:rPr>
                <a:t>for Office</a:t>
              </a:r>
            </a:p>
          </p:txBody>
        </p:sp>
        <p:cxnSp>
          <p:nvCxnSpPr>
            <p:cNvPr id="358" name="Straight Connector 357">
              <a:extLst>
                <a:ext uri="{FF2B5EF4-FFF2-40B4-BE49-F238E27FC236}">
                  <a16:creationId xmlns:a16="http://schemas.microsoft.com/office/drawing/2014/main" id="{A7F94547-0FF6-9F6A-248C-F9CCC2504743}"/>
                </a:ext>
              </a:extLst>
            </p:cNvPr>
            <p:cNvCxnSpPr>
              <a:cxnSpLocks/>
            </p:cNvCxnSpPr>
            <p:nvPr/>
          </p:nvCxnSpPr>
          <p:spPr>
            <a:xfrm>
              <a:off x="9883733" y="2326171"/>
              <a:ext cx="1181480"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sp>
          <p:nvSpPr>
            <p:cNvPr id="359" name="Rectangle: Rounded Corners 358">
              <a:extLst>
                <a:ext uri="{FF2B5EF4-FFF2-40B4-BE49-F238E27FC236}">
                  <a16:creationId xmlns:a16="http://schemas.microsoft.com/office/drawing/2014/main" id="{9AA368F7-2DB5-8A84-6741-1BBB0E6A17CC}"/>
                </a:ext>
              </a:extLst>
            </p:cNvPr>
            <p:cNvSpPr/>
            <p:nvPr/>
          </p:nvSpPr>
          <p:spPr>
            <a:xfrm>
              <a:off x="9868491" y="2497670"/>
              <a:ext cx="1242181" cy="27717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rgbClr val="000000"/>
                </a:solidFill>
                <a:latin typeface="+mj-lt"/>
                <a:cs typeface="Segoe UI" panose="020B0502040204020203" pitchFamily="34" charset="0"/>
              </a:endParaRPr>
            </a:p>
          </p:txBody>
        </p:sp>
        <p:sp>
          <p:nvSpPr>
            <p:cNvPr id="360" name="Rectangle: Rounded Corners 359">
              <a:extLst>
                <a:ext uri="{FF2B5EF4-FFF2-40B4-BE49-F238E27FC236}">
                  <a16:creationId xmlns:a16="http://schemas.microsoft.com/office/drawing/2014/main" id="{661DD4DC-09FB-27A6-43AA-4438ADC9E5D1}"/>
                </a:ext>
              </a:extLst>
            </p:cNvPr>
            <p:cNvSpPr/>
            <p:nvPr/>
          </p:nvSpPr>
          <p:spPr>
            <a:xfrm>
              <a:off x="9883734" y="2324040"/>
              <a:ext cx="1181480" cy="187301"/>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rgbClr val="000000"/>
                  </a:solidFill>
                  <a:latin typeface="+mj-lt"/>
                  <a:cs typeface="Segoe UI"/>
                </a:rPr>
                <a:t>Microsoft Purview</a:t>
              </a:r>
            </a:p>
          </p:txBody>
        </p:sp>
      </p:grpSp>
      <p:grpSp>
        <p:nvGrpSpPr>
          <p:cNvPr id="361" name="Group 360">
            <a:extLst>
              <a:ext uri="{FF2B5EF4-FFF2-40B4-BE49-F238E27FC236}">
                <a16:creationId xmlns:a16="http://schemas.microsoft.com/office/drawing/2014/main" id="{1D5CE87E-6322-4374-042B-CF5697C1B31A}"/>
              </a:ext>
            </a:extLst>
          </p:cNvPr>
          <p:cNvGrpSpPr/>
          <p:nvPr/>
        </p:nvGrpSpPr>
        <p:grpSpPr>
          <a:xfrm>
            <a:off x="9883196" y="5119068"/>
            <a:ext cx="1181312" cy="697746"/>
            <a:chOff x="9883733" y="4383528"/>
            <a:chExt cx="1181480" cy="697845"/>
          </a:xfrm>
        </p:grpSpPr>
        <p:sp>
          <p:nvSpPr>
            <p:cNvPr id="362" name="Rectangle: Rounded Corners 361">
              <a:extLst>
                <a:ext uri="{FF2B5EF4-FFF2-40B4-BE49-F238E27FC236}">
                  <a16:creationId xmlns:a16="http://schemas.microsoft.com/office/drawing/2014/main" id="{C2C9CB8A-5168-78CF-6B33-13ECD68ACA7C}"/>
                </a:ext>
              </a:extLst>
            </p:cNvPr>
            <p:cNvSpPr/>
            <p:nvPr/>
          </p:nvSpPr>
          <p:spPr>
            <a:xfrm>
              <a:off x="9883733" y="4383528"/>
              <a:ext cx="1181480" cy="684116"/>
            </a:xfrm>
            <a:prstGeom prst="roundRect">
              <a:avLst>
                <a:gd name="adj" fmla="val 13808"/>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63" name="Rectangle: Rounded Corners 362">
              <a:extLst>
                <a:ext uri="{FF2B5EF4-FFF2-40B4-BE49-F238E27FC236}">
                  <a16:creationId xmlns:a16="http://schemas.microsoft.com/office/drawing/2014/main" id="{4AF0F4D1-FF49-1796-3C89-B1E79AB45542}"/>
                </a:ext>
              </a:extLst>
            </p:cNvPr>
            <p:cNvSpPr/>
            <p:nvPr/>
          </p:nvSpPr>
          <p:spPr>
            <a:xfrm>
              <a:off x="9883733" y="4764533"/>
              <a:ext cx="1181480" cy="316840"/>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 Defender for Cloud</a:t>
              </a:r>
            </a:p>
          </p:txBody>
        </p:sp>
      </p:grpSp>
      <p:grpSp>
        <p:nvGrpSpPr>
          <p:cNvPr id="364" name="Group 363">
            <a:extLst>
              <a:ext uri="{FF2B5EF4-FFF2-40B4-BE49-F238E27FC236}">
                <a16:creationId xmlns:a16="http://schemas.microsoft.com/office/drawing/2014/main" id="{C60C9ED9-5404-8D9C-1AFE-3F82D0118651}"/>
              </a:ext>
            </a:extLst>
          </p:cNvPr>
          <p:cNvGrpSpPr/>
          <p:nvPr/>
        </p:nvGrpSpPr>
        <p:grpSpPr>
          <a:xfrm>
            <a:off x="4197565" y="1462657"/>
            <a:ext cx="1761875" cy="1161885"/>
            <a:chOff x="4197296" y="724237"/>
            <a:chExt cx="1762125" cy="1162050"/>
          </a:xfrm>
        </p:grpSpPr>
        <p:sp>
          <p:nvSpPr>
            <p:cNvPr id="365" name="Rectangle: Rounded Corners 364">
              <a:extLst>
                <a:ext uri="{FF2B5EF4-FFF2-40B4-BE49-F238E27FC236}">
                  <a16:creationId xmlns:a16="http://schemas.microsoft.com/office/drawing/2014/main" id="{E5098B1D-3534-6E0D-4AD8-A53EB6906E9E}"/>
                </a:ext>
              </a:extLst>
            </p:cNvPr>
            <p:cNvSpPr/>
            <p:nvPr/>
          </p:nvSpPr>
          <p:spPr>
            <a:xfrm>
              <a:off x="4197296" y="724237"/>
              <a:ext cx="1762125" cy="1162050"/>
            </a:xfrm>
            <a:prstGeom prst="roundRect">
              <a:avLst>
                <a:gd name="adj" fmla="val 4372"/>
              </a:avLst>
            </a:prstGeom>
            <a:solidFill>
              <a:srgbClr val="F0F0F0"/>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66" name="Rectangle: Rounded Corners 365">
              <a:extLst>
                <a:ext uri="{FF2B5EF4-FFF2-40B4-BE49-F238E27FC236}">
                  <a16:creationId xmlns:a16="http://schemas.microsoft.com/office/drawing/2014/main" id="{C6120288-4F04-F61C-7721-D96E7EB8A3B0}"/>
                </a:ext>
              </a:extLst>
            </p:cNvPr>
            <p:cNvSpPr/>
            <p:nvPr/>
          </p:nvSpPr>
          <p:spPr>
            <a:xfrm>
              <a:off x="4197296" y="1120915"/>
              <a:ext cx="1762125" cy="308167"/>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Microsoft Defender </a:t>
              </a:r>
              <a:br>
                <a:rPr lang="en-US" sz="800">
                  <a:solidFill>
                    <a:srgbClr val="000000"/>
                  </a:solidFill>
                  <a:latin typeface="+mj-lt"/>
                  <a:cs typeface="Segoe UI" panose="020B0502040204020203" pitchFamily="34" charset="0"/>
                </a:rPr>
              </a:br>
              <a:r>
                <a:rPr lang="en-US" sz="800">
                  <a:solidFill>
                    <a:srgbClr val="000000"/>
                  </a:solidFill>
                  <a:latin typeface="+mj-lt"/>
                  <a:cs typeface="Segoe UI" panose="020B0502040204020203" pitchFamily="34" charset="0"/>
                </a:rPr>
                <a:t>for Cloud</a:t>
              </a:r>
            </a:p>
          </p:txBody>
        </p:sp>
        <p:sp>
          <p:nvSpPr>
            <p:cNvPr id="367" name="Rectangle: Rounded Corners 366">
              <a:extLst>
                <a:ext uri="{FF2B5EF4-FFF2-40B4-BE49-F238E27FC236}">
                  <a16:creationId xmlns:a16="http://schemas.microsoft.com/office/drawing/2014/main" id="{F0B2928F-E37E-69F2-210C-0BCAEA9603B0}"/>
                </a:ext>
              </a:extLst>
            </p:cNvPr>
            <p:cNvSpPr/>
            <p:nvPr/>
          </p:nvSpPr>
          <p:spPr>
            <a:xfrm>
              <a:off x="4197296" y="1427879"/>
              <a:ext cx="1762125" cy="220187"/>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Secure</a:t>
              </a:r>
              <a:r>
                <a:rPr lang="en-US" sz="800">
                  <a:solidFill>
                    <a:srgbClr val="000000"/>
                  </a:solidFill>
                  <a:latin typeface="Segoe UI" panose="020B0502040204020203" pitchFamily="34" charset="0"/>
                  <a:cs typeface="Segoe UI" panose="020B0502040204020203" pitchFamily="34" charset="0"/>
                </a:rPr>
                <a:t> </a:t>
              </a:r>
              <a:r>
                <a:rPr lang="en-US" sz="800">
                  <a:solidFill>
                    <a:srgbClr val="000000"/>
                  </a:solidFill>
                  <a:latin typeface="+mj-lt"/>
                  <a:cs typeface="Segoe UI" panose="020B0502040204020203" pitchFamily="34" charset="0"/>
                </a:rPr>
                <a:t>Score</a:t>
              </a:r>
            </a:p>
          </p:txBody>
        </p:sp>
        <p:sp>
          <p:nvSpPr>
            <p:cNvPr id="368" name="Rectangle: Rounded Corners 367">
              <a:extLst>
                <a:ext uri="{FF2B5EF4-FFF2-40B4-BE49-F238E27FC236}">
                  <a16:creationId xmlns:a16="http://schemas.microsoft.com/office/drawing/2014/main" id="{E250EB33-452B-F7A2-18EC-D9DBF5C144A0}"/>
                </a:ext>
              </a:extLst>
            </p:cNvPr>
            <p:cNvSpPr/>
            <p:nvPr/>
          </p:nvSpPr>
          <p:spPr>
            <a:xfrm>
              <a:off x="4197296" y="1650691"/>
              <a:ext cx="1762125" cy="235124"/>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latin typeface="+mj-lt"/>
                  <a:cs typeface="Segoe UI" panose="020B0502040204020203" pitchFamily="34" charset="0"/>
                </a:rPr>
                <a:t>Compliance</a:t>
              </a:r>
              <a:r>
                <a:rPr lang="en-US" sz="800">
                  <a:solidFill>
                    <a:srgbClr val="000000"/>
                  </a:solidFill>
                  <a:latin typeface="Segoe UI" panose="020B0502040204020203" pitchFamily="34" charset="0"/>
                  <a:cs typeface="Segoe UI" panose="020B0502040204020203" pitchFamily="34" charset="0"/>
                </a:rPr>
                <a:t> </a:t>
              </a:r>
              <a:r>
                <a:rPr lang="en-US" sz="800">
                  <a:solidFill>
                    <a:srgbClr val="000000"/>
                  </a:solidFill>
                  <a:latin typeface="+mj-lt"/>
                  <a:cs typeface="Segoe UI" panose="020B0502040204020203" pitchFamily="34" charset="0"/>
                </a:rPr>
                <a:t>Manager</a:t>
              </a:r>
            </a:p>
          </p:txBody>
        </p:sp>
        <p:cxnSp>
          <p:nvCxnSpPr>
            <p:cNvPr id="369" name="Straight Connector 368">
              <a:extLst>
                <a:ext uri="{FF2B5EF4-FFF2-40B4-BE49-F238E27FC236}">
                  <a16:creationId xmlns:a16="http://schemas.microsoft.com/office/drawing/2014/main" id="{AC9B517D-F187-9B33-C312-3054EBE24FAE}"/>
                </a:ext>
              </a:extLst>
            </p:cNvPr>
            <p:cNvCxnSpPr>
              <a:cxnSpLocks/>
            </p:cNvCxnSpPr>
            <p:nvPr/>
          </p:nvCxnSpPr>
          <p:spPr>
            <a:xfrm>
              <a:off x="4197296" y="1436201"/>
              <a:ext cx="176212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3E0671FA-6D40-958A-4E63-158209705E9B}"/>
                </a:ext>
              </a:extLst>
            </p:cNvPr>
            <p:cNvCxnSpPr>
              <a:cxnSpLocks/>
            </p:cNvCxnSpPr>
            <p:nvPr/>
          </p:nvCxnSpPr>
          <p:spPr>
            <a:xfrm>
              <a:off x="4197296" y="1651517"/>
              <a:ext cx="176212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81760AEE-A455-5D89-7BFA-05F3F6D78E2A}"/>
              </a:ext>
            </a:extLst>
          </p:cNvPr>
          <p:cNvCxnSpPr>
            <a:cxnSpLocks/>
            <a:endCxn id="312" idx="3"/>
          </p:cNvCxnSpPr>
          <p:nvPr/>
        </p:nvCxnSpPr>
        <p:spPr>
          <a:xfrm>
            <a:off x="5078503" y="3572017"/>
            <a:ext cx="0" cy="1295138"/>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pic>
        <p:nvPicPr>
          <p:cNvPr id="61" name="Picture 60" descr="Microsoft Security logo">
            <a:extLst>
              <a:ext uri="{FF2B5EF4-FFF2-40B4-BE49-F238E27FC236}">
                <a16:creationId xmlns:a16="http://schemas.microsoft.com/office/drawing/2014/main" id="{77E18CEF-AF35-6A9B-2BB1-EAAEB54485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7038" y="60571"/>
            <a:ext cx="2297504" cy="693571"/>
          </a:xfrm>
          <a:prstGeom prst="rect">
            <a:avLst/>
          </a:prstGeom>
        </p:spPr>
      </p:pic>
      <p:grpSp>
        <p:nvGrpSpPr>
          <p:cNvPr id="62" name="Group 61">
            <a:extLst>
              <a:ext uri="{FF2B5EF4-FFF2-40B4-BE49-F238E27FC236}">
                <a16:creationId xmlns:a16="http://schemas.microsoft.com/office/drawing/2014/main" id="{7FB23BC8-9EA5-1D57-65DD-1D8A1BA2C7F1}"/>
              </a:ext>
            </a:extLst>
          </p:cNvPr>
          <p:cNvGrpSpPr/>
          <p:nvPr/>
        </p:nvGrpSpPr>
        <p:grpSpPr>
          <a:xfrm rot="16200000">
            <a:off x="6126158" y="761779"/>
            <a:ext cx="5004506" cy="5251343"/>
            <a:chOff x="6942509" y="3678467"/>
            <a:chExt cx="571119" cy="1690391"/>
          </a:xfrm>
        </p:grpSpPr>
        <p:cxnSp>
          <p:nvCxnSpPr>
            <p:cNvPr id="63" name="Straight Connector 62">
              <a:extLst>
                <a:ext uri="{FF2B5EF4-FFF2-40B4-BE49-F238E27FC236}">
                  <a16:creationId xmlns:a16="http://schemas.microsoft.com/office/drawing/2014/main" id="{06BDECF7-3B81-30EC-921E-6B7D40B7FADA}"/>
                </a:ext>
              </a:extLst>
            </p:cNvPr>
            <p:cNvCxnSpPr>
              <a:cxnSpLocks/>
            </p:cNvCxnSpPr>
            <p:nvPr/>
          </p:nvCxnSpPr>
          <p:spPr>
            <a:xfrm flipH="1">
              <a:off x="6942509" y="5368857"/>
              <a:ext cx="571119" cy="1"/>
            </a:xfrm>
            <a:prstGeom prst="line">
              <a:avLst/>
            </a:prstGeom>
            <a:ln w="15875" cap="rnd">
              <a:solidFill>
                <a:srgbClr val="9D9D9D"/>
              </a:solidFill>
              <a:prstDash val="sysDash"/>
              <a:roun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7F7D32D-3240-ACED-D519-7FB13CF96D78}"/>
                </a:ext>
              </a:extLst>
            </p:cNvPr>
            <p:cNvCxnSpPr>
              <a:cxnSpLocks/>
            </p:cNvCxnSpPr>
            <p:nvPr/>
          </p:nvCxnSpPr>
          <p:spPr>
            <a:xfrm flipH="1" flipV="1">
              <a:off x="6942509" y="3678467"/>
              <a:ext cx="1" cy="1690391"/>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0F67AA8-83C5-38BA-4E75-F820E127D504}"/>
                </a:ext>
              </a:extLst>
            </p:cNvPr>
            <p:cNvCxnSpPr>
              <a:cxnSpLocks/>
            </p:cNvCxnSpPr>
            <p:nvPr/>
          </p:nvCxnSpPr>
          <p:spPr>
            <a:xfrm flipH="1" flipV="1">
              <a:off x="7513627" y="3678467"/>
              <a:ext cx="1" cy="1690391"/>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66" name="Straight Connector 65">
            <a:extLst>
              <a:ext uri="{FF2B5EF4-FFF2-40B4-BE49-F238E27FC236}">
                <a16:creationId xmlns:a16="http://schemas.microsoft.com/office/drawing/2014/main" id="{81AE34D8-A920-46B7-1093-7AB0287609D1}"/>
              </a:ext>
            </a:extLst>
          </p:cNvPr>
          <p:cNvCxnSpPr>
            <a:cxnSpLocks/>
          </p:cNvCxnSpPr>
          <p:nvPr/>
        </p:nvCxnSpPr>
        <p:spPr>
          <a:xfrm rot="16200000" flipH="1" flipV="1">
            <a:off x="7039074" y="4269786"/>
            <a:ext cx="1" cy="2072672"/>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E706016-5AD5-9665-8F8D-01C9B2A5506E}"/>
              </a:ext>
            </a:extLst>
          </p:cNvPr>
          <p:cNvCxnSpPr>
            <a:cxnSpLocks/>
            <a:endCxn id="165" idx="1"/>
          </p:cNvCxnSpPr>
          <p:nvPr/>
        </p:nvCxnSpPr>
        <p:spPr>
          <a:xfrm>
            <a:off x="1950769" y="2307805"/>
            <a:ext cx="375495" cy="0"/>
          </a:xfrm>
          <a:prstGeom prst="line">
            <a:avLst/>
          </a:prstGeom>
          <a:ln w="15875" cap="rnd">
            <a:solidFill>
              <a:srgbClr val="9D9D9D"/>
            </a:solidFill>
            <a:prstDash val="sysDash"/>
            <a:round/>
            <a:tailEnd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D07AA4C-6789-F1CC-CFFA-FB3C3C9C52DC}"/>
              </a:ext>
            </a:extLst>
          </p:cNvPr>
          <p:cNvCxnSpPr>
            <a:cxnSpLocks/>
            <a:endCxn id="166" idx="1"/>
          </p:cNvCxnSpPr>
          <p:nvPr/>
        </p:nvCxnSpPr>
        <p:spPr>
          <a:xfrm>
            <a:off x="1950769" y="4489003"/>
            <a:ext cx="375495" cy="0"/>
          </a:xfrm>
          <a:prstGeom prst="line">
            <a:avLst/>
          </a:prstGeom>
          <a:ln w="15875" cap="rnd">
            <a:solidFill>
              <a:srgbClr val="9D9D9D"/>
            </a:solidFill>
            <a:prstDash val="sysDash"/>
            <a:round/>
            <a:tailEnd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24873B6-1DF5-B803-417D-8C319F46E741}"/>
              </a:ext>
            </a:extLst>
          </p:cNvPr>
          <p:cNvCxnSpPr>
            <a:cxnSpLocks/>
          </p:cNvCxnSpPr>
          <p:nvPr/>
        </p:nvCxnSpPr>
        <p:spPr>
          <a:xfrm>
            <a:off x="2515080" y="2499690"/>
            <a:ext cx="0" cy="1797430"/>
          </a:xfrm>
          <a:prstGeom prst="line">
            <a:avLst/>
          </a:prstGeom>
          <a:ln w="15875" cap="rnd">
            <a:solidFill>
              <a:srgbClr val="9D9D9D"/>
            </a:solidFill>
            <a:prstDash val="sysDash"/>
            <a:round/>
            <a:tailEnd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AB305DE-F7D5-F703-BC0C-81FC0482902E}"/>
              </a:ext>
            </a:extLst>
          </p:cNvPr>
          <p:cNvCxnSpPr>
            <a:cxnSpLocks/>
          </p:cNvCxnSpPr>
          <p:nvPr/>
        </p:nvCxnSpPr>
        <p:spPr>
          <a:xfrm>
            <a:off x="2515081" y="3193864"/>
            <a:ext cx="1588851" cy="0"/>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4BB0F6-2662-E585-FE0F-087A61008AFF}"/>
              </a:ext>
            </a:extLst>
          </p:cNvPr>
          <p:cNvCxnSpPr>
            <a:cxnSpLocks/>
          </p:cNvCxnSpPr>
          <p:nvPr/>
        </p:nvCxnSpPr>
        <p:spPr>
          <a:xfrm flipH="1">
            <a:off x="3626528" y="5421615"/>
            <a:ext cx="571038" cy="1"/>
          </a:xfrm>
          <a:prstGeom prst="line">
            <a:avLst/>
          </a:prstGeom>
          <a:ln w="15875" cap="rnd">
            <a:solidFill>
              <a:srgbClr val="9D9D9D"/>
            </a:solidFill>
            <a:prstDash val="sysDash"/>
            <a:roun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CEF4616-92FE-2952-A7B0-D9255E6FC074}"/>
              </a:ext>
            </a:extLst>
          </p:cNvPr>
          <p:cNvCxnSpPr>
            <a:cxnSpLocks/>
          </p:cNvCxnSpPr>
          <p:nvPr/>
        </p:nvCxnSpPr>
        <p:spPr>
          <a:xfrm flipH="1" flipV="1">
            <a:off x="3637351" y="3499897"/>
            <a:ext cx="1" cy="1921721"/>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FCC4BBF-AD64-E40B-CEE9-C857C3D1292B}"/>
              </a:ext>
            </a:extLst>
          </p:cNvPr>
          <p:cNvCxnSpPr>
            <a:cxnSpLocks/>
          </p:cNvCxnSpPr>
          <p:nvPr/>
        </p:nvCxnSpPr>
        <p:spPr>
          <a:xfrm>
            <a:off x="5959441" y="3193864"/>
            <a:ext cx="1608901" cy="0"/>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F2C9A14-28AD-8AC9-A744-C39A787A96DE}"/>
              </a:ext>
            </a:extLst>
          </p:cNvPr>
          <p:cNvCxnSpPr>
            <a:cxnSpLocks/>
          </p:cNvCxnSpPr>
          <p:nvPr/>
        </p:nvCxnSpPr>
        <p:spPr>
          <a:xfrm>
            <a:off x="8549809" y="3193864"/>
            <a:ext cx="1333387" cy="0"/>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sp>
        <p:nvSpPr>
          <p:cNvPr id="101" name="Rectangle: Rounded Corners 100">
            <a:extLst>
              <a:ext uri="{FF2B5EF4-FFF2-40B4-BE49-F238E27FC236}">
                <a16:creationId xmlns:a16="http://schemas.microsoft.com/office/drawing/2014/main" id="{D738AC82-52D1-C2D8-AB72-707A0511E2CB}"/>
              </a:ext>
            </a:extLst>
          </p:cNvPr>
          <p:cNvSpPr/>
          <p:nvPr/>
        </p:nvSpPr>
        <p:spPr>
          <a:xfrm>
            <a:off x="4197565" y="2815711"/>
            <a:ext cx="1761875" cy="756305"/>
          </a:xfrm>
          <a:prstGeom prst="roundRect">
            <a:avLst>
              <a:gd name="adj" fmla="val 7502"/>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4" name="Rectangle: Rounded Corners 113">
            <a:extLst>
              <a:ext uri="{FF2B5EF4-FFF2-40B4-BE49-F238E27FC236}">
                <a16:creationId xmlns:a16="http://schemas.microsoft.com/office/drawing/2014/main" id="{A92904B9-CF99-F844-B3DF-F64CE7AA6C50}"/>
              </a:ext>
            </a:extLst>
          </p:cNvPr>
          <p:cNvSpPr/>
          <p:nvPr/>
        </p:nvSpPr>
        <p:spPr>
          <a:xfrm>
            <a:off x="4197565" y="3168087"/>
            <a:ext cx="1761875" cy="201140"/>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Evaluation</a:t>
            </a:r>
          </a:p>
        </p:txBody>
      </p:sp>
      <p:sp>
        <p:nvSpPr>
          <p:cNvPr id="122" name="Rectangle: Rounded Corners 121">
            <a:extLst>
              <a:ext uri="{FF2B5EF4-FFF2-40B4-BE49-F238E27FC236}">
                <a16:creationId xmlns:a16="http://schemas.microsoft.com/office/drawing/2014/main" id="{7FC2E200-BBC5-E57C-9CEE-ADFF91247F40}"/>
              </a:ext>
            </a:extLst>
          </p:cNvPr>
          <p:cNvSpPr/>
          <p:nvPr/>
        </p:nvSpPr>
        <p:spPr>
          <a:xfrm>
            <a:off x="4197565" y="3370876"/>
            <a:ext cx="1761875" cy="201140"/>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Enforcement</a:t>
            </a:r>
          </a:p>
        </p:txBody>
      </p:sp>
      <p:cxnSp>
        <p:nvCxnSpPr>
          <p:cNvPr id="123" name="Straight Connector 122">
            <a:extLst>
              <a:ext uri="{FF2B5EF4-FFF2-40B4-BE49-F238E27FC236}">
                <a16:creationId xmlns:a16="http://schemas.microsoft.com/office/drawing/2014/main" id="{A8387678-6C55-5E32-C5C8-C66344A46FAA}"/>
              </a:ext>
            </a:extLst>
          </p:cNvPr>
          <p:cNvCxnSpPr>
            <a:cxnSpLocks/>
          </p:cNvCxnSpPr>
          <p:nvPr/>
        </p:nvCxnSpPr>
        <p:spPr>
          <a:xfrm>
            <a:off x="4197565" y="3370052"/>
            <a:ext cx="176187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sp>
        <p:nvSpPr>
          <p:cNvPr id="124" name="Rectangle: Rounded Corners 123">
            <a:extLst>
              <a:ext uri="{FF2B5EF4-FFF2-40B4-BE49-F238E27FC236}">
                <a16:creationId xmlns:a16="http://schemas.microsoft.com/office/drawing/2014/main" id="{9C0A9C53-E57B-C932-6F00-B738C880D271}"/>
              </a:ext>
            </a:extLst>
          </p:cNvPr>
          <p:cNvSpPr/>
          <p:nvPr/>
        </p:nvSpPr>
        <p:spPr>
          <a:xfrm>
            <a:off x="4197565" y="4867155"/>
            <a:ext cx="1761875" cy="1161885"/>
          </a:xfrm>
          <a:prstGeom prst="roundRect">
            <a:avLst>
              <a:gd name="adj" fmla="val 4372"/>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6" name="Rectangle: Rounded Corners 125">
            <a:extLst>
              <a:ext uri="{FF2B5EF4-FFF2-40B4-BE49-F238E27FC236}">
                <a16:creationId xmlns:a16="http://schemas.microsoft.com/office/drawing/2014/main" id="{DD754505-966D-05CF-EC13-843A07F96D36}"/>
              </a:ext>
            </a:extLst>
          </p:cNvPr>
          <p:cNvSpPr/>
          <p:nvPr/>
        </p:nvSpPr>
        <p:spPr>
          <a:xfrm>
            <a:off x="4197565" y="5219531"/>
            <a:ext cx="1761875"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Continuous Assessment</a:t>
            </a:r>
          </a:p>
        </p:txBody>
      </p:sp>
      <p:sp>
        <p:nvSpPr>
          <p:cNvPr id="128" name="Rectangle: Rounded Corners 127">
            <a:extLst>
              <a:ext uri="{FF2B5EF4-FFF2-40B4-BE49-F238E27FC236}">
                <a16:creationId xmlns:a16="http://schemas.microsoft.com/office/drawing/2014/main" id="{C31B4748-ADA8-9661-9B24-8D949C8AA549}"/>
              </a:ext>
            </a:extLst>
          </p:cNvPr>
          <p:cNvSpPr/>
          <p:nvPr/>
        </p:nvSpPr>
        <p:spPr>
          <a:xfrm>
            <a:off x="4197565" y="5422320"/>
            <a:ext cx="1761875"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Threat Intelligence</a:t>
            </a:r>
          </a:p>
        </p:txBody>
      </p:sp>
      <p:sp>
        <p:nvSpPr>
          <p:cNvPr id="129" name="Rectangle: Rounded Corners 128">
            <a:extLst>
              <a:ext uri="{FF2B5EF4-FFF2-40B4-BE49-F238E27FC236}">
                <a16:creationId xmlns:a16="http://schemas.microsoft.com/office/drawing/2014/main" id="{1F65AECC-90A0-551F-D67B-BA59872960B6}"/>
              </a:ext>
            </a:extLst>
          </p:cNvPr>
          <p:cNvSpPr/>
          <p:nvPr/>
        </p:nvSpPr>
        <p:spPr>
          <a:xfrm>
            <a:off x="4197565" y="5625109"/>
            <a:ext cx="1761875"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Forensics</a:t>
            </a:r>
          </a:p>
        </p:txBody>
      </p:sp>
      <p:sp>
        <p:nvSpPr>
          <p:cNvPr id="130" name="Rectangle: Rounded Corners 129">
            <a:extLst>
              <a:ext uri="{FF2B5EF4-FFF2-40B4-BE49-F238E27FC236}">
                <a16:creationId xmlns:a16="http://schemas.microsoft.com/office/drawing/2014/main" id="{B932172E-76B4-0809-02C9-F16F427D85B6}"/>
              </a:ext>
            </a:extLst>
          </p:cNvPr>
          <p:cNvSpPr/>
          <p:nvPr/>
        </p:nvSpPr>
        <p:spPr>
          <a:xfrm>
            <a:off x="4197565" y="5827901"/>
            <a:ext cx="1761875"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Response Automation</a:t>
            </a:r>
          </a:p>
        </p:txBody>
      </p:sp>
      <p:cxnSp>
        <p:nvCxnSpPr>
          <p:cNvPr id="131" name="Straight Connector 130">
            <a:extLst>
              <a:ext uri="{FF2B5EF4-FFF2-40B4-BE49-F238E27FC236}">
                <a16:creationId xmlns:a16="http://schemas.microsoft.com/office/drawing/2014/main" id="{D51AF49E-D0EA-E30E-2E79-36384BB5515D}"/>
              </a:ext>
            </a:extLst>
          </p:cNvPr>
          <p:cNvCxnSpPr>
            <a:cxnSpLocks/>
          </p:cNvCxnSpPr>
          <p:nvPr/>
        </p:nvCxnSpPr>
        <p:spPr>
          <a:xfrm>
            <a:off x="4197565" y="5827074"/>
            <a:ext cx="176187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AA5F05D-788F-8279-FFB4-C965836CC6F0}"/>
              </a:ext>
            </a:extLst>
          </p:cNvPr>
          <p:cNvCxnSpPr>
            <a:cxnSpLocks/>
          </p:cNvCxnSpPr>
          <p:nvPr/>
        </p:nvCxnSpPr>
        <p:spPr>
          <a:xfrm>
            <a:off x="4197565" y="5624284"/>
            <a:ext cx="176187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0CD8D47B-F880-1DD0-38C0-5E1049F3D98E}"/>
              </a:ext>
            </a:extLst>
          </p:cNvPr>
          <p:cNvCxnSpPr>
            <a:cxnSpLocks/>
          </p:cNvCxnSpPr>
          <p:nvPr/>
        </p:nvCxnSpPr>
        <p:spPr>
          <a:xfrm>
            <a:off x="4197565" y="5421495"/>
            <a:ext cx="176187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grpSp>
        <p:nvGrpSpPr>
          <p:cNvPr id="135" name="Group 134">
            <a:extLst>
              <a:ext uri="{FF2B5EF4-FFF2-40B4-BE49-F238E27FC236}">
                <a16:creationId xmlns:a16="http://schemas.microsoft.com/office/drawing/2014/main" id="{BD4D0CBC-B03D-D514-676E-B3D7A9CF218B}"/>
              </a:ext>
            </a:extLst>
          </p:cNvPr>
          <p:cNvGrpSpPr/>
          <p:nvPr/>
        </p:nvGrpSpPr>
        <p:grpSpPr>
          <a:xfrm>
            <a:off x="969302" y="1929653"/>
            <a:ext cx="981468" cy="756305"/>
            <a:chOff x="1947710" y="457200"/>
            <a:chExt cx="1762125" cy="756412"/>
          </a:xfrm>
        </p:grpSpPr>
        <p:sp>
          <p:nvSpPr>
            <p:cNvPr id="136" name="Rectangle: Rounded Corners 135">
              <a:extLst>
                <a:ext uri="{FF2B5EF4-FFF2-40B4-BE49-F238E27FC236}">
                  <a16:creationId xmlns:a16="http://schemas.microsoft.com/office/drawing/2014/main" id="{F52DA58E-2CD2-A935-ADA4-0C22CDF914E7}"/>
                </a:ext>
              </a:extLst>
            </p:cNvPr>
            <p:cNvSpPr/>
            <p:nvPr/>
          </p:nvSpPr>
          <p:spPr>
            <a:xfrm>
              <a:off x="1947710" y="457200"/>
              <a:ext cx="1762125" cy="756412"/>
            </a:xfrm>
            <a:prstGeom prst="roundRect">
              <a:avLst>
                <a:gd name="adj" fmla="val 7165"/>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8" name="Rectangle: Top Corners Rounded 137">
              <a:extLst>
                <a:ext uri="{FF2B5EF4-FFF2-40B4-BE49-F238E27FC236}">
                  <a16:creationId xmlns:a16="http://schemas.microsoft.com/office/drawing/2014/main" id="{5BC3EB85-12A7-DA82-8CC5-0767F1138738}"/>
                </a:ext>
              </a:extLst>
            </p:cNvPr>
            <p:cNvSpPr/>
            <p:nvPr/>
          </p:nvSpPr>
          <p:spPr>
            <a:xfrm>
              <a:off x="1947710" y="457200"/>
              <a:ext cx="1762125" cy="352425"/>
            </a:xfrm>
            <a:prstGeom prst="round2Same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cs typeface="Segoe UI Semibold" panose="020B0702040204020203" pitchFamily="34" charset="0"/>
                </a:rPr>
                <a:t>Identities</a:t>
              </a:r>
            </a:p>
          </p:txBody>
        </p:sp>
        <p:sp>
          <p:nvSpPr>
            <p:cNvPr id="139" name="Rectangle: Rounded Corners 138">
              <a:extLst>
                <a:ext uri="{FF2B5EF4-FFF2-40B4-BE49-F238E27FC236}">
                  <a16:creationId xmlns:a16="http://schemas.microsoft.com/office/drawing/2014/main" id="{593C74BC-B03B-679B-E55D-01AD7E3B5E0C}"/>
                </a:ext>
              </a:extLst>
            </p:cNvPr>
            <p:cNvSpPr/>
            <p:nvPr/>
          </p:nvSpPr>
          <p:spPr>
            <a:xfrm>
              <a:off x="1947710" y="809626"/>
              <a:ext cx="1762125" cy="201168"/>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cs typeface="Segoe UI" panose="020B0502040204020203" pitchFamily="34" charset="0"/>
                </a:rPr>
                <a:t>Human</a:t>
              </a:r>
            </a:p>
          </p:txBody>
        </p:sp>
        <p:sp>
          <p:nvSpPr>
            <p:cNvPr id="140" name="Rectangle: Rounded Corners 139">
              <a:extLst>
                <a:ext uri="{FF2B5EF4-FFF2-40B4-BE49-F238E27FC236}">
                  <a16:creationId xmlns:a16="http://schemas.microsoft.com/office/drawing/2014/main" id="{B2C82776-58E1-787F-5801-BA767CABADA9}"/>
                </a:ext>
              </a:extLst>
            </p:cNvPr>
            <p:cNvSpPr/>
            <p:nvPr/>
          </p:nvSpPr>
          <p:spPr>
            <a:xfrm>
              <a:off x="1947710" y="1012444"/>
              <a:ext cx="1762125" cy="201168"/>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cs typeface="Segoe UI" panose="020B0502040204020203" pitchFamily="34" charset="0"/>
                </a:rPr>
                <a:t>Non-human</a:t>
              </a:r>
            </a:p>
          </p:txBody>
        </p:sp>
        <p:cxnSp>
          <p:nvCxnSpPr>
            <p:cNvPr id="142" name="Straight Connector 141">
              <a:extLst>
                <a:ext uri="{FF2B5EF4-FFF2-40B4-BE49-F238E27FC236}">
                  <a16:creationId xmlns:a16="http://schemas.microsoft.com/office/drawing/2014/main" id="{7375A3B3-A27A-42E8-24C5-799FADC1E727}"/>
                </a:ext>
              </a:extLst>
            </p:cNvPr>
            <p:cNvCxnSpPr>
              <a:cxnSpLocks/>
            </p:cNvCxnSpPr>
            <p:nvPr/>
          </p:nvCxnSpPr>
          <p:spPr>
            <a:xfrm>
              <a:off x="1947710" y="1011619"/>
              <a:ext cx="176212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grpSp>
      <p:grpSp>
        <p:nvGrpSpPr>
          <p:cNvPr id="143" name="Group 142">
            <a:extLst>
              <a:ext uri="{FF2B5EF4-FFF2-40B4-BE49-F238E27FC236}">
                <a16:creationId xmlns:a16="http://schemas.microsoft.com/office/drawing/2014/main" id="{254081FE-071B-0348-4B25-E246A3CF5AAE}"/>
              </a:ext>
            </a:extLst>
          </p:cNvPr>
          <p:cNvGrpSpPr/>
          <p:nvPr/>
        </p:nvGrpSpPr>
        <p:grpSpPr>
          <a:xfrm>
            <a:off x="969302" y="4110850"/>
            <a:ext cx="981468" cy="756305"/>
            <a:chOff x="1947710" y="457200"/>
            <a:chExt cx="1762125" cy="756412"/>
          </a:xfrm>
        </p:grpSpPr>
        <p:sp>
          <p:nvSpPr>
            <p:cNvPr id="145" name="Rectangle: Rounded Corners 144">
              <a:extLst>
                <a:ext uri="{FF2B5EF4-FFF2-40B4-BE49-F238E27FC236}">
                  <a16:creationId xmlns:a16="http://schemas.microsoft.com/office/drawing/2014/main" id="{38F26686-224F-4BF3-4CC3-56FCF7ECCFC2}"/>
                </a:ext>
              </a:extLst>
            </p:cNvPr>
            <p:cNvSpPr/>
            <p:nvPr/>
          </p:nvSpPr>
          <p:spPr>
            <a:xfrm>
              <a:off x="1947710" y="457200"/>
              <a:ext cx="1762125" cy="756412"/>
            </a:xfrm>
            <a:prstGeom prst="roundRect">
              <a:avLst>
                <a:gd name="adj" fmla="val 7165"/>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6" name="Rectangle: Top Corners Rounded 145">
              <a:extLst>
                <a:ext uri="{FF2B5EF4-FFF2-40B4-BE49-F238E27FC236}">
                  <a16:creationId xmlns:a16="http://schemas.microsoft.com/office/drawing/2014/main" id="{CD028657-FA97-4969-3F9A-E93A097C6D58}"/>
                </a:ext>
              </a:extLst>
            </p:cNvPr>
            <p:cNvSpPr/>
            <p:nvPr/>
          </p:nvSpPr>
          <p:spPr>
            <a:xfrm>
              <a:off x="1947710" y="457200"/>
              <a:ext cx="1762125" cy="352425"/>
            </a:xfrm>
            <a:prstGeom prst="round2Same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cs typeface="Segoe UI Semibold" panose="020B0702040204020203" pitchFamily="34" charset="0"/>
                </a:rPr>
                <a:t>Endpoints</a:t>
              </a:r>
            </a:p>
          </p:txBody>
        </p:sp>
        <p:sp>
          <p:nvSpPr>
            <p:cNvPr id="148" name="Rectangle: Rounded Corners 147">
              <a:extLst>
                <a:ext uri="{FF2B5EF4-FFF2-40B4-BE49-F238E27FC236}">
                  <a16:creationId xmlns:a16="http://schemas.microsoft.com/office/drawing/2014/main" id="{E440885F-4D42-FACF-50C1-6902502FEEC6}"/>
                </a:ext>
              </a:extLst>
            </p:cNvPr>
            <p:cNvSpPr/>
            <p:nvPr/>
          </p:nvSpPr>
          <p:spPr>
            <a:xfrm>
              <a:off x="1947710" y="809626"/>
              <a:ext cx="1762125" cy="201168"/>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cs typeface="Segoe UI" panose="020B0502040204020203" pitchFamily="34" charset="0"/>
                </a:rPr>
                <a:t>Corporate</a:t>
              </a:r>
            </a:p>
          </p:txBody>
        </p:sp>
        <p:sp>
          <p:nvSpPr>
            <p:cNvPr id="149" name="Rectangle: Rounded Corners 148">
              <a:extLst>
                <a:ext uri="{FF2B5EF4-FFF2-40B4-BE49-F238E27FC236}">
                  <a16:creationId xmlns:a16="http://schemas.microsoft.com/office/drawing/2014/main" id="{EAB7361B-FB38-85C4-D008-D32CA8549E5A}"/>
                </a:ext>
              </a:extLst>
            </p:cNvPr>
            <p:cNvSpPr/>
            <p:nvPr/>
          </p:nvSpPr>
          <p:spPr>
            <a:xfrm>
              <a:off x="1947710" y="1012444"/>
              <a:ext cx="1762125" cy="201168"/>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cs typeface="Segoe UI" panose="020B0502040204020203" pitchFamily="34" charset="0"/>
                </a:rPr>
                <a:t>Personal</a:t>
              </a:r>
            </a:p>
          </p:txBody>
        </p:sp>
        <p:cxnSp>
          <p:nvCxnSpPr>
            <p:cNvPr id="150" name="Straight Connector 149">
              <a:extLst>
                <a:ext uri="{FF2B5EF4-FFF2-40B4-BE49-F238E27FC236}">
                  <a16:creationId xmlns:a16="http://schemas.microsoft.com/office/drawing/2014/main" id="{F4C41404-68AD-8F0D-E6EB-8F43ED0F89CB}"/>
                </a:ext>
              </a:extLst>
            </p:cNvPr>
            <p:cNvCxnSpPr>
              <a:cxnSpLocks/>
            </p:cNvCxnSpPr>
            <p:nvPr/>
          </p:nvCxnSpPr>
          <p:spPr>
            <a:xfrm>
              <a:off x="1947710" y="1011619"/>
              <a:ext cx="176212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grpSp>
      <p:sp>
        <p:nvSpPr>
          <p:cNvPr id="151" name="Rectangle: Rounded Corners 150">
            <a:extLst>
              <a:ext uri="{FF2B5EF4-FFF2-40B4-BE49-F238E27FC236}">
                <a16:creationId xmlns:a16="http://schemas.microsoft.com/office/drawing/2014/main" id="{9805ABE1-6119-B690-9E7C-3BA6E645BBCA}"/>
              </a:ext>
            </a:extLst>
          </p:cNvPr>
          <p:cNvSpPr/>
          <p:nvPr/>
        </p:nvSpPr>
        <p:spPr>
          <a:xfrm>
            <a:off x="7568341" y="3168087"/>
            <a:ext cx="981468" cy="201140"/>
          </a:xfrm>
          <a:prstGeom prst="roundRect">
            <a:avLst>
              <a:gd name="adj" fmla="val 437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Public</a:t>
            </a:r>
          </a:p>
        </p:txBody>
      </p:sp>
      <p:sp>
        <p:nvSpPr>
          <p:cNvPr id="152" name="Rectangle: Rounded Corners 151">
            <a:extLst>
              <a:ext uri="{FF2B5EF4-FFF2-40B4-BE49-F238E27FC236}">
                <a16:creationId xmlns:a16="http://schemas.microsoft.com/office/drawing/2014/main" id="{23EC359B-853B-3B4E-8286-AD2DC4699D6D}"/>
              </a:ext>
            </a:extLst>
          </p:cNvPr>
          <p:cNvSpPr/>
          <p:nvPr/>
        </p:nvSpPr>
        <p:spPr>
          <a:xfrm>
            <a:off x="7568341" y="3370876"/>
            <a:ext cx="981468" cy="201140"/>
          </a:xfrm>
          <a:prstGeom prst="roundRect">
            <a:avLst>
              <a:gd name="adj" fmla="val 437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Private</a:t>
            </a:r>
          </a:p>
        </p:txBody>
      </p:sp>
      <p:sp>
        <p:nvSpPr>
          <p:cNvPr id="153" name="Rectangle: Rounded Corners 152">
            <a:extLst>
              <a:ext uri="{FF2B5EF4-FFF2-40B4-BE49-F238E27FC236}">
                <a16:creationId xmlns:a16="http://schemas.microsoft.com/office/drawing/2014/main" id="{2151E9BE-26A6-E9FA-4C3C-87459BB8B021}"/>
              </a:ext>
            </a:extLst>
          </p:cNvPr>
          <p:cNvSpPr/>
          <p:nvPr/>
        </p:nvSpPr>
        <p:spPr>
          <a:xfrm>
            <a:off x="7568341" y="2815711"/>
            <a:ext cx="981468" cy="756305"/>
          </a:xfrm>
          <a:prstGeom prst="roundRect">
            <a:avLst>
              <a:gd name="adj" fmla="val 7165"/>
            </a:avLst>
          </a:prstGeom>
          <a:no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54" name="Straight Connector 153">
            <a:extLst>
              <a:ext uri="{FF2B5EF4-FFF2-40B4-BE49-F238E27FC236}">
                <a16:creationId xmlns:a16="http://schemas.microsoft.com/office/drawing/2014/main" id="{9D8E6160-D1E7-3132-36FA-EA8C775662BC}"/>
              </a:ext>
            </a:extLst>
          </p:cNvPr>
          <p:cNvCxnSpPr>
            <a:cxnSpLocks/>
          </p:cNvCxnSpPr>
          <p:nvPr/>
        </p:nvCxnSpPr>
        <p:spPr>
          <a:xfrm>
            <a:off x="7568341" y="3370052"/>
            <a:ext cx="981468"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sp>
        <p:nvSpPr>
          <p:cNvPr id="155" name="Rectangle: Rounded Corners 154">
            <a:extLst>
              <a:ext uri="{FF2B5EF4-FFF2-40B4-BE49-F238E27FC236}">
                <a16:creationId xmlns:a16="http://schemas.microsoft.com/office/drawing/2014/main" id="{FD71F02B-5248-DD13-8BFC-9204C159B109}"/>
              </a:ext>
            </a:extLst>
          </p:cNvPr>
          <p:cNvSpPr/>
          <p:nvPr/>
        </p:nvSpPr>
        <p:spPr>
          <a:xfrm>
            <a:off x="9883196" y="2671479"/>
            <a:ext cx="1181312" cy="756305"/>
          </a:xfrm>
          <a:prstGeom prst="roundRect">
            <a:avLst>
              <a:gd name="adj" fmla="val 10523"/>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6" name="Rectangle: Rounded Corners 155">
            <a:extLst>
              <a:ext uri="{FF2B5EF4-FFF2-40B4-BE49-F238E27FC236}">
                <a16:creationId xmlns:a16="http://schemas.microsoft.com/office/drawing/2014/main" id="{21B4BC7B-1C1D-A25A-1A89-FE0017A72679}"/>
              </a:ext>
            </a:extLst>
          </p:cNvPr>
          <p:cNvSpPr/>
          <p:nvPr/>
        </p:nvSpPr>
        <p:spPr>
          <a:xfrm>
            <a:off x="9883196" y="3023855"/>
            <a:ext cx="1181312" cy="201140"/>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SaaS</a:t>
            </a:r>
          </a:p>
        </p:txBody>
      </p:sp>
      <p:sp>
        <p:nvSpPr>
          <p:cNvPr id="157" name="Rectangle: Rounded Corners 156">
            <a:extLst>
              <a:ext uri="{FF2B5EF4-FFF2-40B4-BE49-F238E27FC236}">
                <a16:creationId xmlns:a16="http://schemas.microsoft.com/office/drawing/2014/main" id="{FE77012A-5440-4318-AE3D-FF90E2607E5D}"/>
              </a:ext>
            </a:extLst>
          </p:cNvPr>
          <p:cNvSpPr/>
          <p:nvPr/>
        </p:nvSpPr>
        <p:spPr>
          <a:xfrm>
            <a:off x="9883196" y="3226644"/>
            <a:ext cx="1181312" cy="201140"/>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On-premises</a:t>
            </a:r>
          </a:p>
        </p:txBody>
      </p:sp>
      <p:cxnSp>
        <p:nvCxnSpPr>
          <p:cNvPr id="159" name="Straight Connector 158">
            <a:extLst>
              <a:ext uri="{FF2B5EF4-FFF2-40B4-BE49-F238E27FC236}">
                <a16:creationId xmlns:a16="http://schemas.microsoft.com/office/drawing/2014/main" id="{B3607C6B-3895-A54C-0917-C465CB1127C8}"/>
              </a:ext>
            </a:extLst>
          </p:cNvPr>
          <p:cNvCxnSpPr>
            <a:cxnSpLocks/>
          </p:cNvCxnSpPr>
          <p:nvPr/>
        </p:nvCxnSpPr>
        <p:spPr>
          <a:xfrm>
            <a:off x="9883196" y="3225820"/>
            <a:ext cx="1181312"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sp>
        <p:nvSpPr>
          <p:cNvPr id="160" name="Rectangle: Rounded Corners 159">
            <a:extLst>
              <a:ext uri="{FF2B5EF4-FFF2-40B4-BE49-F238E27FC236}">
                <a16:creationId xmlns:a16="http://schemas.microsoft.com/office/drawing/2014/main" id="{AF32AF68-F8EB-975E-8951-C05C8426C8A8}"/>
              </a:ext>
            </a:extLst>
          </p:cNvPr>
          <p:cNvSpPr/>
          <p:nvPr/>
        </p:nvSpPr>
        <p:spPr>
          <a:xfrm>
            <a:off x="9883196" y="1045861"/>
            <a:ext cx="1181312" cy="756305"/>
          </a:xfrm>
          <a:prstGeom prst="roundRect">
            <a:avLst>
              <a:gd name="adj" fmla="val 10187"/>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2" name="Rectangle: Rounded Corners 161">
            <a:extLst>
              <a:ext uri="{FF2B5EF4-FFF2-40B4-BE49-F238E27FC236}">
                <a16:creationId xmlns:a16="http://schemas.microsoft.com/office/drawing/2014/main" id="{B9929142-253A-F450-4C3E-85532079DB52}"/>
              </a:ext>
            </a:extLst>
          </p:cNvPr>
          <p:cNvSpPr/>
          <p:nvPr/>
        </p:nvSpPr>
        <p:spPr>
          <a:xfrm>
            <a:off x="9883196" y="1398237"/>
            <a:ext cx="1181312" cy="201140"/>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Emails &amp; documents</a:t>
            </a:r>
          </a:p>
        </p:txBody>
      </p:sp>
      <p:sp>
        <p:nvSpPr>
          <p:cNvPr id="163" name="Rectangle: Rounded Corners 162">
            <a:extLst>
              <a:ext uri="{FF2B5EF4-FFF2-40B4-BE49-F238E27FC236}">
                <a16:creationId xmlns:a16="http://schemas.microsoft.com/office/drawing/2014/main" id="{DF7E8CB7-0CD3-BB54-93AF-233F53857950}"/>
              </a:ext>
            </a:extLst>
          </p:cNvPr>
          <p:cNvSpPr/>
          <p:nvPr/>
        </p:nvSpPr>
        <p:spPr>
          <a:xfrm>
            <a:off x="9883196" y="1601026"/>
            <a:ext cx="1181312" cy="201140"/>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Structured data</a:t>
            </a:r>
          </a:p>
        </p:txBody>
      </p:sp>
      <p:cxnSp>
        <p:nvCxnSpPr>
          <p:cNvPr id="164" name="Straight Connector 163">
            <a:extLst>
              <a:ext uri="{FF2B5EF4-FFF2-40B4-BE49-F238E27FC236}">
                <a16:creationId xmlns:a16="http://schemas.microsoft.com/office/drawing/2014/main" id="{3A270FCF-2FFB-4D0F-17A8-0D59B1E4CF5E}"/>
              </a:ext>
            </a:extLst>
          </p:cNvPr>
          <p:cNvCxnSpPr>
            <a:cxnSpLocks/>
          </p:cNvCxnSpPr>
          <p:nvPr/>
        </p:nvCxnSpPr>
        <p:spPr>
          <a:xfrm>
            <a:off x="9883196" y="1600202"/>
            <a:ext cx="1181312"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sp>
        <p:nvSpPr>
          <p:cNvPr id="165" name="Rectangle: Rounded Corners 164">
            <a:extLst>
              <a:ext uri="{FF2B5EF4-FFF2-40B4-BE49-F238E27FC236}">
                <a16:creationId xmlns:a16="http://schemas.microsoft.com/office/drawing/2014/main" id="{C9B52B06-0E90-EEED-4FB2-8044C023E0F1}"/>
              </a:ext>
            </a:extLst>
          </p:cNvPr>
          <p:cNvSpPr/>
          <p:nvPr/>
        </p:nvSpPr>
        <p:spPr>
          <a:xfrm>
            <a:off x="2326264" y="2115921"/>
            <a:ext cx="911379" cy="383768"/>
          </a:xfrm>
          <a:prstGeom prst="roundRect">
            <a:avLst>
              <a:gd name="adj" fmla="val 13940"/>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Strong authentication</a:t>
            </a:r>
          </a:p>
        </p:txBody>
      </p:sp>
      <p:sp>
        <p:nvSpPr>
          <p:cNvPr id="166" name="Rectangle: Rounded Corners 165">
            <a:extLst>
              <a:ext uri="{FF2B5EF4-FFF2-40B4-BE49-F238E27FC236}">
                <a16:creationId xmlns:a16="http://schemas.microsoft.com/office/drawing/2014/main" id="{93FD9D22-CBFF-1B63-F6F8-F83922F34CAA}"/>
              </a:ext>
            </a:extLst>
          </p:cNvPr>
          <p:cNvSpPr/>
          <p:nvPr/>
        </p:nvSpPr>
        <p:spPr>
          <a:xfrm>
            <a:off x="2326264" y="4297119"/>
            <a:ext cx="911379" cy="383768"/>
          </a:xfrm>
          <a:prstGeom prst="roundRect">
            <a:avLst>
              <a:gd name="adj" fmla="val 13940"/>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Device</a:t>
            </a:r>
          </a:p>
          <a:p>
            <a:pPr algn="ctr"/>
            <a:r>
              <a:rPr lang="en-US" sz="900">
                <a:solidFill>
                  <a:srgbClr val="000000"/>
                </a:solidFill>
                <a:cs typeface="Segoe UI" panose="020B0502040204020203" pitchFamily="34" charset="0"/>
              </a:rPr>
              <a:t>compliance</a:t>
            </a:r>
          </a:p>
        </p:txBody>
      </p:sp>
      <p:sp>
        <p:nvSpPr>
          <p:cNvPr id="167" name="Rectangle: Rounded Corners 166">
            <a:extLst>
              <a:ext uri="{FF2B5EF4-FFF2-40B4-BE49-F238E27FC236}">
                <a16:creationId xmlns:a16="http://schemas.microsoft.com/office/drawing/2014/main" id="{6E63EE3C-6466-41CA-B354-A7844CCE66C4}"/>
              </a:ext>
            </a:extLst>
          </p:cNvPr>
          <p:cNvSpPr/>
          <p:nvPr/>
        </p:nvSpPr>
        <p:spPr>
          <a:xfrm>
            <a:off x="3431008" y="4297120"/>
            <a:ext cx="766558" cy="383768"/>
          </a:xfrm>
          <a:prstGeom prst="roundRect">
            <a:avLst>
              <a:gd name="adj" fmla="val 13940"/>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Risk assessment</a:t>
            </a:r>
          </a:p>
        </p:txBody>
      </p:sp>
      <p:sp>
        <p:nvSpPr>
          <p:cNvPr id="168" name="Rectangle: Rounded Corners 167">
            <a:extLst>
              <a:ext uri="{FF2B5EF4-FFF2-40B4-BE49-F238E27FC236}">
                <a16:creationId xmlns:a16="http://schemas.microsoft.com/office/drawing/2014/main" id="{74340204-FF8C-9104-1F17-B4A207E44CA6}"/>
              </a:ext>
            </a:extLst>
          </p:cNvPr>
          <p:cNvSpPr/>
          <p:nvPr/>
        </p:nvSpPr>
        <p:spPr>
          <a:xfrm>
            <a:off x="6181998" y="2959143"/>
            <a:ext cx="981468" cy="469443"/>
          </a:xfrm>
          <a:prstGeom prst="roundRect">
            <a:avLst>
              <a:gd name="adj" fmla="val 13940"/>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Traffic filtering &amp; segmentation</a:t>
            </a:r>
          </a:p>
        </p:txBody>
      </p:sp>
      <p:grpSp>
        <p:nvGrpSpPr>
          <p:cNvPr id="169" name="Group 168">
            <a:extLst>
              <a:ext uri="{FF2B5EF4-FFF2-40B4-BE49-F238E27FC236}">
                <a16:creationId xmlns:a16="http://schemas.microsoft.com/office/drawing/2014/main" id="{0E4F398F-EE1B-5A50-DAA0-29971203BDDC}"/>
              </a:ext>
            </a:extLst>
          </p:cNvPr>
          <p:cNvGrpSpPr/>
          <p:nvPr/>
        </p:nvGrpSpPr>
        <p:grpSpPr>
          <a:xfrm>
            <a:off x="7701265" y="6114139"/>
            <a:ext cx="3690885" cy="201131"/>
            <a:chOff x="7701513" y="6114614"/>
            <a:chExt cx="3691418" cy="201162"/>
          </a:xfrm>
        </p:grpSpPr>
        <p:pic>
          <p:nvPicPr>
            <p:cNvPr id="170" name="Graphic 169">
              <a:extLst>
                <a:ext uri="{FF2B5EF4-FFF2-40B4-BE49-F238E27FC236}">
                  <a16:creationId xmlns:a16="http://schemas.microsoft.com/office/drawing/2014/main" id="{FD765BBC-04CF-AA56-BA79-86A98964B0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57435" y="6132400"/>
              <a:ext cx="131334" cy="157601"/>
            </a:xfrm>
            <a:prstGeom prst="rect">
              <a:avLst/>
            </a:prstGeom>
          </p:spPr>
        </p:pic>
        <p:grpSp>
          <p:nvGrpSpPr>
            <p:cNvPr id="171" name="Group 170">
              <a:extLst>
                <a:ext uri="{FF2B5EF4-FFF2-40B4-BE49-F238E27FC236}">
                  <a16:creationId xmlns:a16="http://schemas.microsoft.com/office/drawing/2014/main" id="{8B1F1AD6-9B5C-9E86-43E9-2C77B3516181}"/>
                </a:ext>
              </a:extLst>
            </p:cNvPr>
            <p:cNvGrpSpPr/>
            <p:nvPr/>
          </p:nvGrpSpPr>
          <p:grpSpPr>
            <a:xfrm>
              <a:off x="7701513" y="6119945"/>
              <a:ext cx="276225" cy="190500"/>
              <a:chOff x="6661973" y="6549265"/>
              <a:chExt cx="276225" cy="190500"/>
            </a:xfrm>
          </p:grpSpPr>
          <p:sp>
            <p:nvSpPr>
              <p:cNvPr id="177" name="Rectangle 176">
                <a:extLst>
                  <a:ext uri="{FF2B5EF4-FFF2-40B4-BE49-F238E27FC236}">
                    <a16:creationId xmlns:a16="http://schemas.microsoft.com/office/drawing/2014/main" id="{FEF016B3-419A-B3B6-65CF-FF8674A5C41B}"/>
                  </a:ext>
                </a:extLst>
              </p:cNvPr>
              <p:cNvSpPr/>
              <p:nvPr/>
            </p:nvSpPr>
            <p:spPr>
              <a:xfrm>
                <a:off x="6661973" y="6549265"/>
                <a:ext cx="276225" cy="18445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8" name="Graphic 177">
                <a:extLst>
                  <a:ext uri="{FF2B5EF4-FFF2-40B4-BE49-F238E27FC236}">
                    <a16:creationId xmlns:a16="http://schemas.microsoft.com/office/drawing/2014/main" id="{467CB0E0-7670-6ACC-8B0C-F4DA2021D2C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1973" y="6549265"/>
                <a:ext cx="276225" cy="190500"/>
              </a:xfrm>
              <a:prstGeom prst="rect">
                <a:avLst/>
              </a:prstGeom>
            </p:spPr>
          </p:pic>
        </p:grpSp>
        <p:sp>
          <p:nvSpPr>
            <p:cNvPr id="175" name="Rectangle: Rounded Corners 174">
              <a:extLst>
                <a:ext uri="{FF2B5EF4-FFF2-40B4-BE49-F238E27FC236}">
                  <a16:creationId xmlns:a16="http://schemas.microsoft.com/office/drawing/2014/main" id="{8F7ED9D2-5D1B-2372-618D-636069D5D1F4}"/>
                </a:ext>
              </a:extLst>
            </p:cNvPr>
            <p:cNvSpPr/>
            <p:nvPr/>
          </p:nvSpPr>
          <p:spPr>
            <a:xfrm>
              <a:off x="7977738" y="6114614"/>
              <a:ext cx="1979697" cy="201162"/>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cs typeface="Segoe UI" panose="020B0502040204020203" pitchFamily="34" charset="0"/>
                </a:rPr>
                <a:t>Telemetry/analytics/assessment</a:t>
              </a:r>
            </a:p>
          </p:txBody>
        </p:sp>
        <p:sp>
          <p:nvSpPr>
            <p:cNvPr id="176" name="Rectangle: Rounded Corners 175">
              <a:extLst>
                <a:ext uri="{FF2B5EF4-FFF2-40B4-BE49-F238E27FC236}">
                  <a16:creationId xmlns:a16="http://schemas.microsoft.com/office/drawing/2014/main" id="{74B84DEE-65D6-FC8E-3295-ABF795FC0556}"/>
                </a:ext>
              </a:extLst>
            </p:cNvPr>
            <p:cNvSpPr/>
            <p:nvPr/>
          </p:nvSpPr>
          <p:spPr>
            <a:xfrm>
              <a:off x="10065331" y="6114614"/>
              <a:ext cx="1327600" cy="201162"/>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cs typeface="Segoe UI" panose="020B0502040204020203" pitchFamily="34" charset="0"/>
                </a:rPr>
                <a:t>JIT &amp; Version Control</a:t>
              </a:r>
            </a:p>
          </p:txBody>
        </p:sp>
      </p:grpSp>
      <p:grpSp>
        <p:nvGrpSpPr>
          <p:cNvPr id="179" name="Group 178">
            <a:extLst>
              <a:ext uri="{FF2B5EF4-FFF2-40B4-BE49-F238E27FC236}">
                <a16:creationId xmlns:a16="http://schemas.microsoft.com/office/drawing/2014/main" id="{D41B6F05-E3F0-8B93-9C8F-8004F0EF9873}"/>
              </a:ext>
            </a:extLst>
          </p:cNvPr>
          <p:cNvGrpSpPr/>
          <p:nvPr/>
        </p:nvGrpSpPr>
        <p:grpSpPr>
          <a:xfrm rot="5400000">
            <a:off x="7695297" y="2566152"/>
            <a:ext cx="3214519" cy="1126354"/>
            <a:chOff x="6942509" y="3678467"/>
            <a:chExt cx="571119" cy="1690391"/>
          </a:xfrm>
        </p:grpSpPr>
        <p:cxnSp>
          <p:nvCxnSpPr>
            <p:cNvPr id="180" name="Straight Connector 179">
              <a:extLst>
                <a:ext uri="{FF2B5EF4-FFF2-40B4-BE49-F238E27FC236}">
                  <a16:creationId xmlns:a16="http://schemas.microsoft.com/office/drawing/2014/main" id="{9AD4E1A6-356D-F1B5-5D61-4931A4CA9418}"/>
                </a:ext>
              </a:extLst>
            </p:cNvPr>
            <p:cNvCxnSpPr>
              <a:cxnSpLocks/>
            </p:cNvCxnSpPr>
            <p:nvPr/>
          </p:nvCxnSpPr>
          <p:spPr>
            <a:xfrm flipH="1">
              <a:off x="6942509" y="5368857"/>
              <a:ext cx="571119" cy="1"/>
            </a:xfrm>
            <a:prstGeom prst="line">
              <a:avLst/>
            </a:prstGeom>
            <a:ln w="15875" cap="rnd">
              <a:solidFill>
                <a:srgbClr val="9D9D9D"/>
              </a:solidFill>
              <a:prstDash val="sysDash"/>
              <a:round/>
              <a:tailEnd type="none" w="med" len="me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42288920-A9A8-C186-1095-A0DABEC7B64B}"/>
                </a:ext>
              </a:extLst>
            </p:cNvPr>
            <p:cNvCxnSpPr>
              <a:cxnSpLocks/>
            </p:cNvCxnSpPr>
            <p:nvPr/>
          </p:nvCxnSpPr>
          <p:spPr>
            <a:xfrm flipH="1" flipV="1">
              <a:off x="6942509" y="3678467"/>
              <a:ext cx="1" cy="1690391"/>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202AD1F5-C0B0-7A3E-38BE-F0A703DC1BE6}"/>
                </a:ext>
              </a:extLst>
            </p:cNvPr>
            <p:cNvCxnSpPr>
              <a:cxnSpLocks/>
            </p:cNvCxnSpPr>
            <p:nvPr/>
          </p:nvCxnSpPr>
          <p:spPr>
            <a:xfrm flipH="1" flipV="1">
              <a:off x="7513627" y="3678467"/>
              <a:ext cx="1" cy="1690391"/>
            </a:xfrm>
            <a:prstGeom prst="line">
              <a:avLst/>
            </a:prstGeom>
            <a:ln w="15875" cap="rnd">
              <a:solidFill>
                <a:srgbClr val="9D9D9D"/>
              </a:solidFill>
              <a:prstDash val="sysDash"/>
              <a:roun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226" name="Straight Connector 225">
            <a:extLst>
              <a:ext uri="{FF2B5EF4-FFF2-40B4-BE49-F238E27FC236}">
                <a16:creationId xmlns:a16="http://schemas.microsoft.com/office/drawing/2014/main" id="{F6CB7E21-D7E4-AEFC-5AB7-8012ECE06BE4}"/>
              </a:ext>
            </a:extLst>
          </p:cNvPr>
          <p:cNvCxnSpPr>
            <a:cxnSpLocks/>
          </p:cNvCxnSpPr>
          <p:nvPr/>
        </p:nvCxnSpPr>
        <p:spPr>
          <a:xfrm>
            <a:off x="11064509" y="4713411"/>
            <a:ext cx="189570" cy="0"/>
          </a:xfrm>
          <a:prstGeom prst="line">
            <a:avLst/>
          </a:prstGeom>
          <a:ln w="15875" cap="rnd">
            <a:solidFill>
              <a:srgbClr val="9D9D9D"/>
            </a:solidFill>
            <a:prstDash val="sysDash"/>
            <a:round/>
            <a:tailEnd w="med" len="med"/>
          </a:ln>
        </p:spPr>
        <p:style>
          <a:lnRef idx="1">
            <a:schemeClr val="accent1"/>
          </a:lnRef>
          <a:fillRef idx="0">
            <a:schemeClr val="accent1"/>
          </a:fillRef>
          <a:effectRef idx="0">
            <a:schemeClr val="accent1"/>
          </a:effectRef>
          <a:fontRef idx="minor">
            <a:schemeClr val="tx1"/>
          </a:fontRef>
        </p:style>
      </p:cxnSp>
      <p:grpSp>
        <p:nvGrpSpPr>
          <p:cNvPr id="227" name="Group 226">
            <a:extLst>
              <a:ext uri="{FF2B5EF4-FFF2-40B4-BE49-F238E27FC236}">
                <a16:creationId xmlns:a16="http://schemas.microsoft.com/office/drawing/2014/main" id="{E08F5583-6B0F-3069-B34D-0FE1768A8596}"/>
              </a:ext>
            </a:extLst>
          </p:cNvPr>
          <p:cNvGrpSpPr/>
          <p:nvPr/>
        </p:nvGrpSpPr>
        <p:grpSpPr>
          <a:xfrm>
            <a:off x="8981952" y="4368134"/>
            <a:ext cx="620764" cy="694120"/>
            <a:chOff x="8982361" y="4368266"/>
            <a:chExt cx="620852" cy="694219"/>
          </a:xfrm>
        </p:grpSpPr>
        <p:sp>
          <p:nvSpPr>
            <p:cNvPr id="228" name="Rectangle: Rounded Corners 227">
              <a:extLst>
                <a:ext uri="{FF2B5EF4-FFF2-40B4-BE49-F238E27FC236}">
                  <a16:creationId xmlns:a16="http://schemas.microsoft.com/office/drawing/2014/main" id="{D2FE3E0B-4940-9604-1543-05FA07415089}"/>
                </a:ext>
              </a:extLst>
            </p:cNvPr>
            <p:cNvSpPr/>
            <p:nvPr/>
          </p:nvSpPr>
          <p:spPr>
            <a:xfrm>
              <a:off x="8982361" y="4368266"/>
              <a:ext cx="620852" cy="694219"/>
            </a:xfrm>
            <a:prstGeom prst="roundRect">
              <a:avLst>
                <a:gd name="adj" fmla="val 13940"/>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r>
                <a:rPr lang="en-US" sz="800">
                  <a:solidFill>
                    <a:srgbClr val="000000"/>
                  </a:solidFill>
                  <a:cs typeface="Segoe UI" panose="020B0502040204020203" pitchFamily="34" charset="0"/>
                </a:rPr>
              </a:br>
              <a:r>
                <a:rPr lang="en-US" sz="800">
                  <a:solidFill>
                    <a:srgbClr val="000000"/>
                  </a:solidFill>
                  <a:cs typeface="Segoe UI" panose="020B0502040204020203" pitchFamily="34" charset="0"/>
                </a:rPr>
                <a:t>Runtime control</a:t>
              </a:r>
            </a:p>
          </p:txBody>
        </p:sp>
        <p:pic>
          <p:nvPicPr>
            <p:cNvPr id="229" name="Graphic 228">
              <a:extLst>
                <a:ext uri="{FF2B5EF4-FFF2-40B4-BE49-F238E27FC236}">
                  <a16:creationId xmlns:a16="http://schemas.microsoft.com/office/drawing/2014/main" id="{2B424FA2-16F1-13C5-1A28-38745AD9E99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07849" y="4459565"/>
              <a:ext cx="169876" cy="169876"/>
            </a:xfrm>
            <a:prstGeom prst="rect">
              <a:avLst/>
            </a:prstGeom>
          </p:spPr>
        </p:pic>
      </p:grpSp>
      <p:grpSp>
        <p:nvGrpSpPr>
          <p:cNvPr id="230" name="Group 229">
            <a:extLst>
              <a:ext uri="{FF2B5EF4-FFF2-40B4-BE49-F238E27FC236}">
                <a16:creationId xmlns:a16="http://schemas.microsoft.com/office/drawing/2014/main" id="{D3709553-D673-C266-A3C3-F611777D19F3}"/>
              </a:ext>
            </a:extLst>
          </p:cNvPr>
          <p:cNvGrpSpPr/>
          <p:nvPr/>
        </p:nvGrpSpPr>
        <p:grpSpPr>
          <a:xfrm>
            <a:off x="8981952" y="2805777"/>
            <a:ext cx="620764" cy="694120"/>
            <a:chOff x="8982361" y="3037288"/>
            <a:chExt cx="620852" cy="694219"/>
          </a:xfrm>
        </p:grpSpPr>
        <p:sp>
          <p:nvSpPr>
            <p:cNvPr id="232" name="Rectangle: Rounded Corners 231">
              <a:extLst>
                <a:ext uri="{FF2B5EF4-FFF2-40B4-BE49-F238E27FC236}">
                  <a16:creationId xmlns:a16="http://schemas.microsoft.com/office/drawing/2014/main" id="{11DE6F16-3644-6802-3B19-A07CB632BAFF}"/>
                </a:ext>
              </a:extLst>
            </p:cNvPr>
            <p:cNvSpPr/>
            <p:nvPr/>
          </p:nvSpPr>
          <p:spPr>
            <a:xfrm>
              <a:off x="8982361" y="3037288"/>
              <a:ext cx="620852" cy="694219"/>
            </a:xfrm>
            <a:prstGeom prst="roundRect">
              <a:avLst>
                <a:gd name="adj" fmla="val 13940"/>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r>
                <a:rPr lang="en-US" sz="800">
                  <a:solidFill>
                    <a:srgbClr val="000000"/>
                  </a:solidFill>
                  <a:cs typeface="Segoe UI" panose="020B0502040204020203" pitchFamily="34" charset="0"/>
                </a:rPr>
              </a:br>
              <a:r>
                <a:rPr lang="en-US" sz="800">
                  <a:solidFill>
                    <a:srgbClr val="000000"/>
                  </a:solidFill>
                  <a:cs typeface="Segoe UI" panose="020B0502040204020203" pitchFamily="34" charset="0"/>
                </a:rPr>
                <a:t>Adaptive Access</a:t>
              </a:r>
            </a:p>
          </p:txBody>
        </p:sp>
        <p:pic>
          <p:nvPicPr>
            <p:cNvPr id="233" name="Graphic 232">
              <a:extLst>
                <a:ext uri="{FF2B5EF4-FFF2-40B4-BE49-F238E27FC236}">
                  <a16:creationId xmlns:a16="http://schemas.microsoft.com/office/drawing/2014/main" id="{D5021C66-B74A-885E-F237-4C27710D382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00046" y="3096592"/>
              <a:ext cx="185486" cy="195246"/>
            </a:xfrm>
            <a:prstGeom prst="rect">
              <a:avLst/>
            </a:prstGeom>
          </p:spPr>
        </p:pic>
      </p:grpSp>
      <p:grpSp>
        <p:nvGrpSpPr>
          <p:cNvPr id="234" name="Group 233">
            <a:extLst>
              <a:ext uri="{FF2B5EF4-FFF2-40B4-BE49-F238E27FC236}">
                <a16:creationId xmlns:a16="http://schemas.microsoft.com/office/drawing/2014/main" id="{FABA2DCA-5D6E-5227-6B32-534CBDCF7AEF}"/>
              </a:ext>
            </a:extLst>
          </p:cNvPr>
          <p:cNvGrpSpPr/>
          <p:nvPr/>
        </p:nvGrpSpPr>
        <p:grpSpPr>
          <a:xfrm>
            <a:off x="6403785" y="768245"/>
            <a:ext cx="276186" cy="220156"/>
            <a:chOff x="6661979" y="6549259"/>
            <a:chExt cx="276225" cy="220188"/>
          </a:xfrm>
        </p:grpSpPr>
        <p:sp>
          <p:nvSpPr>
            <p:cNvPr id="235" name="Rectangle 234">
              <a:extLst>
                <a:ext uri="{FF2B5EF4-FFF2-40B4-BE49-F238E27FC236}">
                  <a16:creationId xmlns:a16="http://schemas.microsoft.com/office/drawing/2014/main" id="{A49C7806-9D4A-7CD2-92AE-304D1C223E91}"/>
                </a:ext>
              </a:extLst>
            </p:cNvPr>
            <p:cNvSpPr/>
            <p:nvPr/>
          </p:nvSpPr>
          <p:spPr>
            <a:xfrm>
              <a:off x="6661979" y="6549259"/>
              <a:ext cx="276225" cy="2201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36" name="Graphic 235">
              <a:extLst>
                <a:ext uri="{FF2B5EF4-FFF2-40B4-BE49-F238E27FC236}">
                  <a16:creationId xmlns:a16="http://schemas.microsoft.com/office/drawing/2014/main" id="{CF7B2D82-DD37-E533-B2CF-E8FB938A2E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4566" y="6586588"/>
              <a:ext cx="211038" cy="145542"/>
            </a:xfrm>
            <a:prstGeom prst="rect">
              <a:avLst/>
            </a:prstGeom>
          </p:spPr>
        </p:pic>
      </p:grpSp>
      <p:grpSp>
        <p:nvGrpSpPr>
          <p:cNvPr id="237" name="Group 236">
            <a:extLst>
              <a:ext uri="{FF2B5EF4-FFF2-40B4-BE49-F238E27FC236}">
                <a16:creationId xmlns:a16="http://schemas.microsoft.com/office/drawing/2014/main" id="{5907F3D6-1483-3828-676D-0054F82B6209}"/>
              </a:ext>
            </a:extLst>
          </p:cNvPr>
          <p:cNvGrpSpPr/>
          <p:nvPr/>
        </p:nvGrpSpPr>
        <p:grpSpPr>
          <a:xfrm>
            <a:off x="6403779" y="1339231"/>
            <a:ext cx="276186" cy="220156"/>
            <a:chOff x="6661973" y="6549265"/>
            <a:chExt cx="276225" cy="220188"/>
          </a:xfrm>
        </p:grpSpPr>
        <p:sp>
          <p:nvSpPr>
            <p:cNvPr id="238" name="Rectangle 237">
              <a:extLst>
                <a:ext uri="{FF2B5EF4-FFF2-40B4-BE49-F238E27FC236}">
                  <a16:creationId xmlns:a16="http://schemas.microsoft.com/office/drawing/2014/main" id="{8C1B5954-5FBF-A4B1-29EE-1C4CA5CB7FA9}"/>
                </a:ext>
              </a:extLst>
            </p:cNvPr>
            <p:cNvSpPr/>
            <p:nvPr/>
          </p:nvSpPr>
          <p:spPr>
            <a:xfrm>
              <a:off x="6661973" y="6549265"/>
              <a:ext cx="276225" cy="2201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39" name="Graphic 238">
              <a:extLst>
                <a:ext uri="{FF2B5EF4-FFF2-40B4-BE49-F238E27FC236}">
                  <a16:creationId xmlns:a16="http://schemas.microsoft.com/office/drawing/2014/main" id="{A5C0FDFD-023E-A780-860A-066D7D9CBC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4566" y="6586588"/>
              <a:ext cx="211038" cy="145542"/>
            </a:xfrm>
            <a:prstGeom prst="rect">
              <a:avLst/>
            </a:prstGeom>
          </p:spPr>
        </p:pic>
      </p:grpSp>
      <p:grpSp>
        <p:nvGrpSpPr>
          <p:cNvPr id="240" name="Group 239">
            <a:extLst>
              <a:ext uri="{FF2B5EF4-FFF2-40B4-BE49-F238E27FC236}">
                <a16:creationId xmlns:a16="http://schemas.microsoft.com/office/drawing/2014/main" id="{DAF5327F-771B-CAD4-AA9B-52B785147BF4}"/>
              </a:ext>
            </a:extLst>
          </p:cNvPr>
          <p:cNvGrpSpPr/>
          <p:nvPr/>
        </p:nvGrpSpPr>
        <p:grpSpPr>
          <a:xfrm>
            <a:off x="4950498" y="4187041"/>
            <a:ext cx="276186" cy="220156"/>
            <a:chOff x="6661973" y="6549265"/>
            <a:chExt cx="276225" cy="220188"/>
          </a:xfrm>
        </p:grpSpPr>
        <p:sp>
          <p:nvSpPr>
            <p:cNvPr id="241" name="Rectangle 240">
              <a:extLst>
                <a:ext uri="{FF2B5EF4-FFF2-40B4-BE49-F238E27FC236}">
                  <a16:creationId xmlns:a16="http://schemas.microsoft.com/office/drawing/2014/main" id="{A25303B9-A6BC-F64A-3E15-86EA3F10D14F}"/>
                </a:ext>
              </a:extLst>
            </p:cNvPr>
            <p:cNvSpPr/>
            <p:nvPr/>
          </p:nvSpPr>
          <p:spPr>
            <a:xfrm>
              <a:off x="6661973" y="6549265"/>
              <a:ext cx="276225" cy="2201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42" name="Graphic 241">
              <a:extLst>
                <a:ext uri="{FF2B5EF4-FFF2-40B4-BE49-F238E27FC236}">
                  <a16:creationId xmlns:a16="http://schemas.microsoft.com/office/drawing/2014/main" id="{8AF64E9C-9D9A-43BD-5B68-1D230DDECB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4566" y="6586588"/>
              <a:ext cx="211038" cy="145542"/>
            </a:xfrm>
            <a:prstGeom prst="rect">
              <a:avLst/>
            </a:prstGeom>
          </p:spPr>
        </p:pic>
      </p:grpSp>
      <p:grpSp>
        <p:nvGrpSpPr>
          <p:cNvPr id="243" name="Group 242">
            <a:extLst>
              <a:ext uri="{FF2B5EF4-FFF2-40B4-BE49-F238E27FC236}">
                <a16:creationId xmlns:a16="http://schemas.microsoft.com/office/drawing/2014/main" id="{B8E33A3B-AD8A-4BD2-D7D4-F556C56ADD11}"/>
              </a:ext>
            </a:extLst>
          </p:cNvPr>
          <p:cNvGrpSpPr/>
          <p:nvPr/>
        </p:nvGrpSpPr>
        <p:grpSpPr>
          <a:xfrm>
            <a:off x="6403779" y="5193485"/>
            <a:ext cx="276186" cy="220156"/>
            <a:chOff x="6661973" y="6549265"/>
            <a:chExt cx="276225" cy="220188"/>
          </a:xfrm>
        </p:grpSpPr>
        <p:sp>
          <p:nvSpPr>
            <p:cNvPr id="251" name="Rectangle 250">
              <a:extLst>
                <a:ext uri="{FF2B5EF4-FFF2-40B4-BE49-F238E27FC236}">
                  <a16:creationId xmlns:a16="http://schemas.microsoft.com/office/drawing/2014/main" id="{E7173AD9-36BA-BABE-7D00-FD64F82A461D}"/>
                </a:ext>
              </a:extLst>
            </p:cNvPr>
            <p:cNvSpPr/>
            <p:nvPr/>
          </p:nvSpPr>
          <p:spPr>
            <a:xfrm>
              <a:off x="6661973" y="6549265"/>
              <a:ext cx="276225" cy="2201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73" name="Graphic 272">
              <a:extLst>
                <a:ext uri="{FF2B5EF4-FFF2-40B4-BE49-F238E27FC236}">
                  <a16:creationId xmlns:a16="http://schemas.microsoft.com/office/drawing/2014/main" id="{31A5AAEE-4837-14B4-DFA3-66C4F45E542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4566" y="6586588"/>
              <a:ext cx="211038" cy="145542"/>
            </a:xfrm>
            <a:prstGeom prst="rect">
              <a:avLst/>
            </a:prstGeom>
          </p:spPr>
        </p:pic>
      </p:grpSp>
      <p:grpSp>
        <p:nvGrpSpPr>
          <p:cNvPr id="278" name="Group 277">
            <a:extLst>
              <a:ext uri="{FF2B5EF4-FFF2-40B4-BE49-F238E27FC236}">
                <a16:creationId xmlns:a16="http://schemas.microsoft.com/office/drawing/2014/main" id="{6B6880FA-0AFE-A33C-6554-F0AA754B9AA8}"/>
              </a:ext>
            </a:extLst>
          </p:cNvPr>
          <p:cNvGrpSpPr/>
          <p:nvPr/>
        </p:nvGrpSpPr>
        <p:grpSpPr>
          <a:xfrm>
            <a:off x="6403779" y="5791770"/>
            <a:ext cx="276186" cy="220156"/>
            <a:chOff x="6661973" y="6549265"/>
            <a:chExt cx="276225" cy="220188"/>
          </a:xfrm>
        </p:grpSpPr>
        <p:sp>
          <p:nvSpPr>
            <p:cNvPr id="279" name="Rectangle 278">
              <a:extLst>
                <a:ext uri="{FF2B5EF4-FFF2-40B4-BE49-F238E27FC236}">
                  <a16:creationId xmlns:a16="http://schemas.microsoft.com/office/drawing/2014/main" id="{D77A7D9F-D7FE-07B7-7F2E-4B9B9465228C}"/>
                </a:ext>
              </a:extLst>
            </p:cNvPr>
            <p:cNvSpPr/>
            <p:nvPr/>
          </p:nvSpPr>
          <p:spPr>
            <a:xfrm>
              <a:off x="6661973" y="6549265"/>
              <a:ext cx="276225" cy="2201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80" name="Graphic 279">
              <a:extLst>
                <a:ext uri="{FF2B5EF4-FFF2-40B4-BE49-F238E27FC236}">
                  <a16:creationId xmlns:a16="http://schemas.microsoft.com/office/drawing/2014/main" id="{692F841B-385F-DE45-4EFE-4B6C4A746F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4566" y="6586588"/>
              <a:ext cx="211038" cy="145542"/>
            </a:xfrm>
            <a:prstGeom prst="rect">
              <a:avLst/>
            </a:prstGeom>
          </p:spPr>
        </p:pic>
      </p:grpSp>
      <p:sp>
        <p:nvSpPr>
          <p:cNvPr id="281" name="Rectangle: Rounded Corners 280">
            <a:extLst>
              <a:ext uri="{FF2B5EF4-FFF2-40B4-BE49-F238E27FC236}">
                <a16:creationId xmlns:a16="http://schemas.microsoft.com/office/drawing/2014/main" id="{F77C6512-3D96-A94D-A3DF-BABB7D1042C9}"/>
              </a:ext>
            </a:extLst>
          </p:cNvPr>
          <p:cNvSpPr/>
          <p:nvPr/>
        </p:nvSpPr>
        <p:spPr>
          <a:xfrm>
            <a:off x="4197565" y="662380"/>
            <a:ext cx="1761875" cy="1161885"/>
          </a:xfrm>
          <a:prstGeom prst="roundRect">
            <a:avLst>
              <a:gd name="adj" fmla="val 4372"/>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2" name="Rectangle: Rounded Corners 281">
            <a:extLst>
              <a:ext uri="{FF2B5EF4-FFF2-40B4-BE49-F238E27FC236}">
                <a16:creationId xmlns:a16="http://schemas.microsoft.com/office/drawing/2014/main" id="{C36AFD16-9476-B077-166F-0EA0DD416882}"/>
              </a:ext>
            </a:extLst>
          </p:cNvPr>
          <p:cNvSpPr/>
          <p:nvPr/>
        </p:nvSpPr>
        <p:spPr>
          <a:xfrm>
            <a:off x="4197565" y="1014756"/>
            <a:ext cx="1761875"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cs typeface="Segoe UI" panose="020B0502040204020203" pitchFamily="34" charset="0"/>
              </a:rPr>
              <a:t>Governance</a:t>
            </a:r>
          </a:p>
        </p:txBody>
      </p:sp>
      <p:sp>
        <p:nvSpPr>
          <p:cNvPr id="283" name="Rectangle: Rounded Corners 282">
            <a:extLst>
              <a:ext uri="{FF2B5EF4-FFF2-40B4-BE49-F238E27FC236}">
                <a16:creationId xmlns:a16="http://schemas.microsoft.com/office/drawing/2014/main" id="{AC584FDF-C91B-167A-2F8F-5D7621967F9D}"/>
              </a:ext>
            </a:extLst>
          </p:cNvPr>
          <p:cNvSpPr/>
          <p:nvPr/>
        </p:nvSpPr>
        <p:spPr>
          <a:xfrm>
            <a:off x="4197565" y="1217545"/>
            <a:ext cx="1761875"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cs typeface="Segoe UI" panose="020B0502040204020203" pitchFamily="34" charset="0"/>
              </a:rPr>
              <a:t>Compliance</a:t>
            </a:r>
          </a:p>
        </p:txBody>
      </p:sp>
      <p:sp>
        <p:nvSpPr>
          <p:cNvPr id="288" name="Rectangle: Rounded Corners 287">
            <a:extLst>
              <a:ext uri="{FF2B5EF4-FFF2-40B4-BE49-F238E27FC236}">
                <a16:creationId xmlns:a16="http://schemas.microsoft.com/office/drawing/2014/main" id="{478962B6-3B33-5632-5EB9-7996C30DB596}"/>
              </a:ext>
            </a:extLst>
          </p:cNvPr>
          <p:cNvSpPr/>
          <p:nvPr/>
        </p:nvSpPr>
        <p:spPr>
          <a:xfrm>
            <a:off x="4197565" y="1420334"/>
            <a:ext cx="1761875"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cs typeface="Segoe UI" panose="020B0502040204020203" pitchFamily="34" charset="0"/>
              </a:rPr>
              <a:t>Security Posture Assessment</a:t>
            </a:r>
          </a:p>
        </p:txBody>
      </p:sp>
      <p:sp>
        <p:nvSpPr>
          <p:cNvPr id="289" name="Rectangle: Rounded Corners 288">
            <a:extLst>
              <a:ext uri="{FF2B5EF4-FFF2-40B4-BE49-F238E27FC236}">
                <a16:creationId xmlns:a16="http://schemas.microsoft.com/office/drawing/2014/main" id="{3248331B-5CA0-723D-926B-3CF1B9B88704}"/>
              </a:ext>
            </a:extLst>
          </p:cNvPr>
          <p:cNvSpPr/>
          <p:nvPr/>
        </p:nvSpPr>
        <p:spPr>
          <a:xfrm>
            <a:off x="4197565" y="1623126"/>
            <a:ext cx="1761875"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cs typeface="Segoe UI" panose="020B0502040204020203" pitchFamily="34" charset="0"/>
              </a:rPr>
              <a:t>Productivity Optimization</a:t>
            </a:r>
          </a:p>
        </p:txBody>
      </p:sp>
      <p:cxnSp>
        <p:nvCxnSpPr>
          <p:cNvPr id="290" name="Straight Connector 289">
            <a:extLst>
              <a:ext uri="{FF2B5EF4-FFF2-40B4-BE49-F238E27FC236}">
                <a16:creationId xmlns:a16="http://schemas.microsoft.com/office/drawing/2014/main" id="{8717F1CC-5A09-416D-B082-2AEF252D801B}"/>
              </a:ext>
            </a:extLst>
          </p:cNvPr>
          <p:cNvCxnSpPr>
            <a:cxnSpLocks/>
          </p:cNvCxnSpPr>
          <p:nvPr/>
        </p:nvCxnSpPr>
        <p:spPr>
          <a:xfrm>
            <a:off x="4197565" y="1622299"/>
            <a:ext cx="176187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C66D87CE-810C-0585-8839-AB04DB06A013}"/>
              </a:ext>
            </a:extLst>
          </p:cNvPr>
          <p:cNvCxnSpPr>
            <a:cxnSpLocks/>
          </p:cNvCxnSpPr>
          <p:nvPr/>
        </p:nvCxnSpPr>
        <p:spPr>
          <a:xfrm>
            <a:off x="4197565" y="1419509"/>
            <a:ext cx="176187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081F49E5-74A8-3BAA-5B97-C3EF61AAF66D}"/>
              </a:ext>
            </a:extLst>
          </p:cNvPr>
          <p:cNvCxnSpPr>
            <a:cxnSpLocks/>
          </p:cNvCxnSpPr>
          <p:nvPr/>
        </p:nvCxnSpPr>
        <p:spPr>
          <a:xfrm>
            <a:off x="4197565" y="1216720"/>
            <a:ext cx="1761875"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sp>
        <p:nvSpPr>
          <p:cNvPr id="293" name="Rectangle: Rounded Corners 292">
            <a:extLst>
              <a:ext uri="{FF2B5EF4-FFF2-40B4-BE49-F238E27FC236}">
                <a16:creationId xmlns:a16="http://schemas.microsoft.com/office/drawing/2014/main" id="{A6646069-EFAE-753C-256C-98326FB48D1B}"/>
              </a:ext>
            </a:extLst>
          </p:cNvPr>
          <p:cNvSpPr/>
          <p:nvPr/>
        </p:nvSpPr>
        <p:spPr>
          <a:xfrm>
            <a:off x="9883196" y="4138447"/>
            <a:ext cx="1181312" cy="1369762"/>
          </a:xfrm>
          <a:prstGeom prst="roundRect">
            <a:avLst>
              <a:gd name="adj" fmla="val 7823"/>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94" name="Rectangle: Rounded Corners 293">
            <a:extLst>
              <a:ext uri="{FF2B5EF4-FFF2-40B4-BE49-F238E27FC236}">
                <a16:creationId xmlns:a16="http://schemas.microsoft.com/office/drawing/2014/main" id="{28D6FB09-550C-B51E-175E-8BE9276094C8}"/>
              </a:ext>
            </a:extLst>
          </p:cNvPr>
          <p:cNvSpPr/>
          <p:nvPr/>
        </p:nvSpPr>
        <p:spPr>
          <a:xfrm>
            <a:off x="9883196" y="4490824"/>
            <a:ext cx="1181312"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Serverless</a:t>
            </a:r>
          </a:p>
        </p:txBody>
      </p:sp>
      <p:sp>
        <p:nvSpPr>
          <p:cNvPr id="295" name="Rectangle: Rounded Corners 294">
            <a:extLst>
              <a:ext uri="{FF2B5EF4-FFF2-40B4-BE49-F238E27FC236}">
                <a16:creationId xmlns:a16="http://schemas.microsoft.com/office/drawing/2014/main" id="{98607336-2D2E-6E87-45D0-95E4ECA8676B}"/>
              </a:ext>
            </a:extLst>
          </p:cNvPr>
          <p:cNvSpPr/>
          <p:nvPr/>
        </p:nvSpPr>
        <p:spPr>
          <a:xfrm>
            <a:off x="9883196" y="4694043"/>
            <a:ext cx="1181312"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Containers</a:t>
            </a:r>
          </a:p>
        </p:txBody>
      </p:sp>
      <p:sp>
        <p:nvSpPr>
          <p:cNvPr id="296" name="Rectangle: Rounded Corners 295">
            <a:extLst>
              <a:ext uri="{FF2B5EF4-FFF2-40B4-BE49-F238E27FC236}">
                <a16:creationId xmlns:a16="http://schemas.microsoft.com/office/drawing/2014/main" id="{E0C3008B-928A-F2A9-A075-033809C4F7C5}"/>
              </a:ext>
            </a:extLst>
          </p:cNvPr>
          <p:cNvSpPr/>
          <p:nvPr/>
        </p:nvSpPr>
        <p:spPr>
          <a:xfrm>
            <a:off x="9883196" y="4897262"/>
            <a:ext cx="1181312"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IaaS</a:t>
            </a:r>
          </a:p>
        </p:txBody>
      </p:sp>
      <p:sp>
        <p:nvSpPr>
          <p:cNvPr id="297" name="Rectangle: Rounded Corners 296">
            <a:extLst>
              <a:ext uri="{FF2B5EF4-FFF2-40B4-BE49-F238E27FC236}">
                <a16:creationId xmlns:a16="http://schemas.microsoft.com/office/drawing/2014/main" id="{B9A816D6-6915-1D37-3DF0-525FD43511B7}"/>
              </a:ext>
            </a:extLst>
          </p:cNvPr>
          <p:cNvSpPr/>
          <p:nvPr/>
        </p:nvSpPr>
        <p:spPr>
          <a:xfrm>
            <a:off x="9883196" y="5100481"/>
            <a:ext cx="1181312"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rgbClr val="000000"/>
                </a:solidFill>
                <a:cs typeface="Segoe UI" panose="020B0502040204020203" pitchFamily="34" charset="0"/>
              </a:rPr>
              <a:t>PaaS</a:t>
            </a:r>
          </a:p>
        </p:txBody>
      </p:sp>
      <p:cxnSp>
        <p:nvCxnSpPr>
          <p:cNvPr id="298" name="Straight Connector 297">
            <a:extLst>
              <a:ext uri="{FF2B5EF4-FFF2-40B4-BE49-F238E27FC236}">
                <a16:creationId xmlns:a16="http://schemas.microsoft.com/office/drawing/2014/main" id="{EE259AFE-6B94-B0CD-DEE7-F5C5236E25F8}"/>
              </a:ext>
            </a:extLst>
          </p:cNvPr>
          <p:cNvCxnSpPr>
            <a:cxnSpLocks/>
          </p:cNvCxnSpPr>
          <p:nvPr/>
        </p:nvCxnSpPr>
        <p:spPr>
          <a:xfrm>
            <a:off x="9883196" y="5099441"/>
            <a:ext cx="1181312"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8DA04223-0673-4677-3475-0969F37DA0A0}"/>
              </a:ext>
            </a:extLst>
          </p:cNvPr>
          <p:cNvCxnSpPr>
            <a:cxnSpLocks/>
          </p:cNvCxnSpPr>
          <p:nvPr/>
        </p:nvCxnSpPr>
        <p:spPr>
          <a:xfrm>
            <a:off x="9883196" y="4896222"/>
            <a:ext cx="1181312"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695769C8-0652-E5E8-58F8-A94B97F7D5F4}"/>
              </a:ext>
            </a:extLst>
          </p:cNvPr>
          <p:cNvCxnSpPr>
            <a:cxnSpLocks/>
          </p:cNvCxnSpPr>
          <p:nvPr/>
        </p:nvCxnSpPr>
        <p:spPr>
          <a:xfrm>
            <a:off x="9883196" y="4693003"/>
            <a:ext cx="1181312"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sp>
        <p:nvSpPr>
          <p:cNvPr id="301" name="Rectangle: Rounded Corners 300">
            <a:extLst>
              <a:ext uri="{FF2B5EF4-FFF2-40B4-BE49-F238E27FC236}">
                <a16:creationId xmlns:a16="http://schemas.microsoft.com/office/drawing/2014/main" id="{E4F726B9-5062-5874-78B4-0CA7E80B9216}"/>
              </a:ext>
            </a:extLst>
          </p:cNvPr>
          <p:cNvSpPr/>
          <p:nvPr/>
        </p:nvSpPr>
        <p:spPr>
          <a:xfrm>
            <a:off x="9883196" y="5303701"/>
            <a:ext cx="1181312" cy="201139"/>
          </a:xfrm>
          <a:prstGeom prst="roundRect">
            <a:avLst>
              <a:gd name="adj" fmla="val 43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rgbClr val="000000"/>
                </a:solidFill>
                <a:cs typeface="Segoe UI" panose="020B0502040204020203" pitchFamily="34" charset="0"/>
              </a:rPr>
              <a:t>Internal Sites</a:t>
            </a:r>
          </a:p>
        </p:txBody>
      </p:sp>
      <p:cxnSp>
        <p:nvCxnSpPr>
          <p:cNvPr id="302" name="Straight Connector 301">
            <a:extLst>
              <a:ext uri="{FF2B5EF4-FFF2-40B4-BE49-F238E27FC236}">
                <a16:creationId xmlns:a16="http://schemas.microsoft.com/office/drawing/2014/main" id="{521B3CD7-A609-7C20-B179-514183C7E602}"/>
              </a:ext>
            </a:extLst>
          </p:cNvPr>
          <p:cNvCxnSpPr>
            <a:cxnSpLocks/>
          </p:cNvCxnSpPr>
          <p:nvPr/>
        </p:nvCxnSpPr>
        <p:spPr>
          <a:xfrm>
            <a:off x="9883196" y="5302660"/>
            <a:ext cx="1181312" cy="0"/>
          </a:xfrm>
          <a:prstGeom prst="line">
            <a:avLst/>
          </a:prstGeom>
          <a:ln>
            <a:solidFill>
              <a:srgbClr val="9D9D9D"/>
            </a:solidFill>
          </a:ln>
        </p:spPr>
        <p:style>
          <a:lnRef idx="1">
            <a:schemeClr val="accent1"/>
          </a:lnRef>
          <a:fillRef idx="0">
            <a:schemeClr val="accent1"/>
          </a:fillRef>
          <a:effectRef idx="0">
            <a:schemeClr val="accent1"/>
          </a:effectRef>
          <a:fontRef idx="minor">
            <a:schemeClr val="tx1"/>
          </a:fontRef>
        </p:style>
      </p:cxnSp>
      <p:pic>
        <p:nvPicPr>
          <p:cNvPr id="303" name="Graphic 302">
            <a:extLst>
              <a:ext uri="{FF2B5EF4-FFF2-40B4-BE49-F238E27FC236}">
                <a16:creationId xmlns:a16="http://schemas.microsoft.com/office/drawing/2014/main" id="{B3AC7B03-F949-254B-3589-24F5F3B37B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56888" y="4547912"/>
            <a:ext cx="79620" cy="95543"/>
          </a:xfrm>
          <a:prstGeom prst="rect">
            <a:avLst/>
          </a:prstGeom>
        </p:spPr>
      </p:pic>
      <p:pic>
        <p:nvPicPr>
          <p:cNvPr id="304" name="Graphic 303">
            <a:extLst>
              <a:ext uri="{FF2B5EF4-FFF2-40B4-BE49-F238E27FC236}">
                <a16:creationId xmlns:a16="http://schemas.microsoft.com/office/drawing/2014/main" id="{CA9E2523-7BF7-7176-71B6-F8FBD66485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56888" y="4749178"/>
            <a:ext cx="79620" cy="95543"/>
          </a:xfrm>
          <a:prstGeom prst="rect">
            <a:avLst/>
          </a:prstGeom>
        </p:spPr>
      </p:pic>
      <p:pic>
        <p:nvPicPr>
          <p:cNvPr id="305" name="Graphic 304">
            <a:extLst>
              <a:ext uri="{FF2B5EF4-FFF2-40B4-BE49-F238E27FC236}">
                <a16:creationId xmlns:a16="http://schemas.microsoft.com/office/drawing/2014/main" id="{F4370962-E1DB-BA5F-EAF8-A8D4E995AD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56888" y="4950444"/>
            <a:ext cx="79620" cy="95543"/>
          </a:xfrm>
          <a:prstGeom prst="rect">
            <a:avLst/>
          </a:prstGeom>
        </p:spPr>
      </p:pic>
      <p:pic>
        <p:nvPicPr>
          <p:cNvPr id="306" name="Graphic 305">
            <a:extLst>
              <a:ext uri="{FF2B5EF4-FFF2-40B4-BE49-F238E27FC236}">
                <a16:creationId xmlns:a16="http://schemas.microsoft.com/office/drawing/2014/main" id="{D08E8D54-B950-C325-02EE-26A5D0FBE5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56888" y="5151711"/>
            <a:ext cx="79620" cy="95543"/>
          </a:xfrm>
          <a:prstGeom prst="rect">
            <a:avLst/>
          </a:prstGeom>
        </p:spPr>
      </p:pic>
      <p:pic>
        <p:nvPicPr>
          <p:cNvPr id="307" name="Graphic 306">
            <a:extLst>
              <a:ext uri="{FF2B5EF4-FFF2-40B4-BE49-F238E27FC236}">
                <a16:creationId xmlns:a16="http://schemas.microsoft.com/office/drawing/2014/main" id="{B350D386-5A72-95ED-0CD4-16DB6943AE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56888" y="5352977"/>
            <a:ext cx="79620" cy="95543"/>
          </a:xfrm>
          <a:prstGeom prst="rect">
            <a:avLst/>
          </a:prstGeom>
        </p:spPr>
      </p:pic>
      <p:pic>
        <p:nvPicPr>
          <p:cNvPr id="308" name="Picture 307">
            <a:extLst>
              <a:ext uri="{FF2B5EF4-FFF2-40B4-BE49-F238E27FC236}">
                <a16:creationId xmlns:a16="http://schemas.microsoft.com/office/drawing/2014/main" id="{E074D0D8-DEA8-9070-4727-74A2C2A0BE86}"/>
              </a:ext>
            </a:extLst>
          </p:cNvPr>
          <p:cNvPicPr>
            <a:picLocks noChangeAspect="1"/>
          </p:cNvPicPr>
          <p:nvPr/>
        </p:nvPicPr>
        <p:blipFill>
          <a:blip r:embed="rId8"/>
          <a:srcRect l="2386" t="85166" r="2386" b="592"/>
          <a:stretch>
            <a:fillRect/>
          </a:stretch>
        </p:blipFill>
        <p:spPr>
          <a:xfrm>
            <a:off x="4197565" y="4867155"/>
            <a:ext cx="1761875" cy="352375"/>
          </a:xfrm>
          <a:custGeom>
            <a:avLst/>
            <a:gdLst>
              <a:gd name="connsiteX0" fmla="*/ 58730 w 1761875"/>
              <a:gd name="connsiteY0" fmla="*/ 0 h 352375"/>
              <a:gd name="connsiteX1" fmla="*/ 1703145 w 1761875"/>
              <a:gd name="connsiteY1" fmla="*/ 0 h 352375"/>
              <a:gd name="connsiteX2" fmla="*/ 1761875 w 1761875"/>
              <a:gd name="connsiteY2" fmla="*/ 58730 h 352375"/>
              <a:gd name="connsiteX3" fmla="*/ 1761875 w 1761875"/>
              <a:gd name="connsiteY3" fmla="*/ 352375 h 352375"/>
              <a:gd name="connsiteX4" fmla="*/ 0 w 1761875"/>
              <a:gd name="connsiteY4" fmla="*/ 352375 h 352375"/>
              <a:gd name="connsiteX5" fmla="*/ 0 w 1761875"/>
              <a:gd name="connsiteY5" fmla="*/ 58730 h 352375"/>
              <a:gd name="connsiteX6" fmla="*/ 58730 w 1761875"/>
              <a:gd name="connsiteY6" fmla="*/ 0 h 35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1875" h="352375">
                <a:moveTo>
                  <a:pt x="58730" y="0"/>
                </a:moveTo>
                <a:lnTo>
                  <a:pt x="1703145" y="0"/>
                </a:lnTo>
                <a:cubicBezTo>
                  <a:pt x="1735581" y="0"/>
                  <a:pt x="1761875" y="26294"/>
                  <a:pt x="1761875" y="58730"/>
                </a:cubicBezTo>
                <a:lnTo>
                  <a:pt x="1761875" y="352375"/>
                </a:lnTo>
                <a:lnTo>
                  <a:pt x="0" y="352375"/>
                </a:lnTo>
                <a:lnTo>
                  <a:pt x="0" y="58730"/>
                </a:lnTo>
                <a:cubicBezTo>
                  <a:pt x="0" y="26294"/>
                  <a:pt x="26294" y="0"/>
                  <a:pt x="58730" y="0"/>
                </a:cubicBezTo>
                <a:close/>
              </a:path>
            </a:pathLst>
          </a:custGeom>
        </p:spPr>
      </p:pic>
      <p:pic>
        <p:nvPicPr>
          <p:cNvPr id="309" name="Picture 308">
            <a:extLst>
              <a:ext uri="{FF2B5EF4-FFF2-40B4-BE49-F238E27FC236}">
                <a16:creationId xmlns:a16="http://schemas.microsoft.com/office/drawing/2014/main" id="{86D549BB-E468-2270-544E-D407C7E34900}"/>
              </a:ext>
            </a:extLst>
          </p:cNvPr>
          <p:cNvPicPr>
            <a:picLocks noChangeAspect="1"/>
          </p:cNvPicPr>
          <p:nvPr/>
        </p:nvPicPr>
        <p:blipFill>
          <a:blip r:embed="rId8"/>
          <a:srcRect l="2386" t="49069" r="2386" b="36689"/>
          <a:stretch>
            <a:fillRect/>
          </a:stretch>
        </p:blipFill>
        <p:spPr>
          <a:xfrm>
            <a:off x="4197564" y="2815710"/>
            <a:ext cx="1764792" cy="352958"/>
          </a:xfrm>
          <a:custGeom>
            <a:avLst/>
            <a:gdLst>
              <a:gd name="connsiteX0" fmla="*/ 58730 w 1761875"/>
              <a:gd name="connsiteY0" fmla="*/ 0 h 352375"/>
              <a:gd name="connsiteX1" fmla="*/ 1703145 w 1761875"/>
              <a:gd name="connsiteY1" fmla="*/ 0 h 352375"/>
              <a:gd name="connsiteX2" fmla="*/ 1761875 w 1761875"/>
              <a:gd name="connsiteY2" fmla="*/ 58730 h 352375"/>
              <a:gd name="connsiteX3" fmla="*/ 1761875 w 1761875"/>
              <a:gd name="connsiteY3" fmla="*/ 352375 h 352375"/>
              <a:gd name="connsiteX4" fmla="*/ 0 w 1761875"/>
              <a:gd name="connsiteY4" fmla="*/ 352375 h 352375"/>
              <a:gd name="connsiteX5" fmla="*/ 0 w 1761875"/>
              <a:gd name="connsiteY5" fmla="*/ 58730 h 352375"/>
              <a:gd name="connsiteX6" fmla="*/ 58730 w 1761875"/>
              <a:gd name="connsiteY6" fmla="*/ 0 h 35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1875" h="352375">
                <a:moveTo>
                  <a:pt x="58730" y="0"/>
                </a:moveTo>
                <a:lnTo>
                  <a:pt x="1703145" y="0"/>
                </a:lnTo>
                <a:cubicBezTo>
                  <a:pt x="1735581" y="0"/>
                  <a:pt x="1761875" y="26294"/>
                  <a:pt x="1761875" y="58730"/>
                </a:cubicBezTo>
                <a:lnTo>
                  <a:pt x="1761875" y="352375"/>
                </a:lnTo>
                <a:lnTo>
                  <a:pt x="0" y="352375"/>
                </a:lnTo>
                <a:lnTo>
                  <a:pt x="0" y="58730"/>
                </a:lnTo>
                <a:cubicBezTo>
                  <a:pt x="0" y="26294"/>
                  <a:pt x="26294" y="0"/>
                  <a:pt x="58730" y="0"/>
                </a:cubicBezTo>
                <a:close/>
              </a:path>
            </a:pathLst>
          </a:custGeom>
        </p:spPr>
      </p:pic>
      <p:pic>
        <p:nvPicPr>
          <p:cNvPr id="310" name="Picture 309">
            <a:extLst>
              <a:ext uri="{FF2B5EF4-FFF2-40B4-BE49-F238E27FC236}">
                <a16:creationId xmlns:a16="http://schemas.microsoft.com/office/drawing/2014/main" id="{66DFFC1B-4B32-EBB9-7BE0-048ADCC428AB}"/>
              </a:ext>
            </a:extLst>
          </p:cNvPr>
          <p:cNvPicPr>
            <a:picLocks noChangeAspect="1"/>
          </p:cNvPicPr>
          <p:nvPr/>
        </p:nvPicPr>
        <p:blipFill>
          <a:blip r:embed="rId8"/>
          <a:srcRect l="2386" t="5229" r="2386" b="80529"/>
          <a:stretch>
            <a:fillRect/>
          </a:stretch>
        </p:blipFill>
        <p:spPr>
          <a:xfrm>
            <a:off x="4197564" y="662380"/>
            <a:ext cx="1761875" cy="352375"/>
          </a:xfrm>
          <a:custGeom>
            <a:avLst/>
            <a:gdLst>
              <a:gd name="connsiteX0" fmla="*/ 58730 w 1761875"/>
              <a:gd name="connsiteY0" fmla="*/ 0 h 352375"/>
              <a:gd name="connsiteX1" fmla="*/ 1703145 w 1761875"/>
              <a:gd name="connsiteY1" fmla="*/ 0 h 352375"/>
              <a:gd name="connsiteX2" fmla="*/ 1761875 w 1761875"/>
              <a:gd name="connsiteY2" fmla="*/ 58730 h 352375"/>
              <a:gd name="connsiteX3" fmla="*/ 1761875 w 1761875"/>
              <a:gd name="connsiteY3" fmla="*/ 352375 h 352375"/>
              <a:gd name="connsiteX4" fmla="*/ 0 w 1761875"/>
              <a:gd name="connsiteY4" fmla="*/ 352375 h 352375"/>
              <a:gd name="connsiteX5" fmla="*/ 0 w 1761875"/>
              <a:gd name="connsiteY5" fmla="*/ 58730 h 352375"/>
              <a:gd name="connsiteX6" fmla="*/ 58730 w 1761875"/>
              <a:gd name="connsiteY6" fmla="*/ 0 h 35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1875" h="352375">
                <a:moveTo>
                  <a:pt x="58730" y="0"/>
                </a:moveTo>
                <a:lnTo>
                  <a:pt x="1703145" y="0"/>
                </a:lnTo>
                <a:cubicBezTo>
                  <a:pt x="1735581" y="0"/>
                  <a:pt x="1761875" y="26294"/>
                  <a:pt x="1761875" y="58730"/>
                </a:cubicBezTo>
                <a:lnTo>
                  <a:pt x="1761875" y="352375"/>
                </a:lnTo>
                <a:lnTo>
                  <a:pt x="0" y="352375"/>
                </a:lnTo>
                <a:lnTo>
                  <a:pt x="0" y="58730"/>
                </a:lnTo>
                <a:cubicBezTo>
                  <a:pt x="0" y="26294"/>
                  <a:pt x="26294" y="0"/>
                  <a:pt x="58730" y="0"/>
                </a:cubicBezTo>
                <a:close/>
              </a:path>
            </a:pathLst>
          </a:custGeom>
        </p:spPr>
      </p:pic>
      <p:sp>
        <p:nvSpPr>
          <p:cNvPr id="311" name="Rectangle: Top Corners Rounded 310">
            <a:extLst>
              <a:ext uri="{FF2B5EF4-FFF2-40B4-BE49-F238E27FC236}">
                <a16:creationId xmlns:a16="http://schemas.microsoft.com/office/drawing/2014/main" id="{4ED45E40-E859-9900-EF65-73E1B65F3D7B}"/>
              </a:ext>
            </a:extLst>
          </p:cNvPr>
          <p:cNvSpPr/>
          <p:nvPr/>
        </p:nvSpPr>
        <p:spPr>
          <a:xfrm>
            <a:off x="4197565" y="2815711"/>
            <a:ext cx="1761875" cy="352375"/>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cs typeface="Segoe UI Semibold" panose="020B0702040204020203" pitchFamily="34" charset="0"/>
              </a:rPr>
              <a:t>Zero Trust Policies</a:t>
            </a:r>
          </a:p>
        </p:txBody>
      </p:sp>
      <p:sp>
        <p:nvSpPr>
          <p:cNvPr id="312" name="Rectangle: Top Corners Rounded 311">
            <a:extLst>
              <a:ext uri="{FF2B5EF4-FFF2-40B4-BE49-F238E27FC236}">
                <a16:creationId xmlns:a16="http://schemas.microsoft.com/office/drawing/2014/main" id="{2A34969E-47E6-3BDC-B42B-1B3D4CC157EC}"/>
              </a:ext>
            </a:extLst>
          </p:cNvPr>
          <p:cNvSpPr/>
          <p:nvPr/>
        </p:nvSpPr>
        <p:spPr>
          <a:xfrm>
            <a:off x="4197565" y="4867155"/>
            <a:ext cx="1761875" cy="352375"/>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cs typeface="Segoe UI Semibold" panose="020B0702040204020203" pitchFamily="34" charset="0"/>
              </a:rPr>
              <a:t>Threat Protection</a:t>
            </a:r>
          </a:p>
        </p:txBody>
      </p:sp>
      <p:sp>
        <p:nvSpPr>
          <p:cNvPr id="313" name="Rectangle: Top Corners Rounded 312">
            <a:extLst>
              <a:ext uri="{FF2B5EF4-FFF2-40B4-BE49-F238E27FC236}">
                <a16:creationId xmlns:a16="http://schemas.microsoft.com/office/drawing/2014/main" id="{48D01984-E382-F81A-7362-22F044F3121B}"/>
              </a:ext>
            </a:extLst>
          </p:cNvPr>
          <p:cNvSpPr/>
          <p:nvPr/>
        </p:nvSpPr>
        <p:spPr>
          <a:xfrm>
            <a:off x="4197564" y="662380"/>
            <a:ext cx="1761875" cy="352375"/>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cs typeface="Segoe UI Semibold" panose="020B0702040204020203" pitchFamily="34" charset="0"/>
              </a:rPr>
              <a:t>Policy Optimization</a:t>
            </a:r>
          </a:p>
        </p:txBody>
      </p:sp>
      <p:pic>
        <p:nvPicPr>
          <p:cNvPr id="314" name="Picture 313">
            <a:extLst>
              <a:ext uri="{FF2B5EF4-FFF2-40B4-BE49-F238E27FC236}">
                <a16:creationId xmlns:a16="http://schemas.microsoft.com/office/drawing/2014/main" id="{3E54E8DD-F2F3-52F9-5434-BFBB5ED771DC}"/>
              </a:ext>
            </a:extLst>
          </p:cNvPr>
          <p:cNvPicPr>
            <a:picLocks noChangeAspect="1"/>
          </p:cNvPicPr>
          <p:nvPr/>
        </p:nvPicPr>
        <p:blipFill>
          <a:blip r:embed="rId9"/>
          <a:srcRect l="22981" t="28059" r="26923" b="58492"/>
          <a:stretch>
            <a:fillRect/>
          </a:stretch>
        </p:blipFill>
        <p:spPr>
          <a:xfrm>
            <a:off x="7568341" y="2815711"/>
            <a:ext cx="981468" cy="352375"/>
          </a:xfrm>
          <a:custGeom>
            <a:avLst/>
            <a:gdLst>
              <a:gd name="connsiteX0" fmla="*/ 58730 w 981468"/>
              <a:gd name="connsiteY0" fmla="*/ 0 h 352375"/>
              <a:gd name="connsiteX1" fmla="*/ 922738 w 981468"/>
              <a:gd name="connsiteY1" fmla="*/ 0 h 352375"/>
              <a:gd name="connsiteX2" fmla="*/ 981468 w 981468"/>
              <a:gd name="connsiteY2" fmla="*/ 58730 h 352375"/>
              <a:gd name="connsiteX3" fmla="*/ 981468 w 981468"/>
              <a:gd name="connsiteY3" fmla="*/ 352375 h 352375"/>
              <a:gd name="connsiteX4" fmla="*/ 0 w 981468"/>
              <a:gd name="connsiteY4" fmla="*/ 352375 h 352375"/>
              <a:gd name="connsiteX5" fmla="*/ 0 w 981468"/>
              <a:gd name="connsiteY5" fmla="*/ 58730 h 352375"/>
              <a:gd name="connsiteX6" fmla="*/ 58730 w 981468"/>
              <a:gd name="connsiteY6" fmla="*/ 0 h 35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1468" h="352375">
                <a:moveTo>
                  <a:pt x="58730" y="0"/>
                </a:moveTo>
                <a:lnTo>
                  <a:pt x="922738" y="0"/>
                </a:lnTo>
                <a:cubicBezTo>
                  <a:pt x="955174" y="0"/>
                  <a:pt x="981468" y="26294"/>
                  <a:pt x="981468" y="58730"/>
                </a:cubicBezTo>
                <a:lnTo>
                  <a:pt x="981468" y="352375"/>
                </a:lnTo>
                <a:lnTo>
                  <a:pt x="0" y="352375"/>
                </a:lnTo>
                <a:lnTo>
                  <a:pt x="0" y="58730"/>
                </a:lnTo>
                <a:cubicBezTo>
                  <a:pt x="0" y="26294"/>
                  <a:pt x="26294" y="0"/>
                  <a:pt x="58730" y="0"/>
                </a:cubicBezTo>
                <a:close/>
              </a:path>
            </a:pathLst>
          </a:custGeom>
        </p:spPr>
      </p:pic>
      <p:sp>
        <p:nvSpPr>
          <p:cNvPr id="315" name="Rectangle: Top Corners Rounded 314">
            <a:extLst>
              <a:ext uri="{FF2B5EF4-FFF2-40B4-BE49-F238E27FC236}">
                <a16:creationId xmlns:a16="http://schemas.microsoft.com/office/drawing/2014/main" id="{89B54695-77C6-6F7A-790D-6DC2B2845324}"/>
              </a:ext>
            </a:extLst>
          </p:cNvPr>
          <p:cNvSpPr/>
          <p:nvPr/>
        </p:nvSpPr>
        <p:spPr>
          <a:xfrm>
            <a:off x="7568341" y="2815711"/>
            <a:ext cx="981468" cy="352375"/>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cs typeface="Segoe UI Semibold" panose="020B0702040204020203" pitchFamily="34" charset="0"/>
              </a:rPr>
              <a:t>Network</a:t>
            </a:r>
          </a:p>
        </p:txBody>
      </p:sp>
      <p:pic>
        <p:nvPicPr>
          <p:cNvPr id="316" name="Picture 315" descr="A colorful background with a pink and blue heart&#10;&#10;AI-generated content may be incorrect.">
            <a:extLst>
              <a:ext uri="{FF2B5EF4-FFF2-40B4-BE49-F238E27FC236}">
                <a16:creationId xmlns:a16="http://schemas.microsoft.com/office/drawing/2014/main" id="{8E70926C-4DCD-9D08-743F-3B05A297738A}"/>
              </a:ext>
            </a:extLst>
          </p:cNvPr>
          <p:cNvPicPr>
            <a:picLocks noChangeAspect="1"/>
          </p:cNvPicPr>
          <p:nvPr/>
        </p:nvPicPr>
        <p:blipFill>
          <a:blip r:embed="rId10"/>
          <a:srcRect l="75333" t="86856" r="6118" b="3310"/>
          <a:stretch/>
        </p:blipFill>
        <p:spPr>
          <a:xfrm>
            <a:off x="9883196" y="4138448"/>
            <a:ext cx="1181312" cy="352375"/>
          </a:xfrm>
          <a:custGeom>
            <a:avLst/>
            <a:gdLst>
              <a:gd name="connsiteX0" fmla="*/ 86667 w 1181312"/>
              <a:gd name="connsiteY0" fmla="*/ 0 h 352375"/>
              <a:gd name="connsiteX1" fmla="*/ 1094645 w 1181312"/>
              <a:gd name="connsiteY1" fmla="*/ 0 h 352375"/>
              <a:gd name="connsiteX2" fmla="*/ 1181312 w 1181312"/>
              <a:gd name="connsiteY2" fmla="*/ 86667 h 352375"/>
              <a:gd name="connsiteX3" fmla="*/ 1181312 w 1181312"/>
              <a:gd name="connsiteY3" fmla="*/ 352375 h 352375"/>
              <a:gd name="connsiteX4" fmla="*/ 0 w 1181312"/>
              <a:gd name="connsiteY4" fmla="*/ 352375 h 352375"/>
              <a:gd name="connsiteX5" fmla="*/ 0 w 1181312"/>
              <a:gd name="connsiteY5" fmla="*/ 86667 h 352375"/>
              <a:gd name="connsiteX6" fmla="*/ 86667 w 1181312"/>
              <a:gd name="connsiteY6" fmla="*/ 0 h 35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1312" h="352375">
                <a:moveTo>
                  <a:pt x="86667" y="0"/>
                </a:moveTo>
                <a:lnTo>
                  <a:pt x="1094645" y="0"/>
                </a:lnTo>
                <a:cubicBezTo>
                  <a:pt x="1142510" y="0"/>
                  <a:pt x="1181312" y="38802"/>
                  <a:pt x="1181312" y="86667"/>
                </a:cubicBezTo>
                <a:lnTo>
                  <a:pt x="1181312" y="352375"/>
                </a:lnTo>
                <a:lnTo>
                  <a:pt x="0" y="352375"/>
                </a:lnTo>
                <a:lnTo>
                  <a:pt x="0" y="86667"/>
                </a:lnTo>
                <a:cubicBezTo>
                  <a:pt x="0" y="38802"/>
                  <a:pt x="38802" y="0"/>
                  <a:pt x="86667" y="0"/>
                </a:cubicBezTo>
                <a:close/>
              </a:path>
            </a:pathLst>
          </a:custGeom>
        </p:spPr>
      </p:pic>
      <p:sp>
        <p:nvSpPr>
          <p:cNvPr id="317" name="Rectangle: Top Corners Rounded 316">
            <a:extLst>
              <a:ext uri="{FF2B5EF4-FFF2-40B4-BE49-F238E27FC236}">
                <a16:creationId xmlns:a16="http://schemas.microsoft.com/office/drawing/2014/main" id="{967D73C3-AEF2-F891-1080-BFCB138FBEDC}"/>
              </a:ext>
            </a:extLst>
          </p:cNvPr>
          <p:cNvSpPr/>
          <p:nvPr/>
        </p:nvSpPr>
        <p:spPr>
          <a:xfrm>
            <a:off x="9883196" y="4138448"/>
            <a:ext cx="1181312" cy="352375"/>
          </a:xfrm>
          <a:prstGeom prst="round2SameRect">
            <a:avLst>
              <a:gd name="adj1" fmla="val 24633"/>
              <a:gd name="adj2"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cs typeface="Segoe UI Semibold" panose="020B0702040204020203" pitchFamily="34" charset="0"/>
              </a:rPr>
              <a:t>Infrastructure</a:t>
            </a:r>
          </a:p>
        </p:txBody>
      </p:sp>
      <p:pic>
        <p:nvPicPr>
          <p:cNvPr id="318" name="Picture 317" descr="A colorful background with a pink and blue heart&#10;&#10;AI-generated content may be incorrect.">
            <a:extLst>
              <a:ext uri="{FF2B5EF4-FFF2-40B4-BE49-F238E27FC236}">
                <a16:creationId xmlns:a16="http://schemas.microsoft.com/office/drawing/2014/main" id="{47183863-DD88-C993-A776-1BC34C51929C}"/>
              </a:ext>
            </a:extLst>
          </p:cNvPr>
          <p:cNvPicPr>
            <a:picLocks noChangeAspect="1"/>
          </p:cNvPicPr>
          <p:nvPr/>
        </p:nvPicPr>
        <p:blipFill>
          <a:blip r:embed="rId10"/>
          <a:srcRect l="22495" t="78171" r="58955" b="11996"/>
          <a:stretch/>
        </p:blipFill>
        <p:spPr>
          <a:xfrm>
            <a:off x="9883196" y="2671479"/>
            <a:ext cx="1181312" cy="352375"/>
          </a:xfrm>
          <a:custGeom>
            <a:avLst/>
            <a:gdLst>
              <a:gd name="connsiteX0" fmla="*/ 86667 w 1181312"/>
              <a:gd name="connsiteY0" fmla="*/ 0 h 352375"/>
              <a:gd name="connsiteX1" fmla="*/ 1094645 w 1181312"/>
              <a:gd name="connsiteY1" fmla="*/ 0 h 352375"/>
              <a:gd name="connsiteX2" fmla="*/ 1181312 w 1181312"/>
              <a:gd name="connsiteY2" fmla="*/ 86667 h 352375"/>
              <a:gd name="connsiteX3" fmla="*/ 1181312 w 1181312"/>
              <a:gd name="connsiteY3" fmla="*/ 352375 h 352375"/>
              <a:gd name="connsiteX4" fmla="*/ 0 w 1181312"/>
              <a:gd name="connsiteY4" fmla="*/ 352375 h 352375"/>
              <a:gd name="connsiteX5" fmla="*/ 0 w 1181312"/>
              <a:gd name="connsiteY5" fmla="*/ 86667 h 352375"/>
              <a:gd name="connsiteX6" fmla="*/ 86667 w 1181312"/>
              <a:gd name="connsiteY6" fmla="*/ 0 h 35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1312" h="352375">
                <a:moveTo>
                  <a:pt x="86667" y="0"/>
                </a:moveTo>
                <a:lnTo>
                  <a:pt x="1094645" y="0"/>
                </a:lnTo>
                <a:cubicBezTo>
                  <a:pt x="1142510" y="0"/>
                  <a:pt x="1181312" y="38802"/>
                  <a:pt x="1181312" y="86667"/>
                </a:cubicBezTo>
                <a:lnTo>
                  <a:pt x="1181312" y="352375"/>
                </a:lnTo>
                <a:lnTo>
                  <a:pt x="0" y="352375"/>
                </a:lnTo>
                <a:lnTo>
                  <a:pt x="0" y="86667"/>
                </a:lnTo>
                <a:cubicBezTo>
                  <a:pt x="0" y="38802"/>
                  <a:pt x="38802" y="0"/>
                  <a:pt x="86667" y="0"/>
                </a:cubicBezTo>
                <a:close/>
              </a:path>
            </a:pathLst>
          </a:custGeom>
        </p:spPr>
      </p:pic>
      <p:sp>
        <p:nvSpPr>
          <p:cNvPr id="319" name="Rectangle: Top Corners Rounded 318">
            <a:extLst>
              <a:ext uri="{FF2B5EF4-FFF2-40B4-BE49-F238E27FC236}">
                <a16:creationId xmlns:a16="http://schemas.microsoft.com/office/drawing/2014/main" id="{96DC7CAA-E2DA-6834-C007-D97CDBD65B77}"/>
              </a:ext>
            </a:extLst>
          </p:cNvPr>
          <p:cNvSpPr/>
          <p:nvPr/>
        </p:nvSpPr>
        <p:spPr>
          <a:xfrm>
            <a:off x="9883196" y="2671479"/>
            <a:ext cx="1181312" cy="352375"/>
          </a:xfrm>
          <a:prstGeom prst="round2SameRect">
            <a:avLst>
              <a:gd name="adj1" fmla="val 23154"/>
              <a:gd name="adj2"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cs typeface="Segoe UI Semibold" panose="020B0702040204020203" pitchFamily="34" charset="0"/>
              </a:rPr>
              <a:t>Apps</a:t>
            </a:r>
          </a:p>
        </p:txBody>
      </p:sp>
      <p:pic>
        <p:nvPicPr>
          <p:cNvPr id="320" name="Picture 319" descr="A colorful background with a pink and blue heart&#10;&#10;AI-generated content may be incorrect.">
            <a:extLst>
              <a:ext uri="{FF2B5EF4-FFF2-40B4-BE49-F238E27FC236}">
                <a16:creationId xmlns:a16="http://schemas.microsoft.com/office/drawing/2014/main" id="{3902DEF1-69D2-58C1-9A68-E7D839E11695}"/>
              </a:ext>
            </a:extLst>
          </p:cNvPr>
          <p:cNvPicPr>
            <a:picLocks noChangeAspect="1"/>
          </p:cNvPicPr>
          <p:nvPr/>
        </p:nvPicPr>
        <p:blipFill>
          <a:blip r:embed="rId10"/>
          <a:srcRect l="49867" t="10337" r="31584" b="79829"/>
          <a:stretch/>
        </p:blipFill>
        <p:spPr>
          <a:xfrm>
            <a:off x="9883196" y="1045861"/>
            <a:ext cx="1181312" cy="352375"/>
          </a:xfrm>
          <a:custGeom>
            <a:avLst/>
            <a:gdLst>
              <a:gd name="connsiteX0" fmla="*/ 86667 w 1181312"/>
              <a:gd name="connsiteY0" fmla="*/ 0 h 352375"/>
              <a:gd name="connsiteX1" fmla="*/ 1094645 w 1181312"/>
              <a:gd name="connsiteY1" fmla="*/ 0 h 352375"/>
              <a:gd name="connsiteX2" fmla="*/ 1181312 w 1181312"/>
              <a:gd name="connsiteY2" fmla="*/ 86667 h 352375"/>
              <a:gd name="connsiteX3" fmla="*/ 1181312 w 1181312"/>
              <a:gd name="connsiteY3" fmla="*/ 352375 h 352375"/>
              <a:gd name="connsiteX4" fmla="*/ 0 w 1181312"/>
              <a:gd name="connsiteY4" fmla="*/ 352375 h 352375"/>
              <a:gd name="connsiteX5" fmla="*/ 0 w 1181312"/>
              <a:gd name="connsiteY5" fmla="*/ 86667 h 352375"/>
              <a:gd name="connsiteX6" fmla="*/ 86667 w 1181312"/>
              <a:gd name="connsiteY6" fmla="*/ 0 h 35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1312" h="352375">
                <a:moveTo>
                  <a:pt x="86667" y="0"/>
                </a:moveTo>
                <a:lnTo>
                  <a:pt x="1094645" y="0"/>
                </a:lnTo>
                <a:cubicBezTo>
                  <a:pt x="1142510" y="0"/>
                  <a:pt x="1181312" y="38802"/>
                  <a:pt x="1181312" y="86667"/>
                </a:cubicBezTo>
                <a:lnTo>
                  <a:pt x="1181312" y="352375"/>
                </a:lnTo>
                <a:lnTo>
                  <a:pt x="0" y="352375"/>
                </a:lnTo>
                <a:lnTo>
                  <a:pt x="0" y="86667"/>
                </a:lnTo>
                <a:cubicBezTo>
                  <a:pt x="0" y="38802"/>
                  <a:pt x="38802" y="0"/>
                  <a:pt x="86667" y="0"/>
                </a:cubicBezTo>
                <a:close/>
              </a:path>
            </a:pathLst>
          </a:custGeom>
        </p:spPr>
      </p:pic>
      <p:sp>
        <p:nvSpPr>
          <p:cNvPr id="321" name="Rectangle: Top Corners Rounded 320">
            <a:extLst>
              <a:ext uri="{FF2B5EF4-FFF2-40B4-BE49-F238E27FC236}">
                <a16:creationId xmlns:a16="http://schemas.microsoft.com/office/drawing/2014/main" id="{069EA2A1-2065-C34C-1C84-4FA00E0D188F}"/>
              </a:ext>
            </a:extLst>
          </p:cNvPr>
          <p:cNvSpPr/>
          <p:nvPr/>
        </p:nvSpPr>
        <p:spPr>
          <a:xfrm>
            <a:off x="9883196" y="1045861"/>
            <a:ext cx="1181312" cy="352375"/>
          </a:xfrm>
          <a:prstGeom prst="round2SameRect">
            <a:avLst>
              <a:gd name="adj1" fmla="val 24595"/>
              <a:gd name="adj2"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cs typeface="Segoe UI Semibold" panose="020B0702040204020203" pitchFamily="34" charset="0"/>
              </a:rPr>
              <a:t>Data</a:t>
            </a:r>
          </a:p>
        </p:txBody>
      </p:sp>
      <p:grpSp>
        <p:nvGrpSpPr>
          <p:cNvPr id="322" name="Group 321">
            <a:extLst>
              <a:ext uri="{FF2B5EF4-FFF2-40B4-BE49-F238E27FC236}">
                <a16:creationId xmlns:a16="http://schemas.microsoft.com/office/drawing/2014/main" id="{F6BBC58E-C961-CBED-FD25-E025A58B0050}"/>
              </a:ext>
            </a:extLst>
          </p:cNvPr>
          <p:cNvGrpSpPr/>
          <p:nvPr/>
        </p:nvGrpSpPr>
        <p:grpSpPr>
          <a:xfrm>
            <a:off x="2781953" y="2923986"/>
            <a:ext cx="1114310" cy="539758"/>
            <a:chOff x="2781953" y="2923986"/>
            <a:chExt cx="1114310" cy="539758"/>
          </a:xfrm>
        </p:grpSpPr>
        <p:sp>
          <p:nvSpPr>
            <p:cNvPr id="323" name="Rectangle: Rounded Corners 322">
              <a:extLst>
                <a:ext uri="{FF2B5EF4-FFF2-40B4-BE49-F238E27FC236}">
                  <a16:creationId xmlns:a16="http://schemas.microsoft.com/office/drawing/2014/main" id="{2E223807-7E53-65F8-A260-AEB9F3C4A631}"/>
                </a:ext>
              </a:extLst>
            </p:cNvPr>
            <p:cNvSpPr/>
            <p:nvPr/>
          </p:nvSpPr>
          <p:spPr>
            <a:xfrm>
              <a:off x="2781953" y="2923986"/>
              <a:ext cx="1114310" cy="539758"/>
            </a:xfrm>
            <a:prstGeom prst="roundRect">
              <a:avLst>
                <a:gd name="adj" fmla="val 13940"/>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0144"/>
              <a:r>
                <a:rPr lang="en-US" sz="800">
                  <a:solidFill>
                    <a:srgbClr val="000000"/>
                  </a:solidFill>
                  <a:cs typeface="Segoe UI" panose="020B0502040204020203" pitchFamily="34" charset="0"/>
                </a:rPr>
                <a:t>Request</a:t>
              </a:r>
            </a:p>
            <a:p>
              <a:pPr marL="230144"/>
              <a:r>
                <a:rPr lang="en-US" sz="800">
                  <a:solidFill>
                    <a:srgbClr val="000000"/>
                  </a:solidFill>
                  <a:cs typeface="Segoe UI" panose="020B0502040204020203" pitchFamily="34" charset="0"/>
                </a:rPr>
                <a:t>enhancement</a:t>
              </a:r>
            </a:p>
          </p:txBody>
        </p:sp>
        <p:pic>
          <p:nvPicPr>
            <p:cNvPr id="324" name="Graphic 323">
              <a:extLst>
                <a:ext uri="{FF2B5EF4-FFF2-40B4-BE49-F238E27FC236}">
                  <a16:creationId xmlns:a16="http://schemas.microsoft.com/office/drawing/2014/main" id="{31701CA5-C6DF-FFBD-E148-FCE79778F5D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H="1">
              <a:off x="2839494" y="3079766"/>
              <a:ext cx="228600" cy="228600"/>
            </a:xfrm>
            <a:prstGeom prst="rect">
              <a:avLst/>
            </a:prstGeom>
          </p:spPr>
        </p:pic>
      </p:grpSp>
      <p:grpSp>
        <p:nvGrpSpPr>
          <p:cNvPr id="325" name="Group 324">
            <a:extLst>
              <a:ext uri="{FF2B5EF4-FFF2-40B4-BE49-F238E27FC236}">
                <a16:creationId xmlns:a16="http://schemas.microsoft.com/office/drawing/2014/main" id="{C8342716-9EB8-0EEC-9FBB-DC4B5CAC1617}"/>
              </a:ext>
            </a:extLst>
          </p:cNvPr>
          <p:cNvGrpSpPr/>
          <p:nvPr/>
        </p:nvGrpSpPr>
        <p:grpSpPr>
          <a:xfrm>
            <a:off x="8981952" y="1181236"/>
            <a:ext cx="620764" cy="756303"/>
            <a:chOff x="8981952" y="1181236"/>
            <a:chExt cx="620764" cy="756303"/>
          </a:xfrm>
        </p:grpSpPr>
        <p:sp>
          <p:nvSpPr>
            <p:cNvPr id="326" name="Rectangle: Rounded Corners 325">
              <a:extLst>
                <a:ext uri="{FF2B5EF4-FFF2-40B4-BE49-F238E27FC236}">
                  <a16:creationId xmlns:a16="http://schemas.microsoft.com/office/drawing/2014/main" id="{B44038E7-D04A-6B01-7A44-47E21785B967}"/>
                </a:ext>
              </a:extLst>
            </p:cNvPr>
            <p:cNvSpPr/>
            <p:nvPr/>
          </p:nvSpPr>
          <p:spPr>
            <a:xfrm>
              <a:off x="8981952" y="1181236"/>
              <a:ext cx="620764" cy="756303"/>
            </a:xfrm>
            <a:prstGeom prst="roundRect">
              <a:avLst>
                <a:gd name="adj" fmla="val 13940"/>
              </a:avLst>
            </a:prstGeom>
            <a:solidFill>
              <a:srgbClr val="FFFFFF"/>
            </a:solidFill>
            <a:ln>
              <a:solidFill>
                <a:srgbClr val="9D9D9D"/>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r>
                <a:rPr lang="en-US" sz="900">
                  <a:solidFill>
                    <a:srgbClr val="000000"/>
                  </a:solidFill>
                  <a:cs typeface="Segoe UI" panose="020B0502040204020203" pitchFamily="34" charset="0"/>
                </a:rPr>
              </a:br>
              <a:r>
                <a:rPr lang="en-US" sz="900">
                  <a:solidFill>
                    <a:srgbClr val="000000"/>
                  </a:solidFill>
                  <a:cs typeface="Segoe UI" panose="020B0502040204020203" pitchFamily="34" charset="0"/>
                </a:rPr>
                <a:t>Classify, label, encrypt</a:t>
              </a:r>
            </a:p>
          </p:txBody>
        </p:sp>
        <p:pic>
          <p:nvPicPr>
            <p:cNvPr id="327" name="Graphic 326">
              <a:extLst>
                <a:ext uri="{FF2B5EF4-FFF2-40B4-BE49-F238E27FC236}">
                  <a16:creationId xmlns:a16="http://schemas.microsoft.com/office/drawing/2014/main" id="{0E2BD499-2A69-4906-445D-D6EE5124929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197320" y="1218079"/>
              <a:ext cx="190028" cy="190028"/>
            </a:xfrm>
            <a:prstGeom prst="rect">
              <a:avLst/>
            </a:prstGeom>
          </p:spPr>
        </p:pic>
      </p:grpSp>
      <p:sp>
        <p:nvSpPr>
          <p:cNvPr id="328" name="Title 327">
            <a:extLst>
              <a:ext uri="{FF2B5EF4-FFF2-40B4-BE49-F238E27FC236}">
                <a16:creationId xmlns:a16="http://schemas.microsoft.com/office/drawing/2014/main" id="{7197D8F3-0905-B289-0B6D-71C563C1CC4C}"/>
              </a:ext>
            </a:extLst>
          </p:cNvPr>
          <p:cNvSpPr>
            <a:spLocks noGrp="1"/>
          </p:cNvSpPr>
          <p:nvPr>
            <p:ph type="title"/>
          </p:nvPr>
        </p:nvSpPr>
        <p:spPr>
          <a:xfrm>
            <a:off x="588263" y="457200"/>
            <a:ext cx="11018520" cy="861774"/>
          </a:xfrm>
        </p:spPr>
        <p:txBody>
          <a:bodyPr/>
          <a:lstStyle/>
          <a:p>
            <a:r>
              <a:rPr lang="en-US" sz="2800"/>
              <a:t>Zero Trust solutions</a:t>
            </a:r>
            <a:br>
              <a:rPr lang="en-US" sz="2800"/>
            </a:br>
            <a:r>
              <a:rPr lang="en-US" sz="2800"/>
              <a:t>from Microsoft</a:t>
            </a:r>
          </a:p>
        </p:txBody>
      </p:sp>
    </p:spTree>
    <p:extLst>
      <p:ext uri="{BB962C8B-B14F-4D97-AF65-F5344CB8AC3E}">
        <p14:creationId xmlns:p14="http://schemas.microsoft.com/office/powerpoint/2010/main" val="2135497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1.66667E-6 -0.05278 L -1.66667E-6 3.33333E-6 " pathEditMode="relative" rAng="0" ptsTypes="AA">
                                      <p:cBhvr>
                                        <p:cTn id="6" dur="2000" fill="hold"/>
                                        <p:tgtEl>
                                          <p:spTgt spid="342"/>
                                        </p:tgtEl>
                                        <p:attrNameLst>
                                          <p:attrName>ppt_x</p:attrName>
                                          <p:attrName>ppt_y</p:attrName>
                                        </p:attrNameLst>
                                      </p:cBhvr>
                                      <p:rCtr x="0" y="2639"/>
                                    </p:animMotion>
                                  </p:childTnLst>
                                </p:cTn>
                              </p:par>
                              <p:par>
                                <p:cTn id="7" presetID="42" presetClass="path" presetSubtype="0" accel="50000" decel="50000" fill="hold" nodeType="withEffect">
                                  <p:stCondLst>
                                    <p:cond delay="0"/>
                                  </p:stCondLst>
                                  <p:childTnLst>
                                    <p:animMotion origin="layout" path="M -1.66667E-6 -0.06018 L -1.66667E-6 -3.7037E-6 " pathEditMode="relative" rAng="0" ptsTypes="AA">
                                      <p:cBhvr>
                                        <p:cTn id="8" dur="2000" fill="hold"/>
                                        <p:tgtEl>
                                          <p:spTgt spid="345"/>
                                        </p:tgtEl>
                                        <p:attrNameLst>
                                          <p:attrName>ppt_x</p:attrName>
                                          <p:attrName>ppt_y</p:attrName>
                                        </p:attrNameLst>
                                      </p:cBhvr>
                                      <p:rCtr x="0" y="3009"/>
                                    </p:animMotion>
                                  </p:childTnLst>
                                </p:cTn>
                              </p:par>
                              <p:par>
                                <p:cTn id="9" presetID="42" presetClass="path" presetSubtype="0" accel="50000" decel="50000" fill="hold" nodeType="withEffect">
                                  <p:stCondLst>
                                    <p:cond delay="0"/>
                                  </p:stCondLst>
                                  <p:childTnLst>
                                    <p:animMotion origin="layout" path="M 3.54167E-6 -0.11528 L 3.54167E-6 3.33333E-6 " pathEditMode="relative" rAng="0" ptsTypes="AA">
                                      <p:cBhvr>
                                        <p:cTn id="10" dur="2000" fill="hold"/>
                                        <p:tgtEl>
                                          <p:spTgt spid="364"/>
                                        </p:tgtEl>
                                        <p:attrNameLst>
                                          <p:attrName>ppt_x</p:attrName>
                                          <p:attrName>ppt_y</p:attrName>
                                        </p:attrNameLst>
                                      </p:cBhvr>
                                      <p:rCtr x="0" y="5764"/>
                                    </p:animMotion>
                                  </p:childTnLst>
                                </p:cTn>
                              </p:par>
                              <p:par>
                                <p:cTn id="11" presetID="42" presetClass="path" presetSubtype="0" accel="50000" decel="50000" fill="hold" nodeType="withEffect">
                                  <p:stCondLst>
                                    <p:cond delay="0"/>
                                  </p:stCondLst>
                                  <p:childTnLst>
                                    <p:animMotion origin="layout" path="M 3.54167E-6 -0.05532 L 3.54167E-6 -4.07407E-6 " pathEditMode="relative" rAng="0" ptsTypes="AA">
                                      <p:cBhvr>
                                        <p:cTn id="12" dur="2000" fill="hold"/>
                                        <p:tgtEl>
                                          <p:spTgt spid="339"/>
                                        </p:tgtEl>
                                        <p:attrNameLst>
                                          <p:attrName>ppt_x</p:attrName>
                                          <p:attrName>ppt_y</p:attrName>
                                        </p:attrNameLst>
                                      </p:cBhvr>
                                      <p:rCtr x="0" y="2755"/>
                                    </p:animMotion>
                                  </p:childTnLst>
                                </p:cTn>
                              </p:par>
                              <p:par>
                                <p:cTn id="13" presetID="42" presetClass="path" presetSubtype="0" accel="50000" decel="50000" fill="hold" nodeType="withEffect">
                                  <p:stCondLst>
                                    <p:cond delay="0"/>
                                  </p:stCondLst>
                                  <p:childTnLst>
                                    <p:animMotion origin="layout" path="M 3.54167E-6 -0.05533 L 3.54167E-6 2.59259E-6 " pathEditMode="relative" rAng="0" ptsTypes="AA">
                                      <p:cBhvr>
                                        <p:cTn id="14" dur="2000" fill="hold"/>
                                        <p:tgtEl>
                                          <p:spTgt spid="355"/>
                                        </p:tgtEl>
                                        <p:attrNameLst>
                                          <p:attrName>ppt_x</p:attrName>
                                          <p:attrName>ppt_y</p:attrName>
                                        </p:attrNameLst>
                                      </p:cBhvr>
                                      <p:rCtr x="0" y="2755"/>
                                    </p:animMotion>
                                  </p:childTnLst>
                                </p:cTn>
                              </p:par>
                              <p:par>
                                <p:cTn id="15" presetID="42" presetClass="path" presetSubtype="0" accel="50000" decel="50000" fill="hold" nodeType="withEffect">
                                  <p:stCondLst>
                                    <p:cond delay="0"/>
                                  </p:stCondLst>
                                  <p:childTnLst>
                                    <p:animMotion origin="layout" path="M -4.58333E-6 -0.05532 L -4.58333E-6 -1.48148E-6 " pathEditMode="relative" rAng="0" ptsTypes="AA">
                                      <p:cBhvr>
                                        <p:cTn id="16" dur="2000" fill="hold"/>
                                        <p:tgtEl>
                                          <p:spTgt spid="350"/>
                                        </p:tgtEl>
                                        <p:attrNameLst>
                                          <p:attrName>ppt_x</p:attrName>
                                          <p:attrName>ppt_y</p:attrName>
                                        </p:attrNameLst>
                                      </p:cBhvr>
                                      <p:rCtr x="0" y="2755"/>
                                    </p:animMotion>
                                  </p:childTnLst>
                                </p:cTn>
                              </p:par>
                              <p:par>
                                <p:cTn id="17" presetID="42" presetClass="path" presetSubtype="0" accel="50000" decel="50000" fill="hold" nodeType="withEffect">
                                  <p:stCondLst>
                                    <p:cond delay="0"/>
                                  </p:stCondLst>
                                  <p:childTnLst>
                                    <p:animMotion origin="layout" path="M -4.58333E-6 -0.05532 L -4.58333E-6 -2.22222E-6 " pathEditMode="relative" rAng="0" ptsTypes="AA">
                                      <p:cBhvr>
                                        <p:cTn id="18" dur="2000" fill="hold"/>
                                        <p:tgtEl>
                                          <p:spTgt spid="361"/>
                                        </p:tgtEl>
                                        <p:attrNameLst>
                                          <p:attrName>ppt_x</p:attrName>
                                          <p:attrName>ppt_y</p:attrName>
                                        </p:attrNameLst>
                                      </p:cBhvr>
                                      <p:rCtr x="0" y="2755"/>
                                    </p:animMotion>
                                  </p:childTnLst>
                                </p:cTn>
                              </p:par>
                              <p:par>
                                <p:cTn id="19" presetID="42" presetClass="path" presetSubtype="0" accel="50000" decel="50000" fill="hold" nodeType="withEffect">
                                  <p:stCondLst>
                                    <p:cond delay="0"/>
                                  </p:stCondLst>
                                  <p:childTnLst>
                                    <p:animMotion origin="layout" path="M -1.66667E-6 -0.05278 L -1.66667E-6 1.11111E-6 " pathEditMode="relative" rAng="0" ptsTypes="AA">
                                      <p:cBhvr>
                                        <p:cTn id="20" dur="2000" fill="hold"/>
                                        <p:tgtEl>
                                          <p:spTgt spid="336"/>
                                        </p:tgtEl>
                                        <p:attrNameLst>
                                          <p:attrName>ppt_x</p:attrName>
                                          <p:attrName>ppt_y</p:attrName>
                                        </p:attrNameLst>
                                      </p:cBhvr>
                                      <p:rCtr x="0" y="2639"/>
                                    </p:animMotion>
                                  </p:childTnLst>
                                </p:cTn>
                              </p:par>
                              <p:par>
                                <p:cTn id="21" presetID="42" presetClass="path" presetSubtype="0" accel="50000" decel="50000" fill="hold" nodeType="withEffect">
                                  <p:stCondLst>
                                    <p:cond delay="0"/>
                                  </p:stCondLst>
                                  <p:childTnLst>
                                    <p:animMotion origin="layout" path="M 2.5E-6 -0.14699 L 2.5E-6 -3.7037E-6 " pathEditMode="relative" rAng="0" ptsTypes="AA">
                                      <p:cBhvr>
                                        <p:cTn id="22" dur="2000" fill="hold"/>
                                        <p:tgtEl>
                                          <p:spTgt spid="329"/>
                                        </p:tgtEl>
                                        <p:attrNameLst>
                                          <p:attrName>ppt_x</p:attrName>
                                          <p:attrName>ppt_y</p:attrName>
                                        </p:attrNameLst>
                                      </p:cBhvr>
                                      <p:rCtr x="0" y="733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587B0-93CE-087C-BF0A-12F3A120508A}"/>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29F3346D-73E0-246E-EB79-E5EDC20533F8}"/>
              </a:ext>
            </a:extLst>
          </p:cNvPr>
          <p:cNvGrpSpPr/>
          <p:nvPr/>
        </p:nvGrpSpPr>
        <p:grpSpPr>
          <a:xfrm>
            <a:off x="8422632" y="90518"/>
            <a:ext cx="3580398" cy="1345088"/>
            <a:chOff x="8422632" y="90518"/>
            <a:chExt cx="3580398" cy="1345088"/>
          </a:xfrm>
        </p:grpSpPr>
        <p:grpSp>
          <p:nvGrpSpPr>
            <p:cNvPr id="56" name="Group 55">
              <a:extLst>
                <a:ext uri="{FF2B5EF4-FFF2-40B4-BE49-F238E27FC236}">
                  <a16:creationId xmlns:a16="http://schemas.microsoft.com/office/drawing/2014/main" id="{A07EA8E3-A304-C20C-E4EF-4763B0DCA4CB}"/>
                </a:ext>
              </a:extLst>
            </p:cNvPr>
            <p:cNvGrpSpPr/>
            <p:nvPr/>
          </p:nvGrpSpPr>
          <p:grpSpPr>
            <a:xfrm>
              <a:off x="8422632" y="90518"/>
              <a:ext cx="3580398" cy="1345088"/>
              <a:chOff x="8422632" y="90518"/>
              <a:chExt cx="3580398" cy="1345088"/>
            </a:xfrm>
          </p:grpSpPr>
          <p:sp>
            <p:nvSpPr>
              <p:cNvPr id="129" name="L-Shape 128">
                <a:extLst>
                  <a:ext uri="{FF2B5EF4-FFF2-40B4-BE49-F238E27FC236}">
                    <a16:creationId xmlns:a16="http://schemas.microsoft.com/office/drawing/2014/main" id="{B29CEE86-3E43-0096-6E60-E221120BF1E0}"/>
                  </a:ext>
                </a:extLst>
              </p:cNvPr>
              <p:cNvSpPr/>
              <p:nvPr/>
            </p:nvSpPr>
            <p:spPr bwMode="auto">
              <a:xfrm rot="10800000" flipH="1">
                <a:off x="8434343" y="122837"/>
                <a:ext cx="3562833" cy="1312769"/>
              </a:xfrm>
              <a:prstGeom prst="corner">
                <a:avLst>
                  <a:gd name="adj1" fmla="val 67731"/>
                  <a:gd name="adj2" fmla="val 126733"/>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lstStyle/>
              <a:p>
                <a:pPr algn="ctr"/>
                <a:endParaRPr lang="en-US" sz="1200" b="1">
                  <a:solidFill>
                    <a:prstClr val="black"/>
                  </a:solidFill>
                  <a:latin typeface="Segoe Sans Display Semibold"/>
                  <a:cs typeface="Segoe Sans Display" pitchFamily="2" charset="0"/>
                </a:endParaRPr>
              </a:p>
            </p:txBody>
          </p:sp>
          <p:sp>
            <p:nvSpPr>
              <p:cNvPr id="483" name="Rectangle 482">
                <a:extLst>
                  <a:ext uri="{FF2B5EF4-FFF2-40B4-BE49-F238E27FC236}">
                    <a16:creationId xmlns:a16="http://schemas.microsoft.com/office/drawing/2014/main" id="{EF02CBB0-798C-51BB-9869-EBA4CBBF3738}"/>
                  </a:ext>
                </a:extLst>
              </p:cNvPr>
              <p:cNvSpPr/>
              <p:nvPr/>
            </p:nvSpPr>
            <p:spPr>
              <a:xfrm>
                <a:off x="8422632" y="90518"/>
                <a:ext cx="3580398" cy="307777"/>
              </a:xfrm>
              <a:prstGeom prst="rect">
                <a:avLst/>
              </a:prstGeom>
              <a:noFill/>
            </p:spPr>
            <p:txBody>
              <a:bodyPr wrap="square" anchor="t" anchorCtr="0">
                <a:spAutoFit/>
              </a:bodyPr>
              <a:lstStyle/>
              <a:p>
                <a:pPr algn="ctr">
                  <a:defRPr/>
                </a:pPr>
                <a:r>
                  <a:rPr lang="en-US" sz="1400" kern="0">
                    <a:latin typeface="Segoe UI Semibold" panose="020B0702040204020203" pitchFamily="34" charset="0"/>
                    <a:cs typeface="Segoe UI Semibold" panose="020B0702040204020203" pitchFamily="34" charset="0"/>
                  </a:rPr>
                  <a:t>Software as a Service (SaaS)</a:t>
                </a:r>
              </a:p>
            </p:txBody>
          </p:sp>
        </p:grpSp>
        <p:grpSp>
          <p:nvGrpSpPr>
            <p:cNvPr id="51" name="Group 50">
              <a:extLst>
                <a:ext uri="{FF2B5EF4-FFF2-40B4-BE49-F238E27FC236}">
                  <a16:creationId xmlns:a16="http://schemas.microsoft.com/office/drawing/2014/main" id="{43C6B687-F3E1-4C10-8313-86CFECE9CC20}"/>
                </a:ext>
              </a:extLst>
            </p:cNvPr>
            <p:cNvGrpSpPr/>
            <p:nvPr/>
          </p:nvGrpSpPr>
          <p:grpSpPr>
            <a:xfrm>
              <a:off x="10190115" y="440255"/>
              <a:ext cx="1704748" cy="487980"/>
              <a:chOff x="10190115" y="440255"/>
              <a:chExt cx="1704748" cy="487980"/>
            </a:xfrm>
          </p:grpSpPr>
          <p:sp>
            <p:nvSpPr>
              <p:cNvPr id="174" name="Rectangle 173">
                <a:extLst>
                  <a:ext uri="{FF2B5EF4-FFF2-40B4-BE49-F238E27FC236}">
                    <a16:creationId xmlns:a16="http://schemas.microsoft.com/office/drawing/2014/main" id="{5F996218-7AB0-8CFB-AB95-24D468962046}"/>
                  </a:ext>
                </a:extLst>
              </p:cNvPr>
              <p:cNvSpPr/>
              <p:nvPr/>
            </p:nvSpPr>
            <p:spPr bwMode="auto">
              <a:xfrm>
                <a:off x="10451135" y="775878"/>
                <a:ext cx="77668" cy="8202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85" name="Picture 84">
                <a:extLst>
                  <a:ext uri="{FF2B5EF4-FFF2-40B4-BE49-F238E27FC236}">
                    <a16:creationId xmlns:a16="http://schemas.microsoft.com/office/drawing/2014/main" id="{ED7C3FF3-AE91-9E5A-CD37-C53675CC57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90115" y="454471"/>
                <a:ext cx="156412" cy="204042"/>
              </a:xfrm>
              <a:prstGeom prst="rect">
                <a:avLst/>
              </a:prstGeom>
              <a:solidFill>
                <a:schemeClr val="bg1"/>
              </a:solidFill>
            </p:spPr>
          </p:pic>
          <p:pic>
            <p:nvPicPr>
              <p:cNvPr id="88" name="Picture 87">
                <a:extLst>
                  <a:ext uri="{FF2B5EF4-FFF2-40B4-BE49-F238E27FC236}">
                    <a16:creationId xmlns:a16="http://schemas.microsoft.com/office/drawing/2014/main" id="{78C1F5FE-4AE4-C3DB-5ECC-AE5D1B88651A}"/>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0452851" y="440255"/>
                <a:ext cx="162282" cy="216221"/>
              </a:xfrm>
              <a:prstGeom prst="rect">
                <a:avLst/>
              </a:prstGeom>
            </p:spPr>
          </p:pic>
          <p:grpSp>
            <p:nvGrpSpPr>
              <p:cNvPr id="1110" name="Group 1109">
                <a:extLst>
                  <a:ext uri="{FF2B5EF4-FFF2-40B4-BE49-F238E27FC236}">
                    <a16:creationId xmlns:a16="http://schemas.microsoft.com/office/drawing/2014/main" id="{38AA54C8-7BAE-600B-64E2-920A6F466754}"/>
                  </a:ext>
                </a:extLst>
              </p:cNvPr>
              <p:cNvGrpSpPr/>
              <p:nvPr/>
            </p:nvGrpSpPr>
            <p:grpSpPr>
              <a:xfrm>
                <a:off x="10736111" y="447838"/>
                <a:ext cx="1158752" cy="480397"/>
                <a:chOff x="10616253" y="3053356"/>
                <a:chExt cx="1560015" cy="646755"/>
              </a:xfrm>
            </p:grpSpPr>
            <p:pic>
              <p:nvPicPr>
                <p:cNvPr id="1113" name="Picture 1112">
                  <a:extLst>
                    <a:ext uri="{FF2B5EF4-FFF2-40B4-BE49-F238E27FC236}">
                      <a16:creationId xmlns:a16="http://schemas.microsoft.com/office/drawing/2014/main" id="{F5962C34-A462-A96C-6726-9F554D86E6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433525" y="3078915"/>
                  <a:ext cx="211649" cy="211647"/>
                </a:xfrm>
                <a:prstGeom prst="rect">
                  <a:avLst/>
                </a:prstGeom>
              </p:spPr>
            </p:pic>
            <p:pic>
              <p:nvPicPr>
                <p:cNvPr id="1114" name="Picture 1113">
                  <a:extLst>
                    <a:ext uri="{FF2B5EF4-FFF2-40B4-BE49-F238E27FC236}">
                      <a16:creationId xmlns:a16="http://schemas.microsoft.com/office/drawing/2014/main" id="{3A714F68-21F3-6E1B-9825-D66B05487A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76470" y="3068792"/>
                  <a:ext cx="331112" cy="231892"/>
                </a:xfrm>
                <a:prstGeom prst="rect">
                  <a:avLst/>
                </a:prstGeom>
              </p:spPr>
            </p:pic>
            <p:pic>
              <p:nvPicPr>
                <p:cNvPr id="1115" name="Picture 1114">
                  <a:extLst>
                    <a:ext uri="{FF2B5EF4-FFF2-40B4-BE49-F238E27FC236}">
                      <a16:creationId xmlns:a16="http://schemas.microsoft.com/office/drawing/2014/main" id="{324A537B-2C5C-F948-C501-07D8039F4A2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16253" y="3067602"/>
                  <a:ext cx="234272" cy="234274"/>
                </a:xfrm>
                <a:prstGeom prst="rect">
                  <a:avLst/>
                </a:prstGeom>
              </p:spPr>
            </p:pic>
            <p:pic>
              <p:nvPicPr>
                <p:cNvPr id="1116" name="Picture 1115">
                  <a:extLst>
                    <a:ext uri="{FF2B5EF4-FFF2-40B4-BE49-F238E27FC236}">
                      <a16:creationId xmlns:a16="http://schemas.microsoft.com/office/drawing/2014/main" id="{8B8E38C4-66F2-26CB-4AAA-33BB4FCC728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771119" y="3053356"/>
                  <a:ext cx="266246" cy="262764"/>
                </a:xfrm>
                <a:prstGeom prst="rect">
                  <a:avLst/>
                </a:prstGeom>
              </p:spPr>
            </p:pic>
            <p:grpSp>
              <p:nvGrpSpPr>
                <p:cNvPr id="1117" name="Group 1116">
                  <a:extLst>
                    <a:ext uri="{FF2B5EF4-FFF2-40B4-BE49-F238E27FC236}">
                      <a16:creationId xmlns:a16="http://schemas.microsoft.com/office/drawing/2014/main" id="{5A518016-3324-1F96-CE5B-17157C215723}"/>
                    </a:ext>
                  </a:extLst>
                </p:cNvPr>
                <p:cNvGrpSpPr/>
                <p:nvPr/>
              </p:nvGrpSpPr>
              <p:grpSpPr>
                <a:xfrm>
                  <a:off x="12004059" y="3495846"/>
                  <a:ext cx="172209" cy="39752"/>
                  <a:chOff x="3697283" y="523407"/>
                  <a:chExt cx="412257" cy="115316"/>
                </a:xfrm>
                <a:solidFill>
                  <a:srgbClr val="000000">
                    <a:lumMod val="65000"/>
                    <a:lumOff val="35000"/>
                  </a:srgbClr>
                </a:solidFill>
              </p:grpSpPr>
              <p:sp>
                <p:nvSpPr>
                  <p:cNvPr id="1122" name="Oval 1121">
                    <a:extLst>
                      <a:ext uri="{FF2B5EF4-FFF2-40B4-BE49-F238E27FC236}">
                        <a16:creationId xmlns:a16="http://schemas.microsoft.com/office/drawing/2014/main" id="{42F5178D-93AC-1663-7BE2-C4DAD0793CC1}"/>
                      </a:ext>
                    </a:extLst>
                  </p:cNvPr>
                  <p:cNvSpPr/>
                  <p:nvPr/>
                </p:nvSpPr>
                <p:spPr bwMode="auto">
                  <a:xfrm>
                    <a:off x="3697283" y="523427"/>
                    <a:ext cx="95147" cy="115296"/>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23" name="Oval 1122">
                    <a:extLst>
                      <a:ext uri="{FF2B5EF4-FFF2-40B4-BE49-F238E27FC236}">
                        <a16:creationId xmlns:a16="http://schemas.microsoft.com/office/drawing/2014/main" id="{3F2911F7-84B2-9114-CB2F-43D61C0A9E3B}"/>
                      </a:ext>
                    </a:extLst>
                  </p:cNvPr>
                  <p:cNvSpPr/>
                  <p:nvPr/>
                </p:nvSpPr>
                <p:spPr bwMode="auto">
                  <a:xfrm>
                    <a:off x="3855864" y="523427"/>
                    <a:ext cx="95147" cy="115296"/>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24" name="Oval 1123">
                    <a:extLst>
                      <a:ext uri="{FF2B5EF4-FFF2-40B4-BE49-F238E27FC236}">
                        <a16:creationId xmlns:a16="http://schemas.microsoft.com/office/drawing/2014/main" id="{389AF800-A8F7-C389-7EB7-248AFD349B05}"/>
                      </a:ext>
                    </a:extLst>
                  </p:cNvPr>
                  <p:cNvSpPr/>
                  <p:nvPr/>
                </p:nvSpPr>
                <p:spPr bwMode="auto">
                  <a:xfrm>
                    <a:off x="4014393" y="523407"/>
                    <a:ext cx="95147" cy="115296"/>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pic>
              <p:nvPicPr>
                <p:cNvPr id="1119" name="Picture 1118">
                  <a:extLst>
                    <a:ext uri="{FF2B5EF4-FFF2-40B4-BE49-F238E27FC236}">
                      <a16:creationId xmlns:a16="http://schemas.microsoft.com/office/drawing/2014/main" id="{EC3727D1-C293-908D-FAB4-5BAFDF284BE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225924" y="3430358"/>
                  <a:ext cx="211914" cy="196960"/>
                </a:xfrm>
                <a:prstGeom prst="rect">
                  <a:avLst/>
                </a:prstGeom>
              </p:spPr>
            </p:pic>
            <p:pic>
              <p:nvPicPr>
                <p:cNvPr id="1121" name="Picture 1120">
                  <a:extLst>
                    <a:ext uri="{FF2B5EF4-FFF2-40B4-BE49-F238E27FC236}">
                      <a16:creationId xmlns:a16="http://schemas.microsoft.com/office/drawing/2014/main" id="{E21C5F8B-D20B-5CBF-1EBD-0C785312523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542129" y="3342140"/>
                  <a:ext cx="342375" cy="357971"/>
                </a:xfrm>
                <a:prstGeom prst="rect">
                  <a:avLst/>
                </a:prstGeom>
              </p:spPr>
            </p:pic>
          </p:grpSp>
          <p:pic>
            <p:nvPicPr>
              <p:cNvPr id="73" name="Graphic 72">
                <a:extLst>
                  <a:ext uri="{FF2B5EF4-FFF2-40B4-BE49-F238E27FC236}">
                    <a16:creationId xmlns:a16="http://schemas.microsoft.com/office/drawing/2014/main" id="{664D7917-B746-09E4-9C07-06AB1BECBC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78809" y="697605"/>
                <a:ext cx="192854" cy="192854"/>
              </a:xfrm>
              <a:prstGeom prst="rect">
                <a:avLst/>
              </a:prstGeom>
            </p:spPr>
          </p:pic>
          <p:pic>
            <p:nvPicPr>
              <p:cNvPr id="49" name="Picture 48" descr="A colorful gradient stars on a black background&#10;&#10;Description automatically generated">
                <a:extLst>
                  <a:ext uri="{FF2B5EF4-FFF2-40B4-BE49-F238E27FC236}">
                    <a16:creationId xmlns:a16="http://schemas.microsoft.com/office/drawing/2014/main" id="{AF8C236F-6AEB-C660-67DB-897C94863B0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869465" y="697605"/>
                <a:ext cx="192086" cy="192854"/>
              </a:xfrm>
              <a:prstGeom prst="rect">
                <a:avLst/>
              </a:prstGeom>
            </p:spPr>
          </p:pic>
          <p:pic>
            <p:nvPicPr>
              <p:cNvPr id="50" name="Picture 4">
                <a:extLst>
                  <a:ext uri="{FF2B5EF4-FFF2-40B4-BE49-F238E27FC236}">
                    <a16:creationId xmlns:a16="http://schemas.microsoft.com/office/drawing/2014/main" id="{64EE24B8-3792-93BA-EF8D-29D3417808D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560467" y="697605"/>
                <a:ext cx="192854" cy="19285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19" name="Rectangle 418">
            <a:extLst>
              <a:ext uri="{FF2B5EF4-FFF2-40B4-BE49-F238E27FC236}">
                <a16:creationId xmlns:a16="http://schemas.microsoft.com/office/drawing/2014/main" id="{702247F3-B5E9-8EFE-39DE-BED0518E977F}"/>
              </a:ext>
            </a:extLst>
          </p:cNvPr>
          <p:cNvSpPr/>
          <p:nvPr/>
        </p:nvSpPr>
        <p:spPr bwMode="auto">
          <a:xfrm>
            <a:off x="8434225" y="2254157"/>
            <a:ext cx="1696023" cy="2413433"/>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lstStyle/>
          <a:p>
            <a:pPr algn="ctr"/>
            <a:endParaRPr lang="en-US" sz="1200" b="1">
              <a:solidFill>
                <a:prstClr val="black"/>
              </a:solidFill>
              <a:latin typeface="Segoe Sans Display Semibold"/>
              <a:cs typeface="Segoe Sans Display" pitchFamily="2" charset="0"/>
            </a:endParaRPr>
          </a:p>
        </p:txBody>
      </p:sp>
      <p:sp>
        <p:nvSpPr>
          <p:cNvPr id="500" name="Rectangle 499">
            <a:extLst>
              <a:ext uri="{FF2B5EF4-FFF2-40B4-BE49-F238E27FC236}">
                <a16:creationId xmlns:a16="http://schemas.microsoft.com/office/drawing/2014/main" id="{2E2B6265-1002-1C3B-CAC3-C077B13F3164}"/>
              </a:ext>
            </a:extLst>
          </p:cNvPr>
          <p:cNvSpPr/>
          <p:nvPr/>
        </p:nvSpPr>
        <p:spPr>
          <a:xfrm>
            <a:off x="4671020" y="1054375"/>
            <a:ext cx="1748456" cy="761106"/>
          </a:xfrm>
          <a:prstGeom prst="rect">
            <a:avLst/>
          </a:prstGeom>
          <a:noFill/>
          <a:ln w="14224">
            <a:noFill/>
          </a:ln>
        </p:spPr>
        <p:txBody>
          <a:bodyPr wrap="square" tIns="45720">
            <a:spAutoFit/>
          </a:bodyPr>
          <a:lstStyle/>
          <a:p>
            <a:pPr marL="0" marR="0" lvl="0" indent="0" algn="l" defTabSz="914400" rtl="0" eaLnBrk="1" fontAlgn="auto" latinLnBrk="0" hangingPunct="1">
              <a:lnSpc>
                <a:spcPct val="97000"/>
              </a:lnSpc>
              <a:spcBef>
                <a:spcPts val="0"/>
              </a:spcBef>
              <a:spcAft>
                <a:spcPts val="600"/>
              </a:spcAft>
              <a:buClrTx/>
              <a:buSzTx/>
              <a:buFontTx/>
              <a:buNone/>
              <a:tabLst/>
              <a:defRPr/>
            </a:pPr>
            <a:r>
              <a:rPr kumimoji="0" lang="en-US" sz="1050"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This is interactive!</a:t>
            </a:r>
          </a:p>
          <a:p>
            <a:pPr marL="228600" marR="0" lvl="0" indent="-228600" algn="l" defTabSz="914400" rtl="0" eaLnBrk="1" fontAlgn="auto" latinLnBrk="0" hangingPunct="1">
              <a:lnSpc>
                <a:spcPct val="97000"/>
              </a:lnSpc>
              <a:spcBef>
                <a:spcPts val="0"/>
              </a:spcBef>
              <a:spcAft>
                <a:spcPts val="300"/>
              </a:spcAft>
              <a:buClrTx/>
              <a:buSzTx/>
              <a:buFont typeface="+mj-lt"/>
              <a:buAutoNum type="arabicPeriod"/>
              <a:tabLst/>
              <a:defRPr/>
            </a:pPr>
            <a:r>
              <a:rPr kumimoji="0" lang="en-US" sz="800" b="0" i="0" u="none" strike="noStrike" kern="1200" cap="none" spc="0" normalizeH="0" baseline="0" noProof="0">
                <a:ln>
                  <a:noFill/>
                </a:ln>
                <a:effectLst/>
                <a:uLnTx/>
                <a:uFillTx/>
                <a:latin typeface="Segoe UI" panose="020B0502040204020203" pitchFamily="34" charset="0"/>
                <a:cs typeface="Segoe UI" panose="020B0502040204020203" pitchFamily="34" charset="0"/>
              </a:rPr>
              <a:t>Present Slide</a:t>
            </a:r>
          </a:p>
          <a:p>
            <a:pPr marL="228600" marR="0" lvl="0" indent="-228600" algn="l" defTabSz="914400" rtl="0" eaLnBrk="1" fontAlgn="auto" latinLnBrk="0" hangingPunct="1">
              <a:lnSpc>
                <a:spcPct val="97000"/>
              </a:lnSpc>
              <a:spcBef>
                <a:spcPts val="0"/>
              </a:spcBef>
              <a:spcAft>
                <a:spcPts val="300"/>
              </a:spcAft>
              <a:buClrTx/>
              <a:buSzTx/>
              <a:buFont typeface="+mj-lt"/>
              <a:buAutoNum type="arabicPeriod"/>
              <a:tabLst/>
              <a:defRPr/>
            </a:pPr>
            <a:r>
              <a:rPr kumimoji="0" lang="en-US" sz="800" b="0" i="0" u="none" strike="noStrike" kern="1200" cap="none" spc="0" normalizeH="0" baseline="0" noProof="0">
                <a:ln>
                  <a:noFill/>
                </a:ln>
                <a:effectLst/>
                <a:uLnTx/>
                <a:uFillTx/>
                <a:latin typeface="Segoe UI" panose="020B0502040204020203" pitchFamily="34" charset="0"/>
                <a:cs typeface="Segoe UI" panose="020B0502040204020203" pitchFamily="34" charset="0"/>
              </a:rPr>
              <a:t>Hover for Description</a:t>
            </a:r>
          </a:p>
          <a:p>
            <a:pPr marL="228600" marR="0" lvl="0" indent="-228600" algn="l" defTabSz="914400" rtl="0" eaLnBrk="1" fontAlgn="auto" latinLnBrk="0" hangingPunct="1">
              <a:lnSpc>
                <a:spcPct val="97000"/>
              </a:lnSpc>
              <a:spcBef>
                <a:spcPts val="0"/>
              </a:spcBef>
              <a:spcAft>
                <a:spcPts val="300"/>
              </a:spcAft>
              <a:buClrTx/>
              <a:buSzTx/>
              <a:buFont typeface="+mj-lt"/>
              <a:buAutoNum type="arabicPeriod"/>
              <a:tabLst/>
              <a:defRPr/>
            </a:pPr>
            <a:r>
              <a:rPr kumimoji="0" lang="en-US" sz="800" b="0" i="0" u="none" strike="noStrike" kern="1200" cap="none" spc="0" normalizeH="0" baseline="0" noProof="0">
                <a:ln>
                  <a:noFill/>
                </a:ln>
                <a:effectLst/>
                <a:uLnTx/>
                <a:uFillTx/>
                <a:latin typeface="Segoe UI" panose="020B0502040204020203" pitchFamily="34" charset="0"/>
                <a:cs typeface="Segoe UI" panose="020B0502040204020203" pitchFamily="34" charset="0"/>
              </a:rPr>
              <a:t>Click for more information</a:t>
            </a:r>
          </a:p>
        </p:txBody>
      </p:sp>
      <p:sp>
        <p:nvSpPr>
          <p:cNvPr id="644" name="Title 1">
            <a:extLst>
              <a:ext uri="{FF2B5EF4-FFF2-40B4-BE49-F238E27FC236}">
                <a16:creationId xmlns:a16="http://schemas.microsoft.com/office/drawing/2014/main" id="{EB615819-D09B-BE22-3AF7-A22B07EBC133}"/>
              </a:ext>
            </a:extLst>
          </p:cNvPr>
          <p:cNvSpPr txBox="1">
            <a:spLocks/>
          </p:cNvSpPr>
          <p:nvPr/>
        </p:nvSpPr>
        <p:spPr>
          <a:xfrm>
            <a:off x="4610992" y="375311"/>
            <a:ext cx="3896353" cy="551907"/>
          </a:xfrm>
          <a:prstGeom prst="rect">
            <a:avLst/>
          </a:prstGeom>
          <a:noFill/>
          <a:effectLst>
            <a:softEdge rad="63500"/>
          </a:effectLst>
        </p:spPr>
        <p:txBody>
          <a:bodyP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buClrTx/>
              <a:buSzTx/>
              <a:buFontTx/>
              <a:buNone/>
              <a:tabLst/>
              <a:defRPr/>
            </a:pPr>
            <a:r>
              <a:rPr kumimoji="0" lang="en-US" sz="1600"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Cybersecurity Reference Architecture</a:t>
            </a:r>
          </a:p>
          <a:p>
            <a:pPr marL="0" marR="0" lvl="0" indent="0" algn="ctr" defTabSz="914400" rtl="0" eaLnBrk="1" fontAlgn="auto" latinLnBrk="0" hangingPunct="1">
              <a:spcBef>
                <a:spcPct val="0"/>
              </a:spcBef>
              <a:buClrTx/>
              <a:buSzTx/>
              <a:buFontTx/>
              <a:buNone/>
              <a:tabLst/>
              <a:defRPr/>
            </a:pPr>
            <a:r>
              <a:rPr kumimoji="0" lang="en-US" sz="1000" b="1" i="1"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Security modernization with Zero Trust Principles</a:t>
            </a:r>
          </a:p>
          <a:p>
            <a:pPr marL="0" marR="0" lvl="0" indent="0" algn="ctr" defTabSz="914400" rtl="0" eaLnBrk="1" fontAlgn="auto" latinLnBrk="0" hangingPunct="1">
              <a:lnSpc>
                <a:spcPct val="90000"/>
              </a:lnSpc>
              <a:spcBef>
                <a:spcPct val="0"/>
              </a:spcBef>
              <a:buClrTx/>
              <a:buSzTx/>
              <a:buFontTx/>
              <a:buNone/>
              <a:tabLst/>
              <a:defRPr/>
            </a:pPr>
            <a:r>
              <a:rPr kumimoji="0" lang="en-US" sz="800" b="0" i="0" u="none" strike="noStrike" kern="1200" cap="none" spc="0" normalizeH="0" baseline="0" noProof="0">
                <a:ln>
                  <a:noFill/>
                </a:ln>
                <a:effectLst/>
                <a:uLnTx/>
                <a:uFillTx/>
                <a:ea typeface="+mn-ea"/>
                <a:cs typeface="Segoe UI" panose="020B0502040204020203" pitchFamily="34" charset="0"/>
              </a:rPr>
              <a:t>April 2025 – </a:t>
            </a:r>
            <a:r>
              <a:rPr kumimoji="0" lang="en-US" sz="800" b="0" i="0" u="none" strike="noStrike" kern="1200" cap="none" spc="0" normalizeH="0" baseline="0" noProof="0">
                <a:ln>
                  <a:noFill/>
                </a:ln>
                <a:gradFill>
                  <a:gsLst>
                    <a:gs pos="0">
                      <a:srgbClr val="505050"/>
                    </a:gs>
                    <a:gs pos="100000">
                      <a:srgbClr val="505050"/>
                    </a:gs>
                  </a:gsLst>
                  <a:lin ang="5400000" scaled="1"/>
                </a:gradFill>
                <a:effectLst/>
                <a:uLnTx/>
                <a:uFillTx/>
                <a:ea typeface="+mn-ea"/>
                <a:cs typeface="Segoe UI" panose="020B0502040204020203" pitchFamily="34" charset="0"/>
                <a:hlinkClick r:id="rId14" tooltip="The latest published version of this document can be found at https://aka.ms/MCRA"/>
              </a:rPr>
              <a:t>aka.ms/MCRA</a:t>
            </a:r>
            <a:endParaRPr kumimoji="0" lang="en-US" sz="800" b="0" i="0" u="none" strike="noStrike" kern="1200" cap="none" spc="0" normalizeH="0" baseline="0" noProof="0">
              <a:ln>
                <a:noFill/>
              </a:ln>
              <a:gradFill>
                <a:gsLst>
                  <a:gs pos="0">
                    <a:srgbClr val="505050"/>
                  </a:gs>
                  <a:gs pos="100000">
                    <a:srgbClr val="505050"/>
                  </a:gs>
                </a:gsLst>
                <a:lin ang="5400000" scaled="1"/>
              </a:gradFill>
              <a:effectLst/>
              <a:highlight>
                <a:srgbClr val="FFFF00"/>
              </a:highlight>
              <a:uLnTx/>
              <a:uFillTx/>
              <a:ea typeface="+mn-ea"/>
              <a:cs typeface="Segoe UI" panose="020B0502040204020203" pitchFamily="34" charset="0"/>
            </a:endParaRPr>
          </a:p>
        </p:txBody>
      </p:sp>
      <p:pic>
        <p:nvPicPr>
          <p:cNvPr id="658" name="Picture 657">
            <a:extLst>
              <a:ext uri="{FF2B5EF4-FFF2-40B4-BE49-F238E27FC236}">
                <a16:creationId xmlns:a16="http://schemas.microsoft.com/office/drawing/2014/main" id="{C20CEBA0-AED6-EA94-5D07-2BFBFED763EF}"/>
              </a:ext>
            </a:extLst>
          </p:cNvPr>
          <p:cNvPicPr>
            <a:picLocks noChangeAspect="1"/>
          </p:cNvPicPr>
          <p:nvPr/>
        </p:nvPicPr>
        <p:blipFill>
          <a:blip r:embed="rId15" cstate="email">
            <a:extLst>
              <a:ext uri="{28A0092B-C50C-407E-A947-70E740481C1C}">
                <a14:useLocalDpi xmlns:a14="http://schemas.microsoft.com/office/drawing/2010/main" val="0"/>
              </a:ext>
            </a:extLst>
          </a:blip>
          <a:stretch>
            <a:fillRect/>
          </a:stretch>
        </p:blipFill>
        <p:spPr bwMode="invGray">
          <a:xfrm>
            <a:off x="6039974" y="122541"/>
            <a:ext cx="1038388" cy="222436"/>
          </a:xfrm>
          <a:prstGeom prst="rect">
            <a:avLst/>
          </a:prstGeom>
        </p:spPr>
      </p:pic>
      <p:grpSp>
        <p:nvGrpSpPr>
          <p:cNvPr id="664" name="Group 663">
            <a:extLst>
              <a:ext uri="{FF2B5EF4-FFF2-40B4-BE49-F238E27FC236}">
                <a16:creationId xmlns:a16="http://schemas.microsoft.com/office/drawing/2014/main" id="{A55D32C1-EB00-FEF9-D73E-46F06CB6D0BF}"/>
              </a:ext>
            </a:extLst>
          </p:cNvPr>
          <p:cNvGrpSpPr/>
          <p:nvPr/>
        </p:nvGrpSpPr>
        <p:grpSpPr>
          <a:xfrm>
            <a:off x="6025390" y="1042414"/>
            <a:ext cx="391537" cy="163189"/>
            <a:chOff x="5576198" y="965691"/>
            <a:chExt cx="493273" cy="217085"/>
          </a:xfrm>
        </p:grpSpPr>
        <p:sp>
          <p:nvSpPr>
            <p:cNvPr id="675" name="Rectangle 674">
              <a:extLst>
                <a:ext uri="{FF2B5EF4-FFF2-40B4-BE49-F238E27FC236}">
                  <a16:creationId xmlns:a16="http://schemas.microsoft.com/office/drawing/2014/main" id="{8712BCA1-5329-870A-D8A1-C5614008FBBB}"/>
                </a:ext>
              </a:extLst>
            </p:cNvPr>
            <p:cNvSpPr/>
            <p:nvPr/>
          </p:nvSpPr>
          <p:spPr bwMode="auto">
            <a:xfrm>
              <a:off x="5576198" y="965691"/>
              <a:ext cx="493273" cy="217085"/>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76" name="Rectangle 675">
              <a:extLst>
                <a:ext uri="{FF2B5EF4-FFF2-40B4-BE49-F238E27FC236}">
                  <a16:creationId xmlns:a16="http://schemas.microsoft.com/office/drawing/2014/main" id="{2FCFCAEF-00EB-08DD-596C-C0A8E7326243}"/>
                </a:ext>
              </a:extLst>
            </p:cNvPr>
            <p:cNvSpPr/>
            <p:nvPr/>
          </p:nvSpPr>
          <p:spPr bwMode="auto">
            <a:xfrm>
              <a:off x="5628559" y="1000266"/>
              <a:ext cx="388550" cy="27432"/>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78" name="Rectangle 677">
              <a:extLst>
                <a:ext uri="{FF2B5EF4-FFF2-40B4-BE49-F238E27FC236}">
                  <a16:creationId xmlns:a16="http://schemas.microsoft.com/office/drawing/2014/main" id="{2CE7EA58-03D0-D5D8-58CB-A9B99809E2CC}"/>
                </a:ext>
              </a:extLst>
            </p:cNvPr>
            <p:cNvSpPr/>
            <p:nvPr/>
          </p:nvSpPr>
          <p:spPr bwMode="auto">
            <a:xfrm>
              <a:off x="5628559" y="1060106"/>
              <a:ext cx="388550" cy="27432"/>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81" name="Rectangle 680">
              <a:extLst>
                <a:ext uri="{FF2B5EF4-FFF2-40B4-BE49-F238E27FC236}">
                  <a16:creationId xmlns:a16="http://schemas.microsoft.com/office/drawing/2014/main" id="{B907460A-3864-20FE-EDAF-EE578CCB0379}"/>
                </a:ext>
              </a:extLst>
            </p:cNvPr>
            <p:cNvSpPr/>
            <p:nvPr/>
          </p:nvSpPr>
          <p:spPr bwMode="auto">
            <a:xfrm>
              <a:off x="5628559" y="1119946"/>
              <a:ext cx="388550" cy="27432"/>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cxnSp>
        <p:nvCxnSpPr>
          <p:cNvPr id="682" name="Straight Arrow Connector 681">
            <a:extLst>
              <a:ext uri="{FF2B5EF4-FFF2-40B4-BE49-F238E27FC236}">
                <a16:creationId xmlns:a16="http://schemas.microsoft.com/office/drawing/2014/main" id="{F2D8F6DD-B1C9-FF14-BEAF-E563B930939A}"/>
              </a:ext>
            </a:extLst>
          </p:cNvPr>
          <p:cNvCxnSpPr>
            <a:cxnSpLocks/>
          </p:cNvCxnSpPr>
          <p:nvPr/>
        </p:nvCxnSpPr>
        <p:spPr>
          <a:xfrm flipH="1" flipV="1">
            <a:off x="5914995" y="1207082"/>
            <a:ext cx="120464" cy="76923"/>
          </a:xfrm>
          <a:prstGeom prst="straightConnector1">
            <a:avLst/>
          </a:prstGeom>
          <a:ln w="34925">
            <a:solidFill>
              <a:schemeClr val="bg1">
                <a:lumMod val="65000"/>
              </a:schemeClr>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8" name="Rectangle 115">
            <a:extLst>
              <a:ext uri="{FF2B5EF4-FFF2-40B4-BE49-F238E27FC236}">
                <a16:creationId xmlns:a16="http://schemas.microsoft.com/office/drawing/2014/main" id="{8E5F9DB8-CFBB-CEA9-87E7-C93621C590F7}"/>
              </a:ext>
            </a:extLst>
          </p:cNvPr>
          <p:cNvSpPr/>
          <p:nvPr/>
        </p:nvSpPr>
        <p:spPr bwMode="auto">
          <a:xfrm flipV="1">
            <a:off x="6171305" y="3568728"/>
            <a:ext cx="217478" cy="152729"/>
          </a:xfrm>
          <a:custGeom>
            <a:avLst/>
            <a:gdLst>
              <a:gd name="connsiteX0" fmla="*/ 0 w 168554"/>
              <a:gd name="connsiteY0" fmla="*/ 0 h 168554"/>
              <a:gd name="connsiteX1" fmla="*/ 168554 w 168554"/>
              <a:gd name="connsiteY1" fmla="*/ 0 h 168554"/>
              <a:gd name="connsiteX2" fmla="*/ 168554 w 168554"/>
              <a:gd name="connsiteY2" fmla="*/ 168554 h 168554"/>
              <a:gd name="connsiteX3" fmla="*/ 0 w 168554"/>
              <a:gd name="connsiteY3" fmla="*/ 168554 h 168554"/>
              <a:gd name="connsiteX4" fmla="*/ 0 w 168554"/>
              <a:gd name="connsiteY4" fmla="*/ 0 h 168554"/>
              <a:gd name="connsiteX0" fmla="*/ 0 w 168554"/>
              <a:gd name="connsiteY0" fmla="*/ 0 h 168554"/>
              <a:gd name="connsiteX1" fmla="*/ 168554 w 168554"/>
              <a:gd name="connsiteY1" fmla="*/ 0 h 168554"/>
              <a:gd name="connsiteX2" fmla="*/ 168554 w 168554"/>
              <a:gd name="connsiteY2" fmla="*/ 168554 h 168554"/>
              <a:gd name="connsiteX3" fmla="*/ 0 w 168554"/>
              <a:gd name="connsiteY3" fmla="*/ 168554 h 168554"/>
              <a:gd name="connsiteX4" fmla="*/ 91440 w 168554"/>
              <a:gd name="connsiteY4" fmla="*/ 91440 h 168554"/>
              <a:gd name="connsiteX0" fmla="*/ 168554 w 168554"/>
              <a:gd name="connsiteY0" fmla="*/ 0 h 168554"/>
              <a:gd name="connsiteX1" fmla="*/ 168554 w 168554"/>
              <a:gd name="connsiteY1" fmla="*/ 168554 h 168554"/>
              <a:gd name="connsiteX2" fmla="*/ 0 w 168554"/>
              <a:gd name="connsiteY2" fmla="*/ 168554 h 168554"/>
              <a:gd name="connsiteX3" fmla="*/ 91440 w 168554"/>
              <a:gd name="connsiteY3" fmla="*/ 91440 h 168554"/>
              <a:gd name="connsiteX0" fmla="*/ 168554 w 168554"/>
              <a:gd name="connsiteY0" fmla="*/ 0 h 168554"/>
              <a:gd name="connsiteX1" fmla="*/ 168554 w 168554"/>
              <a:gd name="connsiteY1" fmla="*/ 168554 h 168554"/>
              <a:gd name="connsiteX2" fmla="*/ 0 w 168554"/>
              <a:gd name="connsiteY2" fmla="*/ 168554 h 168554"/>
            </a:gdLst>
            <a:ahLst/>
            <a:cxnLst>
              <a:cxn ang="0">
                <a:pos x="connsiteX0" y="connsiteY0"/>
              </a:cxn>
              <a:cxn ang="0">
                <a:pos x="connsiteX1" y="connsiteY1"/>
              </a:cxn>
              <a:cxn ang="0">
                <a:pos x="connsiteX2" y="connsiteY2"/>
              </a:cxn>
            </a:cxnLst>
            <a:rect l="l" t="t" r="r" b="b"/>
            <a:pathLst>
              <a:path w="168554" h="168554">
                <a:moveTo>
                  <a:pt x="168554" y="0"/>
                </a:moveTo>
                <a:lnTo>
                  <a:pt x="168554" y="168554"/>
                </a:lnTo>
                <a:lnTo>
                  <a:pt x="0" y="168554"/>
                </a:lnTo>
              </a:path>
            </a:pathLst>
          </a:custGeom>
          <a:noFill/>
          <a:ln w="19050">
            <a:solidFill>
              <a:srgbClr val="50505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629" name="L-Shape 628">
            <a:hlinkClick r:id="rId16" tooltip="Azure Marketplace includes many security appliances from leading vendors among the thousands of certified, open source, and community software applications and developer services— all pre-configured for Microsoft Azure. "/>
            <a:extLst>
              <a:ext uri="{FF2B5EF4-FFF2-40B4-BE49-F238E27FC236}">
                <a16:creationId xmlns:a16="http://schemas.microsoft.com/office/drawing/2014/main" id="{063AFDC2-1F61-EF1D-A106-ABFC0E87514D}"/>
              </a:ext>
            </a:extLst>
          </p:cNvPr>
          <p:cNvSpPr/>
          <p:nvPr/>
        </p:nvSpPr>
        <p:spPr bwMode="auto">
          <a:xfrm flipH="1">
            <a:off x="5434367" y="2254157"/>
            <a:ext cx="2796459" cy="4140787"/>
          </a:xfrm>
          <a:prstGeom prst="corner">
            <a:avLst>
              <a:gd name="adj1" fmla="val 31934"/>
              <a:gd name="adj2" fmla="val 56457"/>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lstStyle/>
          <a:p>
            <a:pPr algn="ctr"/>
            <a:endParaRPr lang="en-US" sz="1200" b="1">
              <a:solidFill>
                <a:prstClr val="black"/>
              </a:solidFill>
              <a:latin typeface="Segoe Sans Display Semibold"/>
              <a:cs typeface="Segoe Sans Display" pitchFamily="2" charset="0"/>
            </a:endParaRPr>
          </a:p>
        </p:txBody>
      </p:sp>
      <p:grpSp>
        <p:nvGrpSpPr>
          <p:cNvPr id="505" name="Group 504">
            <a:extLst>
              <a:ext uri="{FF2B5EF4-FFF2-40B4-BE49-F238E27FC236}">
                <a16:creationId xmlns:a16="http://schemas.microsoft.com/office/drawing/2014/main" id="{A77A0BB6-FD7A-0A5E-DE8A-BCA9B8CE496C}"/>
              </a:ext>
            </a:extLst>
          </p:cNvPr>
          <p:cNvGrpSpPr/>
          <p:nvPr/>
        </p:nvGrpSpPr>
        <p:grpSpPr>
          <a:xfrm>
            <a:off x="8655248" y="2568293"/>
            <a:ext cx="1397204" cy="1570145"/>
            <a:chOff x="5742785" y="2601087"/>
            <a:chExt cx="1397204" cy="1537904"/>
          </a:xfrm>
        </p:grpSpPr>
        <p:sp>
          <p:nvSpPr>
            <p:cNvPr id="509" name="Rectangle 508">
              <a:hlinkClick r:id="rId17" tooltip="Microsoft Purview is a family of data governance, risk, and compliance solutions that can help your organization govern, protect, and manage your entire data estate. This includes the former Azure Purview + Microsoft 365 compliance solutions"/>
              <a:extLst>
                <a:ext uri="{FF2B5EF4-FFF2-40B4-BE49-F238E27FC236}">
                  <a16:creationId xmlns:a16="http://schemas.microsoft.com/office/drawing/2014/main" id="{7BE10F17-7A84-BB04-8C9B-D3F0283CC271}"/>
                </a:ext>
              </a:extLst>
            </p:cNvPr>
            <p:cNvSpPr/>
            <p:nvPr/>
          </p:nvSpPr>
          <p:spPr>
            <a:xfrm>
              <a:off x="5742785" y="2601087"/>
              <a:ext cx="1397204" cy="1537904"/>
            </a:xfrm>
            <a:prstGeom prst="rect">
              <a:avLst/>
            </a:prstGeom>
            <a:solidFill>
              <a:schemeClr val="bg1"/>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576" rIns="0" rtlCol="0" anchor="t" anchorCtr="0">
              <a:noAutofit/>
            </a:bodyPr>
            <a:lstStyle/>
            <a:p>
              <a:pPr marL="171450" marR="0" lvl="0" algn="l" defTabSz="914400" rtl="0" eaLnBrk="1" fontAlgn="auto" latinLnBrk="0" hangingPunct="1">
                <a:lnSpc>
                  <a:spcPct val="100000"/>
                </a:lnSpc>
                <a:spcBef>
                  <a:spcPts val="0"/>
                </a:spcBef>
                <a:spcAft>
                  <a:spcPts val="300"/>
                </a:spcAft>
                <a:buClrTx/>
                <a:buSzTx/>
                <a:buFontTx/>
                <a:buNone/>
                <a:tabLst/>
                <a:defRPr/>
              </a:pPr>
              <a:r>
                <a:rPr kumimoji="0" lang="en-US" altLang="en-US" sz="900" b="1"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Microsoft Purview</a:t>
              </a:r>
            </a:p>
            <a:p>
              <a:pPr marR="0" lvl="0" algn="l" defTabSz="914400" rtl="0" eaLnBrk="1" fontAlgn="auto" latinLnBrk="0" hangingPunct="1">
                <a:lnSpc>
                  <a:spcPct val="100000"/>
                </a:lnSpc>
                <a:spcBef>
                  <a:spcPts val="0"/>
                </a:spcBef>
                <a:spcAft>
                  <a:spcPts val="200"/>
                </a:spcAft>
                <a:buClrTx/>
                <a:buSzTx/>
                <a:buFontTx/>
                <a:buNone/>
                <a:tabLst/>
                <a:defRPr/>
              </a:pPr>
              <a:r>
                <a:rPr kumimoji="0" lang="en-US" sz="60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Data security</a:t>
              </a:r>
              <a:r>
                <a:rPr lang="en-US" sz="600" i="1">
                  <a:solidFill>
                    <a:schemeClr val="tx1"/>
                  </a:solidFill>
                  <a:latin typeface="Segoe UI Semibold" panose="020B0702040204020203" pitchFamily="34" charset="0"/>
                  <a:cs typeface="Segoe UI Semibold" panose="020B0702040204020203" pitchFamily="34" charset="0"/>
                </a:rPr>
                <a:t>, loss prevention (DLP), &amp; </a:t>
              </a:r>
              <a:r>
                <a:rPr kumimoji="0" lang="en-US" sz="60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governance across data lifecycle</a:t>
              </a:r>
            </a:p>
          </p:txBody>
        </p:sp>
        <p:sp>
          <p:nvSpPr>
            <p:cNvPr id="513" name="Rectangle 512">
              <a:hlinkClick r:id="rId18" tooltip="The AIP scanner helps you discover, classify, and protect files on UNC paths for network shares over SMB and on SharePoint Server 2013-2016 Sites and libraries."/>
              <a:extLst>
                <a:ext uri="{FF2B5EF4-FFF2-40B4-BE49-F238E27FC236}">
                  <a16:creationId xmlns:a16="http://schemas.microsoft.com/office/drawing/2014/main" id="{7C4EAE9B-E3AD-DAE5-A813-052E147CCC9F}"/>
                </a:ext>
              </a:extLst>
            </p:cNvPr>
            <p:cNvSpPr/>
            <p:nvPr/>
          </p:nvSpPr>
          <p:spPr>
            <a:xfrm>
              <a:off x="5870898" y="3471161"/>
              <a:ext cx="1226300" cy="259150"/>
            </a:xfrm>
            <a:prstGeom prst="rect">
              <a:avLst/>
            </a:prstGeom>
            <a:solidFill>
              <a:schemeClr val="bg1"/>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File Scanner</a:t>
              </a:r>
              <a:br>
                <a:rPr kumimoji="0" lang="en-US" sz="900" b="1"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br>
              <a:r>
                <a:rPr kumimoji="0" lang="en-US" sz="700" b="0" i="1" u="none" strike="noStrike" kern="1200" cap="none" spc="0" normalizeH="0" baseline="0" noProof="0">
                  <a:ln>
                    <a:noFill/>
                  </a:ln>
                  <a:solidFill>
                    <a:schemeClr val="tx1"/>
                  </a:solidFill>
                  <a:effectLst/>
                  <a:uLnTx/>
                  <a:uFillTx/>
                  <a:ea typeface="+mn-ea"/>
                  <a:cs typeface="Segoe UI Semibold" panose="020B0702040204020203" pitchFamily="34" charset="0"/>
                </a:rPr>
                <a:t>(on-premises and cloud)</a:t>
              </a:r>
            </a:p>
          </p:txBody>
        </p:sp>
        <p:grpSp>
          <p:nvGrpSpPr>
            <p:cNvPr id="528" name="Group 527">
              <a:extLst>
                <a:ext uri="{FF2B5EF4-FFF2-40B4-BE49-F238E27FC236}">
                  <a16:creationId xmlns:a16="http://schemas.microsoft.com/office/drawing/2014/main" id="{2CD846B0-60C9-87F5-694C-9607462AC7C3}"/>
                </a:ext>
              </a:extLst>
            </p:cNvPr>
            <p:cNvGrpSpPr/>
            <p:nvPr/>
          </p:nvGrpSpPr>
          <p:grpSpPr>
            <a:xfrm>
              <a:off x="5827495" y="3747116"/>
              <a:ext cx="1137564" cy="379376"/>
              <a:chOff x="5036432" y="1762711"/>
              <a:chExt cx="1204378" cy="401658"/>
            </a:xfrm>
          </p:grpSpPr>
          <p:grpSp>
            <p:nvGrpSpPr>
              <p:cNvPr id="529" name="Group 528">
                <a:extLst>
                  <a:ext uri="{FF2B5EF4-FFF2-40B4-BE49-F238E27FC236}">
                    <a16:creationId xmlns:a16="http://schemas.microsoft.com/office/drawing/2014/main" id="{C26AC303-5BCA-F36D-34F5-1D8863DB63B7}"/>
                  </a:ext>
                </a:extLst>
              </p:cNvPr>
              <p:cNvGrpSpPr/>
              <p:nvPr/>
            </p:nvGrpSpPr>
            <p:grpSpPr>
              <a:xfrm>
                <a:off x="5871491" y="1804527"/>
                <a:ext cx="200678" cy="176026"/>
                <a:chOff x="5705504" y="1373906"/>
                <a:chExt cx="278295" cy="244109"/>
              </a:xfrm>
            </p:grpSpPr>
            <p:pic>
              <p:nvPicPr>
                <p:cNvPr id="616" name="Picture 615">
                  <a:hlinkClick r:id="rId19"/>
                  <a:extLst>
                    <a:ext uri="{FF2B5EF4-FFF2-40B4-BE49-F238E27FC236}">
                      <a16:creationId xmlns:a16="http://schemas.microsoft.com/office/drawing/2014/main" id="{DEA445D0-C579-FB4A-7B0B-D1E4E5EBB382}"/>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705504" y="1373906"/>
                  <a:ext cx="278295" cy="209651"/>
                </a:xfrm>
                <a:prstGeom prst="rect">
                  <a:avLst/>
                </a:prstGeom>
              </p:spPr>
            </p:pic>
            <p:grpSp>
              <p:nvGrpSpPr>
                <p:cNvPr id="621" name="Group 620">
                  <a:extLst>
                    <a:ext uri="{FF2B5EF4-FFF2-40B4-BE49-F238E27FC236}">
                      <a16:creationId xmlns:a16="http://schemas.microsoft.com/office/drawing/2014/main" id="{13A3C5F6-DB5F-3A6A-451B-EFB9A8CDB469}"/>
                    </a:ext>
                  </a:extLst>
                </p:cNvPr>
                <p:cNvGrpSpPr/>
                <p:nvPr/>
              </p:nvGrpSpPr>
              <p:grpSpPr bwMode="black">
                <a:xfrm>
                  <a:off x="5864559" y="1549698"/>
                  <a:ext cx="112186" cy="68317"/>
                  <a:chOff x="10387012" y="4179358"/>
                  <a:chExt cx="974726" cy="593725"/>
                </a:xfrm>
                <a:solidFill>
                  <a:srgbClr val="505050"/>
                </a:solidFill>
              </p:grpSpPr>
              <p:sp>
                <p:nvSpPr>
                  <p:cNvPr id="623" name="Freeform 26">
                    <a:extLst>
                      <a:ext uri="{FF2B5EF4-FFF2-40B4-BE49-F238E27FC236}">
                        <a16:creationId xmlns:a16="http://schemas.microsoft.com/office/drawing/2014/main" id="{2BC99CBD-5C21-B8ED-FE15-D42113337816}"/>
                      </a:ext>
                    </a:extLst>
                  </p:cNvPr>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34" name="Freeform 27">
                    <a:extLst>
                      <a:ext uri="{FF2B5EF4-FFF2-40B4-BE49-F238E27FC236}">
                        <a16:creationId xmlns:a16="http://schemas.microsoft.com/office/drawing/2014/main" id="{9D09DC8D-236F-BA56-725B-3381BC475F8D}"/>
                      </a:ext>
                    </a:extLst>
                  </p:cNvPr>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40" name="Freeform 28">
                    <a:extLst>
                      <a:ext uri="{FF2B5EF4-FFF2-40B4-BE49-F238E27FC236}">
                        <a16:creationId xmlns:a16="http://schemas.microsoft.com/office/drawing/2014/main" id="{E213AC2C-AA27-2AF3-C4F2-20C5F0DFB418}"/>
                      </a:ext>
                    </a:extLst>
                  </p:cNvPr>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41" name="Freeform 29">
                    <a:extLst>
                      <a:ext uri="{FF2B5EF4-FFF2-40B4-BE49-F238E27FC236}">
                        <a16:creationId xmlns:a16="http://schemas.microsoft.com/office/drawing/2014/main" id="{0C57BBE4-EAF3-AE45-5913-AB9193091312}"/>
                      </a:ext>
                    </a:extLst>
                  </p:cNvPr>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42" name="Freeform 30">
                    <a:extLst>
                      <a:ext uri="{FF2B5EF4-FFF2-40B4-BE49-F238E27FC236}">
                        <a16:creationId xmlns:a16="http://schemas.microsoft.com/office/drawing/2014/main" id="{052B2BB0-38B4-B44B-38EF-8D300A254FFB}"/>
                      </a:ext>
                    </a:extLst>
                  </p:cNvPr>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grpSp>
            <p:nvGrpSpPr>
              <p:cNvPr id="530" name="Group 529">
                <a:extLst>
                  <a:ext uri="{FF2B5EF4-FFF2-40B4-BE49-F238E27FC236}">
                    <a16:creationId xmlns:a16="http://schemas.microsoft.com/office/drawing/2014/main" id="{E1F355A1-0621-EC2D-C50F-4C896B3EB0AB}"/>
                  </a:ext>
                </a:extLst>
              </p:cNvPr>
              <p:cNvGrpSpPr/>
              <p:nvPr/>
            </p:nvGrpSpPr>
            <p:grpSpPr>
              <a:xfrm>
                <a:off x="6103642" y="1813499"/>
                <a:ext cx="137168" cy="158081"/>
                <a:chOff x="5979850" y="1393026"/>
                <a:chExt cx="190223" cy="219224"/>
              </a:xfrm>
            </p:grpSpPr>
            <p:pic>
              <p:nvPicPr>
                <p:cNvPr id="565" name="Picture 564">
                  <a:hlinkClick r:id="rId21"/>
                  <a:extLst>
                    <a:ext uri="{FF2B5EF4-FFF2-40B4-BE49-F238E27FC236}">
                      <a16:creationId xmlns:a16="http://schemas.microsoft.com/office/drawing/2014/main" id="{E00C7575-1473-E622-E926-5717A0C78B91}"/>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979850" y="1393026"/>
                  <a:ext cx="169500" cy="169501"/>
                </a:xfrm>
                <a:prstGeom prst="rect">
                  <a:avLst/>
                </a:prstGeom>
              </p:spPr>
            </p:pic>
            <p:grpSp>
              <p:nvGrpSpPr>
                <p:cNvPr id="578" name="Group 577">
                  <a:extLst>
                    <a:ext uri="{FF2B5EF4-FFF2-40B4-BE49-F238E27FC236}">
                      <a16:creationId xmlns:a16="http://schemas.microsoft.com/office/drawing/2014/main" id="{D990A4CF-2829-ED0F-16B1-0AA60131D3BF}"/>
                    </a:ext>
                  </a:extLst>
                </p:cNvPr>
                <p:cNvGrpSpPr/>
                <p:nvPr/>
              </p:nvGrpSpPr>
              <p:grpSpPr bwMode="black">
                <a:xfrm>
                  <a:off x="6057887" y="1543933"/>
                  <a:ext cx="112186" cy="68317"/>
                  <a:chOff x="10387012" y="4179358"/>
                  <a:chExt cx="974726" cy="593725"/>
                </a:xfrm>
                <a:solidFill>
                  <a:srgbClr val="505050"/>
                </a:solidFill>
              </p:grpSpPr>
              <p:sp>
                <p:nvSpPr>
                  <p:cNvPr id="585" name="Freeform 26">
                    <a:extLst>
                      <a:ext uri="{FF2B5EF4-FFF2-40B4-BE49-F238E27FC236}">
                        <a16:creationId xmlns:a16="http://schemas.microsoft.com/office/drawing/2014/main" id="{2C0153AD-0528-2C82-6CF0-9BC3844F918B}"/>
                      </a:ext>
                    </a:extLst>
                  </p:cNvPr>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92" name="Freeform 27">
                    <a:extLst>
                      <a:ext uri="{FF2B5EF4-FFF2-40B4-BE49-F238E27FC236}">
                        <a16:creationId xmlns:a16="http://schemas.microsoft.com/office/drawing/2014/main" id="{23E67B62-1F76-E041-7E39-0A3E105BDDE8}"/>
                      </a:ext>
                    </a:extLst>
                  </p:cNvPr>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05" name="Freeform 28">
                    <a:extLst>
                      <a:ext uri="{FF2B5EF4-FFF2-40B4-BE49-F238E27FC236}">
                        <a16:creationId xmlns:a16="http://schemas.microsoft.com/office/drawing/2014/main" id="{C3FF88D5-B8D8-B1F8-22BF-96205BE9D303}"/>
                      </a:ext>
                    </a:extLst>
                  </p:cNvPr>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11" name="Freeform 29">
                    <a:extLst>
                      <a:ext uri="{FF2B5EF4-FFF2-40B4-BE49-F238E27FC236}">
                        <a16:creationId xmlns:a16="http://schemas.microsoft.com/office/drawing/2014/main" id="{0648BB23-FE92-28FE-04BE-A85471A75332}"/>
                      </a:ext>
                    </a:extLst>
                  </p:cNvPr>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12" name="Freeform 30">
                    <a:extLst>
                      <a:ext uri="{FF2B5EF4-FFF2-40B4-BE49-F238E27FC236}">
                        <a16:creationId xmlns:a16="http://schemas.microsoft.com/office/drawing/2014/main" id="{19D51F22-2BB4-075C-DA56-CB158C249A4E}"/>
                      </a:ext>
                    </a:extLst>
                  </p:cNvPr>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pic>
            <p:nvPicPr>
              <p:cNvPr id="531" name="Picture 171">
                <a:extLst>
                  <a:ext uri="{FF2B5EF4-FFF2-40B4-BE49-F238E27FC236}">
                    <a16:creationId xmlns:a16="http://schemas.microsoft.com/office/drawing/2014/main" id="{393AA05F-73C2-556D-B4C4-EAF80E600B20}"/>
                  </a:ext>
                </a:extLst>
              </p:cNvPr>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5150462" y="1992181"/>
                <a:ext cx="126292" cy="126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 name="Graphic 531">
                <a:extLst>
                  <a:ext uri="{FF2B5EF4-FFF2-40B4-BE49-F238E27FC236}">
                    <a16:creationId xmlns:a16="http://schemas.microsoft.com/office/drawing/2014/main" id="{5C3628FD-CBF7-47D5-4FA7-438D625EDAD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529025" y="1992859"/>
                <a:ext cx="124976" cy="124976"/>
              </a:xfrm>
              <a:prstGeom prst="rect">
                <a:avLst/>
              </a:prstGeom>
            </p:spPr>
          </p:pic>
          <p:pic>
            <p:nvPicPr>
              <p:cNvPr id="533" name="Graphic 532">
                <a:extLst>
                  <a:ext uri="{FF2B5EF4-FFF2-40B4-BE49-F238E27FC236}">
                    <a16:creationId xmlns:a16="http://schemas.microsoft.com/office/drawing/2014/main" id="{DABCB7A6-5F1E-3FEE-D873-A82D9F6A9D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340401" y="1992859"/>
                <a:ext cx="124976" cy="124976"/>
              </a:xfrm>
              <a:prstGeom prst="rect">
                <a:avLst/>
              </a:prstGeom>
            </p:spPr>
          </p:pic>
          <p:grpSp>
            <p:nvGrpSpPr>
              <p:cNvPr id="534" name="Group 533">
                <a:extLst>
                  <a:ext uri="{FF2B5EF4-FFF2-40B4-BE49-F238E27FC236}">
                    <a16:creationId xmlns:a16="http://schemas.microsoft.com/office/drawing/2014/main" id="{3B3095B0-D5FB-5EA1-6043-8AED5F7D6F73}"/>
                  </a:ext>
                </a:extLst>
              </p:cNvPr>
              <p:cNvGrpSpPr/>
              <p:nvPr/>
            </p:nvGrpSpPr>
            <p:grpSpPr>
              <a:xfrm>
                <a:off x="6011489" y="2035990"/>
                <a:ext cx="159799" cy="38716"/>
                <a:chOff x="9779309" y="3865093"/>
                <a:chExt cx="161337" cy="39088"/>
              </a:xfrm>
            </p:grpSpPr>
            <p:sp>
              <p:nvSpPr>
                <p:cNvPr id="549" name="Oval 548">
                  <a:extLst>
                    <a:ext uri="{FF2B5EF4-FFF2-40B4-BE49-F238E27FC236}">
                      <a16:creationId xmlns:a16="http://schemas.microsoft.com/office/drawing/2014/main" id="{E8954320-68FA-DC67-AEF1-AC4A30A67C05}"/>
                    </a:ext>
                  </a:extLst>
                </p:cNvPr>
                <p:cNvSpPr/>
                <p:nvPr/>
              </p:nvSpPr>
              <p:spPr bwMode="auto">
                <a:xfrm>
                  <a:off x="9779309" y="3865093"/>
                  <a:ext cx="39089" cy="39088"/>
                </a:xfrm>
                <a:prstGeom prst="ellipse">
                  <a:avLst/>
                </a:prstGeom>
                <a:solidFill>
                  <a:sysClr val="windowText" lastClr="000000">
                    <a:lumMod val="65000"/>
                    <a:lumOff val="35000"/>
                  </a:sysClr>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550" name="Oval 549">
                  <a:extLst>
                    <a:ext uri="{FF2B5EF4-FFF2-40B4-BE49-F238E27FC236}">
                      <a16:creationId xmlns:a16="http://schemas.microsoft.com/office/drawing/2014/main" id="{A704AA22-A265-9831-0527-7F4AD8AFD3FB}"/>
                    </a:ext>
                  </a:extLst>
                </p:cNvPr>
                <p:cNvSpPr/>
                <p:nvPr/>
              </p:nvSpPr>
              <p:spPr bwMode="auto">
                <a:xfrm>
                  <a:off x="9840454" y="3865093"/>
                  <a:ext cx="39089" cy="39088"/>
                </a:xfrm>
                <a:prstGeom prst="ellipse">
                  <a:avLst/>
                </a:prstGeom>
                <a:solidFill>
                  <a:sysClr val="windowText" lastClr="000000">
                    <a:lumMod val="65000"/>
                    <a:lumOff val="35000"/>
                  </a:sysClr>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552" name="Oval 551">
                  <a:extLst>
                    <a:ext uri="{FF2B5EF4-FFF2-40B4-BE49-F238E27FC236}">
                      <a16:creationId xmlns:a16="http://schemas.microsoft.com/office/drawing/2014/main" id="{954285A5-3D9B-D247-9908-6B2CDEF14240}"/>
                    </a:ext>
                  </a:extLst>
                </p:cNvPr>
                <p:cNvSpPr/>
                <p:nvPr/>
              </p:nvSpPr>
              <p:spPr bwMode="auto">
                <a:xfrm>
                  <a:off x="9901557" y="3865093"/>
                  <a:ext cx="39089" cy="39088"/>
                </a:xfrm>
                <a:prstGeom prst="ellipse">
                  <a:avLst/>
                </a:prstGeom>
                <a:solidFill>
                  <a:sysClr val="windowText" lastClr="000000">
                    <a:lumMod val="65000"/>
                    <a:lumOff val="35000"/>
                  </a:sysClr>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grpSp>
          <p:grpSp>
            <p:nvGrpSpPr>
              <p:cNvPr id="535" name="Group 534">
                <a:extLst>
                  <a:ext uri="{FF2B5EF4-FFF2-40B4-BE49-F238E27FC236}">
                    <a16:creationId xmlns:a16="http://schemas.microsoft.com/office/drawing/2014/main" id="{79CABC4A-73FE-3DE9-A750-021AFD9A637A}"/>
                  </a:ext>
                </a:extLst>
              </p:cNvPr>
              <p:cNvGrpSpPr/>
              <p:nvPr/>
            </p:nvGrpSpPr>
            <p:grpSpPr>
              <a:xfrm>
                <a:off x="5717649" y="1934179"/>
                <a:ext cx="230190" cy="230190"/>
                <a:chOff x="9273516" y="3238279"/>
                <a:chExt cx="914400" cy="914400"/>
              </a:xfrm>
            </p:grpSpPr>
            <p:pic>
              <p:nvPicPr>
                <p:cNvPr id="547" name="Graphic 546" descr="Cloud">
                  <a:extLst>
                    <a:ext uri="{FF2B5EF4-FFF2-40B4-BE49-F238E27FC236}">
                      <a16:creationId xmlns:a16="http://schemas.microsoft.com/office/drawing/2014/main" id="{1C55D0EB-E28D-23B7-9181-A472C79A35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273516" y="3238279"/>
                  <a:ext cx="914400" cy="914400"/>
                </a:xfrm>
                <a:prstGeom prst="rect">
                  <a:avLst/>
                </a:prstGeom>
              </p:spPr>
            </p:pic>
            <p:sp>
              <p:nvSpPr>
                <p:cNvPr id="548" name="TextBox 547">
                  <a:extLst>
                    <a:ext uri="{FF2B5EF4-FFF2-40B4-BE49-F238E27FC236}">
                      <a16:creationId xmlns:a16="http://schemas.microsoft.com/office/drawing/2014/main" id="{DEBD0F9B-E04E-828F-6454-61C1BE249AD7}"/>
                    </a:ext>
                  </a:extLst>
                </p:cNvPr>
                <p:cNvSpPr txBox="1"/>
                <p:nvPr/>
              </p:nvSpPr>
              <p:spPr>
                <a:xfrm>
                  <a:off x="9534803" y="3556493"/>
                  <a:ext cx="391024" cy="399369"/>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a:ln>
                        <a:noFill/>
                      </a:ln>
                      <a:solidFill>
                        <a:srgbClr val="FFFFFF"/>
                      </a:solidFill>
                      <a:effectLst/>
                      <a:uLnTx/>
                      <a:uFillTx/>
                      <a:latin typeface="Verdana Pro Cond" panose="020B0604020202020204" pitchFamily="34" charset="0"/>
                      <a:ea typeface="+mn-ea"/>
                      <a:cs typeface="Segoe UI Semibold" panose="020B0702040204020203" pitchFamily="34" charset="0"/>
                    </a:rPr>
                    <a:t>S</a:t>
                  </a:r>
                  <a:r>
                    <a:rPr kumimoji="0" lang="en-US" sz="700" b="0" i="0" u="none" strike="noStrike" kern="1200" cap="none" spc="0" normalizeH="0" baseline="0" noProof="0">
                      <a:ln>
                        <a:noFill/>
                      </a:ln>
                      <a:solidFill>
                        <a:srgbClr val="FFFFFF"/>
                      </a:solidFill>
                      <a:effectLst/>
                      <a:uLnTx/>
                      <a:uFillTx/>
                      <a:latin typeface="Verdana Pro Cond Light" panose="020B0604020202020204" pitchFamily="34" charset="0"/>
                      <a:ea typeface="+mn-ea"/>
                      <a:cs typeface="+mn-cs"/>
                    </a:rPr>
                    <a:t>3</a:t>
                  </a:r>
                </a:p>
              </p:txBody>
            </p:sp>
          </p:grpSp>
          <p:pic>
            <p:nvPicPr>
              <p:cNvPr id="537" name="Picture 536" descr="Graphical user interface, application, icon&#10;&#10;Description automatically generated">
                <a:extLst>
                  <a:ext uri="{FF2B5EF4-FFF2-40B4-BE49-F238E27FC236}">
                    <a16:creationId xmlns:a16="http://schemas.microsoft.com/office/drawing/2014/main" id="{63B243FD-EB37-135B-FC55-888A0E7ECDAD}"/>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5698498" y="1762900"/>
                <a:ext cx="243816" cy="243816"/>
              </a:xfrm>
              <a:prstGeom prst="rect">
                <a:avLst/>
              </a:prstGeom>
            </p:spPr>
          </p:pic>
          <p:pic>
            <p:nvPicPr>
              <p:cNvPr id="538" name="Picture 537" descr="A picture containing icon&#10;&#10;Description automatically generated">
                <a:extLst>
                  <a:ext uri="{FF2B5EF4-FFF2-40B4-BE49-F238E27FC236}">
                    <a16:creationId xmlns:a16="http://schemas.microsoft.com/office/drawing/2014/main" id="{2B5F029E-E7E2-C612-51D4-3B54CCA133F5}"/>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5036432" y="1762711"/>
                <a:ext cx="243816" cy="243816"/>
              </a:xfrm>
              <a:prstGeom prst="rect">
                <a:avLst/>
              </a:prstGeom>
            </p:spPr>
          </p:pic>
          <p:pic>
            <p:nvPicPr>
              <p:cNvPr id="544" name="Picture 543" descr="Icon&#10;&#10;Description automatically generated">
                <a:extLst>
                  <a:ext uri="{FF2B5EF4-FFF2-40B4-BE49-F238E27FC236}">
                    <a16:creationId xmlns:a16="http://schemas.microsoft.com/office/drawing/2014/main" id="{1FD9979C-86E5-BB65-D915-0CF1C17D7D7D}"/>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5201948" y="1762711"/>
                <a:ext cx="243816" cy="243816"/>
              </a:xfrm>
              <a:prstGeom prst="rect">
                <a:avLst/>
              </a:prstGeom>
            </p:spPr>
          </p:pic>
          <p:pic>
            <p:nvPicPr>
              <p:cNvPr id="545" name="Picture 544" descr="Graphical user interface, icon&#10;&#10;Description automatically generated">
                <a:extLst>
                  <a:ext uri="{FF2B5EF4-FFF2-40B4-BE49-F238E27FC236}">
                    <a16:creationId xmlns:a16="http://schemas.microsoft.com/office/drawing/2014/main" id="{01EF5A3E-3070-8D2B-3A6C-BBDE88A5C181}"/>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5532981" y="1762711"/>
                <a:ext cx="243816" cy="243816"/>
              </a:xfrm>
              <a:prstGeom prst="rect">
                <a:avLst/>
              </a:prstGeom>
            </p:spPr>
          </p:pic>
          <p:pic>
            <p:nvPicPr>
              <p:cNvPr id="546" name="Picture 545" descr="Graphical user interface, application&#10;&#10;Description automatically generated">
                <a:extLst>
                  <a:ext uri="{FF2B5EF4-FFF2-40B4-BE49-F238E27FC236}">
                    <a16:creationId xmlns:a16="http://schemas.microsoft.com/office/drawing/2014/main" id="{43E392EF-946A-242D-2239-0B6F4D2BF73D}"/>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5367464" y="1762711"/>
                <a:ext cx="243816" cy="243816"/>
              </a:xfrm>
              <a:prstGeom prst="rect">
                <a:avLst/>
              </a:prstGeom>
            </p:spPr>
          </p:pic>
        </p:grpSp>
      </p:grpSp>
      <p:grpSp>
        <p:nvGrpSpPr>
          <p:cNvPr id="208" name="Group 207">
            <a:extLst>
              <a:ext uri="{FF2B5EF4-FFF2-40B4-BE49-F238E27FC236}">
                <a16:creationId xmlns:a16="http://schemas.microsoft.com/office/drawing/2014/main" id="{AA8F57C8-FD55-AD52-5D6A-5679D09111E5}"/>
              </a:ext>
            </a:extLst>
          </p:cNvPr>
          <p:cNvGrpSpPr/>
          <p:nvPr/>
        </p:nvGrpSpPr>
        <p:grpSpPr>
          <a:xfrm>
            <a:off x="10334015" y="1382348"/>
            <a:ext cx="1671182" cy="3899520"/>
            <a:chOff x="10319876" y="1363999"/>
            <a:chExt cx="1671182" cy="3899520"/>
          </a:xfrm>
        </p:grpSpPr>
        <p:sp>
          <p:nvSpPr>
            <p:cNvPr id="395" name="Rectangle 394">
              <a:extLst>
                <a:ext uri="{FF2B5EF4-FFF2-40B4-BE49-F238E27FC236}">
                  <a16:creationId xmlns:a16="http://schemas.microsoft.com/office/drawing/2014/main" id="{779F446F-615A-1682-B630-D4947BC4D847}"/>
                </a:ext>
              </a:extLst>
            </p:cNvPr>
            <p:cNvSpPr/>
            <p:nvPr/>
          </p:nvSpPr>
          <p:spPr bwMode="auto">
            <a:xfrm>
              <a:off x="10322474" y="1363999"/>
              <a:ext cx="1653579" cy="3899520"/>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lstStyle/>
            <a:p>
              <a:pPr algn="ctr"/>
              <a:endParaRPr lang="en-US" sz="1200" b="1">
                <a:solidFill>
                  <a:prstClr val="black"/>
                </a:solidFill>
                <a:latin typeface="Segoe Sans Display Semibold"/>
                <a:cs typeface="Segoe Sans Display" pitchFamily="2" charset="0"/>
              </a:endParaRPr>
            </a:p>
          </p:txBody>
        </p:sp>
        <p:sp>
          <p:nvSpPr>
            <p:cNvPr id="408" name="Rectangle 407">
              <a:extLst>
                <a:ext uri="{FF2B5EF4-FFF2-40B4-BE49-F238E27FC236}">
                  <a16:creationId xmlns:a16="http://schemas.microsoft.com/office/drawing/2014/main" id="{B6B0B1DD-1CAF-20AE-BA4E-2DA88B75BCAC}"/>
                </a:ext>
              </a:extLst>
            </p:cNvPr>
            <p:cNvSpPr/>
            <p:nvPr/>
          </p:nvSpPr>
          <p:spPr>
            <a:xfrm>
              <a:off x="10319876" y="1410600"/>
              <a:ext cx="1671182" cy="261610"/>
            </a:xfrm>
            <a:prstGeom prst="rect">
              <a:avLst/>
            </a:prstGeom>
            <a:noFill/>
          </p:spPr>
          <p:txBody>
            <a:bodyPr wrap="square" t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Identity &amp; Access</a:t>
              </a:r>
            </a:p>
          </p:txBody>
        </p:sp>
      </p:grpSp>
      <p:grpSp>
        <p:nvGrpSpPr>
          <p:cNvPr id="197" name="Group 196">
            <a:extLst>
              <a:ext uri="{FF2B5EF4-FFF2-40B4-BE49-F238E27FC236}">
                <a16:creationId xmlns:a16="http://schemas.microsoft.com/office/drawing/2014/main" id="{CDDDAFA8-40B5-22EC-E8E5-365993535694}"/>
              </a:ext>
            </a:extLst>
          </p:cNvPr>
          <p:cNvGrpSpPr/>
          <p:nvPr/>
        </p:nvGrpSpPr>
        <p:grpSpPr>
          <a:xfrm>
            <a:off x="10331848" y="2148221"/>
            <a:ext cx="1637112" cy="2361425"/>
            <a:chOff x="10331848" y="2148221"/>
            <a:chExt cx="1637112" cy="2361425"/>
          </a:xfrm>
        </p:grpSpPr>
        <p:grpSp>
          <p:nvGrpSpPr>
            <p:cNvPr id="194" name="Group 193">
              <a:extLst>
                <a:ext uri="{FF2B5EF4-FFF2-40B4-BE49-F238E27FC236}">
                  <a16:creationId xmlns:a16="http://schemas.microsoft.com/office/drawing/2014/main" id="{8F39D070-C5F2-3C40-7973-4CD49C4D0017}"/>
                </a:ext>
              </a:extLst>
            </p:cNvPr>
            <p:cNvGrpSpPr/>
            <p:nvPr/>
          </p:nvGrpSpPr>
          <p:grpSpPr>
            <a:xfrm>
              <a:off x="10331848" y="2148221"/>
              <a:ext cx="1637112" cy="2361425"/>
              <a:chOff x="10331848" y="2148221"/>
              <a:chExt cx="1637112" cy="2361425"/>
            </a:xfrm>
          </p:grpSpPr>
          <p:sp>
            <p:nvSpPr>
              <p:cNvPr id="396" name="Rectangle 395">
                <a:hlinkClick r:id="rId32" tooltip="Azure Active Directory (Azure AD) is Microsoft’s multi-tenant, cloud-based directory, and identity management service that combines core directory services, application access management, and identity protection into a single solution."/>
                <a:extLst>
                  <a:ext uri="{FF2B5EF4-FFF2-40B4-BE49-F238E27FC236}">
                    <a16:creationId xmlns:a16="http://schemas.microsoft.com/office/drawing/2014/main" id="{9C3F8409-7E37-EB33-E663-A658B21B5EA4}"/>
                  </a:ext>
                </a:extLst>
              </p:cNvPr>
              <p:cNvSpPr/>
              <p:nvPr/>
            </p:nvSpPr>
            <p:spPr>
              <a:xfrm>
                <a:off x="10373802" y="2148221"/>
                <a:ext cx="1595158" cy="275338"/>
              </a:xfrm>
              <a:prstGeom prst="rect">
                <a:avLst/>
              </a:prstGeom>
              <a:solidFill>
                <a:schemeClr val="bg1"/>
              </a:solidFill>
              <a:ln w="14224">
                <a:noFill/>
              </a:ln>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Microsoft Entra</a:t>
                </a:r>
              </a:p>
            </p:txBody>
          </p:sp>
          <p:cxnSp>
            <p:nvCxnSpPr>
              <p:cNvPr id="416" name="Straight Connector 415">
                <a:extLst>
                  <a:ext uri="{FF2B5EF4-FFF2-40B4-BE49-F238E27FC236}">
                    <a16:creationId xmlns:a16="http://schemas.microsoft.com/office/drawing/2014/main" id="{B7E85131-212E-3FE5-C14D-C7E2C1854EB3}"/>
                  </a:ext>
                </a:extLst>
              </p:cNvPr>
              <p:cNvCxnSpPr>
                <a:cxnSpLocks/>
              </p:cNvCxnSpPr>
              <p:nvPr/>
            </p:nvCxnSpPr>
            <p:spPr>
              <a:xfrm>
                <a:off x="10436665" y="2383742"/>
                <a:ext cx="0" cy="2125904"/>
              </a:xfrm>
              <a:prstGeom prst="line">
                <a:avLst/>
              </a:prstGeom>
              <a:ln w="19050">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458" name="Picture 457">
                <a:extLst>
                  <a:ext uri="{FF2B5EF4-FFF2-40B4-BE49-F238E27FC236}">
                    <a16:creationId xmlns:a16="http://schemas.microsoft.com/office/drawing/2014/main" id="{0F6688BA-A94B-765E-5C18-AFA98CA35C98}"/>
                  </a:ext>
                </a:extLst>
              </p:cNvPr>
              <p:cNvPicPr>
                <a:picLocks noChangeAspect="1"/>
              </p:cNvPicPr>
              <p:nvPr/>
            </p:nvPicPr>
            <p:blipFill>
              <a:blip r:embed="rId33">
                <a:biLevel thresh="25000"/>
              </a:blip>
              <a:stretch>
                <a:fillRect/>
              </a:stretch>
            </p:blipFill>
            <p:spPr>
              <a:xfrm>
                <a:off x="10331848" y="2194590"/>
                <a:ext cx="278831" cy="278832"/>
              </a:xfrm>
              <a:prstGeom prst="rect">
                <a:avLst/>
              </a:prstGeom>
            </p:spPr>
          </p:pic>
        </p:grpSp>
        <p:pic>
          <p:nvPicPr>
            <p:cNvPr id="128" name="Graphic 127">
              <a:extLst>
                <a:ext uri="{FF2B5EF4-FFF2-40B4-BE49-F238E27FC236}">
                  <a16:creationId xmlns:a16="http://schemas.microsoft.com/office/drawing/2014/main" id="{BC654C22-1AC3-FE41-1371-D072EB2972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Lst>
            </a:blip>
            <a:srcRect/>
            <a:stretch/>
          </p:blipFill>
          <p:spPr>
            <a:xfrm>
              <a:off x="10361387" y="2189874"/>
              <a:ext cx="238573" cy="238573"/>
            </a:xfrm>
            <a:prstGeom prst="rect">
              <a:avLst/>
            </a:prstGeom>
          </p:spPr>
        </p:pic>
      </p:grpSp>
      <p:grpSp>
        <p:nvGrpSpPr>
          <p:cNvPr id="210" name="Group 209">
            <a:extLst>
              <a:ext uri="{FF2B5EF4-FFF2-40B4-BE49-F238E27FC236}">
                <a16:creationId xmlns:a16="http://schemas.microsoft.com/office/drawing/2014/main" id="{77AA5CA1-BA8D-B95F-FAF4-9664C1ADBB73}"/>
              </a:ext>
            </a:extLst>
          </p:cNvPr>
          <p:cNvGrpSpPr/>
          <p:nvPr/>
        </p:nvGrpSpPr>
        <p:grpSpPr>
          <a:xfrm>
            <a:off x="2086268" y="5506914"/>
            <a:ext cx="3280859" cy="894691"/>
            <a:chOff x="2048164" y="5506914"/>
            <a:chExt cx="3280859" cy="894691"/>
          </a:xfrm>
        </p:grpSpPr>
        <p:sp>
          <p:nvSpPr>
            <p:cNvPr id="148" name="Rectangle 147">
              <a:extLst>
                <a:ext uri="{FF2B5EF4-FFF2-40B4-BE49-F238E27FC236}">
                  <a16:creationId xmlns:a16="http://schemas.microsoft.com/office/drawing/2014/main" id="{860698A2-71F4-A892-2CD1-F8F0B138A53E}"/>
                </a:ext>
              </a:extLst>
            </p:cNvPr>
            <p:cNvSpPr/>
            <p:nvPr/>
          </p:nvSpPr>
          <p:spPr bwMode="auto">
            <a:xfrm>
              <a:off x="2048164" y="5506914"/>
              <a:ext cx="3280859" cy="894691"/>
            </a:xfrm>
            <a:prstGeom prst="rect">
              <a:avLst/>
            </a:prstGeom>
            <a:solidFill>
              <a:srgbClr val="FFFFFF"/>
            </a:solidFill>
            <a:ln w="6350">
              <a:solidFill>
                <a:srgbClr val="FC845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lstStyle/>
            <a:p>
              <a:pPr algn="ctr"/>
              <a:endParaRPr lang="en-US" sz="1200" b="1">
                <a:solidFill>
                  <a:prstClr val="black"/>
                </a:solidFill>
                <a:latin typeface="Segoe Sans Display Semibold"/>
                <a:cs typeface="Segoe Sans Display" pitchFamily="2" charset="0"/>
              </a:endParaRPr>
            </a:p>
          </p:txBody>
        </p:sp>
        <p:grpSp>
          <p:nvGrpSpPr>
            <p:cNvPr id="181" name="Group 180">
              <a:extLst>
                <a:ext uri="{FF2B5EF4-FFF2-40B4-BE49-F238E27FC236}">
                  <a16:creationId xmlns:a16="http://schemas.microsoft.com/office/drawing/2014/main" id="{0DD21ADE-287F-B774-C74B-8766D7BFE5DB}"/>
                </a:ext>
              </a:extLst>
            </p:cNvPr>
            <p:cNvGrpSpPr/>
            <p:nvPr/>
          </p:nvGrpSpPr>
          <p:grpSpPr>
            <a:xfrm>
              <a:off x="2083707" y="5528666"/>
              <a:ext cx="3228861" cy="257763"/>
              <a:chOff x="2083270" y="5551572"/>
              <a:chExt cx="3228861" cy="257763"/>
            </a:xfrm>
          </p:grpSpPr>
          <p:grpSp>
            <p:nvGrpSpPr>
              <p:cNvPr id="37" name="Group 36">
                <a:extLst>
                  <a:ext uri="{FF2B5EF4-FFF2-40B4-BE49-F238E27FC236}">
                    <a16:creationId xmlns:a16="http://schemas.microsoft.com/office/drawing/2014/main" id="{587025D6-6C2D-CB76-03C0-ACF17D8E8192}"/>
                  </a:ext>
                </a:extLst>
              </p:cNvPr>
              <p:cNvGrpSpPr/>
              <p:nvPr/>
            </p:nvGrpSpPr>
            <p:grpSpPr>
              <a:xfrm>
                <a:off x="2083270" y="5551572"/>
                <a:ext cx="3228861" cy="257763"/>
                <a:chOff x="2080594" y="5551572"/>
                <a:chExt cx="2982860" cy="257763"/>
              </a:xfrm>
            </p:grpSpPr>
            <p:sp>
              <p:nvSpPr>
                <p:cNvPr id="668" name="Rectangle 667">
                  <a:extLst>
                    <a:ext uri="{FF2B5EF4-FFF2-40B4-BE49-F238E27FC236}">
                      <a16:creationId xmlns:a16="http://schemas.microsoft.com/office/drawing/2014/main" id="{FEB73B28-BD87-086F-33F5-88F88A83EBF0}"/>
                    </a:ext>
                  </a:extLst>
                </p:cNvPr>
                <p:cNvSpPr/>
                <p:nvPr/>
              </p:nvSpPr>
              <p:spPr>
                <a:xfrm>
                  <a:off x="2080594" y="5551572"/>
                  <a:ext cx="2982860" cy="257763"/>
                </a:xfrm>
                <a:prstGeom prst="rect">
                  <a:avLst/>
                </a:prstGeom>
                <a:solidFill>
                  <a:schemeClr val="bg1"/>
                </a:solidFill>
              </p:spPr>
              <p:txBody>
                <a:bodyPr wrap="square" rIns="9144">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75"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IoT and Operational Technology (OT)</a:t>
                  </a:r>
                </a:p>
              </p:txBody>
            </p:sp>
            <p:sp>
              <p:nvSpPr>
                <p:cNvPr id="553" name="IoT">
                  <a:extLst>
                    <a:ext uri="{FF2B5EF4-FFF2-40B4-BE49-F238E27FC236}">
                      <a16:creationId xmlns:a16="http://schemas.microsoft.com/office/drawing/2014/main" id="{82E7B2C1-98C3-D281-A680-57000CE78C55}"/>
                    </a:ext>
                  </a:extLst>
                </p:cNvPr>
                <p:cNvSpPr>
                  <a:spLocks noChangeAspect="1" noEditPoints="1"/>
                </p:cNvSpPr>
                <p:nvPr/>
              </p:nvSpPr>
              <p:spPr bwMode="auto">
                <a:xfrm>
                  <a:off x="2209861" y="5587925"/>
                  <a:ext cx="184761" cy="185056"/>
                </a:xfrm>
                <a:custGeom>
                  <a:avLst/>
                  <a:gdLst>
                    <a:gd name="T0" fmla="*/ 235 w 352"/>
                    <a:gd name="T1" fmla="*/ 176 h 352"/>
                    <a:gd name="T2" fmla="*/ 176 w 352"/>
                    <a:gd name="T3" fmla="*/ 235 h 352"/>
                    <a:gd name="T4" fmla="*/ 117 w 352"/>
                    <a:gd name="T5" fmla="*/ 176 h 352"/>
                    <a:gd name="T6" fmla="*/ 176 w 352"/>
                    <a:gd name="T7" fmla="*/ 117 h 352"/>
                    <a:gd name="T8" fmla="*/ 235 w 352"/>
                    <a:gd name="T9" fmla="*/ 176 h 352"/>
                    <a:gd name="T10" fmla="*/ 270 w 352"/>
                    <a:gd name="T11" fmla="*/ 0 h 352"/>
                    <a:gd name="T12" fmla="*/ 235 w 352"/>
                    <a:gd name="T13" fmla="*/ 35 h 352"/>
                    <a:gd name="T14" fmla="*/ 270 w 352"/>
                    <a:gd name="T15" fmla="*/ 70 h 352"/>
                    <a:gd name="T16" fmla="*/ 305 w 352"/>
                    <a:gd name="T17" fmla="*/ 35 h 352"/>
                    <a:gd name="T18" fmla="*/ 270 w 352"/>
                    <a:gd name="T19" fmla="*/ 0 h 352"/>
                    <a:gd name="T20" fmla="*/ 82 w 352"/>
                    <a:gd name="T21" fmla="*/ 23 h 352"/>
                    <a:gd name="T22" fmla="*/ 47 w 352"/>
                    <a:gd name="T23" fmla="*/ 59 h 352"/>
                    <a:gd name="T24" fmla="*/ 82 w 352"/>
                    <a:gd name="T25" fmla="*/ 94 h 352"/>
                    <a:gd name="T26" fmla="*/ 117 w 352"/>
                    <a:gd name="T27" fmla="*/ 59 h 352"/>
                    <a:gd name="T28" fmla="*/ 82 w 352"/>
                    <a:gd name="T29" fmla="*/ 23 h 352"/>
                    <a:gd name="T30" fmla="*/ 35 w 352"/>
                    <a:gd name="T31" fmla="*/ 211 h 352"/>
                    <a:gd name="T32" fmla="*/ 0 w 352"/>
                    <a:gd name="T33" fmla="*/ 246 h 352"/>
                    <a:gd name="T34" fmla="*/ 35 w 352"/>
                    <a:gd name="T35" fmla="*/ 282 h 352"/>
                    <a:gd name="T36" fmla="*/ 70 w 352"/>
                    <a:gd name="T37" fmla="*/ 246 h 352"/>
                    <a:gd name="T38" fmla="*/ 35 w 352"/>
                    <a:gd name="T39" fmla="*/ 211 h 352"/>
                    <a:gd name="T40" fmla="*/ 223 w 352"/>
                    <a:gd name="T41" fmla="*/ 282 h 352"/>
                    <a:gd name="T42" fmla="*/ 188 w 352"/>
                    <a:gd name="T43" fmla="*/ 317 h 352"/>
                    <a:gd name="T44" fmla="*/ 223 w 352"/>
                    <a:gd name="T45" fmla="*/ 352 h 352"/>
                    <a:gd name="T46" fmla="*/ 258 w 352"/>
                    <a:gd name="T47" fmla="*/ 317 h 352"/>
                    <a:gd name="T48" fmla="*/ 223 w 352"/>
                    <a:gd name="T49" fmla="*/ 282 h 352"/>
                    <a:gd name="T50" fmla="*/ 317 w 352"/>
                    <a:gd name="T51" fmla="*/ 164 h 352"/>
                    <a:gd name="T52" fmla="*/ 282 w 352"/>
                    <a:gd name="T53" fmla="*/ 199 h 352"/>
                    <a:gd name="T54" fmla="*/ 317 w 352"/>
                    <a:gd name="T55" fmla="*/ 235 h 352"/>
                    <a:gd name="T56" fmla="*/ 352 w 352"/>
                    <a:gd name="T57" fmla="*/ 199 h 352"/>
                    <a:gd name="T58" fmla="*/ 317 w 352"/>
                    <a:gd name="T59" fmla="*/ 164 h 352"/>
                    <a:gd name="T60" fmla="*/ 250 w 352"/>
                    <a:gd name="T61" fmla="*/ 64 h 352"/>
                    <a:gd name="T62" fmla="*/ 209 w 352"/>
                    <a:gd name="T63" fmla="*/ 127 h 352"/>
                    <a:gd name="T64" fmla="*/ 139 w 352"/>
                    <a:gd name="T65" fmla="*/ 130 h 352"/>
                    <a:gd name="T66" fmla="*/ 104 w 352"/>
                    <a:gd name="T67" fmla="*/ 86 h 352"/>
                    <a:gd name="T68" fmla="*/ 67 w 352"/>
                    <a:gd name="T69" fmla="*/ 231 h 352"/>
                    <a:gd name="T70" fmla="*/ 124 w 352"/>
                    <a:gd name="T71" fmla="*/ 202 h 352"/>
                    <a:gd name="T72" fmla="*/ 212 w 352"/>
                    <a:gd name="T73" fmla="*/ 283 h 352"/>
                    <a:gd name="T74" fmla="*/ 195 w 352"/>
                    <a:gd name="T75" fmla="*/ 232 h 352"/>
                    <a:gd name="T76" fmla="*/ 234 w 352"/>
                    <a:gd name="T77" fmla="*/ 186 h 352"/>
                    <a:gd name="T78" fmla="*/ 282 w 352"/>
                    <a:gd name="T79" fmla="*/ 194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2" h="352">
                      <a:moveTo>
                        <a:pt x="235" y="176"/>
                      </a:moveTo>
                      <a:cubicBezTo>
                        <a:pt x="235" y="208"/>
                        <a:pt x="208" y="235"/>
                        <a:pt x="176" y="235"/>
                      </a:cubicBezTo>
                      <a:cubicBezTo>
                        <a:pt x="144" y="235"/>
                        <a:pt x="117" y="208"/>
                        <a:pt x="117" y="176"/>
                      </a:cubicBezTo>
                      <a:cubicBezTo>
                        <a:pt x="117" y="144"/>
                        <a:pt x="144" y="117"/>
                        <a:pt x="176" y="117"/>
                      </a:cubicBezTo>
                      <a:cubicBezTo>
                        <a:pt x="208" y="117"/>
                        <a:pt x="235" y="144"/>
                        <a:pt x="235" y="176"/>
                      </a:cubicBezTo>
                      <a:close/>
                      <a:moveTo>
                        <a:pt x="270" y="0"/>
                      </a:moveTo>
                      <a:cubicBezTo>
                        <a:pt x="250" y="0"/>
                        <a:pt x="235" y="16"/>
                        <a:pt x="235" y="35"/>
                      </a:cubicBezTo>
                      <a:cubicBezTo>
                        <a:pt x="235" y="55"/>
                        <a:pt x="250" y="70"/>
                        <a:pt x="270" y="70"/>
                      </a:cubicBezTo>
                      <a:cubicBezTo>
                        <a:pt x="289" y="70"/>
                        <a:pt x="305" y="55"/>
                        <a:pt x="305" y="35"/>
                      </a:cubicBezTo>
                      <a:cubicBezTo>
                        <a:pt x="305" y="16"/>
                        <a:pt x="289" y="0"/>
                        <a:pt x="270" y="0"/>
                      </a:cubicBezTo>
                      <a:close/>
                      <a:moveTo>
                        <a:pt x="82" y="23"/>
                      </a:moveTo>
                      <a:cubicBezTo>
                        <a:pt x="63" y="23"/>
                        <a:pt x="47" y="39"/>
                        <a:pt x="47" y="59"/>
                      </a:cubicBezTo>
                      <a:cubicBezTo>
                        <a:pt x="47" y="78"/>
                        <a:pt x="63" y="94"/>
                        <a:pt x="82" y="94"/>
                      </a:cubicBezTo>
                      <a:cubicBezTo>
                        <a:pt x="102" y="94"/>
                        <a:pt x="117" y="78"/>
                        <a:pt x="117" y="59"/>
                      </a:cubicBezTo>
                      <a:cubicBezTo>
                        <a:pt x="117" y="39"/>
                        <a:pt x="102" y="23"/>
                        <a:pt x="82" y="23"/>
                      </a:cubicBezTo>
                      <a:close/>
                      <a:moveTo>
                        <a:pt x="35" y="211"/>
                      </a:moveTo>
                      <a:cubicBezTo>
                        <a:pt x="16" y="211"/>
                        <a:pt x="0" y="227"/>
                        <a:pt x="0" y="246"/>
                      </a:cubicBezTo>
                      <a:cubicBezTo>
                        <a:pt x="0" y="266"/>
                        <a:pt x="16" y="282"/>
                        <a:pt x="35" y="282"/>
                      </a:cubicBezTo>
                      <a:cubicBezTo>
                        <a:pt x="55" y="282"/>
                        <a:pt x="70" y="266"/>
                        <a:pt x="70" y="246"/>
                      </a:cubicBezTo>
                      <a:cubicBezTo>
                        <a:pt x="70" y="227"/>
                        <a:pt x="55" y="211"/>
                        <a:pt x="35" y="211"/>
                      </a:cubicBezTo>
                      <a:close/>
                      <a:moveTo>
                        <a:pt x="223" y="282"/>
                      </a:moveTo>
                      <a:cubicBezTo>
                        <a:pt x="203" y="282"/>
                        <a:pt x="188" y="297"/>
                        <a:pt x="188" y="317"/>
                      </a:cubicBezTo>
                      <a:cubicBezTo>
                        <a:pt x="188" y="336"/>
                        <a:pt x="203" y="352"/>
                        <a:pt x="223" y="352"/>
                      </a:cubicBezTo>
                      <a:cubicBezTo>
                        <a:pt x="242" y="352"/>
                        <a:pt x="258" y="336"/>
                        <a:pt x="258" y="317"/>
                      </a:cubicBezTo>
                      <a:cubicBezTo>
                        <a:pt x="258" y="297"/>
                        <a:pt x="242" y="282"/>
                        <a:pt x="223" y="282"/>
                      </a:cubicBezTo>
                      <a:close/>
                      <a:moveTo>
                        <a:pt x="317" y="164"/>
                      </a:moveTo>
                      <a:cubicBezTo>
                        <a:pt x="297" y="164"/>
                        <a:pt x="282" y="180"/>
                        <a:pt x="282" y="199"/>
                      </a:cubicBezTo>
                      <a:cubicBezTo>
                        <a:pt x="282" y="219"/>
                        <a:pt x="297" y="235"/>
                        <a:pt x="317" y="235"/>
                      </a:cubicBezTo>
                      <a:cubicBezTo>
                        <a:pt x="336" y="235"/>
                        <a:pt x="352" y="219"/>
                        <a:pt x="352" y="199"/>
                      </a:cubicBezTo>
                      <a:cubicBezTo>
                        <a:pt x="352" y="180"/>
                        <a:pt x="336" y="164"/>
                        <a:pt x="317" y="164"/>
                      </a:cubicBezTo>
                      <a:close/>
                      <a:moveTo>
                        <a:pt x="250" y="64"/>
                      </a:moveTo>
                      <a:cubicBezTo>
                        <a:pt x="209" y="127"/>
                        <a:pt x="209" y="127"/>
                        <a:pt x="209" y="127"/>
                      </a:cubicBezTo>
                      <a:moveTo>
                        <a:pt x="139" y="130"/>
                      </a:moveTo>
                      <a:cubicBezTo>
                        <a:pt x="104" y="86"/>
                        <a:pt x="104" y="86"/>
                        <a:pt x="104" y="86"/>
                      </a:cubicBezTo>
                      <a:moveTo>
                        <a:pt x="67" y="231"/>
                      </a:moveTo>
                      <a:cubicBezTo>
                        <a:pt x="124" y="202"/>
                        <a:pt x="124" y="202"/>
                        <a:pt x="124" y="202"/>
                      </a:cubicBezTo>
                      <a:moveTo>
                        <a:pt x="212" y="283"/>
                      </a:moveTo>
                      <a:cubicBezTo>
                        <a:pt x="195" y="232"/>
                        <a:pt x="195" y="232"/>
                        <a:pt x="195" y="232"/>
                      </a:cubicBezTo>
                      <a:moveTo>
                        <a:pt x="234" y="186"/>
                      </a:moveTo>
                      <a:cubicBezTo>
                        <a:pt x="282" y="194"/>
                        <a:pt x="282" y="194"/>
                        <a:pt x="282" y="194"/>
                      </a:cubicBezTo>
                    </a:path>
                  </a:pathLst>
                </a:custGeom>
                <a:solidFill>
                  <a:schemeClr val="bg1"/>
                </a:solidFill>
                <a:ln w="14224" cap="sq">
                  <a:solidFill>
                    <a:srgbClr val="FC8455"/>
                  </a:solidFill>
                  <a:prstDash val="soli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pic>
            <p:nvPicPr>
              <p:cNvPr id="36" name="Graphic 35" descr="Factory">
                <a:extLst>
                  <a:ext uri="{FF2B5EF4-FFF2-40B4-BE49-F238E27FC236}">
                    <a16:creationId xmlns:a16="http://schemas.microsoft.com/office/drawing/2014/main" id="{774560A7-D4FA-922B-396E-F4435D3E8A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5018255" y="5576720"/>
                <a:ext cx="207466" cy="207466"/>
              </a:xfrm>
              <a:prstGeom prst="rect">
                <a:avLst/>
              </a:prstGeom>
            </p:spPr>
          </p:pic>
        </p:grpSp>
      </p:grpSp>
      <p:grpSp>
        <p:nvGrpSpPr>
          <p:cNvPr id="196" name="Group 195">
            <a:extLst>
              <a:ext uri="{FF2B5EF4-FFF2-40B4-BE49-F238E27FC236}">
                <a16:creationId xmlns:a16="http://schemas.microsoft.com/office/drawing/2014/main" id="{9764B49D-652C-58F0-14E3-9AA4C538E0A0}"/>
              </a:ext>
            </a:extLst>
          </p:cNvPr>
          <p:cNvGrpSpPr/>
          <p:nvPr/>
        </p:nvGrpSpPr>
        <p:grpSpPr>
          <a:xfrm>
            <a:off x="3830820" y="2905602"/>
            <a:ext cx="1293855" cy="2126788"/>
            <a:chOff x="3830820" y="2905602"/>
            <a:chExt cx="1293855" cy="2126788"/>
          </a:xfrm>
        </p:grpSpPr>
        <p:sp>
          <p:nvSpPr>
            <p:cNvPr id="152" name="Rectangle 151">
              <a:extLst>
                <a:ext uri="{FF2B5EF4-FFF2-40B4-BE49-F238E27FC236}">
                  <a16:creationId xmlns:a16="http://schemas.microsoft.com/office/drawing/2014/main" id="{D9E9C63E-1E60-EFC8-8282-234D06EEECE0}"/>
                </a:ext>
              </a:extLst>
            </p:cNvPr>
            <p:cNvSpPr/>
            <p:nvPr/>
          </p:nvSpPr>
          <p:spPr bwMode="auto">
            <a:xfrm>
              <a:off x="4198753" y="3146703"/>
              <a:ext cx="598169" cy="1885687"/>
            </a:xfrm>
            <a:prstGeom prst="rect">
              <a:avLst/>
            </a:prstGeom>
            <a:solidFill>
              <a:srgbClr val="C3E5FF">
                <a:alpha val="21961"/>
              </a:srgbClr>
            </a:solidFill>
            <a:ln>
              <a:solidFill>
                <a:schemeClr val="bg1"/>
              </a:solidFill>
              <a:headEnd type="none" w="med" len="med"/>
              <a:tailEnd type="none" w="med" len="med"/>
            </a:ln>
            <a:effectLst>
              <a:outerShdw blurRad="25400" dist="12700" dir="54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91440" rIns="45720" bIns="9144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7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491" name="TextBox 490">
              <a:extLst>
                <a:ext uri="{FF2B5EF4-FFF2-40B4-BE49-F238E27FC236}">
                  <a16:creationId xmlns:a16="http://schemas.microsoft.com/office/drawing/2014/main" id="{98216035-3738-78FC-038C-89EB171359FB}"/>
                </a:ext>
              </a:extLst>
            </p:cNvPr>
            <p:cNvSpPr txBox="1"/>
            <p:nvPr/>
          </p:nvSpPr>
          <p:spPr>
            <a:xfrm>
              <a:off x="3830820" y="2905602"/>
              <a:ext cx="1293855" cy="215444"/>
            </a:xfrm>
            <a:prstGeom prst="rect">
              <a:avLst/>
            </a:prstGeom>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sz="1100" b="1">
                  <a:gradFill>
                    <a:gsLst>
                      <a:gs pos="0">
                        <a:schemeClr val="tx1"/>
                      </a:gs>
                      <a:gs pos="100000">
                        <a:schemeClr val="tx1"/>
                      </a:gs>
                    </a:gsLst>
                    <a:lin ang="5400000" scaled="1"/>
                  </a:gradFill>
                  <a:latin typeface="Sego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3rd party IaaS &amp; PaaS</a:t>
              </a:r>
            </a:p>
          </p:txBody>
        </p:sp>
        <p:grpSp>
          <p:nvGrpSpPr>
            <p:cNvPr id="27" name="Group 26">
              <a:extLst>
                <a:ext uri="{FF2B5EF4-FFF2-40B4-BE49-F238E27FC236}">
                  <a16:creationId xmlns:a16="http://schemas.microsoft.com/office/drawing/2014/main" id="{C536190E-C19C-41EE-32EA-75673BFB79CB}"/>
                </a:ext>
              </a:extLst>
            </p:cNvPr>
            <p:cNvGrpSpPr/>
            <p:nvPr/>
          </p:nvGrpSpPr>
          <p:grpSpPr>
            <a:xfrm>
              <a:off x="4280352" y="3190391"/>
              <a:ext cx="389408" cy="277495"/>
              <a:chOff x="3627007" y="2775692"/>
              <a:chExt cx="426222" cy="303732"/>
            </a:xfrm>
          </p:grpSpPr>
          <p:pic>
            <p:nvPicPr>
              <p:cNvPr id="39" name="Picture 38">
                <a:extLst>
                  <a:ext uri="{FF2B5EF4-FFF2-40B4-BE49-F238E27FC236}">
                    <a16:creationId xmlns:a16="http://schemas.microsoft.com/office/drawing/2014/main" id="{C4D4BBC9-32D3-E5BE-C8EF-6728D1CB0ABF}"/>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3774185" y="2775692"/>
                <a:ext cx="211732" cy="126583"/>
              </a:xfrm>
              <a:prstGeom prst="rect">
                <a:avLst/>
              </a:prstGeom>
            </p:spPr>
          </p:pic>
          <p:pic>
            <p:nvPicPr>
              <p:cNvPr id="84" name="Shape 458">
                <a:extLst>
                  <a:ext uri="{FF2B5EF4-FFF2-40B4-BE49-F238E27FC236}">
                    <a16:creationId xmlns:a16="http://schemas.microsoft.com/office/drawing/2014/main" id="{DF5F61DB-841A-441D-C7C3-C6CD7DDDF089}"/>
                  </a:ext>
                </a:extLst>
              </p:cNvPr>
              <p:cNvPicPr preferRelativeResize="0"/>
              <p:nvPr/>
            </p:nvPicPr>
            <p:blipFill rotWithShape="1">
              <a:blip r:embed="rId37">
                <a:alphaModFix/>
              </a:blip>
              <a:srcRect r="85330"/>
              <a:stretch/>
            </p:blipFill>
            <p:spPr>
              <a:xfrm>
                <a:off x="3627007" y="2891434"/>
                <a:ext cx="216058" cy="187990"/>
              </a:xfrm>
              <a:prstGeom prst="rect">
                <a:avLst/>
              </a:prstGeom>
              <a:noFill/>
              <a:ln>
                <a:noFill/>
              </a:ln>
            </p:spPr>
          </p:pic>
          <p:grpSp>
            <p:nvGrpSpPr>
              <p:cNvPr id="586" name="Group 585">
                <a:extLst>
                  <a:ext uri="{FF2B5EF4-FFF2-40B4-BE49-F238E27FC236}">
                    <a16:creationId xmlns:a16="http://schemas.microsoft.com/office/drawing/2014/main" id="{E4028C33-96EE-9173-33B1-BF3B23660486}"/>
                  </a:ext>
                </a:extLst>
              </p:cNvPr>
              <p:cNvGrpSpPr/>
              <p:nvPr/>
            </p:nvGrpSpPr>
            <p:grpSpPr>
              <a:xfrm flipV="1">
                <a:off x="3864561" y="2998636"/>
                <a:ext cx="188668" cy="45719"/>
                <a:chOff x="6660452" y="3094221"/>
                <a:chExt cx="188672" cy="45719"/>
              </a:xfrm>
            </p:grpSpPr>
            <p:sp>
              <p:nvSpPr>
                <p:cNvPr id="587" name="Oval 586">
                  <a:extLst>
                    <a:ext uri="{FF2B5EF4-FFF2-40B4-BE49-F238E27FC236}">
                      <a16:creationId xmlns:a16="http://schemas.microsoft.com/office/drawing/2014/main" id="{34E5E60D-CDC9-34ED-CC66-5DDA81542732}"/>
                    </a:ext>
                  </a:extLst>
                </p:cNvPr>
                <p:cNvSpPr/>
                <p:nvPr/>
              </p:nvSpPr>
              <p:spPr bwMode="auto">
                <a:xfrm>
                  <a:off x="6660452" y="3094221"/>
                  <a:ext cx="45720" cy="45719"/>
                </a:xfrm>
                <a:prstGeom prst="ellipse">
                  <a:avLst/>
                </a:prstGeom>
                <a:solidFill>
                  <a:schemeClr val="tx1">
                    <a:lumMod val="65000"/>
                    <a:lumOff val="3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sp>
              <p:nvSpPr>
                <p:cNvPr id="588" name="Oval 587">
                  <a:extLst>
                    <a:ext uri="{FF2B5EF4-FFF2-40B4-BE49-F238E27FC236}">
                      <a16:creationId xmlns:a16="http://schemas.microsoft.com/office/drawing/2014/main" id="{703DB538-D785-2A32-6B29-868FD5B098C6}"/>
                    </a:ext>
                  </a:extLst>
                </p:cNvPr>
                <p:cNvSpPr/>
                <p:nvPr/>
              </p:nvSpPr>
              <p:spPr bwMode="auto">
                <a:xfrm>
                  <a:off x="6731928" y="3094221"/>
                  <a:ext cx="45720" cy="45719"/>
                </a:xfrm>
                <a:prstGeom prst="ellipse">
                  <a:avLst/>
                </a:prstGeom>
                <a:solidFill>
                  <a:schemeClr val="tx1">
                    <a:lumMod val="65000"/>
                    <a:lumOff val="3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sp>
              <p:nvSpPr>
                <p:cNvPr id="589" name="Oval 588">
                  <a:extLst>
                    <a:ext uri="{FF2B5EF4-FFF2-40B4-BE49-F238E27FC236}">
                      <a16:creationId xmlns:a16="http://schemas.microsoft.com/office/drawing/2014/main" id="{27F8A804-C66E-A7E8-226D-2B5DCB7DFB1D}"/>
                    </a:ext>
                  </a:extLst>
                </p:cNvPr>
                <p:cNvSpPr/>
                <p:nvPr/>
              </p:nvSpPr>
              <p:spPr bwMode="auto">
                <a:xfrm>
                  <a:off x="6803404" y="3094221"/>
                  <a:ext cx="45720" cy="45719"/>
                </a:xfrm>
                <a:prstGeom prst="ellipse">
                  <a:avLst/>
                </a:prstGeom>
                <a:solidFill>
                  <a:schemeClr val="tx1">
                    <a:lumMod val="65000"/>
                    <a:lumOff val="3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grpSp>
        </p:grpSp>
      </p:grpSp>
      <p:grpSp>
        <p:nvGrpSpPr>
          <p:cNvPr id="173" name="Group 172">
            <a:extLst>
              <a:ext uri="{FF2B5EF4-FFF2-40B4-BE49-F238E27FC236}">
                <a16:creationId xmlns:a16="http://schemas.microsoft.com/office/drawing/2014/main" id="{ABFA4F29-86C2-1671-C5CD-1AB463B7200D}"/>
              </a:ext>
            </a:extLst>
          </p:cNvPr>
          <p:cNvGrpSpPr/>
          <p:nvPr/>
        </p:nvGrpSpPr>
        <p:grpSpPr>
          <a:xfrm>
            <a:off x="2354295" y="4340925"/>
            <a:ext cx="4223885" cy="210312"/>
            <a:chOff x="2354296" y="4340925"/>
            <a:chExt cx="5731756" cy="210312"/>
          </a:xfrm>
        </p:grpSpPr>
        <p:sp>
          <p:nvSpPr>
            <p:cNvPr id="96" name="Rectangle 95">
              <a:hlinkClick r:id="rId38" tooltip="Azure Arc extends Azure management to resources in other clouds and on-premises datacenters, enabling consistent management &amp; security experience across platforms. Azure Arc projects these resources into ARM so they can be managed by Azure tooling like ASC"/>
              <a:extLst>
                <a:ext uri="{FF2B5EF4-FFF2-40B4-BE49-F238E27FC236}">
                  <a16:creationId xmlns:a16="http://schemas.microsoft.com/office/drawing/2014/main" id="{D1B28276-2596-CEE0-8CDE-B9B97F835255}"/>
                </a:ext>
              </a:extLst>
            </p:cNvPr>
            <p:cNvSpPr/>
            <p:nvPr/>
          </p:nvSpPr>
          <p:spPr>
            <a:xfrm>
              <a:off x="2354296" y="4340925"/>
              <a:ext cx="5731756" cy="210312"/>
            </a:xfrm>
            <a:prstGeom prst="rect">
              <a:avLst/>
            </a:prstGeom>
            <a:solidFill>
              <a:srgbClr val="C3E5FF"/>
            </a:solidFill>
            <a:ln w="9525" cap="flat" cmpd="sng" algn="ctr">
              <a:solidFill>
                <a:schemeClr val="bg1"/>
              </a:solidFill>
              <a:prstDash val="solid"/>
              <a:miter lim="800000"/>
              <a:headEnd type="none" w="med" len="med"/>
              <a:tailEnd type="none" w="med" len="med"/>
            </a:ln>
            <a:effectLst>
              <a:outerShdw blurRad="25400" dist="12700" dir="5400000" algn="tl" rotWithShape="0">
                <a:prstClr val="black">
                  <a:alpha val="15000"/>
                </a:prstClr>
              </a:outerShdw>
            </a:effectLst>
          </p:spPr>
          <p:txBody>
            <a:bodyPr lIns="304705" tIns="9144" rIns="0" bIns="9144" anchor="ctr" anchorCtr="0"/>
            <a:lstStyle/>
            <a:p>
              <a:pPr defTabSz="895740">
                <a:lnSpc>
                  <a:spcPct val="90000"/>
                </a:lnSpc>
              </a:pPr>
              <a:r>
                <a:rPr lang="en-US" sz="800">
                  <a:solidFill>
                    <a:schemeClr val="tx1"/>
                  </a:solidFill>
                  <a:latin typeface="+mj-lt"/>
                  <a:cs typeface="Segoe UI" panose="020B0502040204020203" pitchFamily="34" charset="0"/>
                </a:rPr>
                <a:t>Azure Arc</a:t>
              </a:r>
            </a:p>
          </p:txBody>
        </p:sp>
        <p:pic>
          <p:nvPicPr>
            <p:cNvPr id="122" name="Picture 121">
              <a:extLst>
                <a:ext uri="{FF2B5EF4-FFF2-40B4-BE49-F238E27FC236}">
                  <a16:creationId xmlns:a16="http://schemas.microsoft.com/office/drawing/2014/main" id="{22990752-2E87-26D0-AC2F-EA6E592AE0BC}"/>
                </a:ext>
              </a:extLst>
            </p:cNvPr>
            <p:cNvPicPr>
              <a:picLocks noChangeAspect="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84715" y="4397101"/>
              <a:ext cx="150932" cy="112545"/>
            </a:xfrm>
            <a:prstGeom prst="rect">
              <a:avLst/>
            </a:prstGeom>
            <a:ln w="9525">
              <a:noFill/>
            </a:ln>
          </p:spPr>
        </p:pic>
      </p:grpSp>
      <p:cxnSp>
        <p:nvCxnSpPr>
          <p:cNvPr id="43" name="Straight Connector 42">
            <a:extLst>
              <a:ext uri="{FF2B5EF4-FFF2-40B4-BE49-F238E27FC236}">
                <a16:creationId xmlns:a16="http://schemas.microsoft.com/office/drawing/2014/main" id="{40FB24BC-A1C5-106D-F779-385E0E51E5BC}"/>
              </a:ext>
            </a:extLst>
          </p:cNvPr>
          <p:cNvCxnSpPr>
            <a:cxnSpLocks/>
          </p:cNvCxnSpPr>
          <p:nvPr/>
        </p:nvCxnSpPr>
        <p:spPr>
          <a:xfrm>
            <a:off x="2341468" y="4042229"/>
            <a:ext cx="4369895" cy="0"/>
          </a:xfrm>
          <a:prstGeom prst="line">
            <a:avLst/>
          </a:prstGeom>
          <a:noFill/>
          <a:ln w="12700">
            <a:solidFill>
              <a:schemeClr val="tx2"/>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2" name="Straight Connector 41">
            <a:extLst>
              <a:ext uri="{FF2B5EF4-FFF2-40B4-BE49-F238E27FC236}">
                <a16:creationId xmlns:a16="http://schemas.microsoft.com/office/drawing/2014/main" id="{95A682C6-E0B9-67C9-3860-B52C2D965DA6}"/>
              </a:ext>
            </a:extLst>
          </p:cNvPr>
          <p:cNvCxnSpPr>
            <a:cxnSpLocks/>
            <a:stCxn id="803" idx="2"/>
          </p:cNvCxnSpPr>
          <p:nvPr/>
        </p:nvCxnSpPr>
        <p:spPr>
          <a:xfrm>
            <a:off x="9275316" y="1382348"/>
            <a:ext cx="0" cy="318115"/>
          </a:xfrm>
          <a:prstGeom prst="line">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62" name="Rectangle 561">
            <a:extLst>
              <a:ext uri="{FF2B5EF4-FFF2-40B4-BE49-F238E27FC236}">
                <a16:creationId xmlns:a16="http://schemas.microsoft.com/office/drawing/2014/main" id="{7159E5D9-D232-C6F7-44D6-3CE6C680F1BE}"/>
              </a:ext>
            </a:extLst>
          </p:cNvPr>
          <p:cNvSpPr/>
          <p:nvPr/>
        </p:nvSpPr>
        <p:spPr>
          <a:xfrm rot="16200000">
            <a:off x="1806499" y="4332721"/>
            <a:ext cx="812177" cy="257761"/>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200" b="1">
                <a:solidFill>
                  <a:prstClr val="black"/>
                </a:solidFill>
                <a:latin typeface="Segoe Sans Display Semibold"/>
                <a:cs typeface="Segoe Sans Display" pitchFamily="2" charset="0"/>
              </a:rPr>
              <a:t>Intranet</a:t>
            </a:r>
          </a:p>
        </p:txBody>
      </p:sp>
      <p:sp>
        <p:nvSpPr>
          <p:cNvPr id="510" name="Rectangle 509">
            <a:extLst>
              <a:ext uri="{FF2B5EF4-FFF2-40B4-BE49-F238E27FC236}">
                <a16:creationId xmlns:a16="http://schemas.microsoft.com/office/drawing/2014/main" id="{92C55FC1-0DC7-E28D-490D-56291AF74334}"/>
              </a:ext>
            </a:extLst>
          </p:cNvPr>
          <p:cNvSpPr/>
          <p:nvPr/>
        </p:nvSpPr>
        <p:spPr>
          <a:xfrm rot="16200000">
            <a:off x="1722627" y="3436673"/>
            <a:ext cx="979922" cy="257762"/>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r"/>
            <a:r>
              <a:rPr lang="en-US" sz="1200" b="1">
                <a:solidFill>
                  <a:prstClr val="black"/>
                </a:solidFill>
                <a:latin typeface="Segoe Sans Display Semibold"/>
                <a:cs typeface="Segoe Sans Display" pitchFamily="2" charset="0"/>
              </a:rPr>
              <a:t>Extranet</a:t>
            </a:r>
          </a:p>
        </p:txBody>
      </p:sp>
      <p:sp>
        <p:nvSpPr>
          <p:cNvPr id="175" name="Left Bracket 174">
            <a:extLst>
              <a:ext uri="{FF2B5EF4-FFF2-40B4-BE49-F238E27FC236}">
                <a16:creationId xmlns:a16="http://schemas.microsoft.com/office/drawing/2014/main" id="{915A5CF6-F8F3-81AF-7EA8-2DD89D712E49}"/>
              </a:ext>
            </a:extLst>
          </p:cNvPr>
          <p:cNvSpPr/>
          <p:nvPr/>
        </p:nvSpPr>
        <p:spPr>
          <a:xfrm rot="5400000">
            <a:off x="4753176" y="3336239"/>
            <a:ext cx="244870" cy="2403613"/>
          </a:xfrm>
          <a:prstGeom prst="leftBracket">
            <a:avLst>
              <a:gd name="adj" fmla="val 0"/>
            </a:avLst>
          </a:prstGeom>
          <a:gradFill>
            <a:gsLst>
              <a:gs pos="32000">
                <a:schemeClr val="bg1"/>
              </a:gs>
              <a:gs pos="87000">
                <a:srgbClr val="EDAEFF"/>
              </a:gs>
            </a:gsLst>
            <a:lin ang="10800000" scaled="1"/>
          </a:gradFill>
          <a:ln w="952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187" name="Left Bracket 186">
            <a:extLst>
              <a:ext uri="{FF2B5EF4-FFF2-40B4-BE49-F238E27FC236}">
                <a16:creationId xmlns:a16="http://schemas.microsoft.com/office/drawing/2014/main" id="{6BE70E21-C361-B706-D93B-D3C209F52F03}"/>
              </a:ext>
            </a:extLst>
          </p:cNvPr>
          <p:cNvSpPr/>
          <p:nvPr/>
        </p:nvSpPr>
        <p:spPr>
          <a:xfrm rot="5400000">
            <a:off x="4409159" y="2805630"/>
            <a:ext cx="246369" cy="1645508"/>
          </a:xfrm>
          <a:custGeom>
            <a:avLst/>
            <a:gdLst>
              <a:gd name="connsiteX0" fmla="*/ 244870 w 244870"/>
              <a:gd name="connsiteY0" fmla="*/ 1645508 h 1645508"/>
              <a:gd name="connsiteX1" fmla="*/ 0 w 244870"/>
              <a:gd name="connsiteY1" fmla="*/ 1645506 h 1645508"/>
              <a:gd name="connsiteX2" fmla="*/ 0 w 244870"/>
              <a:gd name="connsiteY2" fmla="*/ 2 h 1645508"/>
              <a:gd name="connsiteX3" fmla="*/ 244870 w 244870"/>
              <a:gd name="connsiteY3" fmla="*/ 0 h 1645508"/>
              <a:gd name="connsiteX4" fmla="*/ 244870 w 244870"/>
              <a:gd name="connsiteY4" fmla="*/ 1645508 h 1645508"/>
              <a:gd name="connsiteX0" fmla="*/ 244870 w 244870"/>
              <a:gd name="connsiteY0" fmla="*/ 1645508 h 1645508"/>
              <a:gd name="connsiteX1" fmla="*/ 0 w 244870"/>
              <a:gd name="connsiteY1" fmla="*/ 1645506 h 1645508"/>
              <a:gd name="connsiteX2" fmla="*/ 0 w 244870"/>
              <a:gd name="connsiteY2" fmla="*/ 2 h 1645508"/>
              <a:gd name="connsiteX3" fmla="*/ 244870 w 244870"/>
              <a:gd name="connsiteY3" fmla="*/ 0 h 1645508"/>
              <a:gd name="connsiteX0" fmla="*/ 246369 w 246369"/>
              <a:gd name="connsiteY0" fmla="*/ 1645508 h 1645508"/>
              <a:gd name="connsiteX1" fmla="*/ 1499 w 246369"/>
              <a:gd name="connsiteY1" fmla="*/ 1645506 h 1645508"/>
              <a:gd name="connsiteX2" fmla="*/ 1499 w 246369"/>
              <a:gd name="connsiteY2" fmla="*/ 2 h 1645508"/>
              <a:gd name="connsiteX3" fmla="*/ 246369 w 246369"/>
              <a:gd name="connsiteY3" fmla="*/ 0 h 1645508"/>
              <a:gd name="connsiteX4" fmla="*/ 246369 w 246369"/>
              <a:gd name="connsiteY4" fmla="*/ 1645508 h 1645508"/>
              <a:gd name="connsiteX0" fmla="*/ 246369 w 246369"/>
              <a:gd name="connsiteY0" fmla="*/ 1645508 h 1645508"/>
              <a:gd name="connsiteX1" fmla="*/ 1499 w 246369"/>
              <a:gd name="connsiteY1" fmla="*/ 1645506 h 1645508"/>
              <a:gd name="connsiteX2" fmla="*/ 0 w 246369"/>
              <a:gd name="connsiteY2" fmla="*/ 1295067 h 1645508"/>
              <a:gd name="connsiteX3" fmla="*/ 1499 w 246369"/>
              <a:gd name="connsiteY3" fmla="*/ 2 h 1645508"/>
              <a:gd name="connsiteX4" fmla="*/ 246369 w 246369"/>
              <a:gd name="connsiteY4" fmla="*/ 0 h 1645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369" h="1645508" stroke="0" extrusionOk="0">
                <a:moveTo>
                  <a:pt x="246369" y="1645508"/>
                </a:moveTo>
                <a:lnTo>
                  <a:pt x="1499" y="1645506"/>
                </a:lnTo>
                <a:lnTo>
                  <a:pt x="1499" y="2"/>
                </a:lnTo>
                <a:cubicBezTo>
                  <a:pt x="1499" y="1"/>
                  <a:pt x="111131" y="0"/>
                  <a:pt x="246369" y="0"/>
                </a:cubicBezTo>
                <a:lnTo>
                  <a:pt x="246369" y="1645508"/>
                </a:lnTo>
                <a:close/>
              </a:path>
              <a:path w="246369" h="1645508" fill="none">
                <a:moveTo>
                  <a:pt x="246369" y="1645508"/>
                </a:moveTo>
                <a:lnTo>
                  <a:pt x="1499" y="1645506"/>
                </a:lnTo>
                <a:cubicBezTo>
                  <a:pt x="999" y="1528693"/>
                  <a:pt x="500" y="1411880"/>
                  <a:pt x="0" y="1295067"/>
                </a:cubicBezTo>
                <a:cubicBezTo>
                  <a:pt x="500" y="863379"/>
                  <a:pt x="999" y="431690"/>
                  <a:pt x="1499" y="2"/>
                </a:cubicBezTo>
                <a:cubicBezTo>
                  <a:pt x="1499" y="1"/>
                  <a:pt x="111131" y="0"/>
                  <a:pt x="246369" y="0"/>
                </a:cubicBezTo>
              </a:path>
            </a:pathLst>
          </a:custGeom>
          <a:gradFill>
            <a:gsLst>
              <a:gs pos="32000">
                <a:schemeClr val="bg1"/>
              </a:gs>
              <a:gs pos="87000">
                <a:srgbClr val="EDAEFF"/>
              </a:gs>
            </a:gsLst>
            <a:lin ang="10800000" scaled="1"/>
          </a:gradFill>
          <a:ln w="952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97" name="Rectangle 96">
            <a:hlinkClick r:id="rId40" tooltip="Azure Security Center provides critical security hygiene issue detection and remediation (no additional charge) as well as threat detection to monitor for advanced and emerging threats across a hybrid environment (cloud + on premises) "/>
            <a:extLst>
              <a:ext uri="{FF2B5EF4-FFF2-40B4-BE49-F238E27FC236}">
                <a16:creationId xmlns:a16="http://schemas.microsoft.com/office/drawing/2014/main" id="{B2EFD039-412D-3DED-4B7D-207B21F4210F}"/>
              </a:ext>
            </a:extLst>
          </p:cNvPr>
          <p:cNvSpPr/>
          <p:nvPr/>
        </p:nvSpPr>
        <p:spPr>
          <a:xfrm>
            <a:off x="6846868" y="3075593"/>
            <a:ext cx="1322358" cy="2498896"/>
          </a:xfrm>
          <a:prstGeom prst="rect">
            <a:avLst/>
          </a:prstGeom>
          <a:noFill/>
          <a:ln w="14224">
            <a:noFill/>
          </a:ln>
        </p:spPr>
        <p:style>
          <a:lnRef idx="2">
            <a:schemeClr val="accent1">
              <a:shade val="50000"/>
            </a:schemeClr>
          </a:lnRef>
          <a:fillRef idx="1">
            <a:schemeClr val="accent1"/>
          </a:fillRef>
          <a:effectRef idx="0">
            <a:schemeClr val="accent1"/>
          </a:effectRef>
          <a:fontRef idx="minor">
            <a:schemeClr val="lt1"/>
          </a:fontRef>
        </p:style>
        <p:txBody>
          <a:bodyPr lIns="274320" rtlCol="0" anchor="t" anchorCtr="0">
            <a:noAutofit/>
          </a:bodyPr>
          <a:lstStyle/>
          <a:p>
            <a:pPr marL="0" marR="0" lvl="0" indent="0" algn="l" defTabSz="914400" rtl="0" eaLnBrk="1" fontAlgn="auto" latinLnBrk="0" hangingPunct="1">
              <a:lnSpc>
                <a:spcPct val="97000"/>
              </a:lnSpc>
              <a:spcBef>
                <a:spcPts val="0"/>
              </a:spcBef>
              <a:spcAft>
                <a:spcPts val="300"/>
              </a:spcAft>
              <a:buClrTx/>
              <a:buSzTx/>
              <a:buFontTx/>
              <a:buNone/>
              <a:tabLst/>
              <a:defRPr/>
            </a:pPr>
            <a:endParaRPr kumimoji="0" lang="en-US" sz="800" b="0"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panose="020B0502040204020203" pitchFamily="34" charset="0"/>
              <a:ea typeface="+mn-ea"/>
              <a:cs typeface="Segoe UI" panose="020B0502040204020203" pitchFamily="34" charset="0"/>
            </a:endParaRPr>
          </a:p>
        </p:txBody>
      </p:sp>
      <p:sp>
        <p:nvSpPr>
          <p:cNvPr id="674" name="Rectangle 673">
            <a:extLst>
              <a:ext uri="{FF2B5EF4-FFF2-40B4-BE49-F238E27FC236}">
                <a16:creationId xmlns:a16="http://schemas.microsoft.com/office/drawing/2014/main" id="{3EBC6F85-F7DF-A086-4148-E1EA500529DE}"/>
              </a:ext>
            </a:extLst>
          </p:cNvPr>
          <p:cNvSpPr/>
          <p:nvPr/>
        </p:nvSpPr>
        <p:spPr bwMode="auto">
          <a:xfrm>
            <a:off x="2914697" y="4239668"/>
            <a:ext cx="314436" cy="18433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0" name="Group 9">
            <a:extLst>
              <a:ext uri="{FF2B5EF4-FFF2-40B4-BE49-F238E27FC236}">
                <a16:creationId xmlns:a16="http://schemas.microsoft.com/office/drawing/2014/main" id="{13FB035D-9B74-48E5-25F2-6EFAF590F65A}"/>
              </a:ext>
            </a:extLst>
          </p:cNvPr>
          <p:cNvGrpSpPr/>
          <p:nvPr/>
        </p:nvGrpSpPr>
        <p:grpSpPr>
          <a:xfrm>
            <a:off x="4366364" y="3547430"/>
            <a:ext cx="370338" cy="327772"/>
            <a:chOff x="4723767" y="3080378"/>
            <a:chExt cx="439858" cy="389301"/>
          </a:xfrm>
        </p:grpSpPr>
        <p:pic>
          <p:nvPicPr>
            <p:cNvPr id="414" name="Picture 413">
              <a:extLst>
                <a:ext uri="{FF2B5EF4-FFF2-40B4-BE49-F238E27FC236}">
                  <a16:creationId xmlns:a16="http://schemas.microsoft.com/office/drawing/2014/main" id="{B612CDA3-704E-521D-3F3C-0CB946A14B0D}"/>
                </a:ext>
              </a:extLst>
            </p:cNvPr>
            <p:cNvPicPr>
              <a:picLocks noChangeAspect="1"/>
            </p:cNvPicPr>
            <p:nvPr/>
          </p:nvPicPr>
          <p:blipFill rotWithShape="1">
            <a:blip r:embed="rId41" cstate="print">
              <a:duotone>
                <a:schemeClr val="accent1">
                  <a:shade val="45000"/>
                  <a:satMod val="135000"/>
                </a:schemeClr>
                <a:prstClr val="white"/>
              </a:duotone>
              <a:extLst>
                <a:ext uri="{28A0092B-C50C-407E-A947-70E740481C1C}">
                  <a14:useLocalDpi xmlns:a14="http://schemas.microsoft.com/office/drawing/2010/main" val="0"/>
                </a:ext>
              </a:extLst>
            </a:blip>
            <a:srcRect l="-2"/>
            <a:stretch/>
          </p:blipFill>
          <p:spPr>
            <a:xfrm>
              <a:off x="4908907" y="3123428"/>
              <a:ext cx="216369" cy="164753"/>
            </a:xfrm>
            <a:prstGeom prst="rect">
              <a:avLst/>
            </a:prstGeom>
          </p:spPr>
        </p:pic>
        <p:grpSp>
          <p:nvGrpSpPr>
            <p:cNvPr id="492" name="Group 491">
              <a:extLst>
                <a:ext uri="{FF2B5EF4-FFF2-40B4-BE49-F238E27FC236}">
                  <a16:creationId xmlns:a16="http://schemas.microsoft.com/office/drawing/2014/main" id="{38703ED0-AD1E-C7D1-2490-8314B35C2576}"/>
                </a:ext>
              </a:extLst>
            </p:cNvPr>
            <p:cNvGrpSpPr/>
            <p:nvPr/>
          </p:nvGrpSpPr>
          <p:grpSpPr>
            <a:xfrm>
              <a:off x="4723767" y="3080378"/>
              <a:ext cx="439858" cy="389301"/>
              <a:chOff x="3131835" y="4047725"/>
              <a:chExt cx="439858" cy="389301"/>
            </a:xfrm>
          </p:grpSpPr>
          <p:grpSp>
            <p:nvGrpSpPr>
              <p:cNvPr id="504" name="Group 503">
                <a:extLst>
                  <a:ext uri="{FF2B5EF4-FFF2-40B4-BE49-F238E27FC236}">
                    <a16:creationId xmlns:a16="http://schemas.microsoft.com/office/drawing/2014/main" id="{CE93F556-B7CC-E86B-0CE3-E38CD560F6D0}"/>
                  </a:ext>
                </a:extLst>
              </p:cNvPr>
              <p:cNvGrpSpPr/>
              <p:nvPr/>
            </p:nvGrpSpPr>
            <p:grpSpPr>
              <a:xfrm>
                <a:off x="3131835" y="4047725"/>
                <a:ext cx="182560" cy="348911"/>
                <a:chOff x="2136298" y="4226790"/>
                <a:chExt cx="196678" cy="375893"/>
              </a:xfrm>
            </p:grpSpPr>
            <p:sp>
              <p:nvSpPr>
                <p:cNvPr id="526" name="Rectangle 525">
                  <a:extLst>
                    <a:ext uri="{FF2B5EF4-FFF2-40B4-BE49-F238E27FC236}">
                      <a16:creationId xmlns:a16="http://schemas.microsoft.com/office/drawing/2014/main" id="{DA615FCC-8772-F76B-E7A0-EBDE3389F586}"/>
                    </a:ext>
                  </a:extLst>
                </p:cNvPr>
                <p:cNvSpPr/>
                <p:nvPr/>
              </p:nvSpPr>
              <p:spPr bwMode="auto">
                <a:xfrm>
                  <a:off x="2138191" y="4226790"/>
                  <a:ext cx="194785" cy="375893"/>
                </a:xfrm>
                <a:prstGeom prst="rect">
                  <a:avLst/>
                </a:prstGeom>
                <a:solidFill>
                  <a:schemeClr val="tx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27" name="server">
                  <a:extLst>
                    <a:ext uri="{FF2B5EF4-FFF2-40B4-BE49-F238E27FC236}">
                      <a16:creationId xmlns:a16="http://schemas.microsoft.com/office/drawing/2014/main" id="{7D4E7442-AB80-BABF-0FB2-7ACF1B1D7335}"/>
                    </a:ext>
                  </a:extLst>
                </p:cNvPr>
                <p:cNvSpPr>
                  <a:spLocks noChangeAspect="1" noEditPoints="1"/>
                </p:cNvSpPr>
                <p:nvPr/>
              </p:nvSpPr>
              <p:spPr bwMode="auto">
                <a:xfrm>
                  <a:off x="2136298" y="4235711"/>
                  <a:ext cx="192569" cy="36576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4224"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511" name="Oval 510">
                <a:extLst>
                  <a:ext uri="{FF2B5EF4-FFF2-40B4-BE49-F238E27FC236}">
                    <a16:creationId xmlns:a16="http://schemas.microsoft.com/office/drawing/2014/main" id="{0E7956E2-3BB1-D4BB-A1D1-08D4F708171C}"/>
                  </a:ext>
                </a:extLst>
              </p:cNvPr>
              <p:cNvSpPr/>
              <p:nvPr/>
            </p:nvSpPr>
            <p:spPr bwMode="auto">
              <a:xfrm>
                <a:off x="3218521" y="4213899"/>
                <a:ext cx="223127" cy="223127"/>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14" name="Picture 513">
                <a:extLst>
                  <a:ext uri="{FF2B5EF4-FFF2-40B4-BE49-F238E27FC236}">
                    <a16:creationId xmlns:a16="http://schemas.microsoft.com/office/drawing/2014/main" id="{FD5E444E-2189-1C37-15D1-23A9D0458823}"/>
                  </a:ext>
                </a:extLst>
              </p:cNvPr>
              <p:cNvPicPr>
                <a:picLocks noChangeAspect="1"/>
              </p:cNvPicPr>
              <p:nvPr/>
            </p:nvPicPr>
            <p:blipFill rotWithShape="1">
              <a:blip r:embed="rId42" cstate="email">
                <a:extLst>
                  <a:ext uri="{28A0092B-C50C-407E-A947-70E740481C1C}">
                    <a14:useLocalDpi xmlns:a14="http://schemas.microsoft.com/office/drawing/2010/main"/>
                  </a:ext>
                </a:extLst>
              </a:blip>
              <a:srcRect r="83295"/>
              <a:stretch/>
            </p:blipFill>
            <p:spPr>
              <a:xfrm>
                <a:off x="3414387" y="4255363"/>
                <a:ext cx="157306" cy="137160"/>
              </a:xfrm>
              <a:prstGeom prst="rect">
                <a:avLst/>
              </a:prstGeom>
            </p:spPr>
          </p:pic>
          <p:sp>
            <p:nvSpPr>
              <p:cNvPr id="525" name="Freeform 6">
                <a:extLst>
                  <a:ext uri="{FF2B5EF4-FFF2-40B4-BE49-F238E27FC236}">
                    <a16:creationId xmlns:a16="http://schemas.microsoft.com/office/drawing/2014/main" id="{D6B910E7-2160-502E-EE90-6C645A57C119}"/>
                  </a:ext>
                </a:extLst>
              </p:cNvPr>
              <p:cNvSpPr>
                <a:spLocks noEditPoints="1"/>
              </p:cNvSpPr>
              <p:nvPr/>
            </p:nvSpPr>
            <p:spPr bwMode="auto">
              <a:xfrm>
                <a:off x="3256470" y="4258262"/>
                <a:ext cx="135502" cy="134064"/>
              </a:xfrm>
              <a:custGeom>
                <a:avLst/>
                <a:gdLst>
                  <a:gd name="T0" fmla="*/ 88 w 1374"/>
                  <a:gd name="T1" fmla="*/ 1258 h 1620"/>
                  <a:gd name="T2" fmla="*/ 40 w 1374"/>
                  <a:gd name="T3" fmla="*/ 1324 h 1620"/>
                  <a:gd name="T4" fmla="*/ 42 w 1374"/>
                  <a:gd name="T5" fmla="*/ 1484 h 1620"/>
                  <a:gd name="T6" fmla="*/ 386 w 1374"/>
                  <a:gd name="T7" fmla="*/ 1572 h 1620"/>
                  <a:gd name="T8" fmla="*/ 494 w 1374"/>
                  <a:gd name="T9" fmla="*/ 1488 h 1620"/>
                  <a:gd name="T10" fmla="*/ 266 w 1374"/>
                  <a:gd name="T11" fmla="*/ 1124 h 1620"/>
                  <a:gd name="T12" fmla="*/ 190 w 1374"/>
                  <a:gd name="T13" fmla="*/ 1036 h 1620"/>
                  <a:gd name="T14" fmla="*/ 364 w 1374"/>
                  <a:gd name="T15" fmla="*/ 682 h 1620"/>
                  <a:gd name="T16" fmla="*/ 452 w 1374"/>
                  <a:gd name="T17" fmla="*/ 438 h 1620"/>
                  <a:gd name="T18" fmla="*/ 478 w 1374"/>
                  <a:gd name="T19" fmla="*/ 92 h 1620"/>
                  <a:gd name="T20" fmla="*/ 656 w 1374"/>
                  <a:gd name="T21" fmla="*/ 0 h 1620"/>
                  <a:gd name="T22" fmla="*/ 922 w 1374"/>
                  <a:gd name="T23" fmla="*/ 168 h 1620"/>
                  <a:gd name="T24" fmla="*/ 978 w 1374"/>
                  <a:gd name="T25" fmla="*/ 502 h 1620"/>
                  <a:gd name="T26" fmla="*/ 1140 w 1374"/>
                  <a:gd name="T27" fmla="*/ 750 h 1620"/>
                  <a:gd name="T28" fmla="*/ 1224 w 1374"/>
                  <a:gd name="T29" fmla="*/ 1120 h 1620"/>
                  <a:gd name="T30" fmla="*/ 1078 w 1374"/>
                  <a:gd name="T31" fmla="*/ 1242 h 1620"/>
                  <a:gd name="T32" fmla="*/ 988 w 1374"/>
                  <a:gd name="T33" fmla="*/ 1172 h 1620"/>
                  <a:gd name="T34" fmla="*/ 932 w 1374"/>
                  <a:gd name="T35" fmla="*/ 1222 h 1620"/>
                  <a:gd name="T36" fmla="*/ 952 w 1374"/>
                  <a:gd name="T37" fmla="*/ 1542 h 1620"/>
                  <a:gd name="T38" fmla="*/ 1068 w 1374"/>
                  <a:gd name="T39" fmla="*/ 1560 h 1620"/>
                  <a:gd name="T40" fmla="*/ 1292 w 1374"/>
                  <a:gd name="T41" fmla="*/ 1434 h 1620"/>
                  <a:gd name="T42" fmla="*/ 1236 w 1374"/>
                  <a:gd name="T43" fmla="*/ 1276 h 1620"/>
                  <a:gd name="T44" fmla="*/ 1326 w 1374"/>
                  <a:gd name="T45" fmla="*/ 1330 h 1620"/>
                  <a:gd name="T46" fmla="*/ 1330 w 1374"/>
                  <a:gd name="T47" fmla="*/ 1438 h 1620"/>
                  <a:gd name="T48" fmla="*/ 1048 w 1374"/>
                  <a:gd name="T49" fmla="*/ 1614 h 1620"/>
                  <a:gd name="T50" fmla="*/ 900 w 1374"/>
                  <a:gd name="T51" fmla="*/ 1570 h 1620"/>
                  <a:gd name="T52" fmla="*/ 578 w 1374"/>
                  <a:gd name="T53" fmla="*/ 1546 h 1620"/>
                  <a:gd name="T54" fmla="*/ 356 w 1374"/>
                  <a:gd name="T55" fmla="*/ 1606 h 1620"/>
                  <a:gd name="T56" fmla="*/ 0 w 1374"/>
                  <a:gd name="T57" fmla="*/ 1464 h 1620"/>
                  <a:gd name="T58" fmla="*/ 14 w 1374"/>
                  <a:gd name="T59" fmla="*/ 1256 h 1620"/>
                  <a:gd name="T60" fmla="*/ 166 w 1374"/>
                  <a:gd name="T61" fmla="*/ 1186 h 1620"/>
                  <a:gd name="T62" fmla="*/ 438 w 1374"/>
                  <a:gd name="T63" fmla="*/ 716 h 1620"/>
                  <a:gd name="T64" fmla="*/ 358 w 1374"/>
                  <a:gd name="T65" fmla="*/ 934 h 1620"/>
                  <a:gd name="T66" fmla="*/ 288 w 1374"/>
                  <a:gd name="T67" fmla="*/ 1036 h 1620"/>
                  <a:gd name="T68" fmla="*/ 326 w 1374"/>
                  <a:gd name="T69" fmla="*/ 1124 h 1620"/>
                  <a:gd name="T70" fmla="*/ 520 w 1374"/>
                  <a:gd name="T71" fmla="*/ 1354 h 1620"/>
                  <a:gd name="T72" fmla="*/ 524 w 1374"/>
                  <a:gd name="T73" fmla="*/ 1412 h 1620"/>
                  <a:gd name="T74" fmla="*/ 790 w 1374"/>
                  <a:gd name="T75" fmla="*/ 1418 h 1620"/>
                  <a:gd name="T76" fmla="*/ 892 w 1374"/>
                  <a:gd name="T77" fmla="*/ 1424 h 1620"/>
                  <a:gd name="T78" fmla="*/ 914 w 1374"/>
                  <a:gd name="T79" fmla="*/ 1402 h 1620"/>
                  <a:gd name="T80" fmla="*/ 948 w 1374"/>
                  <a:gd name="T81" fmla="*/ 1130 h 1620"/>
                  <a:gd name="T82" fmla="*/ 976 w 1374"/>
                  <a:gd name="T83" fmla="*/ 930 h 1620"/>
                  <a:gd name="T84" fmla="*/ 842 w 1374"/>
                  <a:gd name="T85" fmla="*/ 588 h 1620"/>
                  <a:gd name="T86" fmla="*/ 820 w 1374"/>
                  <a:gd name="T87" fmla="*/ 438 h 1620"/>
                  <a:gd name="T88" fmla="*/ 700 w 1374"/>
                  <a:gd name="T89" fmla="*/ 370 h 1620"/>
                  <a:gd name="T90" fmla="*/ 744 w 1374"/>
                  <a:gd name="T91" fmla="*/ 288 h 1620"/>
                  <a:gd name="T92" fmla="*/ 802 w 1374"/>
                  <a:gd name="T93" fmla="*/ 390 h 1620"/>
                  <a:gd name="T94" fmla="*/ 786 w 1374"/>
                  <a:gd name="T95" fmla="*/ 246 h 1620"/>
                  <a:gd name="T96" fmla="*/ 674 w 1374"/>
                  <a:gd name="T97" fmla="*/ 302 h 1620"/>
                  <a:gd name="T98" fmla="*/ 538 w 1374"/>
                  <a:gd name="T99" fmla="*/ 246 h 1620"/>
                  <a:gd name="T100" fmla="*/ 494 w 1374"/>
                  <a:gd name="T101" fmla="*/ 368 h 1620"/>
                  <a:gd name="T102" fmla="*/ 508 w 1374"/>
                  <a:gd name="T103" fmla="*/ 344 h 1620"/>
                  <a:gd name="T104" fmla="*/ 558 w 1374"/>
                  <a:gd name="T105" fmla="*/ 304 h 1620"/>
                  <a:gd name="T106" fmla="*/ 510 w 1374"/>
                  <a:gd name="T107" fmla="*/ 418 h 1620"/>
                  <a:gd name="T108" fmla="*/ 576 w 1374"/>
                  <a:gd name="T109" fmla="*/ 514 h 1620"/>
                  <a:gd name="T110" fmla="*/ 792 w 1374"/>
                  <a:gd name="T111" fmla="*/ 466 h 1620"/>
                  <a:gd name="T112" fmla="*/ 570 w 1374"/>
                  <a:gd name="T113" fmla="*/ 560 h 1620"/>
                  <a:gd name="T114" fmla="*/ 762 w 1374"/>
                  <a:gd name="T115" fmla="*/ 514 h 1620"/>
                  <a:gd name="T116" fmla="*/ 568 w 1374"/>
                  <a:gd name="T117" fmla="*/ 618 h 1620"/>
                  <a:gd name="T118" fmla="*/ 1078 w 1374"/>
                  <a:gd name="T119" fmla="*/ 892 h 1620"/>
                  <a:gd name="T120" fmla="*/ 1072 w 1374"/>
                  <a:gd name="T121" fmla="*/ 986 h 1620"/>
                  <a:gd name="T122" fmla="*/ 870 w 1374"/>
                  <a:gd name="T123" fmla="*/ 496 h 1620"/>
                  <a:gd name="T124" fmla="*/ 924 w 1374"/>
                  <a:gd name="T125" fmla="*/ 514 h 1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74" h="1620">
                    <a:moveTo>
                      <a:pt x="174" y="1170"/>
                    </a:moveTo>
                    <a:lnTo>
                      <a:pt x="174" y="1170"/>
                    </a:lnTo>
                    <a:lnTo>
                      <a:pt x="174" y="1188"/>
                    </a:lnTo>
                    <a:lnTo>
                      <a:pt x="172" y="1204"/>
                    </a:lnTo>
                    <a:lnTo>
                      <a:pt x="168" y="1218"/>
                    </a:lnTo>
                    <a:lnTo>
                      <a:pt x="162" y="1230"/>
                    </a:lnTo>
                    <a:lnTo>
                      <a:pt x="154" y="1238"/>
                    </a:lnTo>
                    <a:lnTo>
                      <a:pt x="142" y="1246"/>
                    </a:lnTo>
                    <a:lnTo>
                      <a:pt x="130" y="1252"/>
                    </a:lnTo>
                    <a:lnTo>
                      <a:pt x="114" y="1256"/>
                    </a:lnTo>
                    <a:lnTo>
                      <a:pt x="114" y="1256"/>
                    </a:lnTo>
                    <a:lnTo>
                      <a:pt x="88" y="1258"/>
                    </a:lnTo>
                    <a:lnTo>
                      <a:pt x="64" y="1258"/>
                    </a:lnTo>
                    <a:lnTo>
                      <a:pt x="64" y="1258"/>
                    </a:lnTo>
                    <a:lnTo>
                      <a:pt x="52" y="1260"/>
                    </a:lnTo>
                    <a:lnTo>
                      <a:pt x="42" y="1262"/>
                    </a:lnTo>
                    <a:lnTo>
                      <a:pt x="34" y="1266"/>
                    </a:lnTo>
                    <a:lnTo>
                      <a:pt x="28" y="1272"/>
                    </a:lnTo>
                    <a:lnTo>
                      <a:pt x="26" y="1278"/>
                    </a:lnTo>
                    <a:lnTo>
                      <a:pt x="24" y="1286"/>
                    </a:lnTo>
                    <a:lnTo>
                      <a:pt x="26" y="1294"/>
                    </a:lnTo>
                    <a:lnTo>
                      <a:pt x="30" y="1304"/>
                    </a:lnTo>
                    <a:lnTo>
                      <a:pt x="30" y="1304"/>
                    </a:lnTo>
                    <a:lnTo>
                      <a:pt x="40" y="1324"/>
                    </a:lnTo>
                    <a:lnTo>
                      <a:pt x="46" y="1342"/>
                    </a:lnTo>
                    <a:lnTo>
                      <a:pt x="50" y="1360"/>
                    </a:lnTo>
                    <a:lnTo>
                      <a:pt x="52" y="1378"/>
                    </a:lnTo>
                    <a:lnTo>
                      <a:pt x="52" y="1396"/>
                    </a:lnTo>
                    <a:lnTo>
                      <a:pt x="48" y="1416"/>
                    </a:lnTo>
                    <a:lnTo>
                      <a:pt x="42" y="1434"/>
                    </a:lnTo>
                    <a:lnTo>
                      <a:pt x="32" y="1452"/>
                    </a:lnTo>
                    <a:lnTo>
                      <a:pt x="32" y="1452"/>
                    </a:lnTo>
                    <a:lnTo>
                      <a:pt x="32" y="1456"/>
                    </a:lnTo>
                    <a:lnTo>
                      <a:pt x="32" y="1460"/>
                    </a:lnTo>
                    <a:lnTo>
                      <a:pt x="36" y="1472"/>
                    </a:lnTo>
                    <a:lnTo>
                      <a:pt x="42" y="1484"/>
                    </a:lnTo>
                    <a:lnTo>
                      <a:pt x="50" y="1492"/>
                    </a:lnTo>
                    <a:lnTo>
                      <a:pt x="50" y="1492"/>
                    </a:lnTo>
                    <a:lnTo>
                      <a:pt x="60" y="1498"/>
                    </a:lnTo>
                    <a:lnTo>
                      <a:pt x="72" y="1500"/>
                    </a:lnTo>
                    <a:lnTo>
                      <a:pt x="98" y="1506"/>
                    </a:lnTo>
                    <a:lnTo>
                      <a:pt x="98" y="1506"/>
                    </a:lnTo>
                    <a:lnTo>
                      <a:pt x="216" y="1536"/>
                    </a:lnTo>
                    <a:lnTo>
                      <a:pt x="276" y="1550"/>
                    </a:lnTo>
                    <a:lnTo>
                      <a:pt x="336" y="1564"/>
                    </a:lnTo>
                    <a:lnTo>
                      <a:pt x="336" y="1564"/>
                    </a:lnTo>
                    <a:lnTo>
                      <a:pt x="360" y="1568"/>
                    </a:lnTo>
                    <a:lnTo>
                      <a:pt x="386" y="1572"/>
                    </a:lnTo>
                    <a:lnTo>
                      <a:pt x="412" y="1572"/>
                    </a:lnTo>
                    <a:lnTo>
                      <a:pt x="438" y="1570"/>
                    </a:lnTo>
                    <a:lnTo>
                      <a:pt x="438" y="1570"/>
                    </a:lnTo>
                    <a:lnTo>
                      <a:pt x="452" y="1566"/>
                    </a:lnTo>
                    <a:lnTo>
                      <a:pt x="464" y="1560"/>
                    </a:lnTo>
                    <a:lnTo>
                      <a:pt x="476" y="1552"/>
                    </a:lnTo>
                    <a:lnTo>
                      <a:pt x="484" y="1542"/>
                    </a:lnTo>
                    <a:lnTo>
                      <a:pt x="490" y="1532"/>
                    </a:lnTo>
                    <a:lnTo>
                      <a:pt x="494" y="1518"/>
                    </a:lnTo>
                    <a:lnTo>
                      <a:pt x="494" y="1504"/>
                    </a:lnTo>
                    <a:lnTo>
                      <a:pt x="494" y="1488"/>
                    </a:lnTo>
                    <a:lnTo>
                      <a:pt x="494" y="1488"/>
                    </a:lnTo>
                    <a:lnTo>
                      <a:pt x="490" y="1468"/>
                    </a:lnTo>
                    <a:lnTo>
                      <a:pt x="486" y="1448"/>
                    </a:lnTo>
                    <a:lnTo>
                      <a:pt x="480" y="1430"/>
                    </a:lnTo>
                    <a:lnTo>
                      <a:pt x="472" y="1412"/>
                    </a:lnTo>
                    <a:lnTo>
                      <a:pt x="472" y="1412"/>
                    </a:lnTo>
                    <a:lnTo>
                      <a:pt x="386" y="1284"/>
                    </a:lnTo>
                    <a:lnTo>
                      <a:pt x="344" y="1220"/>
                    </a:lnTo>
                    <a:lnTo>
                      <a:pt x="298" y="1158"/>
                    </a:lnTo>
                    <a:lnTo>
                      <a:pt x="298" y="1158"/>
                    </a:lnTo>
                    <a:lnTo>
                      <a:pt x="290" y="1146"/>
                    </a:lnTo>
                    <a:lnTo>
                      <a:pt x="278" y="1134"/>
                    </a:lnTo>
                    <a:lnTo>
                      <a:pt x="266" y="1124"/>
                    </a:lnTo>
                    <a:lnTo>
                      <a:pt x="254" y="1118"/>
                    </a:lnTo>
                    <a:lnTo>
                      <a:pt x="240" y="1114"/>
                    </a:lnTo>
                    <a:lnTo>
                      <a:pt x="224" y="1112"/>
                    </a:lnTo>
                    <a:lnTo>
                      <a:pt x="208" y="1116"/>
                    </a:lnTo>
                    <a:lnTo>
                      <a:pt x="190" y="1122"/>
                    </a:lnTo>
                    <a:lnTo>
                      <a:pt x="190" y="1122"/>
                    </a:lnTo>
                    <a:lnTo>
                      <a:pt x="186" y="1108"/>
                    </a:lnTo>
                    <a:lnTo>
                      <a:pt x="184" y="1092"/>
                    </a:lnTo>
                    <a:lnTo>
                      <a:pt x="184" y="1078"/>
                    </a:lnTo>
                    <a:lnTo>
                      <a:pt x="184" y="1064"/>
                    </a:lnTo>
                    <a:lnTo>
                      <a:pt x="186" y="1050"/>
                    </a:lnTo>
                    <a:lnTo>
                      <a:pt x="190" y="1036"/>
                    </a:lnTo>
                    <a:lnTo>
                      <a:pt x="200" y="1008"/>
                    </a:lnTo>
                    <a:lnTo>
                      <a:pt x="200" y="1008"/>
                    </a:lnTo>
                    <a:lnTo>
                      <a:pt x="232" y="940"/>
                    </a:lnTo>
                    <a:lnTo>
                      <a:pt x="248" y="906"/>
                    </a:lnTo>
                    <a:lnTo>
                      <a:pt x="262" y="870"/>
                    </a:lnTo>
                    <a:lnTo>
                      <a:pt x="262" y="870"/>
                    </a:lnTo>
                    <a:lnTo>
                      <a:pt x="280" y="820"/>
                    </a:lnTo>
                    <a:lnTo>
                      <a:pt x="304" y="772"/>
                    </a:lnTo>
                    <a:lnTo>
                      <a:pt x="316" y="748"/>
                    </a:lnTo>
                    <a:lnTo>
                      <a:pt x="332" y="726"/>
                    </a:lnTo>
                    <a:lnTo>
                      <a:pt x="348" y="704"/>
                    </a:lnTo>
                    <a:lnTo>
                      <a:pt x="364" y="682"/>
                    </a:lnTo>
                    <a:lnTo>
                      <a:pt x="364" y="682"/>
                    </a:lnTo>
                    <a:lnTo>
                      <a:pt x="378" y="666"/>
                    </a:lnTo>
                    <a:lnTo>
                      <a:pt x="390" y="650"/>
                    </a:lnTo>
                    <a:lnTo>
                      <a:pt x="390" y="650"/>
                    </a:lnTo>
                    <a:lnTo>
                      <a:pt x="406" y="628"/>
                    </a:lnTo>
                    <a:lnTo>
                      <a:pt x="422" y="604"/>
                    </a:lnTo>
                    <a:lnTo>
                      <a:pt x="434" y="578"/>
                    </a:lnTo>
                    <a:lnTo>
                      <a:pt x="444" y="552"/>
                    </a:lnTo>
                    <a:lnTo>
                      <a:pt x="452" y="526"/>
                    </a:lnTo>
                    <a:lnTo>
                      <a:pt x="456" y="498"/>
                    </a:lnTo>
                    <a:lnTo>
                      <a:pt x="456" y="468"/>
                    </a:lnTo>
                    <a:lnTo>
                      <a:pt x="452" y="438"/>
                    </a:lnTo>
                    <a:lnTo>
                      <a:pt x="452" y="438"/>
                    </a:lnTo>
                    <a:lnTo>
                      <a:pt x="448" y="406"/>
                    </a:lnTo>
                    <a:lnTo>
                      <a:pt x="446" y="374"/>
                    </a:lnTo>
                    <a:lnTo>
                      <a:pt x="444" y="310"/>
                    </a:lnTo>
                    <a:lnTo>
                      <a:pt x="446" y="246"/>
                    </a:lnTo>
                    <a:lnTo>
                      <a:pt x="450" y="182"/>
                    </a:lnTo>
                    <a:lnTo>
                      <a:pt x="450" y="182"/>
                    </a:lnTo>
                    <a:lnTo>
                      <a:pt x="452" y="162"/>
                    </a:lnTo>
                    <a:lnTo>
                      <a:pt x="456" y="144"/>
                    </a:lnTo>
                    <a:lnTo>
                      <a:pt x="462" y="124"/>
                    </a:lnTo>
                    <a:lnTo>
                      <a:pt x="470" y="108"/>
                    </a:lnTo>
                    <a:lnTo>
                      <a:pt x="478" y="92"/>
                    </a:lnTo>
                    <a:lnTo>
                      <a:pt x="488" y="76"/>
                    </a:lnTo>
                    <a:lnTo>
                      <a:pt x="500" y="62"/>
                    </a:lnTo>
                    <a:lnTo>
                      <a:pt x="514" y="50"/>
                    </a:lnTo>
                    <a:lnTo>
                      <a:pt x="528" y="40"/>
                    </a:lnTo>
                    <a:lnTo>
                      <a:pt x="544" y="30"/>
                    </a:lnTo>
                    <a:lnTo>
                      <a:pt x="560" y="20"/>
                    </a:lnTo>
                    <a:lnTo>
                      <a:pt x="578" y="14"/>
                    </a:lnTo>
                    <a:lnTo>
                      <a:pt x="596" y="8"/>
                    </a:lnTo>
                    <a:lnTo>
                      <a:pt x="614" y="4"/>
                    </a:lnTo>
                    <a:lnTo>
                      <a:pt x="634" y="2"/>
                    </a:lnTo>
                    <a:lnTo>
                      <a:pt x="656" y="0"/>
                    </a:lnTo>
                    <a:lnTo>
                      <a:pt x="656" y="0"/>
                    </a:lnTo>
                    <a:lnTo>
                      <a:pt x="686" y="2"/>
                    </a:lnTo>
                    <a:lnTo>
                      <a:pt x="718" y="6"/>
                    </a:lnTo>
                    <a:lnTo>
                      <a:pt x="746" y="12"/>
                    </a:lnTo>
                    <a:lnTo>
                      <a:pt x="772" y="20"/>
                    </a:lnTo>
                    <a:lnTo>
                      <a:pt x="798" y="32"/>
                    </a:lnTo>
                    <a:lnTo>
                      <a:pt x="822" y="46"/>
                    </a:lnTo>
                    <a:lnTo>
                      <a:pt x="844" y="60"/>
                    </a:lnTo>
                    <a:lnTo>
                      <a:pt x="864" y="78"/>
                    </a:lnTo>
                    <a:lnTo>
                      <a:pt x="882" y="98"/>
                    </a:lnTo>
                    <a:lnTo>
                      <a:pt x="898" y="120"/>
                    </a:lnTo>
                    <a:lnTo>
                      <a:pt x="910" y="144"/>
                    </a:lnTo>
                    <a:lnTo>
                      <a:pt x="922" y="168"/>
                    </a:lnTo>
                    <a:lnTo>
                      <a:pt x="930" y="196"/>
                    </a:lnTo>
                    <a:lnTo>
                      <a:pt x="938" y="224"/>
                    </a:lnTo>
                    <a:lnTo>
                      <a:pt x="940" y="254"/>
                    </a:lnTo>
                    <a:lnTo>
                      <a:pt x="942" y="286"/>
                    </a:lnTo>
                    <a:lnTo>
                      <a:pt x="942" y="286"/>
                    </a:lnTo>
                    <a:lnTo>
                      <a:pt x="944" y="344"/>
                    </a:lnTo>
                    <a:lnTo>
                      <a:pt x="946" y="370"/>
                    </a:lnTo>
                    <a:lnTo>
                      <a:pt x="950" y="398"/>
                    </a:lnTo>
                    <a:lnTo>
                      <a:pt x="956" y="426"/>
                    </a:lnTo>
                    <a:lnTo>
                      <a:pt x="962" y="452"/>
                    </a:lnTo>
                    <a:lnTo>
                      <a:pt x="968" y="478"/>
                    </a:lnTo>
                    <a:lnTo>
                      <a:pt x="978" y="502"/>
                    </a:lnTo>
                    <a:lnTo>
                      <a:pt x="988" y="528"/>
                    </a:lnTo>
                    <a:lnTo>
                      <a:pt x="998" y="552"/>
                    </a:lnTo>
                    <a:lnTo>
                      <a:pt x="1012" y="576"/>
                    </a:lnTo>
                    <a:lnTo>
                      <a:pt x="1024" y="600"/>
                    </a:lnTo>
                    <a:lnTo>
                      <a:pt x="1040" y="622"/>
                    </a:lnTo>
                    <a:lnTo>
                      <a:pt x="1056" y="646"/>
                    </a:lnTo>
                    <a:lnTo>
                      <a:pt x="1074" y="668"/>
                    </a:lnTo>
                    <a:lnTo>
                      <a:pt x="1094" y="690"/>
                    </a:lnTo>
                    <a:lnTo>
                      <a:pt x="1094" y="690"/>
                    </a:lnTo>
                    <a:lnTo>
                      <a:pt x="1110" y="710"/>
                    </a:lnTo>
                    <a:lnTo>
                      <a:pt x="1126" y="730"/>
                    </a:lnTo>
                    <a:lnTo>
                      <a:pt x="1140" y="750"/>
                    </a:lnTo>
                    <a:lnTo>
                      <a:pt x="1152" y="772"/>
                    </a:lnTo>
                    <a:lnTo>
                      <a:pt x="1176" y="814"/>
                    </a:lnTo>
                    <a:lnTo>
                      <a:pt x="1196" y="860"/>
                    </a:lnTo>
                    <a:lnTo>
                      <a:pt x="1212" y="908"/>
                    </a:lnTo>
                    <a:lnTo>
                      <a:pt x="1224" y="956"/>
                    </a:lnTo>
                    <a:lnTo>
                      <a:pt x="1232" y="1006"/>
                    </a:lnTo>
                    <a:lnTo>
                      <a:pt x="1236" y="1056"/>
                    </a:lnTo>
                    <a:lnTo>
                      <a:pt x="1236" y="1056"/>
                    </a:lnTo>
                    <a:lnTo>
                      <a:pt x="1236" y="1072"/>
                    </a:lnTo>
                    <a:lnTo>
                      <a:pt x="1234" y="1088"/>
                    </a:lnTo>
                    <a:lnTo>
                      <a:pt x="1230" y="1104"/>
                    </a:lnTo>
                    <a:lnTo>
                      <a:pt x="1224" y="1120"/>
                    </a:lnTo>
                    <a:lnTo>
                      <a:pt x="1218" y="1134"/>
                    </a:lnTo>
                    <a:lnTo>
                      <a:pt x="1208" y="1150"/>
                    </a:lnTo>
                    <a:lnTo>
                      <a:pt x="1198" y="1164"/>
                    </a:lnTo>
                    <a:lnTo>
                      <a:pt x="1188" y="1178"/>
                    </a:lnTo>
                    <a:lnTo>
                      <a:pt x="1176" y="1192"/>
                    </a:lnTo>
                    <a:lnTo>
                      <a:pt x="1162" y="1204"/>
                    </a:lnTo>
                    <a:lnTo>
                      <a:pt x="1148" y="1214"/>
                    </a:lnTo>
                    <a:lnTo>
                      <a:pt x="1134" y="1222"/>
                    </a:lnTo>
                    <a:lnTo>
                      <a:pt x="1120" y="1230"/>
                    </a:lnTo>
                    <a:lnTo>
                      <a:pt x="1106" y="1236"/>
                    </a:lnTo>
                    <a:lnTo>
                      <a:pt x="1092" y="1240"/>
                    </a:lnTo>
                    <a:lnTo>
                      <a:pt x="1078" y="1242"/>
                    </a:lnTo>
                    <a:lnTo>
                      <a:pt x="1078" y="1242"/>
                    </a:lnTo>
                    <a:lnTo>
                      <a:pt x="1066" y="1242"/>
                    </a:lnTo>
                    <a:lnTo>
                      <a:pt x="1054" y="1240"/>
                    </a:lnTo>
                    <a:lnTo>
                      <a:pt x="1042" y="1236"/>
                    </a:lnTo>
                    <a:lnTo>
                      <a:pt x="1032" y="1232"/>
                    </a:lnTo>
                    <a:lnTo>
                      <a:pt x="1022" y="1226"/>
                    </a:lnTo>
                    <a:lnTo>
                      <a:pt x="1014" y="1218"/>
                    </a:lnTo>
                    <a:lnTo>
                      <a:pt x="1008" y="1208"/>
                    </a:lnTo>
                    <a:lnTo>
                      <a:pt x="1000" y="1196"/>
                    </a:lnTo>
                    <a:lnTo>
                      <a:pt x="1000" y="1196"/>
                    </a:lnTo>
                    <a:lnTo>
                      <a:pt x="994" y="1184"/>
                    </a:lnTo>
                    <a:lnTo>
                      <a:pt x="988" y="1172"/>
                    </a:lnTo>
                    <a:lnTo>
                      <a:pt x="988" y="1172"/>
                    </a:lnTo>
                    <a:lnTo>
                      <a:pt x="972" y="1158"/>
                    </a:lnTo>
                    <a:lnTo>
                      <a:pt x="964" y="1152"/>
                    </a:lnTo>
                    <a:lnTo>
                      <a:pt x="958" y="1152"/>
                    </a:lnTo>
                    <a:lnTo>
                      <a:pt x="958" y="1152"/>
                    </a:lnTo>
                    <a:lnTo>
                      <a:pt x="950" y="1154"/>
                    </a:lnTo>
                    <a:lnTo>
                      <a:pt x="942" y="1162"/>
                    </a:lnTo>
                    <a:lnTo>
                      <a:pt x="936" y="1170"/>
                    </a:lnTo>
                    <a:lnTo>
                      <a:pt x="934" y="1180"/>
                    </a:lnTo>
                    <a:lnTo>
                      <a:pt x="934" y="1180"/>
                    </a:lnTo>
                    <a:lnTo>
                      <a:pt x="932" y="1200"/>
                    </a:lnTo>
                    <a:lnTo>
                      <a:pt x="932" y="1222"/>
                    </a:lnTo>
                    <a:lnTo>
                      <a:pt x="932" y="1266"/>
                    </a:lnTo>
                    <a:lnTo>
                      <a:pt x="932" y="1266"/>
                    </a:lnTo>
                    <a:lnTo>
                      <a:pt x="940" y="1432"/>
                    </a:lnTo>
                    <a:lnTo>
                      <a:pt x="940" y="1432"/>
                    </a:lnTo>
                    <a:lnTo>
                      <a:pt x="938" y="1456"/>
                    </a:lnTo>
                    <a:lnTo>
                      <a:pt x="936" y="1480"/>
                    </a:lnTo>
                    <a:lnTo>
                      <a:pt x="936" y="1480"/>
                    </a:lnTo>
                    <a:lnTo>
                      <a:pt x="936" y="1494"/>
                    </a:lnTo>
                    <a:lnTo>
                      <a:pt x="938" y="1508"/>
                    </a:lnTo>
                    <a:lnTo>
                      <a:pt x="942" y="1520"/>
                    </a:lnTo>
                    <a:lnTo>
                      <a:pt x="946" y="1532"/>
                    </a:lnTo>
                    <a:lnTo>
                      <a:pt x="952" y="1542"/>
                    </a:lnTo>
                    <a:lnTo>
                      <a:pt x="960" y="1550"/>
                    </a:lnTo>
                    <a:lnTo>
                      <a:pt x="966" y="1558"/>
                    </a:lnTo>
                    <a:lnTo>
                      <a:pt x="976" y="1564"/>
                    </a:lnTo>
                    <a:lnTo>
                      <a:pt x="986" y="1570"/>
                    </a:lnTo>
                    <a:lnTo>
                      <a:pt x="996" y="1572"/>
                    </a:lnTo>
                    <a:lnTo>
                      <a:pt x="1006" y="1574"/>
                    </a:lnTo>
                    <a:lnTo>
                      <a:pt x="1018" y="1574"/>
                    </a:lnTo>
                    <a:lnTo>
                      <a:pt x="1030" y="1574"/>
                    </a:lnTo>
                    <a:lnTo>
                      <a:pt x="1042" y="1570"/>
                    </a:lnTo>
                    <a:lnTo>
                      <a:pt x="1056" y="1566"/>
                    </a:lnTo>
                    <a:lnTo>
                      <a:pt x="1068" y="1560"/>
                    </a:lnTo>
                    <a:lnTo>
                      <a:pt x="1068" y="1560"/>
                    </a:lnTo>
                    <a:lnTo>
                      <a:pt x="1082" y="1552"/>
                    </a:lnTo>
                    <a:lnTo>
                      <a:pt x="1092" y="1544"/>
                    </a:lnTo>
                    <a:lnTo>
                      <a:pt x="1092" y="1544"/>
                    </a:lnTo>
                    <a:lnTo>
                      <a:pt x="1114" y="1526"/>
                    </a:lnTo>
                    <a:lnTo>
                      <a:pt x="1136" y="1510"/>
                    </a:lnTo>
                    <a:lnTo>
                      <a:pt x="1158" y="1496"/>
                    </a:lnTo>
                    <a:lnTo>
                      <a:pt x="1182" y="1482"/>
                    </a:lnTo>
                    <a:lnTo>
                      <a:pt x="1206" y="1470"/>
                    </a:lnTo>
                    <a:lnTo>
                      <a:pt x="1232" y="1458"/>
                    </a:lnTo>
                    <a:lnTo>
                      <a:pt x="1282" y="1438"/>
                    </a:lnTo>
                    <a:lnTo>
                      <a:pt x="1282" y="1438"/>
                    </a:lnTo>
                    <a:lnTo>
                      <a:pt x="1292" y="1434"/>
                    </a:lnTo>
                    <a:lnTo>
                      <a:pt x="1302" y="1428"/>
                    </a:lnTo>
                    <a:lnTo>
                      <a:pt x="1320" y="1416"/>
                    </a:lnTo>
                    <a:lnTo>
                      <a:pt x="1354" y="1386"/>
                    </a:lnTo>
                    <a:lnTo>
                      <a:pt x="1354" y="1386"/>
                    </a:lnTo>
                    <a:lnTo>
                      <a:pt x="1320" y="1360"/>
                    </a:lnTo>
                    <a:lnTo>
                      <a:pt x="1304" y="1348"/>
                    </a:lnTo>
                    <a:lnTo>
                      <a:pt x="1286" y="1336"/>
                    </a:lnTo>
                    <a:lnTo>
                      <a:pt x="1286" y="1336"/>
                    </a:lnTo>
                    <a:lnTo>
                      <a:pt x="1270" y="1326"/>
                    </a:lnTo>
                    <a:lnTo>
                      <a:pt x="1254" y="1312"/>
                    </a:lnTo>
                    <a:lnTo>
                      <a:pt x="1244" y="1296"/>
                    </a:lnTo>
                    <a:lnTo>
                      <a:pt x="1236" y="1276"/>
                    </a:lnTo>
                    <a:lnTo>
                      <a:pt x="1232" y="1256"/>
                    </a:lnTo>
                    <a:lnTo>
                      <a:pt x="1230" y="1232"/>
                    </a:lnTo>
                    <a:lnTo>
                      <a:pt x="1234" y="1208"/>
                    </a:lnTo>
                    <a:lnTo>
                      <a:pt x="1242" y="1182"/>
                    </a:lnTo>
                    <a:lnTo>
                      <a:pt x="1242" y="1182"/>
                    </a:lnTo>
                    <a:lnTo>
                      <a:pt x="1244" y="1210"/>
                    </a:lnTo>
                    <a:lnTo>
                      <a:pt x="1252" y="1236"/>
                    </a:lnTo>
                    <a:lnTo>
                      <a:pt x="1260" y="1260"/>
                    </a:lnTo>
                    <a:lnTo>
                      <a:pt x="1274" y="1280"/>
                    </a:lnTo>
                    <a:lnTo>
                      <a:pt x="1288" y="1298"/>
                    </a:lnTo>
                    <a:lnTo>
                      <a:pt x="1306" y="1316"/>
                    </a:lnTo>
                    <a:lnTo>
                      <a:pt x="1326" y="1330"/>
                    </a:lnTo>
                    <a:lnTo>
                      <a:pt x="1348" y="1344"/>
                    </a:lnTo>
                    <a:lnTo>
                      <a:pt x="1348" y="1344"/>
                    </a:lnTo>
                    <a:lnTo>
                      <a:pt x="1360" y="1352"/>
                    </a:lnTo>
                    <a:lnTo>
                      <a:pt x="1368" y="1360"/>
                    </a:lnTo>
                    <a:lnTo>
                      <a:pt x="1374" y="1370"/>
                    </a:lnTo>
                    <a:lnTo>
                      <a:pt x="1374" y="1382"/>
                    </a:lnTo>
                    <a:lnTo>
                      <a:pt x="1374" y="1392"/>
                    </a:lnTo>
                    <a:lnTo>
                      <a:pt x="1368" y="1404"/>
                    </a:lnTo>
                    <a:lnTo>
                      <a:pt x="1360" y="1414"/>
                    </a:lnTo>
                    <a:lnTo>
                      <a:pt x="1350" y="1424"/>
                    </a:lnTo>
                    <a:lnTo>
                      <a:pt x="1350" y="1424"/>
                    </a:lnTo>
                    <a:lnTo>
                      <a:pt x="1330" y="1438"/>
                    </a:lnTo>
                    <a:lnTo>
                      <a:pt x="1310" y="1450"/>
                    </a:lnTo>
                    <a:lnTo>
                      <a:pt x="1288" y="1462"/>
                    </a:lnTo>
                    <a:lnTo>
                      <a:pt x="1268" y="1474"/>
                    </a:lnTo>
                    <a:lnTo>
                      <a:pt x="1268" y="1474"/>
                    </a:lnTo>
                    <a:lnTo>
                      <a:pt x="1182" y="1528"/>
                    </a:lnTo>
                    <a:lnTo>
                      <a:pt x="1140" y="1558"/>
                    </a:lnTo>
                    <a:lnTo>
                      <a:pt x="1100" y="1588"/>
                    </a:lnTo>
                    <a:lnTo>
                      <a:pt x="1100" y="1588"/>
                    </a:lnTo>
                    <a:lnTo>
                      <a:pt x="1088" y="1596"/>
                    </a:lnTo>
                    <a:lnTo>
                      <a:pt x="1074" y="1602"/>
                    </a:lnTo>
                    <a:lnTo>
                      <a:pt x="1062" y="1608"/>
                    </a:lnTo>
                    <a:lnTo>
                      <a:pt x="1048" y="1614"/>
                    </a:lnTo>
                    <a:lnTo>
                      <a:pt x="1036" y="1616"/>
                    </a:lnTo>
                    <a:lnTo>
                      <a:pt x="1022" y="1618"/>
                    </a:lnTo>
                    <a:lnTo>
                      <a:pt x="1008" y="1620"/>
                    </a:lnTo>
                    <a:lnTo>
                      <a:pt x="996" y="1618"/>
                    </a:lnTo>
                    <a:lnTo>
                      <a:pt x="982" y="1616"/>
                    </a:lnTo>
                    <a:lnTo>
                      <a:pt x="968" y="1614"/>
                    </a:lnTo>
                    <a:lnTo>
                      <a:pt x="956" y="1610"/>
                    </a:lnTo>
                    <a:lnTo>
                      <a:pt x="944" y="1604"/>
                    </a:lnTo>
                    <a:lnTo>
                      <a:pt x="932" y="1598"/>
                    </a:lnTo>
                    <a:lnTo>
                      <a:pt x="920" y="1590"/>
                    </a:lnTo>
                    <a:lnTo>
                      <a:pt x="910" y="1580"/>
                    </a:lnTo>
                    <a:lnTo>
                      <a:pt x="900" y="1570"/>
                    </a:lnTo>
                    <a:lnTo>
                      <a:pt x="900" y="1570"/>
                    </a:lnTo>
                    <a:lnTo>
                      <a:pt x="888" y="1558"/>
                    </a:lnTo>
                    <a:lnTo>
                      <a:pt x="872" y="1548"/>
                    </a:lnTo>
                    <a:lnTo>
                      <a:pt x="854" y="1540"/>
                    </a:lnTo>
                    <a:lnTo>
                      <a:pt x="838" y="1538"/>
                    </a:lnTo>
                    <a:lnTo>
                      <a:pt x="838" y="1538"/>
                    </a:lnTo>
                    <a:lnTo>
                      <a:pt x="780" y="1536"/>
                    </a:lnTo>
                    <a:lnTo>
                      <a:pt x="724" y="1534"/>
                    </a:lnTo>
                    <a:lnTo>
                      <a:pt x="666" y="1536"/>
                    </a:lnTo>
                    <a:lnTo>
                      <a:pt x="610" y="1540"/>
                    </a:lnTo>
                    <a:lnTo>
                      <a:pt x="610" y="1540"/>
                    </a:lnTo>
                    <a:lnTo>
                      <a:pt x="578" y="1546"/>
                    </a:lnTo>
                    <a:lnTo>
                      <a:pt x="546" y="1556"/>
                    </a:lnTo>
                    <a:lnTo>
                      <a:pt x="516" y="1570"/>
                    </a:lnTo>
                    <a:lnTo>
                      <a:pt x="488" y="1584"/>
                    </a:lnTo>
                    <a:lnTo>
                      <a:pt x="488" y="1584"/>
                    </a:lnTo>
                    <a:lnTo>
                      <a:pt x="472" y="1594"/>
                    </a:lnTo>
                    <a:lnTo>
                      <a:pt x="456" y="1602"/>
                    </a:lnTo>
                    <a:lnTo>
                      <a:pt x="440" y="1608"/>
                    </a:lnTo>
                    <a:lnTo>
                      <a:pt x="424" y="1610"/>
                    </a:lnTo>
                    <a:lnTo>
                      <a:pt x="408" y="1612"/>
                    </a:lnTo>
                    <a:lnTo>
                      <a:pt x="392" y="1612"/>
                    </a:lnTo>
                    <a:lnTo>
                      <a:pt x="374" y="1610"/>
                    </a:lnTo>
                    <a:lnTo>
                      <a:pt x="356" y="1606"/>
                    </a:lnTo>
                    <a:lnTo>
                      <a:pt x="356" y="1606"/>
                    </a:lnTo>
                    <a:lnTo>
                      <a:pt x="214" y="1566"/>
                    </a:lnTo>
                    <a:lnTo>
                      <a:pt x="72" y="1530"/>
                    </a:lnTo>
                    <a:lnTo>
                      <a:pt x="72" y="1530"/>
                    </a:lnTo>
                    <a:lnTo>
                      <a:pt x="46" y="1522"/>
                    </a:lnTo>
                    <a:lnTo>
                      <a:pt x="28" y="1514"/>
                    </a:lnTo>
                    <a:lnTo>
                      <a:pt x="14" y="1506"/>
                    </a:lnTo>
                    <a:lnTo>
                      <a:pt x="8" y="1500"/>
                    </a:lnTo>
                    <a:lnTo>
                      <a:pt x="4" y="1494"/>
                    </a:lnTo>
                    <a:lnTo>
                      <a:pt x="2" y="1488"/>
                    </a:lnTo>
                    <a:lnTo>
                      <a:pt x="0" y="1480"/>
                    </a:lnTo>
                    <a:lnTo>
                      <a:pt x="0" y="1464"/>
                    </a:lnTo>
                    <a:lnTo>
                      <a:pt x="4" y="1444"/>
                    </a:lnTo>
                    <a:lnTo>
                      <a:pt x="10" y="1420"/>
                    </a:lnTo>
                    <a:lnTo>
                      <a:pt x="10" y="1420"/>
                    </a:lnTo>
                    <a:lnTo>
                      <a:pt x="16" y="1396"/>
                    </a:lnTo>
                    <a:lnTo>
                      <a:pt x="18" y="1370"/>
                    </a:lnTo>
                    <a:lnTo>
                      <a:pt x="16" y="1344"/>
                    </a:lnTo>
                    <a:lnTo>
                      <a:pt x="12" y="1318"/>
                    </a:lnTo>
                    <a:lnTo>
                      <a:pt x="12" y="1318"/>
                    </a:lnTo>
                    <a:lnTo>
                      <a:pt x="10" y="1298"/>
                    </a:lnTo>
                    <a:lnTo>
                      <a:pt x="8" y="1280"/>
                    </a:lnTo>
                    <a:lnTo>
                      <a:pt x="10" y="1266"/>
                    </a:lnTo>
                    <a:lnTo>
                      <a:pt x="14" y="1256"/>
                    </a:lnTo>
                    <a:lnTo>
                      <a:pt x="22" y="1248"/>
                    </a:lnTo>
                    <a:lnTo>
                      <a:pt x="34" y="1242"/>
                    </a:lnTo>
                    <a:lnTo>
                      <a:pt x="50" y="1240"/>
                    </a:lnTo>
                    <a:lnTo>
                      <a:pt x="72" y="1238"/>
                    </a:lnTo>
                    <a:lnTo>
                      <a:pt x="72" y="1238"/>
                    </a:lnTo>
                    <a:lnTo>
                      <a:pt x="88" y="1236"/>
                    </a:lnTo>
                    <a:lnTo>
                      <a:pt x="104" y="1232"/>
                    </a:lnTo>
                    <a:lnTo>
                      <a:pt x="118" y="1226"/>
                    </a:lnTo>
                    <a:lnTo>
                      <a:pt x="132" y="1220"/>
                    </a:lnTo>
                    <a:lnTo>
                      <a:pt x="144" y="1210"/>
                    </a:lnTo>
                    <a:lnTo>
                      <a:pt x="156" y="1200"/>
                    </a:lnTo>
                    <a:lnTo>
                      <a:pt x="166" y="1186"/>
                    </a:lnTo>
                    <a:lnTo>
                      <a:pt x="174" y="1170"/>
                    </a:lnTo>
                    <a:lnTo>
                      <a:pt x="174" y="1170"/>
                    </a:lnTo>
                    <a:close/>
                    <a:moveTo>
                      <a:pt x="504" y="546"/>
                    </a:moveTo>
                    <a:lnTo>
                      <a:pt x="504" y="546"/>
                    </a:lnTo>
                    <a:lnTo>
                      <a:pt x="488" y="588"/>
                    </a:lnTo>
                    <a:lnTo>
                      <a:pt x="470" y="626"/>
                    </a:lnTo>
                    <a:lnTo>
                      <a:pt x="470" y="626"/>
                    </a:lnTo>
                    <a:lnTo>
                      <a:pt x="456" y="656"/>
                    </a:lnTo>
                    <a:lnTo>
                      <a:pt x="450" y="670"/>
                    </a:lnTo>
                    <a:lnTo>
                      <a:pt x="444" y="686"/>
                    </a:lnTo>
                    <a:lnTo>
                      <a:pt x="440" y="700"/>
                    </a:lnTo>
                    <a:lnTo>
                      <a:pt x="438" y="716"/>
                    </a:lnTo>
                    <a:lnTo>
                      <a:pt x="438" y="734"/>
                    </a:lnTo>
                    <a:lnTo>
                      <a:pt x="442" y="750"/>
                    </a:lnTo>
                    <a:lnTo>
                      <a:pt x="442" y="750"/>
                    </a:lnTo>
                    <a:lnTo>
                      <a:pt x="442" y="756"/>
                    </a:lnTo>
                    <a:lnTo>
                      <a:pt x="442" y="760"/>
                    </a:lnTo>
                    <a:lnTo>
                      <a:pt x="434" y="772"/>
                    </a:lnTo>
                    <a:lnTo>
                      <a:pt x="434" y="772"/>
                    </a:lnTo>
                    <a:lnTo>
                      <a:pt x="414" y="802"/>
                    </a:lnTo>
                    <a:lnTo>
                      <a:pt x="396" y="834"/>
                    </a:lnTo>
                    <a:lnTo>
                      <a:pt x="380" y="866"/>
                    </a:lnTo>
                    <a:lnTo>
                      <a:pt x="368" y="900"/>
                    </a:lnTo>
                    <a:lnTo>
                      <a:pt x="358" y="934"/>
                    </a:lnTo>
                    <a:lnTo>
                      <a:pt x="350" y="970"/>
                    </a:lnTo>
                    <a:lnTo>
                      <a:pt x="346" y="1006"/>
                    </a:lnTo>
                    <a:lnTo>
                      <a:pt x="346" y="1044"/>
                    </a:lnTo>
                    <a:lnTo>
                      <a:pt x="346" y="1044"/>
                    </a:lnTo>
                    <a:lnTo>
                      <a:pt x="346" y="1056"/>
                    </a:lnTo>
                    <a:lnTo>
                      <a:pt x="344" y="1070"/>
                    </a:lnTo>
                    <a:lnTo>
                      <a:pt x="338" y="1104"/>
                    </a:lnTo>
                    <a:lnTo>
                      <a:pt x="338" y="1104"/>
                    </a:lnTo>
                    <a:lnTo>
                      <a:pt x="318" y="1088"/>
                    </a:lnTo>
                    <a:lnTo>
                      <a:pt x="304" y="1072"/>
                    </a:lnTo>
                    <a:lnTo>
                      <a:pt x="296" y="1054"/>
                    </a:lnTo>
                    <a:lnTo>
                      <a:pt x="288" y="1036"/>
                    </a:lnTo>
                    <a:lnTo>
                      <a:pt x="284" y="1018"/>
                    </a:lnTo>
                    <a:lnTo>
                      <a:pt x="282" y="998"/>
                    </a:lnTo>
                    <a:lnTo>
                      <a:pt x="278" y="962"/>
                    </a:lnTo>
                    <a:lnTo>
                      <a:pt x="278" y="962"/>
                    </a:lnTo>
                    <a:lnTo>
                      <a:pt x="274" y="986"/>
                    </a:lnTo>
                    <a:lnTo>
                      <a:pt x="274" y="1008"/>
                    </a:lnTo>
                    <a:lnTo>
                      <a:pt x="274" y="1030"/>
                    </a:lnTo>
                    <a:lnTo>
                      <a:pt x="278" y="1050"/>
                    </a:lnTo>
                    <a:lnTo>
                      <a:pt x="284" y="1070"/>
                    </a:lnTo>
                    <a:lnTo>
                      <a:pt x="294" y="1090"/>
                    </a:lnTo>
                    <a:lnTo>
                      <a:pt x="308" y="1108"/>
                    </a:lnTo>
                    <a:lnTo>
                      <a:pt x="326" y="1124"/>
                    </a:lnTo>
                    <a:lnTo>
                      <a:pt x="326" y="1124"/>
                    </a:lnTo>
                    <a:lnTo>
                      <a:pt x="406" y="1192"/>
                    </a:lnTo>
                    <a:lnTo>
                      <a:pt x="488" y="1260"/>
                    </a:lnTo>
                    <a:lnTo>
                      <a:pt x="488" y="1260"/>
                    </a:lnTo>
                    <a:lnTo>
                      <a:pt x="506" y="1278"/>
                    </a:lnTo>
                    <a:lnTo>
                      <a:pt x="520" y="1294"/>
                    </a:lnTo>
                    <a:lnTo>
                      <a:pt x="528" y="1310"/>
                    </a:lnTo>
                    <a:lnTo>
                      <a:pt x="530" y="1318"/>
                    </a:lnTo>
                    <a:lnTo>
                      <a:pt x="532" y="1324"/>
                    </a:lnTo>
                    <a:lnTo>
                      <a:pt x="530" y="1332"/>
                    </a:lnTo>
                    <a:lnTo>
                      <a:pt x="528" y="1340"/>
                    </a:lnTo>
                    <a:lnTo>
                      <a:pt x="520" y="1354"/>
                    </a:lnTo>
                    <a:lnTo>
                      <a:pt x="506" y="1368"/>
                    </a:lnTo>
                    <a:lnTo>
                      <a:pt x="486" y="1382"/>
                    </a:lnTo>
                    <a:lnTo>
                      <a:pt x="486" y="1382"/>
                    </a:lnTo>
                    <a:lnTo>
                      <a:pt x="546" y="1518"/>
                    </a:lnTo>
                    <a:lnTo>
                      <a:pt x="546" y="1518"/>
                    </a:lnTo>
                    <a:lnTo>
                      <a:pt x="552" y="1504"/>
                    </a:lnTo>
                    <a:lnTo>
                      <a:pt x="554" y="1490"/>
                    </a:lnTo>
                    <a:lnTo>
                      <a:pt x="552" y="1478"/>
                    </a:lnTo>
                    <a:lnTo>
                      <a:pt x="548" y="1464"/>
                    </a:lnTo>
                    <a:lnTo>
                      <a:pt x="534" y="1438"/>
                    </a:lnTo>
                    <a:lnTo>
                      <a:pt x="528" y="1426"/>
                    </a:lnTo>
                    <a:lnTo>
                      <a:pt x="524" y="1412"/>
                    </a:lnTo>
                    <a:lnTo>
                      <a:pt x="524" y="1412"/>
                    </a:lnTo>
                    <a:lnTo>
                      <a:pt x="570" y="1428"/>
                    </a:lnTo>
                    <a:lnTo>
                      <a:pt x="594" y="1434"/>
                    </a:lnTo>
                    <a:lnTo>
                      <a:pt x="618" y="1440"/>
                    </a:lnTo>
                    <a:lnTo>
                      <a:pt x="642" y="1444"/>
                    </a:lnTo>
                    <a:lnTo>
                      <a:pt x="666" y="1446"/>
                    </a:lnTo>
                    <a:lnTo>
                      <a:pt x="692" y="1446"/>
                    </a:lnTo>
                    <a:lnTo>
                      <a:pt x="718" y="1442"/>
                    </a:lnTo>
                    <a:lnTo>
                      <a:pt x="718" y="1442"/>
                    </a:lnTo>
                    <a:lnTo>
                      <a:pt x="744" y="1436"/>
                    </a:lnTo>
                    <a:lnTo>
                      <a:pt x="768" y="1428"/>
                    </a:lnTo>
                    <a:lnTo>
                      <a:pt x="790" y="1418"/>
                    </a:lnTo>
                    <a:lnTo>
                      <a:pt x="812" y="1404"/>
                    </a:lnTo>
                    <a:lnTo>
                      <a:pt x="832" y="1390"/>
                    </a:lnTo>
                    <a:lnTo>
                      <a:pt x="852" y="1372"/>
                    </a:lnTo>
                    <a:lnTo>
                      <a:pt x="870" y="1354"/>
                    </a:lnTo>
                    <a:lnTo>
                      <a:pt x="886" y="1330"/>
                    </a:lnTo>
                    <a:lnTo>
                      <a:pt x="886" y="1330"/>
                    </a:lnTo>
                    <a:lnTo>
                      <a:pt x="892" y="1344"/>
                    </a:lnTo>
                    <a:lnTo>
                      <a:pt x="896" y="1356"/>
                    </a:lnTo>
                    <a:lnTo>
                      <a:pt x="898" y="1368"/>
                    </a:lnTo>
                    <a:lnTo>
                      <a:pt x="898" y="1380"/>
                    </a:lnTo>
                    <a:lnTo>
                      <a:pt x="896" y="1402"/>
                    </a:lnTo>
                    <a:lnTo>
                      <a:pt x="892" y="1424"/>
                    </a:lnTo>
                    <a:lnTo>
                      <a:pt x="886" y="1446"/>
                    </a:lnTo>
                    <a:lnTo>
                      <a:pt x="882" y="1468"/>
                    </a:lnTo>
                    <a:lnTo>
                      <a:pt x="882" y="1480"/>
                    </a:lnTo>
                    <a:lnTo>
                      <a:pt x="882" y="1490"/>
                    </a:lnTo>
                    <a:lnTo>
                      <a:pt x="884" y="1502"/>
                    </a:lnTo>
                    <a:lnTo>
                      <a:pt x="886" y="1512"/>
                    </a:lnTo>
                    <a:lnTo>
                      <a:pt x="886" y="1512"/>
                    </a:lnTo>
                    <a:lnTo>
                      <a:pt x="896" y="1486"/>
                    </a:lnTo>
                    <a:lnTo>
                      <a:pt x="904" y="1458"/>
                    </a:lnTo>
                    <a:lnTo>
                      <a:pt x="910" y="1430"/>
                    </a:lnTo>
                    <a:lnTo>
                      <a:pt x="914" y="1402"/>
                    </a:lnTo>
                    <a:lnTo>
                      <a:pt x="914" y="1402"/>
                    </a:lnTo>
                    <a:lnTo>
                      <a:pt x="912" y="1356"/>
                    </a:lnTo>
                    <a:lnTo>
                      <a:pt x="910" y="1310"/>
                    </a:lnTo>
                    <a:lnTo>
                      <a:pt x="908" y="1266"/>
                    </a:lnTo>
                    <a:lnTo>
                      <a:pt x="908" y="1220"/>
                    </a:lnTo>
                    <a:lnTo>
                      <a:pt x="908" y="1220"/>
                    </a:lnTo>
                    <a:lnTo>
                      <a:pt x="910" y="1200"/>
                    </a:lnTo>
                    <a:lnTo>
                      <a:pt x="912" y="1182"/>
                    </a:lnTo>
                    <a:lnTo>
                      <a:pt x="918" y="1164"/>
                    </a:lnTo>
                    <a:lnTo>
                      <a:pt x="924" y="1156"/>
                    </a:lnTo>
                    <a:lnTo>
                      <a:pt x="928" y="1150"/>
                    </a:lnTo>
                    <a:lnTo>
                      <a:pt x="928" y="1150"/>
                    </a:lnTo>
                    <a:lnTo>
                      <a:pt x="948" y="1130"/>
                    </a:lnTo>
                    <a:lnTo>
                      <a:pt x="970" y="1112"/>
                    </a:lnTo>
                    <a:lnTo>
                      <a:pt x="1006" y="1084"/>
                    </a:lnTo>
                    <a:lnTo>
                      <a:pt x="1006" y="1084"/>
                    </a:lnTo>
                    <a:lnTo>
                      <a:pt x="998" y="1066"/>
                    </a:lnTo>
                    <a:lnTo>
                      <a:pt x="988" y="1048"/>
                    </a:lnTo>
                    <a:lnTo>
                      <a:pt x="982" y="1030"/>
                    </a:lnTo>
                    <a:lnTo>
                      <a:pt x="980" y="1022"/>
                    </a:lnTo>
                    <a:lnTo>
                      <a:pt x="980" y="1014"/>
                    </a:lnTo>
                    <a:lnTo>
                      <a:pt x="980" y="1014"/>
                    </a:lnTo>
                    <a:lnTo>
                      <a:pt x="982" y="986"/>
                    </a:lnTo>
                    <a:lnTo>
                      <a:pt x="980" y="958"/>
                    </a:lnTo>
                    <a:lnTo>
                      <a:pt x="976" y="930"/>
                    </a:lnTo>
                    <a:lnTo>
                      <a:pt x="972" y="904"/>
                    </a:lnTo>
                    <a:lnTo>
                      <a:pt x="966" y="878"/>
                    </a:lnTo>
                    <a:lnTo>
                      <a:pt x="958" y="852"/>
                    </a:lnTo>
                    <a:lnTo>
                      <a:pt x="938" y="800"/>
                    </a:lnTo>
                    <a:lnTo>
                      <a:pt x="916" y="750"/>
                    </a:lnTo>
                    <a:lnTo>
                      <a:pt x="894" y="702"/>
                    </a:lnTo>
                    <a:lnTo>
                      <a:pt x="870" y="652"/>
                    </a:lnTo>
                    <a:lnTo>
                      <a:pt x="850" y="602"/>
                    </a:lnTo>
                    <a:lnTo>
                      <a:pt x="850" y="602"/>
                    </a:lnTo>
                    <a:lnTo>
                      <a:pt x="846" y="594"/>
                    </a:lnTo>
                    <a:lnTo>
                      <a:pt x="842" y="588"/>
                    </a:lnTo>
                    <a:lnTo>
                      <a:pt x="842" y="588"/>
                    </a:lnTo>
                    <a:lnTo>
                      <a:pt x="832" y="574"/>
                    </a:lnTo>
                    <a:lnTo>
                      <a:pt x="822" y="560"/>
                    </a:lnTo>
                    <a:lnTo>
                      <a:pt x="816" y="546"/>
                    </a:lnTo>
                    <a:lnTo>
                      <a:pt x="812" y="530"/>
                    </a:lnTo>
                    <a:lnTo>
                      <a:pt x="810" y="514"/>
                    </a:lnTo>
                    <a:lnTo>
                      <a:pt x="810" y="498"/>
                    </a:lnTo>
                    <a:lnTo>
                      <a:pt x="812" y="482"/>
                    </a:lnTo>
                    <a:lnTo>
                      <a:pt x="816" y="466"/>
                    </a:lnTo>
                    <a:lnTo>
                      <a:pt x="816" y="466"/>
                    </a:lnTo>
                    <a:lnTo>
                      <a:pt x="820" y="456"/>
                    </a:lnTo>
                    <a:lnTo>
                      <a:pt x="820" y="446"/>
                    </a:lnTo>
                    <a:lnTo>
                      <a:pt x="820" y="438"/>
                    </a:lnTo>
                    <a:lnTo>
                      <a:pt x="816" y="432"/>
                    </a:lnTo>
                    <a:lnTo>
                      <a:pt x="812" y="426"/>
                    </a:lnTo>
                    <a:lnTo>
                      <a:pt x="804" y="420"/>
                    </a:lnTo>
                    <a:lnTo>
                      <a:pt x="796" y="416"/>
                    </a:lnTo>
                    <a:lnTo>
                      <a:pt x="786" y="412"/>
                    </a:lnTo>
                    <a:lnTo>
                      <a:pt x="786" y="412"/>
                    </a:lnTo>
                    <a:lnTo>
                      <a:pt x="768" y="406"/>
                    </a:lnTo>
                    <a:lnTo>
                      <a:pt x="750" y="400"/>
                    </a:lnTo>
                    <a:lnTo>
                      <a:pt x="716" y="382"/>
                    </a:lnTo>
                    <a:lnTo>
                      <a:pt x="716" y="382"/>
                    </a:lnTo>
                    <a:lnTo>
                      <a:pt x="708" y="376"/>
                    </a:lnTo>
                    <a:lnTo>
                      <a:pt x="700" y="370"/>
                    </a:lnTo>
                    <a:lnTo>
                      <a:pt x="696" y="362"/>
                    </a:lnTo>
                    <a:lnTo>
                      <a:pt x="696" y="354"/>
                    </a:lnTo>
                    <a:lnTo>
                      <a:pt x="696" y="344"/>
                    </a:lnTo>
                    <a:lnTo>
                      <a:pt x="696" y="336"/>
                    </a:lnTo>
                    <a:lnTo>
                      <a:pt x="702" y="320"/>
                    </a:lnTo>
                    <a:lnTo>
                      <a:pt x="702" y="320"/>
                    </a:lnTo>
                    <a:lnTo>
                      <a:pt x="710" y="308"/>
                    </a:lnTo>
                    <a:lnTo>
                      <a:pt x="720" y="298"/>
                    </a:lnTo>
                    <a:lnTo>
                      <a:pt x="732" y="290"/>
                    </a:lnTo>
                    <a:lnTo>
                      <a:pt x="738" y="288"/>
                    </a:lnTo>
                    <a:lnTo>
                      <a:pt x="744" y="288"/>
                    </a:lnTo>
                    <a:lnTo>
                      <a:pt x="744" y="288"/>
                    </a:lnTo>
                    <a:lnTo>
                      <a:pt x="750" y="290"/>
                    </a:lnTo>
                    <a:lnTo>
                      <a:pt x="756" y="292"/>
                    </a:lnTo>
                    <a:lnTo>
                      <a:pt x="768" y="302"/>
                    </a:lnTo>
                    <a:lnTo>
                      <a:pt x="778" y="312"/>
                    </a:lnTo>
                    <a:lnTo>
                      <a:pt x="786" y="326"/>
                    </a:lnTo>
                    <a:lnTo>
                      <a:pt x="786" y="326"/>
                    </a:lnTo>
                    <a:lnTo>
                      <a:pt x="790" y="340"/>
                    </a:lnTo>
                    <a:lnTo>
                      <a:pt x="790" y="354"/>
                    </a:lnTo>
                    <a:lnTo>
                      <a:pt x="788" y="388"/>
                    </a:lnTo>
                    <a:lnTo>
                      <a:pt x="788" y="388"/>
                    </a:lnTo>
                    <a:lnTo>
                      <a:pt x="796" y="390"/>
                    </a:lnTo>
                    <a:lnTo>
                      <a:pt x="802" y="390"/>
                    </a:lnTo>
                    <a:lnTo>
                      <a:pt x="808" y="388"/>
                    </a:lnTo>
                    <a:lnTo>
                      <a:pt x="814" y="386"/>
                    </a:lnTo>
                    <a:lnTo>
                      <a:pt x="818" y="382"/>
                    </a:lnTo>
                    <a:lnTo>
                      <a:pt x="820" y="376"/>
                    </a:lnTo>
                    <a:lnTo>
                      <a:pt x="824" y="362"/>
                    </a:lnTo>
                    <a:lnTo>
                      <a:pt x="824" y="362"/>
                    </a:lnTo>
                    <a:lnTo>
                      <a:pt x="824" y="338"/>
                    </a:lnTo>
                    <a:lnTo>
                      <a:pt x="822" y="316"/>
                    </a:lnTo>
                    <a:lnTo>
                      <a:pt x="818" y="294"/>
                    </a:lnTo>
                    <a:lnTo>
                      <a:pt x="810" y="276"/>
                    </a:lnTo>
                    <a:lnTo>
                      <a:pt x="798" y="260"/>
                    </a:lnTo>
                    <a:lnTo>
                      <a:pt x="786" y="246"/>
                    </a:lnTo>
                    <a:lnTo>
                      <a:pt x="770" y="238"/>
                    </a:lnTo>
                    <a:lnTo>
                      <a:pt x="762" y="236"/>
                    </a:lnTo>
                    <a:lnTo>
                      <a:pt x="754" y="234"/>
                    </a:lnTo>
                    <a:lnTo>
                      <a:pt x="754" y="234"/>
                    </a:lnTo>
                    <a:lnTo>
                      <a:pt x="738" y="234"/>
                    </a:lnTo>
                    <a:lnTo>
                      <a:pt x="722" y="236"/>
                    </a:lnTo>
                    <a:lnTo>
                      <a:pt x="708" y="240"/>
                    </a:lnTo>
                    <a:lnTo>
                      <a:pt x="702" y="244"/>
                    </a:lnTo>
                    <a:lnTo>
                      <a:pt x="700" y="248"/>
                    </a:lnTo>
                    <a:lnTo>
                      <a:pt x="700" y="248"/>
                    </a:lnTo>
                    <a:lnTo>
                      <a:pt x="686" y="274"/>
                    </a:lnTo>
                    <a:lnTo>
                      <a:pt x="674" y="302"/>
                    </a:lnTo>
                    <a:lnTo>
                      <a:pt x="652" y="358"/>
                    </a:lnTo>
                    <a:lnTo>
                      <a:pt x="652" y="358"/>
                    </a:lnTo>
                    <a:lnTo>
                      <a:pt x="602" y="354"/>
                    </a:lnTo>
                    <a:lnTo>
                      <a:pt x="602" y="354"/>
                    </a:lnTo>
                    <a:lnTo>
                      <a:pt x="592" y="310"/>
                    </a:lnTo>
                    <a:lnTo>
                      <a:pt x="586" y="290"/>
                    </a:lnTo>
                    <a:lnTo>
                      <a:pt x="578" y="272"/>
                    </a:lnTo>
                    <a:lnTo>
                      <a:pt x="578" y="272"/>
                    </a:lnTo>
                    <a:lnTo>
                      <a:pt x="574" y="266"/>
                    </a:lnTo>
                    <a:lnTo>
                      <a:pt x="568" y="260"/>
                    </a:lnTo>
                    <a:lnTo>
                      <a:pt x="552" y="252"/>
                    </a:lnTo>
                    <a:lnTo>
                      <a:pt x="538" y="246"/>
                    </a:lnTo>
                    <a:lnTo>
                      <a:pt x="532" y="244"/>
                    </a:lnTo>
                    <a:lnTo>
                      <a:pt x="530" y="244"/>
                    </a:lnTo>
                    <a:lnTo>
                      <a:pt x="530" y="244"/>
                    </a:lnTo>
                    <a:lnTo>
                      <a:pt x="518" y="260"/>
                    </a:lnTo>
                    <a:lnTo>
                      <a:pt x="506" y="278"/>
                    </a:lnTo>
                    <a:lnTo>
                      <a:pt x="496" y="296"/>
                    </a:lnTo>
                    <a:lnTo>
                      <a:pt x="492" y="314"/>
                    </a:lnTo>
                    <a:lnTo>
                      <a:pt x="492" y="314"/>
                    </a:lnTo>
                    <a:lnTo>
                      <a:pt x="488" y="336"/>
                    </a:lnTo>
                    <a:lnTo>
                      <a:pt x="488" y="346"/>
                    </a:lnTo>
                    <a:lnTo>
                      <a:pt x="490" y="356"/>
                    </a:lnTo>
                    <a:lnTo>
                      <a:pt x="494" y="368"/>
                    </a:lnTo>
                    <a:lnTo>
                      <a:pt x="500" y="376"/>
                    </a:lnTo>
                    <a:lnTo>
                      <a:pt x="508" y="384"/>
                    </a:lnTo>
                    <a:lnTo>
                      <a:pt x="520" y="392"/>
                    </a:lnTo>
                    <a:lnTo>
                      <a:pt x="520" y="392"/>
                    </a:lnTo>
                    <a:lnTo>
                      <a:pt x="522" y="390"/>
                    </a:lnTo>
                    <a:lnTo>
                      <a:pt x="528" y="386"/>
                    </a:lnTo>
                    <a:lnTo>
                      <a:pt x="528" y="386"/>
                    </a:lnTo>
                    <a:lnTo>
                      <a:pt x="516" y="372"/>
                    </a:lnTo>
                    <a:lnTo>
                      <a:pt x="512" y="366"/>
                    </a:lnTo>
                    <a:lnTo>
                      <a:pt x="510" y="358"/>
                    </a:lnTo>
                    <a:lnTo>
                      <a:pt x="510" y="358"/>
                    </a:lnTo>
                    <a:lnTo>
                      <a:pt x="508" y="344"/>
                    </a:lnTo>
                    <a:lnTo>
                      <a:pt x="510" y="328"/>
                    </a:lnTo>
                    <a:lnTo>
                      <a:pt x="512" y="314"/>
                    </a:lnTo>
                    <a:lnTo>
                      <a:pt x="516" y="298"/>
                    </a:lnTo>
                    <a:lnTo>
                      <a:pt x="516" y="298"/>
                    </a:lnTo>
                    <a:lnTo>
                      <a:pt x="518" y="296"/>
                    </a:lnTo>
                    <a:lnTo>
                      <a:pt x="522" y="294"/>
                    </a:lnTo>
                    <a:lnTo>
                      <a:pt x="532" y="292"/>
                    </a:lnTo>
                    <a:lnTo>
                      <a:pt x="542" y="290"/>
                    </a:lnTo>
                    <a:lnTo>
                      <a:pt x="546" y="290"/>
                    </a:lnTo>
                    <a:lnTo>
                      <a:pt x="550" y="292"/>
                    </a:lnTo>
                    <a:lnTo>
                      <a:pt x="550" y="292"/>
                    </a:lnTo>
                    <a:lnTo>
                      <a:pt x="558" y="304"/>
                    </a:lnTo>
                    <a:lnTo>
                      <a:pt x="564" y="318"/>
                    </a:lnTo>
                    <a:lnTo>
                      <a:pt x="570" y="332"/>
                    </a:lnTo>
                    <a:lnTo>
                      <a:pt x="574" y="346"/>
                    </a:lnTo>
                    <a:lnTo>
                      <a:pt x="574" y="346"/>
                    </a:lnTo>
                    <a:lnTo>
                      <a:pt x="574" y="354"/>
                    </a:lnTo>
                    <a:lnTo>
                      <a:pt x="570" y="360"/>
                    </a:lnTo>
                    <a:lnTo>
                      <a:pt x="560" y="374"/>
                    </a:lnTo>
                    <a:lnTo>
                      <a:pt x="560" y="374"/>
                    </a:lnTo>
                    <a:lnTo>
                      <a:pt x="534" y="396"/>
                    </a:lnTo>
                    <a:lnTo>
                      <a:pt x="522" y="406"/>
                    </a:lnTo>
                    <a:lnTo>
                      <a:pt x="510" y="418"/>
                    </a:lnTo>
                    <a:lnTo>
                      <a:pt x="510" y="418"/>
                    </a:lnTo>
                    <a:lnTo>
                      <a:pt x="504" y="428"/>
                    </a:lnTo>
                    <a:lnTo>
                      <a:pt x="498" y="440"/>
                    </a:lnTo>
                    <a:lnTo>
                      <a:pt x="494" y="450"/>
                    </a:lnTo>
                    <a:lnTo>
                      <a:pt x="494" y="454"/>
                    </a:lnTo>
                    <a:lnTo>
                      <a:pt x="494" y="456"/>
                    </a:lnTo>
                    <a:lnTo>
                      <a:pt x="494" y="456"/>
                    </a:lnTo>
                    <a:lnTo>
                      <a:pt x="514" y="476"/>
                    </a:lnTo>
                    <a:lnTo>
                      <a:pt x="526" y="488"/>
                    </a:lnTo>
                    <a:lnTo>
                      <a:pt x="536" y="496"/>
                    </a:lnTo>
                    <a:lnTo>
                      <a:pt x="548" y="504"/>
                    </a:lnTo>
                    <a:lnTo>
                      <a:pt x="562" y="510"/>
                    </a:lnTo>
                    <a:lnTo>
                      <a:pt x="576" y="514"/>
                    </a:lnTo>
                    <a:lnTo>
                      <a:pt x="594" y="514"/>
                    </a:lnTo>
                    <a:lnTo>
                      <a:pt x="594" y="514"/>
                    </a:lnTo>
                    <a:lnTo>
                      <a:pt x="644" y="506"/>
                    </a:lnTo>
                    <a:lnTo>
                      <a:pt x="670" y="500"/>
                    </a:lnTo>
                    <a:lnTo>
                      <a:pt x="694" y="494"/>
                    </a:lnTo>
                    <a:lnTo>
                      <a:pt x="718" y="486"/>
                    </a:lnTo>
                    <a:lnTo>
                      <a:pt x="742" y="474"/>
                    </a:lnTo>
                    <a:lnTo>
                      <a:pt x="766" y="460"/>
                    </a:lnTo>
                    <a:lnTo>
                      <a:pt x="788" y="444"/>
                    </a:lnTo>
                    <a:lnTo>
                      <a:pt x="788" y="444"/>
                    </a:lnTo>
                    <a:lnTo>
                      <a:pt x="792" y="460"/>
                    </a:lnTo>
                    <a:lnTo>
                      <a:pt x="792" y="466"/>
                    </a:lnTo>
                    <a:lnTo>
                      <a:pt x="792" y="466"/>
                    </a:lnTo>
                    <a:lnTo>
                      <a:pt x="734" y="494"/>
                    </a:lnTo>
                    <a:lnTo>
                      <a:pt x="706" y="506"/>
                    </a:lnTo>
                    <a:lnTo>
                      <a:pt x="676" y="518"/>
                    </a:lnTo>
                    <a:lnTo>
                      <a:pt x="646" y="528"/>
                    </a:lnTo>
                    <a:lnTo>
                      <a:pt x="614" y="534"/>
                    </a:lnTo>
                    <a:lnTo>
                      <a:pt x="580" y="538"/>
                    </a:lnTo>
                    <a:lnTo>
                      <a:pt x="564" y="536"/>
                    </a:lnTo>
                    <a:lnTo>
                      <a:pt x="546" y="534"/>
                    </a:lnTo>
                    <a:lnTo>
                      <a:pt x="546" y="534"/>
                    </a:lnTo>
                    <a:lnTo>
                      <a:pt x="558" y="548"/>
                    </a:lnTo>
                    <a:lnTo>
                      <a:pt x="570" y="560"/>
                    </a:lnTo>
                    <a:lnTo>
                      <a:pt x="582" y="566"/>
                    </a:lnTo>
                    <a:lnTo>
                      <a:pt x="596" y="570"/>
                    </a:lnTo>
                    <a:lnTo>
                      <a:pt x="608" y="572"/>
                    </a:lnTo>
                    <a:lnTo>
                      <a:pt x="622" y="570"/>
                    </a:lnTo>
                    <a:lnTo>
                      <a:pt x="634" y="568"/>
                    </a:lnTo>
                    <a:lnTo>
                      <a:pt x="648" y="564"/>
                    </a:lnTo>
                    <a:lnTo>
                      <a:pt x="648" y="564"/>
                    </a:lnTo>
                    <a:lnTo>
                      <a:pt x="672" y="554"/>
                    </a:lnTo>
                    <a:lnTo>
                      <a:pt x="696" y="544"/>
                    </a:lnTo>
                    <a:lnTo>
                      <a:pt x="742" y="520"/>
                    </a:lnTo>
                    <a:lnTo>
                      <a:pt x="742" y="520"/>
                    </a:lnTo>
                    <a:lnTo>
                      <a:pt x="762" y="514"/>
                    </a:lnTo>
                    <a:lnTo>
                      <a:pt x="782" y="510"/>
                    </a:lnTo>
                    <a:lnTo>
                      <a:pt x="782" y="510"/>
                    </a:lnTo>
                    <a:lnTo>
                      <a:pt x="786" y="522"/>
                    </a:lnTo>
                    <a:lnTo>
                      <a:pt x="786" y="522"/>
                    </a:lnTo>
                    <a:lnTo>
                      <a:pt x="698" y="578"/>
                    </a:lnTo>
                    <a:lnTo>
                      <a:pt x="654" y="604"/>
                    </a:lnTo>
                    <a:lnTo>
                      <a:pt x="608" y="630"/>
                    </a:lnTo>
                    <a:lnTo>
                      <a:pt x="608" y="630"/>
                    </a:lnTo>
                    <a:lnTo>
                      <a:pt x="604" y="630"/>
                    </a:lnTo>
                    <a:lnTo>
                      <a:pt x="598" y="630"/>
                    </a:lnTo>
                    <a:lnTo>
                      <a:pt x="582" y="626"/>
                    </a:lnTo>
                    <a:lnTo>
                      <a:pt x="568" y="618"/>
                    </a:lnTo>
                    <a:lnTo>
                      <a:pt x="554" y="608"/>
                    </a:lnTo>
                    <a:lnTo>
                      <a:pt x="554" y="608"/>
                    </a:lnTo>
                    <a:lnTo>
                      <a:pt x="540" y="594"/>
                    </a:lnTo>
                    <a:lnTo>
                      <a:pt x="528" y="578"/>
                    </a:lnTo>
                    <a:lnTo>
                      <a:pt x="504" y="546"/>
                    </a:lnTo>
                    <a:lnTo>
                      <a:pt x="504" y="546"/>
                    </a:lnTo>
                    <a:close/>
                    <a:moveTo>
                      <a:pt x="1078" y="1054"/>
                    </a:moveTo>
                    <a:lnTo>
                      <a:pt x="1078" y="1054"/>
                    </a:lnTo>
                    <a:lnTo>
                      <a:pt x="1084" y="1012"/>
                    </a:lnTo>
                    <a:lnTo>
                      <a:pt x="1086" y="970"/>
                    </a:lnTo>
                    <a:lnTo>
                      <a:pt x="1084" y="930"/>
                    </a:lnTo>
                    <a:lnTo>
                      <a:pt x="1078" y="892"/>
                    </a:lnTo>
                    <a:lnTo>
                      <a:pt x="1068" y="854"/>
                    </a:lnTo>
                    <a:lnTo>
                      <a:pt x="1052" y="818"/>
                    </a:lnTo>
                    <a:lnTo>
                      <a:pt x="1032" y="784"/>
                    </a:lnTo>
                    <a:lnTo>
                      <a:pt x="1008" y="750"/>
                    </a:lnTo>
                    <a:lnTo>
                      <a:pt x="1008" y="750"/>
                    </a:lnTo>
                    <a:lnTo>
                      <a:pt x="1040" y="826"/>
                    </a:lnTo>
                    <a:lnTo>
                      <a:pt x="1056" y="866"/>
                    </a:lnTo>
                    <a:lnTo>
                      <a:pt x="1066" y="904"/>
                    </a:lnTo>
                    <a:lnTo>
                      <a:pt x="1070" y="924"/>
                    </a:lnTo>
                    <a:lnTo>
                      <a:pt x="1072" y="944"/>
                    </a:lnTo>
                    <a:lnTo>
                      <a:pt x="1074" y="966"/>
                    </a:lnTo>
                    <a:lnTo>
                      <a:pt x="1072" y="986"/>
                    </a:lnTo>
                    <a:lnTo>
                      <a:pt x="1070" y="1006"/>
                    </a:lnTo>
                    <a:lnTo>
                      <a:pt x="1064" y="1028"/>
                    </a:lnTo>
                    <a:lnTo>
                      <a:pt x="1056" y="1050"/>
                    </a:lnTo>
                    <a:lnTo>
                      <a:pt x="1046" y="1070"/>
                    </a:lnTo>
                    <a:lnTo>
                      <a:pt x="1046" y="1070"/>
                    </a:lnTo>
                    <a:lnTo>
                      <a:pt x="1108" y="1080"/>
                    </a:lnTo>
                    <a:lnTo>
                      <a:pt x="1108" y="1080"/>
                    </a:lnTo>
                    <a:lnTo>
                      <a:pt x="1078" y="1054"/>
                    </a:lnTo>
                    <a:lnTo>
                      <a:pt x="1078" y="1054"/>
                    </a:lnTo>
                    <a:close/>
                    <a:moveTo>
                      <a:pt x="880" y="490"/>
                    </a:moveTo>
                    <a:lnTo>
                      <a:pt x="880" y="490"/>
                    </a:lnTo>
                    <a:lnTo>
                      <a:pt x="870" y="496"/>
                    </a:lnTo>
                    <a:lnTo>
                      <a:pt x="870" y="496"/>
                    </a:lnTo>
                    <a:lnTo>
                      <a:pt x="888" y="520"/>
                    </a:lnTo>
                    <a:lnTo>
                      <a:pt x="908" y="542"/>
                    </a:lnTo>
                    <a:lnTo>
                      <a:pt x="908" y="542"/>
                    </a:lnTo>
                    <a:lnTo>
                      <a:pt x="912" y="544"/>
                    </a:lnTo>
                    <a:lnTo>
                      <a:pt x="918" y="544"/>
                    </a:lnTo>
                    <a:lnTo>
                      <a:pt x="932" y="542"/>
                    </a:lnTo>
                    <a:lnTo>
                      <a:pt x="932" y="542"/>
                    </a:lnTo>
                    <a:lnTo>
                      <a:pt x="928" y="526"/>
                    </a:lnTo>
                    <a:lnTo>
                      <a:pt x="928" y="520"/>
                    </a:lnTo>
                    <a:lnTo>
                      <a:pt x="924" y="514"/>
                    </a:lnTo>
                    <a:lnTo>
                      <a:pt x="924" y="514"/>
                    </a:lnTo>
                    <a:lnTo>
                      <a:pt x="914" y="508"/>
                    </a:lnTo>
                    <a:lnTo>
                      <a:pt x="902" y="502"/>
                    </a:lnTo>
                    <a:lnTo>
                      <a:pt x="880" y="490"/>
                    </a:lnTo>
                    <a:lnTo>
                      <a:pt x="880" y="490"/>
                    </a:lnTo>
                    <a:close/>
                  </a:path>
                </a:pathLst>
              </a:custGeom>
              <a:solidFill>
                <a:srgbClr val="0070C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706" tIns="146165" rIns="182706" bIns="146165" numCol="1" spcCol="0" rtlCol="0" fromWordArt="0" anchor="t" anchorCtr="0" forceAA="0" compatLnSpc="1">
                <a:prstTxWarp prst="textNoShape">
                  <a:avLst/>
                </a:prstTxWarp>
                <a:noAutofit/>
              </a:bodyPr>
              <a:lstStyle/>
              <a:p>
                <a:pPr marL="0" marR="0" lvl="0" indent="0" algn="ctr" defTabSz="913111" rtl="0" eaLnBrk="1" fontAlgn="base" latinLnBrk="0" hangingPunct="1">
                  <a:lnSpc>
                    <a:spcPct val="90000"/>
                  </a:lnSpc>
                  <a:spcBef>
                    <a:spcPct val="0"/>
                  </a:spcBef>
                  <a:spcAft>
                    <a:spcPct val="0"/>
                  </a:spcAft>
                  <a:buClrTx/>
                  <a:buSzTx/>
                  <a:buFontTx/>
                  <a:buNone/>
                  <a:tabLst/>
                  <a:defRPr/>
                </a:pPr>
                <a:endParaRPr kumimoji="0" lang="en-US" sz="1998" b="0" i="0" u="none" strike="noStrike" kern="1200" cap="none" spc="-50" normalizeH="0" baseline="0" noProof="0">
                  <a:ln>
                    <a:noFill/>
                  </a:ln>
                  <a:gradFill>
                    <a:gsLst>
                      <a:gs pos="1250">
                        <a:srgbClr val="EFEFEF"/>
                      </a:gs>
                      <a:gs pos="10417">
                        <a:srgbClr val="EFEFEF"/>
                      </a:gs>
                    </a:gsLst>
                    <a:lin ang="5400000" scaled="0"/>
                  </a:gradFill>
                  <a:effectLst/>
                  <a:uLnTx/>
                  <a:uFillTx/>
                  <a:latin typeface="Segoe UI Light"/>
                  <a:ea typeface="+mn-ea"/>
                  <a:cs typeface="+mn-cs"/>
                </a:endParaRPr>
              </a:p>
            </p:txBody>
          </p:sp>
        </p:grpSp>
      </p:grpSp>
      <p:grpSp>
        <p:nvGrpSpPr>
          <p:cNvPr id="566" name="Group 565">
            <a:extLst>
              <a:ext uri="{FF2B5EF4-FFF2-40B4-BE49-F238E27FC236}">
                <a16:creationId xmlns:a16="http://schemas.microsoft.com/office/drawing/2014/main" id="{C5D6DF87-5D77-3351-515F-FD75D8FC7CA0}"/>
              </a:ext>
            </a:extLst>
          </p:cNvPr>
          <p:cNvGrpSpPr/>
          <p:nvPr/>
        </p:nvGrpSpPr>
        <p:grpSpPr>
          <a:xfrm>
            <a:off x="3777220" y="3547430"/>
            <a:ext cx="370338" cy="327772"/>
            <a:chOff x="4723767" y="3080378"/>
            <a:chExt cx="439858" cy="389301"/>
          </a:xfrm>
        </p:grpSpPr>
        <p:pic>
          <p:nvPicPr>
            <p:cNvPr id="571" name="Picture 570">
              <a:extLst>
                <a:ext uri="{FF2B5EF4-FFF2-40B4-BE49-F238E27FC236}">
                  <a16:creationId xmlns:a16="http://schemas.microsoft.com/office/drawing/2014/main" id="{B26B0B36-5913-AC10-CCC5-367934416576}"/>
                </a:ext>
              </a:extLst>
            </p:cNvPr>
            <p:cNvPicPr>
              <a:picLocks noChangeAspect="1"/>
            </p:cNvPicPr>
            <p:nvPr/>
          </p:nvPicPr>
          <p:blipFill rotWithShape="1">
            <a:blip r:embed="rId41" cstate="print">
              <a:duotone>
                <a:schemeClr val="accent1">
                  <a:shade val="45000"/>
                  <a:satMod val="135000"/>
                </a:schemeClr>
                <a:prstClr val="white"/>
              </a:duotone>
              <a:extLst>
                <a:ext uri="{28A0092B-C50C-407E-A947-70E740481C1C}">
                  <a14:useLocalDpi xmlns:a14="http://schemas.microsoft.com/office/drawing/2010/main" val="0"/>
                </a:ext>
              </a:extLst>
            </a:blip>
            <a:srcRect l="-2"/>
            <a:stretch/>
          </p:blipFill>
          <p:spPr>
            <a:xfrm>
              <a:off x="4908907" y="3123428"/>
              <a:ext cx="216369" cy="164753"/>
            </a:xfrm>
            <a:prstGeom prst="rect">
              <a:avLst/>
            </a:prstGeom>
          </p:spPr>
        </p:pic>
        <p:grpSp>
          <p:nvGrpSpPr>
            <p:cNvPr id="572" name="Group 571">
              <a:extLst>
                <a:ext uri="{FF2B5EF4-FFF2-40B4-BE49-F238E27FC236}">
                  <a16:creationId xmlns:a16="http://schemas.microsoft.com/office/drawing/2014/main" id="{645F0745-8B67-A699-E88D-5612E75FD44A}"/>
                </a:ext>
              </a:extLst>
            </p:cNvPr>
            <p:cNvGrpSpPr/>
            <p:nvPr/>
          </p:nvGrpSpPr>
          <p:grpSpPr>
            <a:xfrm>
              <a:off x="4723767" y="3080378"/>
              <a:ext cx="439858" cy="389301"/>
              <a:chOff x="3131835" y="4047725"/>
              <a:chExt cx="439858" cy="389301"/>
            </a:xfrm>
          </p:grpSpPr>
          <p:grpSp>
            <p:nvGrpSpPr>
              <p:cNvPr id="573" name="Group 572">
                <a:extLst>
                  <a:ext uri="{FF2B5EF4-FFF2-40B4-BE49-F238E27FC236}">
                    <a16:creationId xmlns:a16="http://schemas.microsoft.com/office/drawing/2014/main" id="{E36F98CA-05E2-A0F4-5FF6-BEC38D2C9234}"/>
                  </a:ext>
                </a:extLst>
              </p:cNvPr>
              <p:cNvGrpSpPr/>
              <p:nvPr/>
            </p:nvGrpSpPr>
            <p:grpSpPr>
              <a:xfrm>
                <a:off x="3131835" y="4047725"/>
                <a:ext cx="182560" cy="348911"/>
                <a:chOff x="2136298" y="4226790"/>
                <a:chExt cx="196678" cy="375893"/>
              </a:xfrm>
            </p:grpSpPr>
            <p:sp>
              <p:nvSpPr>
                <p:cNvPr id="603" name="Rectangle 602">
                  <a:extLst>
                    <a:ext uri="{FF2B5EF4-FFF2-40B4-BE49-F238E27FC236}">
                      <a16:creationId xmlns:a16="http://schemas.microsoft.com/office/drawing/2014/main" id="{32EBC3EA-7519-487C-345D-257D39DC7A38}"/>
                    </a:ext>
                  </a:extLst>
                </p:cNvPr>
                <p:cNvSpPr/>
                <p:nvPr/>
              </p:nvSpPr>
              <p:spPr bwMode="auto">
                <a:xfrm>
                  <a:off x="2138191" y="4226790"/>
                  <a:ext cx="194785" cy="375893"/>
                </a:xfrm>
                <a:prstGeom prst="rect">
                  <a:avLst/>
                </a:prstGeom>
                <a:solidFill>
                  <a:schemeClr val="tx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04" name="server">
                  <a:extLst>
                    <a:ext uri="{FF2B5EF4-FFF2-40B4-BE49-F238E27FC236}">
                      <a16:creationId xmlns:a16="http://schemas.microsoft.com/office/drawing/2014/main" id="{33F985CA-248B-C2A9-2E00-AAB61FDE3B51}"/>
                    </a:ext>
                  </a:extLst>
                </p:cNvPr>
                <p:cNvSpPr>
                  <a:spLocks noChangeAspect="1" noEditPoints="1"/>
                </p:cNvSpPr>
                <p:nvPr/>
              </p:nvSpPr>
              <p:spPr bwMode="auto">
                <a:xfrm>
                  <a:off x="2136298" y="4235711"/>
                  <a:ext cx="192569" cy="36576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4224"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574" name="Oval 573">
                <a:extLst>
                  <a:ext uri="{FF2B5EF4-FFF2-40B4-BE49-F238E27FC236}">
                    <a16:creationId xmlns:a16="http://schemas.microsoft.com/office/drawing/2014/main" id="{2FA853CB-3AE7-5F81-CCC6-316009F790B9}"/>
                  </a:ext>
                </a:extLst>
              </p:cNvPr>
              <p:cNvSpPr/>
              <p:nvPr/>
            </p:nvSpPr>
            <p:spPr bwMode="auto">
              <a:xfrm>
                <a:off x="3218521" y="4213899"/>
                <a:ext cx="223127" cy="223127"/>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76" name="Picture 575">
                <a:extLst>
                  <a:ext uri="{FF2B5EF4-FFF2-40B4-BE49-F238E27FC236}">
                    <a16:creationId xmlns:a16="http://schemas.microsoft.com/office/drawing/2014/main" id="{9A8C9124-FDBC-2FDC-02B8-5D1DE96DA8F7}"/>
                  </a:ext>
                </a:extLst>
              </p:cNvPr>
              <p:cNvPicPr>
                <a:picLocks noChangeAspect="1"/>
              </p:cNvPicPr>
              <p:nvPr/>
            </p:nvPicPr>
            <p:blipFill rotWithShape="1">
              <a:blip r:embed="rId42" cstate="email">
                <a:extLst>
                  <a:ext uri="{28A0092B-C50C-407E-A947-70E740481C1C}">
                    <a14:useLocalDpi xmlns:a14="http://schemas.microsoft.com/office/drawing/2010/main"/>
                  </a:ext>
                </a:extLst>
              </a:blip>
              <a:srcRect r="83295"/>
              <a:stretch/>
            </p:blipFill>
            <p:spPr>
              <a:xfrm>
                <a:off x="3414387" y="4255363"/>
                <a:ext cx="157306" cy="137160"/>
              </a:xfrm>
              <a:prstGeom prst="rect">
                <a:avLst/>
              </a:prstGeom>
            </p:spPr>
          </p:pic>
          <p:sp>
            <p:nvSpPr>
              <p:cNvPr id="602" name="Freeform 6">
                <a:extLst>
                  <a:ext uri="{FF2B5EF4-FFF2-40B4-BE49-F238E27FC236}">
                    <a16:creationId xmlns:a16="http://schemas.microsoft.com/office/drawing/2014/main" id="{661E3A6B-E96B-FE6E-6EED-34113650FB43}"/>
                  </a:ext>
                </a:extLst>
              </p:cNvPr>
              <p:cNvSpPr>
                <a:spLocks noEditPoints="1"/>
              </p:cNvSpPr>
              <p:nvPr/>
            </p:nvSpPr>
            <p:spPr bwMode="auto">
              <a:xfrm>
                <a:off x="3256470" y="4258262"/>
                <a:ext cx="135502" cy="134064"/>
              </a:xfrm>
              <a:custGeom>
                <a:avLst/>
                <a:gdLst>
                  <a:gd name="T0" fmla="*/ 88 w 1374"/>
                  <a:gd name="T1" fmla="*/ 1258 h 1620"/>
                  <a:gd name="T2" fmla="*/ 40 w 1374"/>
                  <a:gd name="T3" fmla="*/ 1324 h 1620"/>
                  <a:gd name="T4" fmla="*/ 42 w 1374"/>
                  <a:gd name="T5" fmla="*/ 1484 h 1620"/>
                  <a:gd name="T6" fmla="*/ 386 w 1374"/>
                  <a:gd name="T7" fmla="*/ 1572 h 1620"/>
                  <a:gd name="T8" fmla="*/ 494 w 1374"/>
                  <a:gd name="T9" fmla="*/ 1488 h 1620"/>
                  <a:gd name="T10" fmla="*/ 266 w 1374"/>
                  <a:gd name="T11" fmla="*/ 1124 h 1620"/>
                  <a:gd name="T12" fmla="*/ 190 w 1374"/>
                  <a:gd name="T13" fmla="*/ 1036 h 1620"/>
                  <a:gd name="T14" fmla="*/ 364 w 1374"/>
                  <a:gd name="T15" fmla="*/ 682 h 1620"/>
                  <a:gd name="T16" fmla="*/ 452 w 1374"/>
                  <a:gd name="T17" fmla="*/ 438 h 1620"/>
                  <a:gd name="T18" fmla="*/ 478 w 1374"/>
                  <a:gd name="T19" fmla="*/ 92 h 1620"/>
                  <a:gd name="T20" fmla="*/ 656 w 1374"/>
                  <a:gd name="T21" fmla="*/ 0 h 1620"/>
                  <a:gd name="T22" fmla="*/ 922 w 1374"/>
                  <a:gd name="T23" fmla="*/ 168 h 1620"/>
                  <a:gd name="T24" fmla="*/ 978 w 1374"/>
                  <a:gd name="T25" fmla="*/ 502 h 1620"/>
                  <a:gd name="T26" fmla="*/ 1140 w 1374"/>
                  <a:gd name="T27" fmla="*/ 750 h 1620"/>
                  <a:gd name="T28" fmla="*/ 1224 w 1374"/>
                  <a:gd name="T29" fmla="*/ 1120 h 1620"/>
                  <a:gd name="T30" fmla="*/ 1078 w 1374"/>
                  <a:gd name="T31" fmla="*/ 1242 h 1620"/>
                  <a:gd name="T32" fmla="*/ 988 w 1374"/>
                  <a:gd name="T33" fmla="*/ 1172 h 1620"/>
                  <a:gd name="T34" fmla="*/ 932 w 1374"/>
                  <a:gd name="T35" fmla="*/ 1222 h 1620"/>
                  <a:gd name="T36" fmla="*/ 952 w 1374"/>
                  <a:gd name="T37" fmla="*/ 1542 h 1620"/>
                  <a:gd name="T38" fmla="*/ 1068 w 1374"/>
                  <a:gd name="T39" fmla="*/ 1560 h 1620"/>
                  <a:gd name="T40" fmla="*/ 1292 w 1374"/>
                  <a:gd name="T41" fmla="*/ 1434 h 1620"/>
                  <a:gd name="T42" fmla="*/ 1236 w 1374"/>
                  <a:gd name="T43" fmla="*/ 1276 h 1620"/>
                  <a:gd name="T44" fmla="*/ 1326 w 1374"/>
                  <a:gd name="T45" fmla="*/ 1330 h 1620"/>
                  <a:gd name="T46" fmla="*/ 1330 w 1374"/>
                  <a:gd name="T47" fmla="*/ 1438 h 1620"/>
                  <a:gd name="T48" fmla="*/ 1048 w 1374"/>
                  <a:gd name="T49" fmla="*/ 1614 h 1620"/>
                  <a:gd name="T50" fmla="*/ 900 w 1374"/>
                  <a:gd name="T51" fmla="*/ 1570 h 1620"/>
                  <a:gd name="T52" fmla="*/ 578 w 1374"/>
                  <a:gd name="T53" fmla="*/ 1546 h 1620"/>
                  <a:gd name="T54" fmla="*/ 356 w 1374"/>
                  <a:gd name="T55" fmla="*/ 1606 h 1620"/>
                  <a:gd name="T56" fmla="*/ 0 w 1374"/>
                  <a:gd name="T57" fmla="*/ 1464 h 1620"/>
                  <a:gd name="T58" fmla="*/ 14 w 1374"/>
                  <a:gd name="T59" fmla="*/ 1256 h 1620"/>
                  <a:gd name="T60" fmla="*/ 166 w 1374"/>
                  <a:gd name="T61" fmla="*/ 1186 h 1620"/>
                  <a:gd name="T62" fmla="*/ 438 w 1374"/>
                  <a:gd name="T63" fmla="*/ 716 h 1620"/>
                  <a:gd name="T64" fmla="*/ 358 w 1374"/>
                  <a:gd name="T65" fmla="*/ 934 h 1620"/>
                  <a:gd name="T66" fmla="*/ 288 w 1374"/>
                  <a:gd name="T67" fmla="*/ 1036 h 1620"/>
                  <a:gd name="T68" fmla="*/ 326 w 1374"/>
                  <a:gd name="T69" fmla="*/ 1124 h 1620"/>
                  <a:gd name="T70" fmla="*/ 520 w 1374"/>
                  <a:gd name="T71" fmla="*/ 1354 h 1620"/>
                  <a:gd name="T72" fmla="*/ 524 w 1374"/>
                  <a:gd name="T73" fmla="*/ 1412 h 1620"/>
                  <a:gd name="T74" fmla="*/ 790 w 1374"/>
                  <a:gd name="T75" fmla="*/ 1418 h 1620"/>
                  <a:gd name="T76" fmla="*/ 892 w 1374"/>
                  <a:gd name="T77" fmla="*/ 1424 h 1620"/>
                  <a:gd name="T78" fmla="*/ 914 w 1374"/>
                  <a:gd name="T79" fmla="*/ 1402 h 1620"/>
                  <a:gd name="T80" fmla="*/ 948 w 1374"/>
                  <a:gd name="T81" fmla="*/ 1130 h 1620"/>
                  <a:gd name="T82" fmla="*/ 976 w 1374"/>
                  <a:gd name="T83" fmla="*/ 930 h 1620"/>
                  <a:gd name="T84" fmla="*/ 842 w 1374"/>
                  <a:gd name="T85" fmla="*/ 588 h 1620"/>
                  <a:gd name="T86" fmla="*/ 820 w 1374"/>
                  <a:gd name="T87" fmla="*/ 438 h 1620"/>
                  <a:gd name="T88" fmla="*/ 700 w 1374"/>
                  <a:gd name="T89" fmla="*/ 370 h 1620"/>
                  <a:gd name="T90" fmla="*/ 744 w 1374"/>
                  <a:gd name="T91" fmla="*/ 288 h 1620"/>
                  <a:gd name="T92" fmla="*/ 802 w 1374"/>
                  <a:gd name="T93" fmla="*/ 390 h 1620"/>
                  <a:gd name="T94" fmla="*/ 786 w 1374"/>
                  <a:gd name="T95" fmla="*/ 246 h 1620"/>
                  <a:gd name="T96" fmla="*/ 674 w 1374"/>
                  <a:gd name="T97" fmla="*/ 302 h 1620"/>
                  <a:gd name="T98" fmla="*/ 538 w 1374"/>
                  <a:gd name="T99" fmla="*/ 246 h 1620"/>
                  <a:gd name="T100" fmla="*/ 494 w 1374"/>
                  <a:gd name="T101" fmla="*/ 368 h 1620"/>
                  <a:gd name="T102" fmla="*/ 508 w 1374"/>
                  <a:gd name="T103" fmla="*/ 344 h 1620"/>
                  <a:gd name="T104" fmla="*/ 558 w 1374"/>
                  <a:gd name="T105" fmla="*/ 304 h 1620"/>
                  <a:gd name="T106" fmla="*/ 510 w 1374"/>
                  <a:gd name="T107" fmla="*/ 418 h 1620"/>
                  <a:gd name="T108" fmla="*/ 576 w 1374"/>
                  <a:gd name="T109" fmla="*/ 514 h 1620"/>
                  <a:gd name="T110" fmla="*/ 792 w 1374"/>
                  <a:gd name="T111" fmla="*/ 466 h 1620"/>
                  <a:gd name="T112" fmla="*/ 570 w 1374"/>
                  <a:gd name="T113" fmla="*/ 560 h 1620"/>
                  <a:gd name="T114" fmla="*/ 762 w 1374"/>
                  <a:gd name="T115" fmla="*/ 514 h 1620"/>
                  <a:gd name="T116" fmla="*/ 568 w 1374"/>
                  <a:gd name="T117" fmla="*/ 618 h 1620"/>
                  <a:gd name="T118" fmla="*/ 1078 w 1374"/>
                  <a:gd name="T119" fmla="*/ 892 h 1620"/>
                  <a:gd name="T120" fmla="*/ 1072 w 1374"/>
                  <a:gd name="T121" fmla="*/ 986 h 1620"/>
                  <a:gd name="T122" fmla="*/ 870 w 1374"/>
                  <a:gd name="T123" fmla="*/ 496 h 1620"/>
                  <a:gd name="T124" fmla="*/ 924 w 1374"/>
                  <a:gd name="T125" fmla="*/ 514 h 1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74" h="1620">
                    <a:moveTo>
                      <a:pt x="174" y="1170"/>
                    </a:moveTo>
                    <a:lnTo>
                      <a:pt x="174" y="1170"/>
                    </a:lnTo>
                    <a:lnTo>
                      <a:pt x="174" y="1188"/>
                    </a:lnTo>
                    <a:lnTo>
                      <a:pt x="172" y="1204"/>
                    </a:lnTo>
                    <a:lnTo>
                      <a:pt x="168" y="1218"/>
                    </a:lnTo>
                    <a:lnTo>
                      <a:pt x="162" y="1230"/>
                    </a:lnTo>
                    <a:lnTo>
                      <a:pt x="154" y="1238"/>
                    </a:lnTo>
                    <a:lnTo>
                      <a:pt x="142" y="1246"/>
                    </a:lnTo>
                    <a:lnTo>
                      <a:pt x="130" y="1252"/>
                    </a:lnTo>
                    <a:lnTo>
                      <a:pt x="114" y="1256"/>
                    </a:lnTo>
                    <a:lnTo>
                      <a:pt x="114" y="1256"/>
                    </a:lnTo>
                    <a:lnTo>
                      <a:pt x="88" y="1258"/>
                    </a:lnTo>
                    <a:lnTo>
                      <a:pt x="64" y="1258"/>
                    </a:lnTo>
                    <a:lnTo>
                      <a:pt x="64" y="1258"/>
                    </a:lnTo>
                    <a:lnTo>
                      <a:pt x="52" y="1260"/>
                    </a:lnTo>
                    <a:lnTo>
                      <a:pt x="42" y="1262"/>
                    </a:lnTo>
                    <a:lnTo>
                      <a:pt x="34" y="1266"/>
                    </a:lnTo>
                    <a:lnTo>
                      <a:pt x="28" y="1272"/>
                    </a:lnTo>
                    <a:lnTo>
                      <a:pt x="26" y="1278"/>
                    </a:lnTo>
                    <a:lnTo>
                      <a:pt x="24" y="1286"/>
                    </a:lnTo>
                    <a:lnTo>
                      <a:pt x="26" y="1294"/>
                    </a:lnTo>
                    <a:lnTo>
                      <a:pt x="30" y="1304"/>
                    </a:lnTo>
                    <a:lnTo>
                      <a:pt x="30" y="1304"/>
                    </a:lnTo>
                    <a:lnTo>
                      <a:pt x="40" y="1324"/>
                    </a:lnTo>
                    <a:lnTo>
                      <a:pt x="46" y="1342"/>
                    </a:lnTo>
                    <a:lnTo>
                      <a:pt x="50" y="1360"/>
                    </a:lnTo>
                    <a:lnTo>
                      <a:pt x="52" y="1378"/>
                    </a:lnTo>
                    <a:lnTo>
                      <a:pt x="52" y="1396"/>
                    </a:lnTo>
                    <a:lnTo>
                      <a:pt x="48" y="1416"/>
                    </a:lnTo>
                    <a:lnTo>
                      <a:pt x="42" y="1434"/>
                    </a:lnTo>
                    <a:lnTo>
                      <a:pt x="32" y="1452"/>
                    </a:lnTo>
                    <a:lnTo>
                      <a:pt x="32" y="1452"/>
                    </a:lnTo>
                    <a:lnTo>
                      <a:pt x="32" y="1456"/>
                    </a:lnTo>
                    <a:lnTo>
                      <a:pt x="32" y="1460"/>
                    </a:lnTo>
                    <a:lnTo>
                      <a:pt x="36" y="1472"/>
                    </a:lnTo>
                    <a:lnTo>
                      <a:pt x="42" y="1484"/>
                    </a:lnTo>
                    <a:lnTo>
                      <a:pt x="50" y="1492"/>
                    </a:lnTo>
                    <a:lnTo>
                      <a:pt x="50" y="1492"/>
                    </a:lnTo>
                    <a:lnTo>
                      <a:pt x="60" y="1498"/>
                    </a:lnTo>
                    <a:lnTo>
                      <a:pt x="72" y="1500"/>
                    </a:lnTo>
                    <a:lnTo>
                      <a:pt x="98" y="1506"/>
                    </a:lnTo>
                    <a:lnTo>
                      <a:pt x="98" y="1506"/>
                    </a:lnTo>
                    <a:lnTo>
                      <a:pt x="216" y="1536"/>
                    </a:lnTo>
                    <a:lnTo>
                      <a:pt x="276" y="1550"/>
                    </a:lnTo>
                    <a:lnTo>
                      <a:pt x="336" y="1564"/>
                    </a:lnTo>
                    <a:lnTo>
                      <a:pt x="336" y="1564"/>
                    </a:lnTo>
                    <a:lnTo>
                      <a:pt x="360" y="1568"/>
                    </a:lnTo>
                    <a:lnTo>
                      <a:pt x="386" y="1572"/>
                    </a:lnTo>
                    <a:lnTo>
                      <a:pt x="412" y="1572"/>
                    </a:lnTo>
                    <a:lnTo>
                      <a:pt x="438" y="1570"/>
                    </a:lnTo>
                    <a:lnTo>
                      <a:pt x="438" y="1570"/>
                    </a:lnTo>
                    <a:lnTo>
                      <a:pt x="452" y="1566"/>
                    </a:lnTo>
                    <a:lnTo>
                      <a:pt x="464" y="1560"/>
                    </a:lnTo>
                    <a:lnTo>
                      <a:pt x="476" y="1552"/>
                    </a:lnTo>
                    <a:lnTo>
                      <a:pt x="484" y="1542"/>
                    </a:lnTo>
                    <a:lnTo>
                      <a:pt x="490" y="1532"/>
                    </a:lnTo>
                    <a:lnTo>
                      <a:pt x="494" y="1518"/>
                    </a:lnTo>
                    <a:lnTo>
                      <a:pt x="494" y="1504"/>
                    </a:lnTo>
                    <a:lnTo>
                      <a:pt x="494" y="1488"/>
                    </a:lnTo>
                    <a:lnTo>
                      <a:pt x="494" y="1488"/>
                    </a:lnTo>
                    <a:lnTo>
                      <a:pt x="490" y="1468"/>
                    </a:lnTo>
                    <a:lnTo>
                      <a:pt x="486" y="1448"/>
                    </a:lnTo>
                    <a:lnTo>
                      <a:pt x="480" y="1430"/>
                    </a:lnTo>
                    <a:lnTo>
                      <a:pt x="472" y="1412"/>
                    </a:lnTo>
                    <a:lnTo>
                      <a:pt x="472" y="1412"/>
                    </a:lnTo>
                    <a:lnTo>
                      <a:pt x="386" y="1284"/>
                    </a:lnTo>
                    <a:lnTo>
                      <a:pt x="344" y="1220"/>
                    </a:lnTo>
                    <a:lnTo>
                      <a:pt x="298" y="1158"/>
                    </a:lnTo>
                    <a:lnTo>
                      <a:pt x="298" y="1158"/>
                    </a:lnTo>
                    <a:lnTo>
                      <a:pt x="290" y="1146"/>
                    </a:lnTo>
                    <a:lnTo>
                      <a:pt x="278" y="1134"/>
                    </a:lnTo>
                    <a:lnTo>
                      <a:pt x="266" y="1124"/>
                    </a:lnTo>
                    <a:lnTo>
                      <a:pt x="254" y="1118"/>
                    </a:lnTo>
                    <a:lnTo>
                      <a:pt x="240" y="1114"/>
                    </a:lnTo>
                    <a:lnTo>
                      <a:pt x="224" y="1112"/>
                    </a:lnTo>
                    <a:lnTo>
                      <a:pt x="208" y="1116"/>
                    </a:lnTo>
                    <a:lnTo>
                      <a:pt x="190" y="1122"/>
                    </a:lnTo>
                    <a:lnTo>
                      <a:pt x="190" y="1122"/>
                    </a:lnTo>
                    <a:lnTo>
                      <a:pt x="186" y="1108"/>
                    </a:lnTo>
                    <a:lnTo>
                      <a:pt x="184" y="1092"/>
                    </a:lnTo>
                    <a:lnTo>
                      <a:pt x="184" y="1078"/>
                    </a:lnTo>
                    <a:lnTo>
                      <a:pt x="184" y="1064"/>
                    </a:lnTo>
                    <a:lnTo>
                      <a:pt x="186" y="1050"/>
                    </a:lnTo>
                    <a:lnTo>
                      <a:pt x="190" y="1036"/>
                    </a:lnTo>
                    <a:lnTo>
                      <a:pt x="200" y="1008"/>
                    </a:lnTo>
                    <a:lnTo>
                      <a:pt x="200" y="1008"/>
                    </a:lnTo>
                    <a:lnTo>
                      <a:pt x="232" y="940"/>
                    </a:lnTo>
                    <a:lnTo>
                      <a:pt x="248" y="906"/>
                    </a:lnTo>
                    <a:lnTo>
                      <a:pt x="262" y="870"/>
                    </a:lnTo>
                    <a:lnTo>
                      <a:pt x="262" y="870"/>
                    </a:lnTo>
                    <a:lnTo>
                      <a:pt x="280" y="820"/>
                    </a:lnTo>
                    <a:lnTo>
                      <a:pt x="304" y="772"/>
                    </a:lnTo>
                    <a:lnTo>
                      <a:pt x="316" y="748"/>
                    </a:lnTo>
                    <a:lnTo>
                      <a:pt x="332" y="726"/>
                    </a:lnTo>
                    <a:lnTo>
                      <a:pt x="348" y="704"/>
                    </a:lnTo>
                    <a:lnTo>
                      <a:pt x="364" y="682"/>
                    </a:lnTo>
                    <a:lnTo>
                      <a:pt x="364" y="682"/>
                    </a:lnTo>
                    <a:lnTo>
                      <a:pt x="378" y="666"/>
                    </a:lnTo>
                    <a:lnTo>
                      <a:pt x="390" y="650"/>
                    </a:lnTo>
                    <a:lnTo>
                      <a:pt x="390" y="650"/>
                    </a:lnTo>
                    <a:lnTo>
                      <a:pt x="406" y="628"/>
                    </a:lnTo>
                    <a:lnTo>
                      <a:pt x="422" y="604"/>
                    </a:lnTo>
                    <a:lnTo>
                      <a:pt x="434" y="578"/>
                    </a:lnTo>
                    <a:lnTo>
                      <a:pt x="444" y="552"/>
                    </a:lnTo>
                    <a:lnTo>
                      <a:pt x="452" y="526"/>
                    </a:lnTo>
                    <a:lnTo>
                      <a:pt x="456" y="498"/>
                    </a:lnTo>
                    <a:lnTo>
                      <a:pt x="456" y="468"/>
                    </a:lnTo>
                    <a:lnTo>
                      <a:pt x="452" y="438"/>
                    </a:lnTo>
                    <a:lnTo>
                      <a:pt x="452" y="438"/>
                    </a:lnTo>
                    <a:lnTo>
                      <a:pt x="448" y="406"/>
                    </a:lnTo>
                    <a:lnTo>
                      <a:pt x="446" y="374"/>
                    </a:lnTo>
                    <a:lnTo>
                      <a:pt x="444" y="310"/>
                    </a:lnTo>
                    <a:lnTo>
                      <a:pt x="446" y="246"/>
                    </a:lnTo>
                    <a:lnTo>
                      <a:pt x="450" y="182"/>
                    </a:lnTo>
                    <a:lnTo>
                      <a:pt x="450" y="182"/>
                    </a:lnTo>
                    <a:lnTo>
                      <a:pt x="452" y="162"/>
                    </a:lnTo>
                    <a:lnTo>
                      <a:pt x="456" y="144"/>
                    </a:lnTo>
                    <a:lnTo>
                      <a:pt x="462" y="124"/>
                    </a:lnTo>
                    <a:lnTo>
                      <a:pt x="470" y="108"/>
                    </a:lnTo>
                    <a:lnTo>
                      <a:pt x="478" y="92"/>
                    </a:lnTo>
                    <a:lnTo>
                      <a:pt x="488" y="76"/>
                    </a:lnTo>
                    <a:lnTo>
                      <a:pt x="500" y="62"/>
                    </a:lnTo>
                    <a:lnTo>
                      <a:pt x="514" y="50"/>
                    </a:lnTo>
                    <a:lnTo>
                      <a:pt x="528" y="40"/>
                    </a:lnTo>
                    <a:lnTo>
                      <a:pt x="544" y="30"/>
                    </a:lnTo>
                    <a:lnTo>
                      <a:pt x="560" y="20"/>
                    </a:lnTo>
                    <a:lnTo>
                      <a:pt x="578" y="14"/>
                    </a:lnTo>
                    <a:lnTo>
                      <a:pt x="596" y="8"/>
                    </a:lnTo>
                    <a:lnTo>
                      <a:pt x="614" y="4"/>
                    </a:lnTo>
                    <a:lnTo>
                      <a:pt x="634" y="2"/>
                    </a:lnTo>
                    <a:lnTo>
                      <a:pt x="656" y="0"/>
                    </a:lnTo>
                    <a:lnTo>
                      <a:pt x="656" y="0"/>
                    </a:lnTo>
                    <a:lnTo>
                      <a:pt x="686" y="2"/>
                    </a:lnTo>
                    <a:lnTo>
                      <a:pt x="718" y="6"/>
                    </a:lnTo>
                    <a:lnTo>
                      <a:pt x="746" y="12"/>
                    </a:lnTo>
                    <a:lnTo>
                      <a:pt x="772" y="20"/>
                    </a:lnTo>
                    <a:lnTo>
                      <a:pt x="798" y="32"/>
                    </a:lnTo>
                    <a:lnTo>
                      <a:pt x="822" y="46"/>
                    </a:lnTo>
                    <a:lnTo>
                      <a:pt x="844" y="60"/>
                    </a:lnTo>
                    <a:lnTo>
                      <a:pt x="864" y="78"/>
                    </a:lnTo>
                    <a:lnTo>
                      <a:pt x="882" y="98"/>
                    </a:lnTo>
                    <a:lnTo>
                      <a:pt x="898" y="120"/>
                    </a:lnTo>
                    <a:lnTo>
                      <a:pt x="910" y="144"/>
                    </a:lnTo>
                    <a:lnTo>
                      <a:pt x="922" y="168"/>
                    </a:lnTo>
                    <a:lnTo>
                      <a:pt x="930" y="196"/>
                    </a:lnTo>
                    <a:lnTo>
                      <a:pt x="938" y="224"/>
                    </a:lnTo>
                    <a:lnTo>
                      <a:pt x="940" y="254"/>
                    </a:lnTo>
                    <a:lnTo>
                      <a:pt x="942" y="286"/>
                    </a:lnTo>
                    <a:lnTo>
                      <a:pt x="942" y="286"/>
                    </a:lnTo>
                    <a:lnTo>
                      <a:pt x="944" y="344"/>
                    </a:lnTo>
                    <a:lnTo>
                      <a:pt x="946" y="370"/>
                    </a:lnTo>
                    <a:lnTo>
                      <a:pt x="950" y="398"/>
                    </a:lnTo>
                    <a:lnTo>
                      <a:pt x="956" y="426"/>
                    </a:lnTo>
                    <a:lnTo>
                      <a:pt x="962" y="452"/>
                    </a:lnTo>
                    <a:lnTo>
                      <a:pt x="968" y="478"/>
                    </a:lnTo>
                    <a:lnTo>
                      <a:pt x="978" y="502"/>
                    </a:lnTo>
                    <a:lnTo>
                      <a:pt x="988" y="528"/>
                    </a:lnTo>
                    <a:lnTo>
                      <a:pt x="998" y="552"/>
                    </a:lnTo>
                    <a:lnTo>
                      <a:pt x="1012" y="576"/>
                    </a:lnTo>
                    <a:lnTo>
                      <a:pt x="1024" y="600"/>
                    </a:lnTo>
                    <a:lnTo>
                      <a:pt x="1040" y="622"/>
                    </a:lnTo>
                    <a:lnTo>
                      <a:pt x="1056" y="646"/>
                    </a:lnTo>
                    <a:lnTo>
                      <a:pt x="1074" y="668"/>
                    </a:lnTo>
                    <a:lnTo>
                      <a:pt x="1094" y="690"/>
                    </a:lnTo>
                    <a:lnTo>
                      <a:pt x="1094" y="690"/>
                    </a:lnTo>
                    <a:lnTo>
                      <a:pt x="1110" y="710"/>
                    </a:lnTo>
                    <a:lnTo>
                      <a:pt x="1126" y="730"/>
                    </a:lnTo>
                    <a:lnTo>
                      <a:pt x="1140" y="750"/>
                    </a:lnTo>
                    <a:lnTo>
                      <a:pt x="1152" y="772"/>
                    </a:lnTo>
                    <a:lnTo>
                      <a:pt x="1176" y="814"/>
                    </a:lnTo>
                    <a:lnTo>
                      <a:pt x="1196" y="860"/>
                    </a:lnTo>
                    <a:lnTo>
                      <a:pt x="1212" y="908"/>
                    </a:lnTo>
                    <a:lnTo>
                      <a:pt x="1224" y="956"/>
                    </a:lnTo>
                    <a:lnTo>
                      <a:pt x="1232" y="1006"/>
                    </a:lnTo>
                    <a:lnTo>
                      <a:pt x="1236" y="1056"/>
                    </a:lnTo>
                    <a:lnTo>
                      <a:pt x="1236" y="1056"/>
                    </a:lnTo>
                    <a:lnTo>
                      <a:pt x="1236" y="1072"/>
                    </a:lnTo>
                    <a:lnTo>
                      <a:pt x="1234" y="1088"/>
                    </a:lnTo>
                    <a:lnTo>
                      <a:pt x="1230" y="1104"/>
                    </a:lnTo>
                    <a:lnTo>
                      <a:pt x="1224" y="1120"/>
                    </a:lnTo>
                    <a:lnTo>
                      <a:pt x="1218" y="1134"/>
                    </a:lnTo>
                    <a:lnTo>
                      <a:pt x="1208" y="1150"/>
                    </a:lnTo>
                    <a:lnTo>
                      <a:pt x="1198" y="1164"/>
                    </a:lnTo>
                    <a:lnTo>
                      <a:pt x="1188" y="1178"/>
                    </a:lnTo>
                    <a:lnTo>
                      <a:pt x="1176" y="1192"/>
                    </a:lnTo>
                    <a:lnTo>
                      <a:pt x="1162" y="1204"/>
                    </a:lnTo>
                    <a:lnTo>
                      <a:pt x="1148" y="1214"/>
                    </a:lnTo>
                    <a:lnTo>
                      <a:pt x="1134" y="1222"/>
                    </a:lnTo>
                    <a:lnTo>
                      <a:pt x="1120" y="1230"/>
                    </a:lnTo>
                    <a:lnTo>
                      <a:pt x="1106" y="1236"/>
                    </a:lnTo>
                    <a:lnTo>
                      <a:pt x="1092" y="1240"/>
                    </a:lnTo>
                    <a:lnTo>
                      <a:pt x="1078" y="1242"/>
                    </a:lnTo>
                    <a:lnTo>
                      <a:pt x="1078" y="1242"/>
                    </a:lnTo>
                    <a:lnTo>
                      <a:pt x="1066" y="1242"/>
                    </a:lnTo>
                    <a:lnTo>
                      <a:pt x="1054" y="1240"/>
                    </a:lnTo>
                    <a:lnTo>
                      <a:pt x="1042" y="1236"/>
                    </a:lnTo>
                    <a:lnTo>
                      <a:pt x="1032" y="1232"/>
                    </a:lnTo>
                    <a:lnTo>
                      <a:pt x="1022" y="1226"/>
                    </a:lnTo>
                    <a:lnTo>
                      <a:pt x="1014" y="1218"/>
                    </a:lnTo>
                    <a:lnTo>
                      <a:pt x="1008" y="1208"/>
                    </a:lnTo>
                    <a:lnTo>
                      <a:pt x="1000" y="1196"/>
                    </a:lnTo>
                    <a:lnTo>
                      <a:pt x="1000" y="1196"/>
                    </a:lnTo>
                    <a:lnTo>
                      <a:pt x="994" y="1184"/>
                    </a:lnTo>
                    <a:lnTo>
                      <a:pt x="988" y="1172"/>
                    </a:lnTo>
                    <a:lnTo>
                      <a:pt x="988" y="1172"/>
                    </a:lnTo>
                    <a:lnTo>
                      <a:pt x="972" y="1158"/>
                    </a:lnTo>
                    <a:lnTo>
                      <a:pt x="964" y="1152"/>
                    </a:lnTo>
                    <a:lnTo>
                      <a:pt x="958" y="1152"/>
                    </a:lnTo>
                    <a:lnTo>
                      <a:pt x="958" y="1152"/>
                    </a:lnTo>
                    <a:lnTo>
                      <a:pt x="950" y="1154"/>
                    </a:lnTo>
                    <a:lnTo>
                      <a:pt x="942" y="1162"/>
                    </a:lnTo>
                    <a:lnTo>
                      <a:pt x="936" y="1170"/>
                    </a:lnTo>
                    <a:lnTo>
                      <a:pt x="934" y="1180"/>
                    </a:lnTo>
                    <a:lnTo>
                      <a:pt x="934" y="1180"/>
                    </a:lnTo>
                    <a:lnTo>
                      <a:pt x="932" y="1200"/>
                    </a:lnTo>
                    <a:lnTo>
                      <a:pt x="932" y="1222"/>
                    </a:lnTo>
                    <a:lnTo>
                      <a:pt x="932" y="1266"/>
                    </a:lnTo>
                    <a:lnTo>
                      <a:pt x="932" y="1266"/>
                    </a:lnTo>
                    <a:lnTo>
                      <a:pt x="940" y="1432"/>
                    </a:lnTo>
                    <a:lnTo>
                      <a:pt x="940" y="1432"/>
                    </a:lnTo>
                    <a:lnTo>
                      <a:pt x="938" y="1456"/>
                    </a:lnTo>
                    <a:lnTo>
                      <a:pt x="936" y="1480"/>
                    </a:lnTo>
                    <a:lnTo>
                      <a:pt x="936" y="1480"/>
                    </a:lnTo>
                    <a:lnTo>
                      <a:pt x="936" y="1494"/>
                    </a:lnTo>
                    <a:lnTo>
                      <a:pt x="938" y="1508"/>
                    </a:lnTo>
                    <a:lnTo>
                      <a:pt x="942" y="1520"/>
                    </a:lnTo>
                    <a:lnTo>
                      <a:pt x="946" y="1532"/>
                    </a:lnTo>
                    <a:lnTo>
                      <a:pt x="952" y="1542"/>
                    </a:lnTo>
                    <a:lnTo>
                      <a:pt x="960" y="1550"/>
                    </a:lnTo>
                    <a:lnTo>
                      <a:pt x="966" y="1558"/>
                    </a:lnTo>
                    <a:lnTo>
                      <a:pt x="976" y="1564"/>
                    </a:lnTo>
                    <a:lnTo>
                      <a:pt x="986" y="1570"/>
                    </a:lnTo>
                    <a:lnTo>
                      <a:pt x="996" y="1572"/>
                    </a:lnTo>
                    <a:lnTo>
                      <a:pt x="1006" y="1574"/>
                    </a:lnTo>
                    <a:lnTo>
                      <a:pt x="1018" y="1574"/>
                    </a:lnTo>
                    <a:lnTo>
                      <a:pt x="1030" y="1574"/>
                    </a:lnTo>
                    <a:lnTo>
                      <a:pt x="1042" y="1570"/>
                    </a:lnTo>
                    <a:lnTo>
                      <a:pt x="1056" y="1566"/>
                    </a:lnTo>
                    <a:lnTo>
                      <a:pt x="1068" y="1560"/>
                    </a:lnTo>
                    <a:lnTo>
                      <a:pt x="1068" y="1560"/>
                    </a:lnTo>
                    <a:lnTo>
                      <a:pt x="1082" y="1552"/>
                    </a:lnTo>
                    <a:lnTo>
                      <a:pt x="1092" y="1544"/>
                    </a:lnTo>
                    <a:lnTo>
                      <a:pt x="1092" y="1544"/>
                    </a:lnTo>
                    <a:lnTo>
                      <a:pt x="1114" y="1526"/>
                    </a:lnTo>
                    <a:lnTo>
                      <a:pt x="1136" y="1510"/>
                    </a:lnTo>
                    <a:lnTo>
                      <a:pt x="1158" y="1496"/>
                    </a:lnTo>
                    <a:lnTo>
                      <a:pt x="1182" y="1482"/>
                    </a:lnTo>
                    <a:lnTo>
                      <a:pt x="1206" y="1470"/>
                    </a:lnTo>
                    <a:lnTo>
                      <a:pt x="1232" y="1458"/>
                    </a:lnTo>
                    <a:lnTo>
                      <a:pt x="1282" y="1438"/>
                    </a:lnTo>
                    <a:lnTo>
                      <a:pt x="1282" y="1438"/>
                    </a:lnTo>
                    <a:lnTo>
                      <a:pt x="1292" y="1434"/>
                    </a:lnTo>
                    <a:lnTo>
                      <a:pt x="1302" y="1428"/>
                    </a:lnTo>
                    <a:lnTo>
                      <a:pt x="1320" y="1416"/>
                    </a:lnTo>
                    <a:lnTo>
                      <a:pt x="1354" y="1386"/>
                    </a:lnTo>
                    <a:lnTo>
                      <a:pt x="1354" y="1386"/>
                    </a:lnTo>
                    <a:lnTo>
                      <a:pt x="1320" y="1360"/>
                    </a:lnTo>
                    <a:lnTo>
                      <a:pt x="1304" y="1348"/>
                    </a:lnTo>
                    <a:lnTo>
                      <a:pt x="1286" y="1336"/>
                    </a:lnTo>
                    <a:lnTo>
                      <a:pt x="1286" y="1336"/>
                    </a:lnTo>
                    <a:lnTo>
                      <a:pt x="1270" y="1326"/>
                    </a:lnTo>
                    <a:lnTo>
                      <a:pt x="1254" y="1312"/>
                    </a:lnTo>
                    <a:lnTo>
                      <a:pt x="1244" y="1296"/>
                    </a:lnTo>
                    <a:lnTo>
                      <a:pt x="1236" y="1276"/>
                    </a:lnTo>
                    <a:lnTo>
                      <a:pt x="1232" y="1256"/>
                    </a:lnTo>
                    <a:lnTo>
                      <a:pt x="1230" y="1232"/>
                    </a:lnTo>
                    <a:lnTo>
                      <a:pt x="1234" y="1208"/>
                    </a:lnTo>
                    <a:lnTo>
                      <a:pt x="1242" y="1182"/>
                    </a:lnTo>
                    <a:lnTo>
                      <a:pt x="1242" y="1182"/>
                    </a:lnTo>
                    <a:lnTo>
                      <a:pt x="1244" y="1210"/>
                    </a:lnTo>
                    <a:lnTo>
                      <a:pt x="1252" y="1236"/>
                    </a:lnTo>
                    <a:lnTo>
                      <a:pt x="1260" y="1260"/>
                    </a:lnTo>
                    <a:lnTo>
                      <a:pt x="1274" y="1280"/>
                    </a:lnTo>
                    <a:lnTo>
                      <a:pt x="1288" y="1298"/>
                    </a:lnTo>
                    <a:lnTo>
                      <a:pt x="1306" y="1316"/>
                    </a:lnTo>
                    <a:lnTo>
                      <a:pt x="1326" y="1330"/>
                    </a:lnTo>
                    <a:lnTo>
                      <a:pt x="1348" y="1344"/>
                    </a:lnTo>
                    <a:lnTo>
                      <a:pt x="1348" y="1344"/>
                    </a:lnTo>
                    <a:lnTo>
                      <a:pt x="1360" y="1352"/>
                    </a:lnTo>
                    <a:lnTo>
                      <a:pt x="1368" y="1360"/>
                    </a:lnTo>
                    <a:lnTo>
                      <a:pt x="1374" y="1370"/>
                    </a:lnTo>
                    <a:lnTo>
                      <a:pt x="1374" y="1382"/>
                    </a:lnTo>
                    <a:lnTo>
                      <a:pt x="1374" y="1392"/>
                    </a:lnTo>
                    <a:lnTo>
                      <a:pt x="1368" y="1404"/>
                    </a:lnTo>
                    <a:lnTo>
                      <a:pt x="1360" y="1414"/>
                    </a:lnTo>
                    <a:lnTo>
                      <a:pt x="1350" y="1424"/>
                    </a:lnTo>
                    <a:lnTo>
                      <a:pt x="1350" y="1424"/>
                    </a:lnTo>
                    <a:lnTo>
                      <a:pt x="1330" y="1438"/>
                    </a:lnTo>
                    <a:lnTo>
                      <a:pt x="1310" y="1450"/>
                    </a:lnTo>
                    <a:lnTo>
                      <a:pt x="1288" y="1462"/>
                    </a:lnTo>
                    <a:lnTo>
                      <a:pt x="1268" y="1474"/>
                    </a:lnTo>
                    <a:lnTo>
                      <a:pt x="1268" y="1474"/>
                    </a:lnTo>
                    <a:lnTo>
                      <a:pt x="1182" y="1528"/>
                    </a:lnTo>
                    <a:lnTo>
                      <a:pt x="1140" y="1558"/>
                    </a:lnTo>
                    <a:lnTo>
                      <a:pt x="1100" y="1588"/>
                    </a:lnTo>
                    <a:lnTo>
                      <a:pt x="1100" y="1588"/>
                    </a:lnTo>
                    <a:lnTo>
                      <a:pt x="1088" y="1596"/>
                    </a:lnTo>
                    <a:lnTo>
                      <a:pt x="1074" y="1602"/>
                    </a:lnTo>
                    <a:lnTo>
                      <a:pt x="1062" y="1608"/>
                    </a:lnTo>
                    <a:lnTo>
                      <a:pt x="1048" y="1614"/>
                    </a:lnTo>
                    <a:lnTo>
                      <a:pt x="1036" y="1616"/>
                    </a:lnTo>
                    <a:lnTo>
                      <a:pt x="1022" y="1618"/>
                    </a:lnTo>
                    <a:lnTo>
                      <a:pt x="1008" y="1620"/>
                    </a:lnTo>
                    <a:lnTo>
                      <a:pt x="996" y="1618"/>
                    </a:lnTo>
                    <a:lnTo>
                      <a:pt x="982" y="1616"/>
                    </a:lnTo>
                    <a:lnTo>
                      <a:pt x="968" y="1614"/>
                    </a:lnTo>
                    <a:lnTo>
                      <a:pt x="956" y="1610"/>
                    </a:lnTo>
                    <a:lnTo>
                      <a:pt x="944" y="1604"/>
                    </a:lnTo>
                    <a:lnTo>
                      <a:pt x="932" y="1598"/>
                    </a:lnTo>
                    <a:lnTo>
                      <a:pt x="920" y="1590"/>
                    </a:lnTo>
                    <a:lnTo>
                      <a:pt x="910" y="1580"/>
                    </a:lnTo>
                    <a:lnTo>
                      <a:pt x="900" y="1570"/>
                    </a:lnTo>
                    <a:lnTo>
                      <a:pt x="900" y="1570"/>
                    </a:lnTo>
                    <a:lnTo>
                      <a:pt x="888" y="1558"/>
                    </a:lnTo>
                    <a:lnTo>
                      <a:pt x="872" y="1548"/>
                    </a:lnTo>
                    <a:lnTo>
                      <a:pt x="854" y="1540"/>
                    </a:lnTo>
                    <a:lnTo>
                      <a:pt x="838" y="1538"/>
                    </a:lnTo>
                    <a:lnTo>
                      <a:pt x="838" y="1538"/>
                    </a:lnTo>
                    <a:lnTo>
                      <a:pt x="780" y="1536"/>
                    </a:lnTo>
                    <a:lnTo>
                      <a:pt x="724" y="1534"/>
                    </a:lnTo>
                    <a:lnTo>
                      <a:pt x="666" y="1536"/>
                    </a:lnTo>
                    <a:lnTo>
                      <a:pt x="610" y="1540"/>
                    </a:lnTo>
                    <a:lnTo>
                      <a:pt x="610" y="1540"/>
                    </a:lnTo>
                    <a:lnTo>
                      <a:pt x="578" y="1546"/>
                    </a:lnTo>
                    <a:lnTo>
                      <a:pt x="546" y="1556"/>
                    </a:lnTo>
                    <a:lnTo>
                      <a:pt x="516" y="1570"/>
                    </a:lnTo>
                    <a:lnTo>
                      <a:pt x="488" y="1584"/>
                    </a:lnTo>
                    <a:lnTo>
                      <a:pt x="488" y="1584"/>
                    </a:lnTo>
                    <a:lnTo>
                      <a:pt x="472" y="1594"/>
                    </a:lnTo>
                    <a:lnTo>
                      <a:pt x="456" y="1602"/>
                    </a:lnTo>
                    <a:lnTo>
                      <a:pt x="440" y="1608"/>
                    </a:lnTo>
                    <a:lnTo>
                      <a:pt x="424" y="1610"/>
                    </a:lnTo>
                    <a:lnTo>
                      <a:pt x="408" y="1612"/>
                    </a:lnTo>
                    <a:lnTo>
                      <a:pt x="392" y="1612"/>
                    </a:lnTo>
                    <a:lnTo>
                      <a:pt x="374" y="1610"/>
                    </a:lnTo>
                    <a:lnTo>
                      <a:pt x="356" y="1606"/>
                    </a:lnTo>
                    <a:lnTo>
                      <a:pt x="356" y="1606"/>
                    </a:lnTo>
                    <a:lnTo>
                      <a:pt x="214" y="1566"/>
                    </a:lnTo>
                    <a:lnTo>
                      <a:pt x="72" y="1530"/>
                    </a:lnTo>
                    <a:lnTo>
                      <a:pt x="72" y="1530"/>
                    </a:lnTo>
                    <a:lnTo>
                      <a:pt x="46" y="1522"/>
                    </a:lnTo>
                    <a:lnTo>
                      <a:pt x="28" y="1514"/>
                    </a:lnTo>
                    <a:lnTo>
                      <a:pt x="14" y="1506"/>
                    </a:lnTo>
                    <a:lnTo>
                      <a:pt x="8" y="1500"/>
                    </a:lnTo>
                    <a:lnTo>
                      <a:pt x="4" y="1494"/>
                    </a:lnTo>
                    <a:lnTo>
                      <a:pt x="2" y="1488"/>
                    </a:lnTo>
                    <a:lnTo>
                      <a:pt x="0" y="1480"/>
                    </a:lnTo>
                    <a:lnTo>
                      <a:pt x="0" y="1464"/>
                    </a:lnTo>
                    <a:lnTo>
                      <a:pt x="4" y="1444"/>
                    </a:lnTo>
                    <a:lnTo>
                      <a:pt x="10" y="1420"/>
                    </a:lnTo>
                    <a:lnTo>
                      <a:pt x="10" y="1420"/>
                    </a:lnTo>
                    <a:lnTo>
                      <a:pt x="16" y="1396"/>
                    </a:lnTo>
                    <a:lnTo>
                      <a:pt x="18" y="1370"/>
                    </a:lnTo>
                    <a:lnTo>
                      <a:pt x="16" y="1344"/>
                    </a:lnTo>
                    <a:lnTo>
                      <a:pt x="12" y="1318"/>
                    </a:lnTo>
                    <a:lnTo>
                      <a:pt x="12" y="1318"/>
                    </a:lnTo>
                    <a:lnTo>
                      <a:pt x="10" y="1298"/>
                    </a:lnTo>
                    <a:lnTo>
                      <a:pt x="8" y="1280"/>
                    </a:lnTo>
                    <a:lnTo>
                      <a:pt x="10" y="1266"/>
                    </a:lnTo>
                    <a:lnTo>
                      <a:pt x="14" y="1256"/>
                    </a:lnTo>
                    <a:lnTo>
                      <a:pt x="22" y="1248"/>
                    </a:lnTo>
                    <a:lnTo>
                      <a:pt x="34" y="1242"/>
                    </a:lnTo>
                    <a:lnTo>
                      <a:pt x="50" y="1240"/>
                    </a:lnTo>
                    <a:lnTo>
                      <a:pt x="72" y="1238"/>
                    </a:lnTo>
                    <a:lnTo>
                      <a:pt x="72" y="1238"/>
                    </a:lnTo>
                    <a:lnTo>
                      <a:pt x="88" y="1236"/>
                    </a:lnTo>
                    <a:lnTo>
                      <a:pt x="104" y="1232"/>
                    </a:lnTo>
                    <a:lnTo>
                      <a:pt x="118" y="1226"/>
                    </a:lnTo>
                    <a:lnTo>
                      <a:pt x="132" y="1220"/>
                    </a:lnTo>
                    <a:lnTo>
                      <a:pt x="144" y="1210"/>
                    </a:lnTo>
                    <a:lnTo>
                      <a:pt x="156" y="1200"/>
                    </a:lnTo>
                    <a:lnTo>
                      <a:pt x="166" y="1186"/>
                    </a:lnTo>
                    <a:lnTo>
                      <a:pt x="174" y="1170"/>
                    </a:lnTo>
                    <a:lnTo>
                      <a:pt x="174" y="1170"/>
                    </a:lnTo>
                    <a:close/>
                    <a:moveTo>
                      <a:pt x="504" y="546"/>
                    </a:moveTo>
                    <a:lnTo>
                      <a:pt x="504" y="546"/>
                    </a:lnTo>
                    <a:lnTo>
                      <a:pt x="488" y="588"/>
                    </a:lnTo>
                    <a:lnTo>
                      <a:pt x="470" y="626"/>
                    </a:lnTo>
                    <a:lnTo>
                      <a:pt x="470" y="626"/>
                    </a:lnTo>
                    <a:lnTo>
                      <a:pt x="456" y="656"/>
                    </a:lnTo>
                    <a:lnTo>
                      <a:pt x="450" y="670"/>
                    </a:lnTo>
                    <a:lnTo>
                      <a:pt x="444" y="686"/>
                    </a:lnTo>
                    <a:lnTo>
                      <a:pt x="440" y="700"/>
                    </a:lnTo>
                    <a:lnTo>
                      <a:pt x="438" y="716"/>
                    </a:lnTo>
                    <a:lnTo>
                      <a:pt x="438" y="734"/>
                    </a:lnTo>
                    <a:lnTo>
                      <a:pt x="442" y="750"/>
                    </a:lnTo>
                    <a:lnTo>
                      <a:pt x="442" y="750"/>
                    </a:lnTo>
                    <a:lnTo>
                      <a:pt x="442" y="756"/>
                    </a:lnTo>
                    <a:lnTo>
                      <a:pt x="442" y="760"/>
                    </a:lnTo>
                    <a:lnTo>
                      <a:pt x="434" y="772"/>
                    </a:lnTo>
                    <a:lnTo>
                      <a:pt x="434" y="772"/>
                    </a:lnTo>
                    <a:lnTo>
                      <a:pt x="414" y="802"/>
                    </a:lnTo>
                    <a:lnTo>
                      <a:pt x="396" y="834"/>
                    </a:lnTo>
                    <a:lnTo>
                      <a:pt x="380" y="866"/>
                    </a:lnTo>
                    <a:lnTo>
                      <a:pt x="368" y="900"/>
                    </a:lnTo>
                    <a:lnTo>
                      <a:pt x="358" y="934"/>
                    </a:lnTo>
                    <a:lnTo>
                      <a:pt x="350" y="970"/>
                    </a:lnTo>
                    <a:lnTo>
                      <a:pt x="346" y="1006"/>
                    </a:lnTo>
                    <a:lnTo>
                      <a:pt x="346" y="1044"/>
                    </a:lnTo>
                    <a:lnTo>
                      <a:pt x="346" y="1044"/>
                    </a:lnTo>
                    <a:lnTo>
                      <a:pt x="346" y="1056"/>
                    </a:lnTo>
                    <a:lnTo>
                      <a:pt x="344" y="1070"/>
                    </a:lnTo>
                    <a:lnTo>
                      <a:pt x="338" y="1104"/>
                    </a:lnTo>
                    <a:lnTo>
                      <a:pt x="338" y="1104"/>
                    </a:lnTo>
                    <a:lnTo>
                      <a:pt x="318" y="1088"/>
                    </a:lnTo>
                    <a:lnTo>
                      <a:pt x="304" y="1072"/>
                    </a:lnTo>
                    <a:lnTo>
                      <a:pt x="296" y="1054"/>
                    </a:lnTo>
                    <a:lnTo>
                      <a:pt x="288" y="1036"/>
                    </a:lnTo>
                    <a:lnTo>
                      <a:pt x="284" y="1018"/>
                    </a:lnTo>
                    <a:lnTo>
                      <a:pt x="282" y="998"/>
                    </a:lnTo>
                    <a:lnTo>
                      <a:pt x="278" y="962"/>
                    </a:lnTo>
                    <a:lnTo>
                      <a:pt x="278" y="962"/>
                    </a:lnTo>
                    <a:lnTo>
                      <a:pt x="274" y="986"/>
                    </a:lnTo>
                    <a:lnTo>
                      <a:pt x="274" y="1008"/>
                    </a:lnTo>
                    <a:lnTo>
                      <a:pt x="274" y="1030"/>
                    </a:lnTo>
                    <a:lnTo>
                      <a:pt x="278" y="1050"/>
                    </a:lnTo>
                    <a:lnTo>
                      <a:pt x="284" y="1070"/>
                    </a:lnTo>
                    <a:lnTo>
                      <a:pt x="294" y="1090"/>
                    </a:lnTo>
                    <a:lnTo>
                      <a:pt x="308" y="1108"/>
                    </a:lnTo>
                    <a:lnTo>
                      <a:pt x="326" y="1124"/>
                    </a:lnTo>
                    <a:lnTo>
                      <a:pt x="326" y="1124"/>
                    </a:lnTo>
                    <a:lnTo>
                      <a:pt x="406" y="1192"/>
                    </a:lnTo>
                    <a:lnTo>
                      <a:pt x="488" y="1260"/>
                    </a:lnTo>
                    <a:lnTo>
                      <a:pt x="488" y="1260"/>
                    </a:lnTo>
                    <a:lnTo>
                      <a:pt x="506" y="1278"/>
                    </a:lnTo>
                    <a:lnTo>
                      <a:pt x="520" y="1294"/>
                    </a:lnTo>
                    <a:lnTo>
                      <a:pt x="528" y="1310"/>
                    </a:lnTo>
                    <a:lnTo>
                      <a:pt x="530" y="1318"/>
                    </a:lnTo>
                    <a:lnTo>
                      <a:pt x="532" y="1324"/>
                    </a:lnTo>
                    <a:lnTo>
                      <a:pt x="530" y="1332"/>
                    </a:lnTo>
                    <a:lnTo>
                      <a:pt x="528" y="1340"/>
                    </a:lnTo>
                    <a:lnTo>
                      <a:pt x="520" y="1354"/>
                    </a:lnTo>
                    <a:lnTo>
                      <a:pt x="506" y="1368"/>
                    </a:lnTo>
                    <a:lnTo>
                      <a:pt x="486" y="1382"/>
                    </a:lnTo>
                    <a:lnTo>
                      <a:pt x="486" y="1382"/>
                    </a:lnTo>
                    <a:lnTo>
                      <a:pt x="546" y="1518"/>
                    </a:lnTo>
                    <a:lnTo>
                      <a:pt x="546" y="1518"/>
                    </a:lnTo>
                    <a:lnTo>
                      <a:pt x="552" y="1504"/>
                    </a:lnTo>
                    <a:lnTo>
                      <a:pt x="554" y="1490"/>
                    </a:lnTo>
                    <a:lnTo>
                      <a:pt x="552" y="1478"/>
                    </a:lnTo>
                    <a:lnTo>
                      <a:pt x="548" y="1464"/>
                    </a:lnTo>
                    <a:lnTo>
                      <a:pt x="534" y="1438"/>
                    </a:lnTo>
                    <a:lnTo>
                      <a:pt x="528" y="1426"/>
                    </a:lnTo>
                    <a:lnTo>
                      <a:pt x="524" y="1412"/>
                    </a:lnTo>
                    <a:lnTo>
                      <a:pt x="524" y="1412"/>
                    </a:lnTo>
                    <a:lnTo>
                      <a:pt x="570" y="1428"/>
                    </a:lnTo>
                    <a:lnTo>
                      <a:pt x="594" y="1434"/>
                    </a:lnTo>
                    <a:lnTo>
                      <a:pt x="618" y="1440"/>
                    </a:lnTo>
                    <a:lnTo>
                      <a:pt x="642" y="1444"/>
                    </a:lnTo>
                    <a:lnTo>
                      <a:pt x="666" y="1446"/>
                    </a:lnTo>
                    <a:lnTo>
                      <a:pt x="692" y="1446"/>
                    </a:lnTo>
                    <a:lnTo>
                      <a:pt x="718" y="1442"/>
                    </a:lnTo>
                    <a:lnTo>
                      <a:pt x="718" y="1442"/>
                    </a:lnTo>
                    <a:lnTo>
                      <a:pt x="744" y="1436"/>
                    </a:lnTo>
                    <a:lnTo>
                      <a:pt x="768" y="1428"/>
                    </a:lnTo>
                    <a:lnTo>
                      <a:pt x="790" y="1418"/>
                    </a:lnTo>
                    <a:lnTo>
                      <a:pt x="812" y="1404"/>
                    </a:lnTo>
                    <a:lnTo>
                      <a:pt x="832" y="1390"/>
                    </a:lnTo>
                    <a:lnTo>
                      <a:pt x="852" y="1372"/>
                    </a:lnTo>
                    <a:lnTo>
                      <a:pt x="870" y="1354"/>
                    </a:lnTo>
                    <a:lnTo>
                      <a:pt x="886" y="1330"/>
                    </a:lnTo>
                    <a:lnTo>
                      <a:pt x="886" y="1330"/>
                    </a:lnTo>
                    <a:lnTo>
                      <a:pt x="892" y="1344"/>
                    </a:lnTo>
                    <a:lnTo>
                      <a:pt x="896" y="1356"/>
                    </a:lnTo>
                    <a:lnTo>
                      <a:pt x="898" y="1368"/>
                    </a:lnTo>
                    <a:lnTo>
                      <a:pt x="898" y="1380"/>
                    </a:lnTo>
                    <a:lnTo>
                      <a:pt x="896" y="1402"/>
                    </a:lnTo>
                    <a:lnTo>
                      <a:pt x="892" y="1424"/>
                    </a:lnTo>
                    <a:lnTo>
                      <a:pt x="886" y="1446"/>
                    </a:lnTo>
                    <a:lnTo>
                      <a:pt x="882" y="1468"/>
                    </a:lnTo>
                    <a:lnTo>
                      <a:pt x="882" y="1480"/>
                    </a:lnTo>
                    <a:lnTo>
                      <a:pt x="882" y="1490"/>
                    </a:lnTo>
                    <a:lnTo>
                      <a:pt x="884" y="1502"/>
                    </a:lnTo>
                    <a:lnTo>
                      <a:pt x="886" y="1512"/>
                    </a:lnTo>
                    <a:lnTo>
                      <a:pt x="886" y="1512"/>
                    </a:lnTo>
                    <a:lnTo>
                      <a:pt x="896" y="1486"/>
                    </a:lnTo>
                    <a:lnTo>
                      <a:pt x="904" y="1458"/>
                    </a:lnTo>
                    <a:lnTo>
                      <a:pt x="910" y="1430"/>
                    </a:lnTo>
                    <a:lnTo>
                      <a:pt x="914" y="1402"/>
                    </a:lnTo>
                    <a:lnTo>
                      <a:pt x="914" y="1402"/>
                    </a:lnTo>
                    <a:lnTo>
                      <a:pt x="912" y="1356"/>
                    </a:lnTo>
                    <a:lnTo>
                      <a:pt x="910" y="1310"/>
                    </a:lnTo>
                    <a:lnTo>
                      <a:pt x="908" y="1266"/>
                    </a:lnTo>
                    <a:lnTo>
                      <a:pt x="908" y="1220"/>
                    </a:lnTo>
                    <a:lnTo>
                      <a:pt x="908" y="1220"/>
                    </a:lnTo>
                    <a:lnTo>
                      <a:pt x="910" y="1200"/>
                    </a:lnTo>
                    <a:lnTo>
                      <a:pt x="912" y="1182"/>
                    </a:lnTo>
                    <a:lnTo>
                      <a:pt x="918" y="1164"/>
                    </a:lnTo>
                    <a:lnTo>
                      <a:pt x="924" y="1156"/>
                    </a:lnTo>
                    <a:lnTo>
                      <a:pt x="928" y="1150"/>
                    </a:lnTo>
                    <a:lnTo>
                      <a:pt x="928" y="1150"/>
                    </a:lnTo>
                    <a:lnTo>
                      <a:pt x="948" y="1130"/>
                    </a:lnTo>
                    <a:lnTo>
                      <a:pt x="970" y="1112"/>
                    </a:lnTo>
                    <a:lnTo>
                      <a:pt x="1006" y="1084"/>
                    </a:lnTo>
                    <a:lnTo>
                      <a:pt x="1006" y="1084"/>
                    </a:lnTo>
                    <a:lnTo>
                      <a:pt x="998" y="1066"/>
                    </a:lnTo>
                    <a:lnTo>
                      <a:pt x="988" y="1048"/>
                    </a:lnTo>
                    <a:lnTo>
                      <a:pt x="982" y="1030"/>
                    </a:lnTo>
                    <a:lnTo>
                      <a:pt x="980" y="1022"/>
                    </a:lnTo>
                    <a:lnTo>
                      <a:pt x="980" y="1014"/>
                    </a:lnTo>
                    <a:lnTo>
                      <a:pt x="980" y="1014"/>
                    </a:lnTo>
                    <a:lnTo>
                      <a:pt x="982" y="986"/>
                    </a:lnTo>
                    <a:lnTo>
                      <a:pt x="980" y="958"/>
                    </a:lnTo>
                    <a:lnTo>
                      <a:pt x="976" y="930"/>
                    </a:lnTo>
                    <a:lnTo>
                      <a:pt x="972" y="904"/>
                    </a:lnTo>
                    <a:lnTo>
                      <a:pt x="966" y="878"/>
                    </a:lnTo>
                    <a:lnTo>
                      <a:pt x="958" y="852"/>
                    </a:lnTo>
                    <a:lnTo>
                      <a:pt x="938" y="800"/>
                    </a:lnTo>
                    <a:lnTo>
                      <a:pt x="916" y="750"/>
                    </a:lnTo>
                    <a:lnTo>
                      <a:pt x="894" y="702"/>
                    </a:lnTo>
                    <a:lnTo>
                      <a:pt x="870" y="652"/>
                    </a:lnTo>
                    <a:lnTo>
                      <a:pt x="850" y="602"/>
                    </a:lnTo>
                    <a:lnTo>
                      <a:pt x="850" y="602"/>
                    </a:lnTo>
                    <a:lnTo>
                      <a:pt x="846" y="594"/>
                    </a:lnTo>
                    <a:lnTo>
                      <a:pt x="842" y="588"/>
                    </a:lnTo>
                    <a:lnTo>
                      <a:pt x="842" y="588"/>
                    </a:lnTo>
                    <a:lnTo>
                      <a:pt x="832" y="574"/>
                    </a:lnTo>
                    <a:lnTo>
                      <a:pt x="822" y="560"/>
                    </a:lnTo>
                    <a:lnTo>
                      <a:pt x="816" y="546"/>
                    </a:lnTo>
                    <a:lnTo>
                      <a:pt x="812" y="530"/>
                    </a:lnTo>
                    <a:lnTo>
                      <a:pt x="810" y="514"/>
                    </a:lnTo>
                    <a:lnTo>
                      <a:pt x="810" y="498"/>
                    </a:lnTo>
                    <a:lnTo>
                      <a:pt x="812" y="482"/>
                    </a:lnTo>
                    <a:lnTo>
                      <a:pt x="816" y="466"/>
                    </a:lnTo>
                    <a:lnTo>
                      <a:pt x="816" y="466"/>
                    </a:lnTo>
                    <a:lnTo>
                      <a:pt x="820" y="456"/>
                    </a:lnTo>
                    <a:lnTo>
                      <a:pt x="820" y="446"/>
                    </a:lnTo>
                    <a:lnTo>
                      <a:pt x="820" y="438"/>
                    </a:lnTo>
                    <a:lnTo>
                      <a:pt x="816" y="432"/>
                    </a:lnTo>
                    <a:lnTo>
                      <a:pt x="812" y="426"/>
                    </a:lnTo>
                    <a:lnTo>
                      <a:pt x="804" y="420"/>
                    </a:lnTo>
                    <a:lnTo>
                      <a:pt x="796" y="416"/>
                    </a:lnTo>
                    <a:lnTo>
                      <a:pt x="786" y="412"/>
                    </a:lnTo>
                    <a:lnTo>
                      <a:pt x="786" y="412"/>
                    </a:lnTo>
                    <a:lnTo>
                      <a:pt x="768" y="406"/>
                    </a:lnTo>
                    <a:lnTo>
                      <a:pt x="750" y="400"/>
                    </a:lnTo>
                    <a:lnTo>
                      <a:pt x="716" y="382"/>
                    </a:lnTo>
                    <a:lnTo>
                      <a:pt x="716" y="382"/>
                    </a:lnTo>
                    <a:lnTo>
                      <a:pt x="708" y="376"/>
                    </a:lnTo>
                    <a:lnTo>
                      <a:pt x="700" y="370"/>
                    </a:lnTo>
                    <a:lnTo>
                      <a:pt x="696" y="362"/>
                    </a:lnTo>
                    <a:lnTo>
                      <a:pt x="696" y="354"/>
                    </a:lnTo>
                    <a:lnTo>
                      <a:pt x="696" y="344"/>
                    </a:lnTo>
                    <a:lnTo>
                      <a:pt x="696" y="336"/>
                    </a:lnTo>
                    <a:lnTo>
                      <a:pt x="702" y="320"/>
                    </a:lnTo>
                    <a:lnTo>
                      <a:pt x="702" y="320"/>
                    </a:lnTo>
                    <a:lnTo>
                      <a:pt x="710" y="308"/>
                    </a:lnTo>
                    <a:lnTo>
                      <a:pt x="720" y="298"/>
                    </a:lnTo>
                    <a:lnTo>
                      <a:pt x="732" y="290"/>
                    </a:lnTo>
                    <a:lnTo>
                      <a:pt x="738" y="288"/>
                    </a:lnTo>
                    <a:lnTo>
                      <a:pt x="744" y="288"/>
                    </a:lnTo>
                    <a:lnTo>
                      <a:pt x="744" y="288"/>
                    </a:lnTo>
                    <a:lnTo>
                      <a:pt x="750" y="290"/>
                    </a:lnTo>
                    <a:lnTo>
                      <a:pt x="756" y="292"/>
                    </a:lnTo>
                    <a:lnTo>
                      <a:pt x="768" y="302"/>
                    </a:lnTo>
                    <a:lnTo>
                      <a:pt x="778" y="312"/>
                    </a:lnTo>
                    <a:lnTo>
                      <a:pt x="786" y="326"/>
                    </a:lnTo>
                    <a:lnTo>
                      <a:pt x="786" y="326"/>
                    </a:lnTo>
                    <a:lnTo>
                      <a:pt x="790" y="340"/>
                    </a:lnTo>
                    <a:lnTo>
                      <a:pt x="790" y="354"/>
                    </a:lnTo>
                    <a:lnTo>
                      <a:pt x="788" y="388"/>
                    </a:lnTo>
                    <a:lnTo>
                      <a:pt x="788" y="388"/>
                    </a:lnTo>
                    <a:lnTo>
                      <a:pt x="796" y="390"/>
                    </a:lnTo>
                    <a:lnTo>
                      <a:pt x="802" y="390"/>
                    </a:lnTo>
                    <a:lnTo>
                      <a:pt x="808" y="388"/>
                    </a:lnTo>
                    <a:lnTo>
                      <a:pt x="814" y="386"/>
                    </a:lnTo>
                    <a:lnTo>
                      <a:pt x="818" y="382"/>
                    </a:lnTo>
                    <a:lnTo>
                      <a:pt x="820" y="376"/>
                    </a:lnTo>
                    <a:lnTo>
                      <a:pt x="824" y="362"/>
                    </a:lnTo>
                    <a:lnTo>
                      <a:pt x="824" y="362"/>
                    </a:lnTo>
                    <a:lnTo>
                      <a:pt x="824" y="338"/>
                    </a:lnTo>
                    <a:lnTo>
                      <a:pt x="822" y="316"/>
                    </a:lnTo>
                    <a:lnTo>
                      <a:pt x="818" y="294"/>
                    </a:lnTo>
                    <a:lnTo>
                      <a:pt x="810" y="276"/>
                    </a:lnTo>
                    <a:lnTo>
                      <a:pt x="798" y="260"/>
                    </a:lnTo>
                    <a:lnTo>
                      <a:pt x="786" y="246"/>
                    </a:lnTo>
                    <a:lnTo>
                      <a:pt x="770" y="238"/>
                    </a:lnTo>
                    <a:lnTo>
                      <a:pt x="762" y="236"/>
                    </a:lnTo>
                    <a:lnTo>
                      <a:pt x="754" y="234"/>
                    </a:lnTo>
                    <a:lnTo>
                      <a:pt x="754" y="234"/>
                    </a:lnTo>
                    <a:lnTo>
                      <a:pt x="738" y="234"/>
                    </a:lnTo>
                    <a:lnTo>
                      <a:pt x="722" y="236"/>
                    </a:lnTo>
                    <a:lnTo>
                      <a:pt x="708" y="240"/>
                    </a:lnTo>
                    <a:lnTo>
                      <a:pt x="702" y="244"/>
                    </a:lnTo>
                    <a:lnTo>
                      <a:pt x="700" y="248"/>
                    </a:lnTo>
                    <a:lnTo>
                      <a:pt x="700" y="248"/>
                    </a:lnTo>
                    <a:lnTo>
                      <a:pt x="686" y="274"/>
                    </a:lnTo>
                    <a:lnTo>
                      <a:pt x="674" y="302"/>
                    </a:lnTo>
                    <a:lnTo>
                      <a:pt x="652" y="358"/>
                    </a:lnTo>
                    <a:lnTo>
                      <a:pt x="652" y="358"/>
                    </a:lnTo>
                    <a:lnTo>
                      <a:pt x="602" y="354"/>
                    </a:lnTo>
                    <a:lnTo>
                      <a:pt x="602" y="354"/>
                    </a:lnTo>
                    <a:lnTo>
                      <a:pt x="592" y="310"/>
                    </a:lnTo>
                    <a:lnTo>
                      <a:pt x="586" y="290"/>
                    </a:lnTo>
                    <a:lnTo>
                      <a:pt x="578" y="272"/>
                    </a:lnTo>
                    <a:lnTo>
                      <a:pt x="578" y="272"/>
                    </a:lnTo>
                    <a:lnTo>
                      <a:pt x="574" y="266"/>
                    </a:lnTo>
                    <a:lnTo>
                      <a:pt x="568" y="260"/>
                    </a:lnTo>
                    <a:lnTo>
                      <a:pt x="552" y="252"/>
                    </a:lnTo>
                    <a:lnTo>
                      <a:pt x="538" y="246"/>
                    </a:lnTo>
                    <a:lnTo>
                      <a:pt x="532" y="244"/>
                    </a:lnTo>
                    <a:lnTo>
                      <a:pt x="530" y="244"/>
                    </a:lnTo>
                    <a:lnTo>
                      <a:pt x="530" y="244"/>
                    </a:lnTo>
                    <a:lnTo>
                      <a:pt x="518" y="260"/>
                    </a:lnTo>
                    <a:lnTo>
                      <a:pt x="506" y="278"/>
                    </a:lnTo>
                    <a:lnTo>
                      <a:pt x="496" y="296"/>
                    </a:lnTo>
                    <a:lnTo>
                      <a:pt x="492" y="314"/>
                    </a:lnTo>
                    <a:lnTo>
                      <a:pt x="492" y="314"/>
                    </a:lnTo>
                    <a:lnTo>
                      <a:pt x="488" y="336"/>
                    </a:lnTo>
                    <a:lnTo>
                      <a:pt x="488" y="346"/>
                    </a:lnTo>
                    <a:lnTo>
                      <a:pt x="490" y="356"/>
                    </a:lnTo>
                    <a:lnTo>
                      <a:pt x="494" y="368"/>
                    </a:lnTo>
                    <a:lnTo>
                      <a:pt x="500" y="376"/>
                    </a:lnTo>
                    <a:lnTo>
                      <a:pt x="508" y="384"/>
                    </a:lnTo>
                    <a:lnTo>
                      <a:pt x="520" y="392"/>
                    </a:lnTo>
                    <a:lnTo>
                      <a:pt x="520" y="392"/>
                    </a:lnTo>
                    <a:lnTo>
                      <a:pt x="522" y="390"/>
                    </a:lnTo>
                    <a:lnTo>
                      <a:pt x="528" y="386"/>
                    </a:lnTo>
                    <a:lnTo>
                      <a:pt x="528" y="386"/>
                    </a:lnTo>
                    <a:lnTo>
                      <a:pt x="516" y="372"/>
                    </a:lnTo>
                    <a:lnTo>
                      <a:pt x="512" y="366"/>
                    </a:lnTo>
                    <a:lnTo>
                      <a:pt x="510" y="358"/>
                    </a:lnTo>
                    <a:lnTo>
                      <a:pt x="510" y="358"/>
                    </a:lnTo>
                    <a:lnTo>
                      <a:pt x="508" y="344"/>
                    </a:lnTo>
                    <a:lnTo>
                      <a:pt x="510" y="328"/>
                    </a:lnTo>
                    <a:lnTo>
                      <a:pt x="512" y="314"/>
                    </a:lnTo>
                    <a:lnTo>
                      <a:pt x="516" y="298"/>
                    </a:lnTo>
                    <a:lnTo>
                      <a:pt x="516" y="298"/>
                    </a:lnTo>
                    <a:lnTo>
                      <a:pt x="518" y="296"/>
                    </a:lnTo>
                    <a:lnTo>
                      <a:pt x="522" y="294"/>
                    </a:lnTo>
                    <a:lnTo>
                      <a:pt x="532" y="292"/>
                    </a:lnTo>
                    <a:lnTo>
                      <a:pt x="542" y="290"/>
                    </a:lnTo>
                    <a:lnTo>
                      <a:pt x="546" y="290"/>
                    </a:lnTo>
                    <a:lnTo>
                      <a:pt x="550" y="292"/>
                    </a:lnTo>
                    <a:lnTo>
                      <a:pt x="550" y="292"/>
                    </a:lnTo>
                    <a:lnTo>
                      <a:pt x="558" y="304"/>
                    </a:lnTo>
                    <a:lnTo>
                      <a:pt x="564" y="318"/>
                    </a:lnTo>
                    <a:lnTo>
                      <a:pt x="570" y="332"/>
                    </a:lnTo>
                    <a:lnTo>
                      <a:pt x="574" y="346"/>
                    </a:lnTo>
                    <a:lnTo>
                      <a:pt x="574" y="346"/>
                    </a:lnTo>
                    <a:lnTo>
                      <a:pt x="574" y="354"/>
                    </a:lnTo>
                    <a:lnTo>
                      <a:pt x="570" y="360"/>
                    </a:lnTo>
                    <a:lnTo>
                      <a:pt x="560" y="374"/>
                    </a:lnTo>
                    <a:lnTo>
                      <a:pt x="560" y="374"/>
                    </a:lnTo>
                    <a:lnTo>
                      <a:pt x="534" y="396"/>
                    </a:lnTo>
                    <a:lnTo>
                      <a:pt x="522" y="406"/>
                    </a:lnTo>
                    <a:lnTo>
                      <a:pt x="510" y="418"/>
                    </a:lnTo>
                    <a:lnTo>
                      <a:pt x="510" y="418"/>
                    </a:lnTo>
                    <a:lnTo>
                      <a:pt x="504" y="428"/>
                    </a:lnTo>
                    <a:lnTo>
                      <a:pt x="498" y="440"/>
                    </a:lnTo>
                    <a:lnTo>
                      <a:pt x="494" y="450"/>
                    </a:lnTo>
                    <a:lnTo>
                      <a:pt x="494" y="454"/>
                    </a:lnTo>
                    <a:lnTo>
                      <a:pt x="494" y="456"/>
                    </a:lnTo>
                    <a:lnTo>
                      <a:pt x="494" y="456"/>
                    </a:lnTo>
                    <a:lnTo>
                      <a:pt x="514" y="476"/>
                    </a:lnTo>
                    <a:lnTo>
                      <a:pt x="526" y="488"/>
                    </a:lnTo>
                    <a:lnTo>
                      <a:pt x="536" y="496"/>
                    </a:lnTo>
                    <a:lnTo>
                      <a:pt x="548" y="504"/>
                    </a:lnTo>
                    <a:lnTo>
                      <a:pt x="562" y="510"/>
                    </a:lnTo>
                    <a:lnTo>
                      <a:pt x="576" y="514"/>
                    </a:lnTo>
                    <a:lnTo>
                      <a:pt x="594" y="514"/>
                    </a:lnTo>
                    <a:lnTo>
                      <a:pt x="594" y="514"/>
                    </a:lnTo>
                    <a:lnTo>
                      <a:pt x="644" y="506"/>
                    </a:lnTo>
                    <a:lnTo>
                      <a:pt x="670" y="500"/>
                    </a:lnTo>
                    <a:lnTo>
                      <a:pt x="694" y="494"/>
                    </a:lnTo>
                    <a:lnTo>
                      <a:pt x="718" y="486"/>
                    </a:lnTo>
                    <a:lnTo>
                      <a:pt x="742" y="474"/>
                    </a:lnTo>
                    <a:lnTo>
                      <a:pt x="766" y="460"/>
                    </a:lnTo>
                    <a:lnTo>
                      <a:pt x="788" y="444"/>
                    </a:lnTo>
                    <a:lnTo>
                      <a:pt x="788" y="444"/>
                    </a:lnTo>
                    <a:lnTo>
                      <a:pt x="792" y="460"/>
                    </a:lnTo>
                    <a:lnTo>
                      <a:pt x="792" y="466"/>
                    </a:lnTo>
                    <a:lnTo>
                      <a:pt x="792" y="466"/>
                    </a:lnTo>
                    <a:lnTo>
                      <a:pt x="734" y="494"/>
                    </a:lnTo>
                    <a:lnTo>
                      <a:pt x="706" y="506"/>
                    </a:lnTo>
                    <a:lnTo>
                      <a:pt x="676" y="518"/>
                    </a:lnTo>
                    <a:lnTo>
                      <a:pt x="646" y="528"/>
                    </a:lnTo>
                    <a:lnTo>
                      <a:pt x="614" y="534"/>
                    </a:lnTo>
                    <a:lnTo>
                      <a:pt x="580" y="538"/>
                    </a:lnTo>
                    <a:lnTo>
                      <a:pt x="564" y="536"/>
                    </a:lnTo>
                    <a:lnTo>
                      <a:pt x="546" y="534"/>
                    </a:lnTo>
                    <a:lnTo>
                      <a:pt x="546" y="534"/>
                    </a:lnTo>
                    <a:lnTo>
                      <a:pt x="558" y="548"/>
                    </a:lnTo>
                    <a:lnTo>
                      <a:pt x="570" y="560"/>
                    </a:lnTo>
                    <a:lnTo>
                      <a:pt x="582" y="566"/>
                    </a:lnTo>
                    <a:lnTo>
                      <a:pt x="596" y="570"/>
                    </a:lnTo>
                    <a:lnTo>
                      <a:pt x="608" y="572"/>
                    </a:lnTo>
                    <a:lnTo>
                      <a:pt x="622" y="570"/>
                    </a:lnTo>
                    <a:lnTo>
                      <a:pt x="634" y="568"/>
                    </a:lnTo>
                    <a:lnTo>
                      <a:pt x="648" y="564"/>
                    </a:lnTo>
                    <a:lnTo>
                      <a:pt x="648" y="564"/>
                    </a:lnTo>
                    <a:lnTo>
                      <a:pt x="672" y="554"/>
                    </a:lnTo>
                    <a:lnTo>
                      <a:pt x="696" y="544"/>
                    </a:lnTo>
                    <a:lnTo>
                      <a:pt x="742" y="520"/>
                    </a:lnTo>
                    <a:lnTo>
                      <a:pt x="742" y="520"/>
                    </a:lnTo>
                    <a:lnTo>
                      <a:pt x="762" y="514"/>
                    </a:lnTo>
                    <a:lnTo>
                      <a:pt x="782" y="510"/>
                    </a:lnTo>
                    <a:lnTo>
                      <a:pt x="782" y="510"/>
                    </a:lnTo>
                    <a:lnTo>
                      <a:pt x="786" y="522"/>
                    </a:lnTo>
                    <a:lnTo>
                      <a:pt x="786" y="522"/>
                    </a:lnTo>
                    <a:lnTo>
                      <a:pt x="698" y="578"/>
                    </a:lnTo>
                    <a:lnTo>
                      <a:pt x="654" y="604"/>
                    </a:lnTo>
                    <a:lnTo>
                      <a:pt x="608" y="630"/>
                    </a:lnTo>
                    <a:lnTo>
                      <a:pt x="608" y="630"/>
                    </a:lnTo>
                    <a:lnTo>
                      <a:pt x="604" y="630"/>
                    </a:lnTo>
                    <a:lnTo>
                      <a:pt x="598" y="630"/>
                    </a:lnTo>
                    <a:lnTo>
                      <a:pt x="582" y="626"/>
                    </a:lnTo>
                    <a:lnTo>
                      <a:pt x="568" y="618"/>
                    </a:lnTo>
                    <a:lnTo>
                      <a:pt x="554" y="608"/>
                    </a:lnTo>
                    <a:lnTo>
                      <a:pt x="554" y="608"/>
                    </a:lnTo>
                    <a:lnTo>
                      <a:pt x="540" y="594"/>
                    </a:lnTo>
                    <a:lnTo>
                      <a:pt x="528" y="578"/>
                    </a:lnTo>
                    <a:lnTo>
                      <a:pt x="504" y="546"/>
                    </a:lnTo>
                    <a:lnTo>
                      <a:pt x="504" y="546"/>
                    </a:lnTo>
                    <a:close/>
                    <a:moveTo>
                      <a:pt x="1078" y="1054"/>
                    </a:moveTo>
                    <a:lnTo>
                      <a:pt x="1078" y="1054"/>
                    </a:lnTo>
                    <a:lnTo>
                      <a:pt x="1084" y="1012"/>
                    </a:lnTo>
                    <a:lnTo>
                      <a:pt x="1086" y="970"/>
                    </a:lnTo>
                    <a:lnTo>
                      <a:pt x="1084" y="930"/>
                    </a:lnTo>
                    <a:lnTo>
                      <a:pt x="1078" y="892"/>
                    </a:lnTo>
                    <a:lnTo>
                      <a:pt x="1068" y="854"/>
                    </a:lnTo>
                    <a:lnTo>
                      <a:pt x="1052" y="818"/>
                    </a:lnTo>
                    <a:lnTo>
                      <a:pt x="1032" y="784"/>
                    </a:lnTo>
                    <a:lnTo>
                      <a:pt x="1008" y="750"/>
                    </a:lnTo>
                    <a:lnTo>
                      <a:pt x="1008" y="750"/>
                    </a:lnTo>
                    <a:lnTo>
                      <a:pt x="1040" y="826"/>
                    </a:lnTo>
                    <a:lnTo>
                      <a:pt x="1056" y="866"/>
                    </a:lnTo>
                    <a:lnTo>
                      <a:pt x="1066" y="904"/>
                    </a:lnTo>
                    <a:lnTo>
                      <a:pt x="1070" y="924"/>
                    </a:lnTo>
                    <a:lnTo>
                      <a:pt x="1072" y="944"/>
                    </a:lnTo>
                    <a:lnTo>
                      <a:pt x="1074" y="966"/>
                    </a:lnTo>
                    <a:lnTo>
                      <a:pt x="1072" y="986"/>
                    </a:lnTo>
                    <a:lnTo>
                      <a:pt x="1070" y="1006"/>
                    </a:lnTo>
                    <a:lnTo>
                      <a:pt x="1064" y="1028"/>
                    </a:lnTo>
                    <a:lnTo>
                      <a:pt x="1056" y="1050"/>
                    </a:lnTo>
                    <a:lnTo>
                      <a:pt x="1046" y="1070"/>
                    </a:lnTo>
                    <a:lnTo>
                      <a:pt x="1046" y="1070"/>
                    </a:lnTo>
                    <a:lnTo>
                      <a:pt x="1108" y="1080"/>
                    </a:lnTo>
                    <a:lnTo>
                      <a:pt x="1108" y="1080"/>
                    </a:lnTo>
                    <a:lnTo>
                      <a:pt x="1078" y="1054"/>
                    </a:lnTo>
                    <a:lnTo>
                      <a:pt x="1078" y="1054"/>
                    </a:lnTo>
                    <a:close/>
                    <a:moveTo>
                      <a:pt x="880" y="490"/>
                    </a:moveTo>
                    <a:lnTo>
                      <a:pt x="880" y="490"/>
                    </a:lnTo>
                    <a:lnTo>
                      <a:pt x="870" y="496"/>
                    </a:lnTo>
                    <a:lnTo>
                      <a:pt x="870" y="496"/>
                    </a:lnTo>
                    <a:lnTo>
                      <a:pt x="888" y="520"/>
                    </a:lnTo>
                    <a:lnTo>
                      <a:pt x="908" y="542"/>
                    </a:lnTo>
                    <a:lnTo>
                      <a:pt x="908" y="542"/>
                    </a:lnTo>
                    <a:lnTo>
                      <a:pt x="912" y="544"/>
                    </a:lnTo>
                    <a:lnTo>
                      <a:pt x="918" y="544"/>
                    </a:lnTo>
                    <a:lnTo>
                      <a:pt x="932" y="542"/>
                    </a:lnTo>
                    <a:lnTo>
                      <a:pt x="932" y="542"/>
                    </a:lnTo>
                    <a:lnTo>
                      <a:pt x="928" y="526"/>
                    </a:lnTo>
                    <a:lnTo>
                      <a:pt x="928" y="520"/>
                    </a:lnTo>
                    <a:lnTo>
                      <a:pt x="924" y="514"/>
                    </a:lnTo>
                    <a:lnTo>
                      <a:pt x="924" y="514"/>
                    </a:lnTo>
                    <a:lnTo>
                      <a:pt x="914" y="508"/>
                    </a:lnTo>
                    <a:lnTo>
                      <a:pt x="902" y="502"/>
                    </a:lnTo>
                    <a:lnTo>
                      <a:pt x="880" y="490"/>
                    </a:lnTo>
                    <a:lnTo>
                      <a:pt x="880" y="490"/>
                    </a:lnTo>
                    <a:close/>
                  </a:path>
                </a:pathLst>
              </a:custGeom>
              <a:solidFill>
                <a:srgbClr val="0070C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706" tIns="146165" rIns="182706" bIns="146165" numCol="1" spcCol="0" rtlCol="0" fromWordArt="0" anchor="t" anchorCtr="0" forceAA="0" compatLnSpc="1">
                <a:prstTxWarp prst="textNoShape">
                  <a:avLst/>
                </a:prstTxWarp>
                <a:noAutofit/>
              </a:bodyPr>
              <a:lstStyle/>
              <a:p>
                <a:pPr marL="0" marR="0" lvl="0" indent="0" algn="ctr" defTabSz="913111" rtl="0" eaLnBrk="1" fontAlgn="base" latinLnBrk="0" hangingPunct="1">
                  <a:lnSpc>
                    <a:spcPct val="90000"/>
                  </a:lnSpc>
                  <a:spcBef>
                    <a:spcPct val="0"/>
                  </a:spcBef>
                  <a:spcAft>
                    <a:spcPct val="0"/>
                  </a:spcAft>
                  <a:buClrTx/>
                  <a:buSzTx/>
                  <a:buFontTx/>
                  <a:buNone/>
                  <a:tabLst/>
                  <a:defRPr/>
                </a:pPr>
                <a:endParaRPr kumimoji="0" lang="en-US" sz="1998" b="0" i="0" u="none" strike="noStrike" kern="1200" cap="none" spc="-50" normalizeH="0" baseline="0" noProof="0">
                  <a:ln>
                    <a:noFill/>
                  </a:ln>
                  <a:gradFill>
                    <a:gsLst>
                      <a:gs pos="1250">
                        <a:srgbClr val="EFEFEF"/>
                      </a:gs>
                      <a:gs pos="10417">
                        <a:srgbClr val="EFEFEF"/>
                      </a:gs>
                    </a:gsLst>
                    <a:lin ang="5400000" scaled="0"/>
                  </a:gradFill>
                  <a:effectLst/>
                  <a:uLnTx/>
                  <a:uFillTx/>
                  <a:latin typeface="Segoe UI Light"/>
                  <a:ea typeface="+mn-ea"/>
                  <a:cs typeface="+mn-cs"/>
                </a:endParaRPr>
              </a:p>
            </p:txBody>
          </p:sp>
        </p:grpSp>
      </p:grpSp>
      <p:sp>
        <p:nvSpPr>
          <p:cNvPr id="734" name="Rectangle 733">
            <a:extLst>
              <a:ext uri="{FF2B5EF4-FFF2-40B4-BE49-F238E27FC236}">
                <a16:creationId xmlns:a16="http://schemas.microsoft.com/office/drawing/2014/main" id="{2933C772-2D53-0FAB-9AF3-FCBB2DAF94FD}"/>
              </a:ext>
            </a:extLst>
          </p:cNvPr>
          <p:cNvSpPr/>
          <p:nvPr/>
        </p:nvSpPr>
        <p:spPr>
          <a:xfrm>
            <a:off x="186803" y="2251021"/>
            <a:ext cx="1764730" cy="257763"/>
          </a:xfrm>
          <a:prstGeom prst="rect">
            <a:avLst/>
          </a:prstGeom>
          <a:solidFill>
            <a:srgbClr val="0078D4"/>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75" b="1" i="0" u="none" strike="noStrike" kern="0" cap="none" spc="0" normalizeH="0" baseline="0" noProof="0">
                <a:ln>
                  <a:noFill/>
                </a:ln>
                <a:gradFill>
                  <a:gsLst>
                    <a:gs pos="0">
                      <a:srgbClr val="FFFFFF"/>
                    </a:gs>
                    <a:gs pos="100000">
                      <a:srgbClr val="FFFFFF"/>
                    </a:gs>
                  </a:gsLst>
                  <a:lin ang="5400000" scaled="1"/>
                </a:gradFill>
                <a:effectLst/>
                <a:uLnTx/>
                <a:uFillTx/>
                <a:latin typeface="Segoe UI Semibold" panose="020B0702040204020203" pitchFamily="34" charset="0"/>
                <a:cs typeface="Segoe UI Semibold" panose="020B0702040204020203" pitchFamily="34" charset="0"/>
              </a:rPr>
              <a:t>Endpoints &amp; Devices</a:t>
            </a:r>
          </a:p>
        </p:txBody>
      </p:sp>
      <p:sp>
        <p:nvSpPr>
          <p:cNvPr id="715" name="Rectangle 714">
            <a:extLst>
              <a:ext uri="{FF2B5EF4-FFF2-40B4-BE49-F238E27FC236}">
                <a16:creationId xmlns:a16="http://schemas.microsoft.com/office/drawing/2014/main" id="{DE060694-91E7-5783-9583-11E03311DFA4}"/>
              </a:ext>
            </a:extLst>
          </p:cNvPr>
          <p:cNvSpPr/>
          <p:nvPr/>
        </p:nvSpPr>
        <p:spPr>
          <a:xfrm>
            <a:off x="2050375" y="2246630"/>
            <a:ext cx="6176844" cy="257763"/>
          </a:xfrm>
          <a:prstGeom prst="rect">
            <a:avLst/>
          </a:prstGeom>
          <a:solidFill>
            <a:srgbClr val="0078D4"/>
          </a:solidFill>
          <a:ln>
            <a:noFill/>
          </a:ln>
        </p:spPr>
        <p:txBody>
          <a:bodyPr wrap="square">
            <a:spAutoFit/>
          </a:bodyPr>
          <a:lstStyle/>
          <a:p>
            <a:pPr lvl="0" algn="ctr">
              <a:defRPr/>
            </a:pPr>
            <a:r>
              <a:rPr lang="en-US" sz="1075" b="1">
                <a:gradFill>
                  <a:gsLst>
                    <a:gs pos="0">
                      <a:srgbClr val="FFFFFF"/>
                    </a:gs>
                    <a:gs pos="100000">
                      <a:srgbClr val="FFFFFF"/>
                    </a:gs>
                  </a:gsLst>
                  <a:lin ang="5400000" scaled="1"/>
                </a:gradFill>
                <a:latin typeface="Segoe UI Semibold" panose="020B0702040204020203" pitchFamily="34" charset="0"/>
                <a:cs typeface="Segoe UI Semibold" panose="020B0702040204020203" pitchFamily="34" charset="0"/>
              </a:rPr>
              <a:t>Infrastructure and Development Security </a:t>
            </a:r>
            <a:r>
              <a:rPr lang="en-US" sz="1075" i="1">
                <a:gradFill>
                  <a:gsLst>
                    <a:gs pos="0">
                      <a:srgbClr val="FFFFFF"/>
                    </a:gs>
                    <a:gs pos="100000">
                      <a:srgbClr val="FFFFFF"/>
                    </a:gs>
                  </a:gsLst>
                  <a:lin ang="5400000" scaled="1"/>
                </a:gradFill>
                <a:latin typeface="Segoe UI Semibold" panose="020B0702040204020203" pitchFamily="34" charset="0"/>
                <a:cs typeface="Segoe UI Semibold" panose="020B0702040204020203" pitchFamily="34" charset="0"/>
              </a:rPr>
              <a:t>(across hybrid of IaaS, PaaS, On-Premises)</a:t>
            </a:r>
          </a:p>
        </p:txBody>
      </p:sp>
      <p:sp>
        <p:nvSpPr>
          <p:cNvPr id="98" name="Rectangle 97">
            <a:hlinkClick r:id="rId43" tooltip="Key vault mitigates risk of compromised secrets (e.g. inadvertently publishing keys to GitHub) by ensuring they are safeguarded by hardware security modules (HSMs) and readily available to applications"/>
            <a:extLst>
              <a:ext uri="{FF2B5EF4-FFF2-40B4-BE49-F238E27FC236}">
                <a16:creationId xmlns:a16="http://schemas.microsoft.com/office/drawing/2014/main" id="{FD079C8E-396B-C978-A222-640C3F59DAF0}"/>
              </a:ext>
            </a:extLst>
          </p:cNvPr>
          <p:cNvSpPr/>
          <p:nvPr/>
        </p:nvSpPr>
        <p:spPr>
          <a:xfrm>
            <a:off x="6817515" y="3907001"/>
            <a:ext cx="1328356" cy="219445"/>
          </a:xfrm>
          <a:prstGeom prst="rect">
            <a:avLst/>
          </a:prstGeom>
          <a:solidFill>
            <a:srgbClr val="EAEAEA"/>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Azure Key Vault</a:t>
            </a:r>
          </a:p>
        </p:txBody>
      </p:sp>
      <p:pic>
        <p:nvPicPr>
          <p:cNvPr id="99" name="Picture 98">
            <a:extLst>
              <a:ext uri="{FF2B5EF4-FFF2-40B4-BE49-F238E27FC236}">
                <a16:creationId xmlns:a16="http://schemas.microsoft.com/office/drawing/2014/main" id="{8EC3B727-EC1B-BAAF-1FC4-513F6A753E01}"/>
              </a:ext>
            </a:extLst>
          </p:cNvPr>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6865346" y="3961512"/>
            <a:ext cx="126336" cy="126336"/>
          </a:xfrm>
          <a:prstGeom prst="rect">
            <a:avLst/>
          </a:prstGeom>
        </p:spPr>
      </p:pic>
      <p:sp>
        <p:nvSpPr>
          <p:cNvPr id="103" name="Rectangle 102">
            <a:hlinkClick r:id="rId45" tooltip="Feature of Application Gateway that provides centralized protection of your web applications from common exploits and vulnerabilities like SQL injection attacks, cross site scripting attacks using OWASP core rule sets 3.0 or 2.2.9. "/>
            <a:extLst>
              <a:ext uri="{FF2B5EF4-FFF2-40B4-BE49-F238E27FC236}">
                <a16:creationId xmlns:a16="http://schemas.microsoft.com/office/drawing/2014/main" id="{E07B95C7-C8F7-B0CE-E9D2-D8FDBD597439}"/>
              </a:ext>
            </a:extLst>
          </p:cNvPr>
          <p:cNvSpPr/>
          <p:nvPr/>
        </p:nvSpPr>
        <p:spPr>
          <a:xfrm>
            <a:off x="6817515" y="3467018"/>
            <a:ext cx="1328356" cy="219445"/>
          </a:xfrm>
          <a:prstGeom prst="rect">
            <a:avLst/>
          </a:prstGeom>
          <a:solidFill>
            <a:srgbClr val="EAEAEA"/>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Azure WAF</a:t>
            </a:r>
          </a:p>
        </p:txBody>
      </p:sp>
      <p:pic>
        <p:nvPicPr>
          <p:cNvPr id="104" name="Picture 103" descr="A picture containing text&#10;&#10;Description generated with high confidence">
            <a:extLst>
              <a:ext uri="{FF2B5EF4-FFF2-40B4-BE49-F238E27FC236}">
                <a16:creationId xmlns:a16="http://schemas.microsoft.com/office/drawing/2014/main" id="{F6A41296-C16B-128D-1FD0-999AA3CFB046}"/>
              </a:ext>
            </a:extLst>
          </p:cNvPr>
          <p:cNvPicPr>
            <a:picLocks noChangeAspect="1"/>
          </p:cNvPicPr>
          <p:nvPr/>
        </p:nvPicPr>
        <p:blipFill rotWithShape="1">
          <a:blip r:embed="rId46">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6841891" y="3506467"/>
            <a:ext cx="168314" cy="165488"/>
          </a:xfrm>
          <a:prstGeom prst="rect">
            <a:avLst/>
          </a:prstGeom>
        </p:spPr>
      </p:pic>
      <p:sp>
        <p:nvSpPr>
          <p:cNvPr id="132" name="Rectangle 131">
            <a:hlinkClick r:id="rId47" tooltip="Azure natively provides basic DDoS protection for all public IPs. You can increase protection with adaptive tuning of thresholds (with machine learning), real-time and historical telemetry, alerting, cost guarantee and more."/>
            <a:extLst>
              <a:ext uri="{FF2B5EF4-FFF2-40B4-BE49-F238E27FC236}">
                <a16:creationId xmlns:a16="http://schemas.microsoft.com/office/drawing/2014/main" id="{680FA08A-BF27-9461-BE7F-61CCA408BF32}"/>
              </a:ext>
            </a:extLst>
          </p:cNvPr>
          <p:cNvSpPr/>
          <p:nvPr/>
        </p:nvSpPr>
        <p:spPr>
          <a:xfrm>
            <a:off x="6817515" y="3685617"/>
            <a:ext cx="1328356" cy="219445"/>
          </a:xfrm>
          <a:prstGeom prst="rect">
            <a:avLst/>
          </a:prstGeom>
          <a:solidFill>
            <a:schemeClr val="bg1"/>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DDoS Protection</a:t>
            </a:r>
          </a:p>
        </p:txBody>
      </p:sp>
      <p:sp>
        <p:nvSpPr>
          <p:cNvPr id="134" name="Rectangle 133">
            <a:hlinkClick r:id="rId48" tooltip="Protection against disasters &amp; ransomware attacks with simple and reliable cloud integrated backup as a service. Site Recovery can protect Hyper-V, VMware and physical servers and you can use Azure or your secondary datacenter as your recovery site"/>
            <a:extLst>
              <a:ext uri="{FF2B5EF4-FFF2-40B4-BE49-F238E27FC236}">
                <a16:creationId xmlns:a16="http://schemas.microsoft.com/office/drawing/2014/main" id="{3CDFD8EA-5317-EAF7-A8D6-E945E4CEEA19}"/>
              </a:ext>
            </a:extLst>
          </p:cNvPr>
          <p:cNvSpPr/>
          <p:nvPr/>
        </p:nvSpPr>
        <p:spPr>
          <a:xfrm>
            <a:off x="6813731" y="4551828"/>
            <a:ext cx="1332140" cy="202529"/>
          </a:xfrm>
          <a:prstGeom prst="rect">
            <a:avLst/>
          </a:prstGeom>
          <a:solidFill>
            <a:schemeClr val="bg1"/>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Azure Backup</a:t>
            </a:r>
          </a:p>
        </p:txBody>
      </p:sp>
      <p:pic>
        <p:nvPicPr>
          <p:cNvPr id="620" name="Picture 619">
            <a:extLst>
              <a:ext uri="{FF2B5EF4-FFF2-40B4-BE49-F238E27FC236}">
                <a16:creationId xmlns:a16="http://schemas.microsoft.com/office/drawing/2014/main" id="{C9C186DE-99A9-58D6-2705-135233398770}"/>
              </a:ext>
            </a:extLst>
          </p:cNvPr>
          <p:cNvPicPr>
            <a:picLocks noChangeAspect="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64652" y="4594318"/>
            <a:ext cx="150932" cy="112545"/>
          </a:xfrm>
          <a:prstGeom prst="rect">
            <a:avLst/>
          </a:prstGeom>
        </p:spPr>
      </p:pic>
      <p:pic>
        <p:nvPicPr>
          <p:cNvPr id="625" name="Picture 624">
            <a:extLst>
              <a:ext uri="{FF2B5EF4-FFF2-40B4-BE49-F238E27FC236}">
                <a16:creationId xmlns:a16="http://schemas.microsoft.com/office/drawing/2014/main" id="{BCD25BD0-A5D4-7E15-EFAB-84E5EEF3A42E}"/>
              </a:ext>
            </a:extLst>
          </p:cNvPr>
          <p:cNvPicPr>
            <a:picLocks noChangeAspect="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53373" y="3742411"/>
            <a:ext cx="150932" cy="112545"/>
          </a:xfrm>
          <a:prstGeom prst="rect">
            <a:avLst/>
          </a:prstGeom>
        </p:spPr>
      </p:pic>
      <p:sp>
        <p:nvSpPr>
          <p:cNvPr id="87" name="Rectangle 86">
            <a:extLst>
              <a:ext uri="{FF2B5EF4-FFF2-40B4-BE49-F238E27FC236}">
                <a16:creationId xmlns:a16="http://schemas.microsoft.com/office/drawing/2014/main" id="{4224C109-5D30-E0A3-43DD-99D28524D2F8}"/>
              </a:ext>
            </a:extLst>
          </p:cNvPr>
          <p:cNvSpPr/>
          <p:nvPr/>
        </p:nvSpPr>
        <p:spPr bwMode="auto">
          <a:xfrm>
            <a:off x="8502616" y="1808988"/>
            <a:ext cx="1627632" cy="142844"/>
          </a:xfrm>
          <a:prstGeom prst="rect">
            <a:avLst/>
          </a:prstGeom>
          <a:solidFill>
            <a:srgbClr val="FFFFFF">
              <a:alpha val="74902"/>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99" name="TextBox 598">
            <a:extLst>
              <a:ext uri="{FF2B5EF4-FFF2-40B4-BE49-F238E27FC236}">
                <a16:creationId xmlns:a16="http://schemas.microsoft.com/office/drawing/2014/main" id="{B0194848-67C2-B190-1031-BE7CBD18DFE8}"/>
              </a:ext>
            </a:extLst>
          </p:cNvPr>
          <p:cNvSpPr txBox="1"/>
          <p:nvPr/>
        </p:nvSpPr>
        <p:spPr>
          <a:xfrm>
            <a:off x="2376310" y="2905602"/>
            <a:ext cx="1706076" cy="215444"/>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effectLst/>
                <a:uLnTx/>
                <a:uFillTx/>
                <a:latin typeface="Segoe UI Semibold" panose="020B0702040204020203" pitchFamily="34" charset="0"/>
                <a:ea typeface="+mn-ea"/>
                <a:cs typeface="Segoe UI Semibold" panose="020B0702040204020203" pitchFamily="34" charset="0"/>
              </a:rPr>
              <a:t>On Premises Datacenter(s)</a:t>
            </a:r>
          </a:p>
        </p:txBody>
      </p:sp>
      <p:sp>
        <p:nvSpPr>
          <p:cNvPr id="769" name="Rectangle 768">
            <a:hlinkClick r:id="rId49" tooltip="Azure Firewall is a managed, cloud-based network security service that protects your Azure Virtual Network resources. It is a fully stateful firewall as a service with built-in high availability and unrestricted cloud scalability. "/>
            <a:extLst>
              <a:ext uri="{FF2B5EF4-FFF2-40B4-BE49-F238E27FC236}">
                <a16:creationId xmlns:a16="http://schemas.microsoft.com/office/drawing/2014/main" id="{9F205421-C8DE-3B3F-1592-6547F7D4E735}"/>
              </a:ext>
            </a:extLst>
          </p:cNvPr>
          <p:cNvSpPr/>
          <p:nvPr/>
        </p:nvSpPr>
        <p:spPr>
          <a:xfrm>
            <a:off x="6817515" y="3137675"/>
            <a:ext cx="1328356" cy="329021"/>
          </a:xfrm>
          <a:prstGeom prst="rect">
            <a:avLst/>
          </a:prstGeom>
          <a:solidFill>
            <a:schemeClr val="bg1"/>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Azure Firewall</a:t>
            </a:r>
            <a:br>
              <a:rPr kumimoji="0" lang="en-US" alt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br>
            <a:r>
              <a:rPr kumimoji="0" lang="en-US" alt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&amp; Firewall Manager</a:t>
            </a:r>
          </a:p>
        </p:txBody>
      </p:sp>
      <p:grpSp>
        <p:nvGrpSpPr>
          <p:cNvPr id="708" name="Group 707">
            <a:extLst>
              <a:ext uri="{FF2B5EF4-FFF2-40B4-BE49-F238E27FC236}">
                <a16:creationId xmlns:a16="http://schemas.microsoft.com/office/drawing/2014/main" id="{559C37A7-0351-5E19-53CC-A26B20D9B806}"/>
              </a:ext>
            </a:extLst>
          </p:cNvPr>
          <p:cNvGrpSpPr/>
          <p:nvPr/>
        </p:nvGrpSpPr>
        <p:grpSpPr>
          <a:xfrm>
            <a:off x="6839673" y="3237319"/>
            <a:ext cx="173366" cy="127841"/>
            <a:chOff x="4787760" y="956202"/>
            <a:chExt cx="587793" cy="433438"/>
          </a:xfrm>
        </p:grpSpPr>
        <p:sp>
          <p:nvSpPr>
            <p:cNvPr id="724" name="cloud">
              <a:extLst>
                <a:ext uri="{FF2B5EF4-FFF2-40B4-BE49-F238E27FC236}">
                  <a16:creationId xmlns:a16="http://schemas.microsoft.com/office/drawing/2014/main" id="{0E33447C-8F9B-33FC-2D71-73D523348A11}"/>
                </a:ext>
              </a:extLst>
            </p:cNvPr>
            <p:cNvSpPr>
              <a:spLocks noChangeAspect="1"/>
            </p:cNvSpPr>
            <p:nvPr/>
          </p:nvSpPr>
          <p:spPr bwMode="auto">
            <a:xfrm>
              <a:off x="5003940" y="956202"/>
              <a:ext cx="371613" cy="236754"/>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4" h="217">
                  <a:moveTo>
                    <a:pt x="281" y="216"/>
                  </a:moveTo>
                  <a:cubicBezTo>
                    <a:pt x="281" y="217"/>
                    <a:pt x="281" y="217"/>
                    <a:pt x="281" y="217"/>
                  </a:cubicBezTo>
                  <a:cubicBezTo>
                    <a:pt x="88" y="217"/>
                    <a:pt x="88" y="217"/>
                    <a:pt x="88" y="217"/>
                  </a:cubicBezTo>
                  <a:cubicBezTo>
                    <a:pt x="88" y="217"/>
                    <a:pt x="88" y="217"/>
                    <a:pt x="88" y="217"/>
                  </a:cubicBezTo>
                  <a:cubicBezTo>
                    <a:pt x="87" y="217"/>
                    <a:pt x="87" y="217"/>
                    <a:pt x="86" y="217"/>
                  </a:cubicBezTo>
                  <a:cubicBezTo>
                    <a:pt x="39" y="217"/>
                    <a:pt x="0" y="178"/>
                    <a:pt x="0" y="130"/>
                  </a:cubicBezTo>
                  <a:cubicBezTo>
                    <a:pt x="0" y="82"/>
                    <a:pt x="39" y="44"/>
                    <a:pt x="86" y="44"/>
                  </a:cubicBezTo>
                  <a:cubicBezTo>
                    <a:pt x="92" y="44"/>
                    <a:pt x="98" y="44"/>
                    <a:pt x="104" y="45"/>
                  </a:cubicBezTo>
                  <a:cubicBezTo>
                    <a:pt x="121" y="18"/>
                    <a:pt x="150" y="0"/>
                    <a:pt x="184" y="0"/>
                  </a:cubicBezTo>
                  <a:cubicBezTo>
                    <a:pt x="233" y="0"/>
                    <a:pt x="273" y="37"/>
                    <a:pt x="278" y="85"/>
                  </a:cubicBezTo>
                  <a:cubicBezTo>
                    <a:pt x="278" y="85"/>
                    <a:pt x="278" y="85"/>
                    <a:pt x="278" y="85"/>
                  </a:cubicBezTo>
                  <a:cubicBezTo>
                    <a:pt x="315" y="85"/>
                    <a:pt x="344" y="114"/>
                    <a:pt x="344" y="151"/>
                  </a:cubicBezTo>
                  <a:cubicBezTo>
                    <a:pt x="344" y="186"/>
                    <a:pt x="316" y="215"/>
                    <a:pt x="281" y="216"/>
                  </a:cubicBezTo>
                  <a:close/>
                </a:path>
              </a:pathLst>
            </a:custGeom>
            <a:solidFill>
              <a:srgbClr val="FFFFFF"/>
            </a:solidFill>
            <a:ln w="9525" cap="sq">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pic>
          <p:nvPicPr>
            <p:cNvPr id="735" name="Graphic 734">
              <a:extLst>
                <a:ext uri="{FF2B5EF4-FFF2-40B4-BE49-F238E27FC236}">
                  <a16:creationId xmlns:a16="http://schemas.microsoft.com/office/drawing/2014/main" id="{EAD4EA38-F42E-D3C6-E855-B5E4A036166E}"/>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4787760" y="1112170"/>
              <a:ext cx="371613" cy="277470"/>
            </a:xfrm>
            <a:prstGeom prst="rect">
              <a:avLst/>
            </a:prstGeom>
          </p:spPr>
        </p:pic>
      </p:grpSp>
      <p:grpSp>
        <p:nvGrpSpPr>
          <p:cNvPr id="224" name="Group 223">
            <a:extLst>
              <a:ext uri="{FF2B5EF4-FFF2-40B4-BE49-F238E27FC236}">
                <a16:creationId xmlns:a16="http://schemas.microsoft.com/office/drawing/2014/main" id="{AF2F3A9C-B232-FF6A-758B-38420AFCCA57}"/>
              </a:ext>
            </a:extLst>
          </p:cNvPr>
          <p:cNvGrpSpPr/>
          <p:nvPr/>
        </p:nvGrpSpPr>
        <p:grpSpPr>
          <a:xfrm>
            <a:off x="8307885" y="5464220"/>
            <a:ext cx="3595886" cy="642049"/>
            <a:chOff x="8307885" y="5464220"/>
            <a:chExt cx="3595886" cy="642049"/>
          </a:xfrm>
        </p:grpSpPr>
        <p:grpSp>
          <p:nvGrpSpPr>
            <p:cNvPr id="209" name="Group 208">
              <a:extLst>
                <a:ext uri="{FF2B5EF4-FFF2-40B4-BE49-F238E27FC236}">
                  <a16:creationId xmlns:a16="http://schemas.microsoft.com/office/drawing/2014/main" id="{568BEE40-F027-D580-B444-5F3B16B306CF}"/>
                </a:ext>
              </a:extLst>
            </p:cNvPr>
            <p:cNvGrpSpPr/>
            <p:nvPr/>
          </p:nvGrpSpPr>
          <p:grpSpPr>
            <a:xfrm>
              <a:off x="8307885" y="5464220"/>
              <a:ext cx="3595886" cy="642049"/>
              <a:chOff x="8307885" y="5417771"/>
              <a:chExt cx="3595886" cy="642049"/>
            </a:xfrm>
          </p:grpSpPr>
          <p:sp>
            <p:nvSpPr>
              <p:cNvPr id="108" name="Rectangle 107">
                <a:extLst>
                  <a:ext uri="{FF2B5EF4-FFF2-40B4-BE49-F238E27FC236}">
                    <a16:creationId xmlns:a16="http://schemas.microsoft.com/office/drawing/2014/main" id="{89A8E690-0163-11C4-CC92-0DCE8DB679D6}"/>
                  </a:ext>
                </a:extLst>
              </p:cNvPr>
              <p:cNvSpPr/>
              <p:nvPr/>
            </p:nvSpPr>
            <p:spPr bwMode="auto">
              <a:xfrm>
                <a:off x="8307885" y="5417771"/>
                <a:ext cx="3595886" cy="642049"/>
              </a:xfrm>
              <a:prstGeom prst="rect">
                <a:avLst/>
              </a:prstGeom>
              <a:solidFill>
                <a:srgbClr val="FFFFFF"/>
              </a:solidFill>
              <a:ln w="6350">
                <a:solidFill>
                  <a:srgbClr val="77EAB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lstStyle/>
              <a:p>
                <a:pPr algn="ctr"/>
                <a:endParaRPr lang="en-US" sz="1200" b="1">
                  <a:solidFill>
                    <a:prstClr val="black"/>
                  </a:solidFill>
                  <a:latin typeface="Segoe Sans Display Semibold"/>
                  <a:cs typeface="Segoe Sans Display" pitchFamily="2" charset="0"/>
                </a:endParaRPr>
              </a:p>
            </p:txBody>
          </p:sp>
          <p:sp>
            <p:nvSpPr>
              <p:cNvPr id="123" name="Rectangle 122">
                <a:extLst>
                  <a:ext uri="{FF2B5EF4-FFF2-40B4-BE49-F238E27FC236}">
                    <a16:creationId xmlns:a16="http://schemas.microsoft.com/office/drawing/2014/main" id="{5876A146-11BD-AA84-4DF3-72D32E72767C}"/>
                  </a:ext>
                </a:extLst>
              </p:cNvPr>
              <p:cNvSpPr/>
              <p:nvPr/>
            </p:nvSpPr>
            <p:spPr>
              <a:xfrm>
                <a:off x="8344782" y="5437440"/>
                <a:ext cx="3497974" cy="261610"/>
              </a:xfrm>
              <a:prstGeom prst="rect">
                <a:avLst/>
              </a:prstGeom>
              <a:solidFill>
                <a:schemeClr val="bg1"/>
              </a:solidFill>
            </p:spPr>
            <p:txBody>
              <a:bodyPr wrap="square" rIns="9144">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75" b="1" i="0" u="none" strike="noStrike" kern="1200" cap="none" spc="0" normalizeH="0" baseline="0" noProof="0">
                    <a:ln>
                      <a:noFill/>
                    </a:ln>
                    <a:solidFill>
                      <a:sysClr val="windowText" lastClr="000000"/>
                    </a:solidFill>
                    <a:effectLst/>
                    <a:uLnTx/>
                    <a:uFillTx/>
                    <a:latin typeface="Segoe UI Semibold" panose="020B0702040204020203" pitchFamily="34" charset="0"/>
                    <a:cs typeface="Segoe UI Semibold" panose="020B0702040204020203" pitchFamily="34" charset="0"/>
                  </a:rPr>
                  <a:t>People Security</a:t>
                </a:r>
              </a:p>
            </p:txBody>
          </p:sp>
        </p:grpSp>
        <p:grpSp>
          <p:nvGrpSpPr>
            <p:cNvPr id="205" name="Group 204">
              <a:extLst>
                <a:ext uri="{FF2B5EF4-FFF2-40B4-BE49-F238E27FC236}">
                  <a16:creationId xmlns:a16="http://schemas.microsoft.com/office/drawing/2014/main" id="{65D5BFE5-3B8F-F73B-5E96-BBFF9F7244F0}"/>
                </a:ext>
              </a:extLst>
            </p:cNvPr>
            <p:cNvGrpSpPr/>
            <p:nvPr/>
          </p:nvGrpSpPr>
          <p:grpSpPr>
            <a:xfrm>
              <a:off x="9432387" y="5544901"/>
              <a:ext cx="123684" cy="130507"/>
              <a:chOff x="5272973" y="2788763"/>
              <a:chExt cx="168222" cy="177499"/>
            </a:xfrm>
            <a:solidFill>
              <a:srgbClr val="0078D4"/>
            </a:solidFill>
          </p:grpSpPr>
          <p:sp>
            <p:nvSpPr>
              <p:cNvPr id="203" name="Freeform 1059">
                <a:extLst>
                  <a:ext uri="{FF2B5EF4-FFF2-40B4-BE49-F238E27FC236}">
                    <a16:creationId xmlns:a16="http://schemas.microsoft.com/office/drawing/2014/main" id="{CC6D2C59-B1B0-FDAD-4E5B-884003CF1267}"/>
                  </a:ext>
                </a:extLst>
              </p:cNvPr>
              <p:cNvSpPr>
                <a:spLocks/>
              </p:cNvSpPr>
              <p:nvPr/>
            </p:nvSpPr>
            <p:spPr bwMode="auto">
              <a:xfrm>
                <a:off x="5272973" y="2883802"/>
                <a:ext cx="168222" cy="82460"/>
              </a:xfrm>
              <a:custGeom>
                <a:avLst/>
                <a:gdLst>
                  <a:gd name="T0" fmla="*/ 32 w 64"/>
                  <a:gd name="T1" fmla="*/ 0 h 32"/>
                  <a:gd name="T2" fmla="*/ 0 w 64"/>
                  <a:gd name="T3" fmla="*/ 32 h 32"/>
                  <a:gd name="T4" fmla="*/ 64 w 64"/>
                  <a:gd name="T5" fmla="*/ 32 h 32"/>
                  <a:gd name="T6" fmla="*/ 32 w 64"/>
                  <a:gd name="T7" fmla="*/ 0 h 32"/>
                </a:gdLst>
                <a:ahLst/>
                <a:cxnLst>
                  <a:cxn ang="0">
                    <a:pos x="T0" y="T1"/>
                  </a:cxn>
                  <a:cxn ang="0">
                    <a:pos x="T2" y="T3"/>
                  </a:cxn>
                  <a:cxn ang="0">
                    <a:pos x="T4" y="T5"/>
                  </a:cxn>
                  <a:cxn ang="0">
                    <a:pos x="T6" y="T7"/>
                  </a:cxn>
                </a:cxnLst>
                <a:rect l="0" t="0" r="r" b="b"/>
                <a:pathLst>
                  <a:path w="64" h="32">
                    <a:moveTo>
                      <a:pt x="32" y="0"/>
                    </a:moveTo>
                    <a:cubicBezTo>
                      <a:pt x="14" y="0"/>
                      <a:pt x="0" y="14"/>
                      <a:pt x="0" y="32"/>
                    </a:cubicBezTo>
                    <a:cubicBezTo>
                      <a:pt x="64" y="32"/>
                      <a:pt x="64" y="32"/>
                      <a:pt x="64" y="32"/>
                    </a:cubicBezTo>
                    <a:cubicBezTo>
                      <a:pt x="64" y="14"/>
                      <a:pt x="50" y="0"/>
                      <a:pt x="32" y="0"/>
                    </a:cubicBezTo>
                    <a:close/>
                  </a:path>
                </a:pathLst>
              </a:custGeom>
              <a:solidFill>
                <a:srgbClr val="77EA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C3C41"/>
                  </a:solidFill>
                  <a:effectLst/>
                  <a:uLnTx/>
                  <a:uFillTx/>
                  <a:latin typeface="Segoe UI"/>
                  <a:ea typeface="+mn-ea"/>
                  <a:cs typeface="+mn-cs"/>
                </a:endParaRPr>
              </a:p>
            </p:txBody>
          </p:sp>
          <p:sp>
            <p:nvSpPr>
              <p:cNvPr id="204" name="Oval 1060">
                <a:extLst>
                  <a:ext uri="{FF2B5EF4-FFF2-40B4-BE49-F238E27FC236}">
                    <a16:creationId xmlns:a16="http://schemas.microsoft.com/office/drawing/2014/main" id="{24228152-ED35-E63A-7966-2BDBC2660682}"/>
                  </a:ext>
                </a:extLst>
              </p:cNvPr>
              <p:cNvSpPr>
                <a:spLocks noChangeArrowheads="1"/>
              </p:cNvSpPr>
              <p:nvPr/>
            </p:nvSpPr>
            <p:spPr bwMode="auto">
              <a:xfrm>
                <a:off x="5312012" y="2788763"/>
                <a:ext cx="90098" cy="84575"/>
              </a:xfrm>
              <a:prstGeom prst="ellipse">
                <a:avLst/>
              </a:prstGeom>
              <a:solidFill>
                <a:srgbClr val="77EA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C3C41"/>
                  </a:solidFill>
                  <a:effectLst/>
                  <a:uLnTx/>
                  <a:uFillTx/>
                  <a:latin typeface="Segoe UI"/>
                  <a:ea typeface="+mn-ea"/>
                  <a:cs typeface="+mn-cs"/>
                </a:endParaRPr>
              </a:p>
            </p:txBody>
          </p:sp>
        </p:grpSp>
      </p:grpSp>
      <p:sp>
        <p:nvSpPr>
          <p:cNvPr id="125" name="Rectangle 124">
            <a:hlinkClick r:id="rId51" tooltip="Attack Simulator in the Security &amp; Compliance Center can be used to run realistic attack scenarios in your organization to help you identify and find vulnerable users before a real attack impacts your bottom line."/>
            <a:extLst>
              <a:ext uri="{FF2B5EF4-FFF2-40B4-BE49-F238E27FC236}">
                <a16:creationId xmlns:a16="http://schemas.microsoft.com/office/drawing/2014/main" id="{FAEC11AE-BB78-5744-9410-567BCB9451A3}"/>
              </a:ext>
            </a:extLst>
          </p:cNvPr>
          <p:cNvSpPr/>
          <p:nvPr/>
        </p:nvSpPr>
        <p:spPr>
          <a:xfrm>
            <a:off x="8350944" y="5802589"/>
            <a:ext cx="830673" cy="233479"/>
          </a:xfrm>
          <a:prstGeom prst="rect">
            <a:avLst/>
          </a:prstGeom>
          <a:solidFill>
            <a:srgbClr val="BEFFC3"/>
          </a:solidFill>
          <a:ln w="9525">
            <a:solidFill>
              <a:schemeClr val="bg1"/>
            </a:solidFill>
            <a:prstDash val="solid"/>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720" b="1"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Semibold" panose="020B0702040204020203" pitchFamily="34" charset="0"/>
                <a:cs typeface="Segoe UI Semibold" panose="020B0702040204020203" pitchFamily="34" charset="0"/>
              </a:rPr>
              <a:t>Attack Simulator</a:t>
            </a:r>
          </a:p>
        </p:txBody>
      </p:sp>
      <p:sp>
        <p:nvSpPr>
          <p:cNvPr id="126" name="Rectangle 125">
            <a:hlinkClick r:id="rId52" tooltip="Insider risk management in Microsoft 365 helps minimize internal risks by enabling you to detect, investigate, and act on malicious and inadvertent activities in your organization."/>
            <a:extLst>
              <a:ext uri="{FF2B5EF4-FFF2-40B4-BE49-F238E27FC236}">
                <a16:creationId xmlns:a16="http://schemas.microsoft.com/office/drawing/2014/main" id="{95C96126-A3D9-8B81-5B23-10A0845FB15E}"/>
              </a:ext>
            </a:extLst>
          </p:cNvPr>
          <p:cNvSpPr/>
          <p:nvPr/>
        </p:nvSpPr>
        <p:spPr>
          <a:xfrm>
            <a:off x="9260887" y="5802589"/>
            <a:ext cx="1198429" cy="233479"/>
          </a:xfrm>
          <a:prstGeom prst="rect">
            <a:avLst/>
          </a:prstGeom>
          <a:solidFill>
            <a:srgbClr val="BEFFC3"/>
          </a:solidFill>
          <a:ln w="9525">
            <a:solidFill>
              <a:schemeClr val="bg1"/>
            </a:solidFill>
            <a:prstDash val="solid"/>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720" b="1"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Semibold" panose="020B0702040204020203" pitchFamily="34" charset="0"/>
                <a:cs typeface="Segoe UI Semibold" panose="020B0702040204020203" pitchFamily="34" charset="0"/>
              </a:rPr>
              <a:t>Insider Risk Management</a:t>
            </a:r>
          </a:p>
        </p:txBody>
      </p:sp>
      <p:grpSp>
        <p:nvGrpSpPr>
          <p:cNvPr id="31" name="Group 30">
            <a:extLst>
              <a:ext uri="{FF2B5EF4-FFF2-40B4-BE49-F238E27FC236}">
                <a16:creationId xmlns:a16="http://schemas.microsoft.com/office/drawing/2014/main" id="{8A4AE436-7230-6EC6-05F1-9829044BEB31}"/>
              </a:ext>
            </a:extLst>
          </p:cNvPr>
          <p:cNvGrpSpPr/>
          <p:nvPr/>
        </p:nvGrpSpPr>
        <p:grpSpPr>
          <a:xfrm>
            <a:off x="2132397" y="5805674"/>
            <a:ext cx="852881" cy="512671"/>
            <a:chOff x="3154581" y="5818532"/>
            <a:chExt cx="852881" cy="512671"/>
          </a:xfrm>
        </p:grpSpPr>
        <p:sp>
          <p:nvSpPr>
            <p:cNvPr id="482" name="Rectangle 481">
              <a:hlinkClick r:id="rId53" tooltip="End to end solution to securing new IoT devices with a hardened Linux OS, certified microcontrollers (MCUs), and security service which collectively provide the &quot;Seven Properties of Highly-Secure Devices&quot;"/>
              <a:extLst>
                <a:ext uri="{FF2B5EF4-FFF2-40B4-BE49-F238E27FC236}">
                  <a16:creationId xmlns:a16="http://schemas.microsoft.com/office/drawing/2014/main" id="{B5C5A9AD-8815-B614-32CA-4F8D9E40B7A4}"/>
                </a:ext>
              </a:extLst>
            </p:cNvPr>
            <p:cNvSpPr/>
            <p:nvPr/>
          </p:nvSpPr>
          <p:spPr>
            <a:xfrm>
              <a:off x="3154581" y="5818532"/>
              <a:ext cx="852881" cy="512671"/>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b"/>
            <a:lstStyle/>
            <a:p>
              <a:pPr algn="ctr"/>
              <a:r>
                <a:rPr lang="en-US" sz="800" b="1">
                  <a:solidFill>
                    <a:prstClr val="black"/>
                  </a:solidFill>
                  <a:latin typeface="Segoe UI Semibold" panose="020B0702040204020203" pitchFamily="34" charset="0"/>
                  <a:cs typeface="Segoe UI Semibold" panose="020B0702040204020203" pitchFamily="34" charset="0"/>
                </a:rPr>
                <a:t>Azure Sphere</a:t>
              </a:r>
            </a:p>
          </p:txBody>
        </p:sp>
        <p:pic>
          <p:nvPicPr>
            <p:cNvPr id="19" name="Picture 18" descr="A close up of a logo&#10;&#10;Description generated with very high confidence">
              <a:extLst>
                <a:ext uri="{FF2B5EF4-FFF2-40B4-BE49-F238E27FC236}">
                  <a16:creationId xmlns:a16="http://schemas.microsoft.com/office/drawing/2014/main" id="{7ECB092E-3DA2-6B68-E7D7-53AC927BB73F}"/>
                </a:ext>
              </a:extLst>
            </p:cNvPr>
            <p:cNvPicPr>
              <a:picLocks noChangeAspect="1"/>
            </p:cNvPicPr>
            <p:nvPr/>
          </p:nvPicPr>
          <p:blipFill>
            <a:blip r:embed="rId54">
              <a:extLst>
                <a:ext uri="{28A0092B-C50C-407E-A947-70E740481C1C}">
                  <a14:useLocalDpi xmlns:a14="http://schemas.microsoft.com/office/drawing/2010/main" val="0"/>
                </a:ext>
              </a:extLst>
            </a:blip>
            <a:stretch>
              <a:fillRect/>
            </a:stretch>
          </p:blipFill>
          <p:spPr>
            <a:xfrm>
              <a:off x="3360209" y="5867373"/>
              <a:ext cx="411994" cy="271762"/>
            </a:xfrm>
            <a:prstGeom prst="rect">
              <a:avLst/>
            </a:prstGeom>
          </p:spPr>
        </p:pic>
      </p:grpSp>
      <p:sp>
        <p:nvSpPr>
          <p:cNvPr id="165" name="Rectangle 164">
            <a:hlinkClick r:id="rId55" tooltip="The Compliance Manager dashboard helps you achieve compliance goals by evaluating cloud workloads against compliance regimes as well as data protection standards and assign/track/record compliance and assessment-related activities. "/>
            <a:extLst>
              <a:ext uri="{FF2B5EF4-FFF2-40B4-BE49-F238E27FC236}">
                <a16:creationId xmlns:a16="http://schemas.microsoft.com/office/drawing/2014/main" id="{0514732F-A11A-4967-9765-91ABBCBBC7CB}"/>
              </a:ext>
            </a:extLst>
          </p:cNvPr>
          <p:cNvSpPr/>
          <p:nvPr/>
        </p:nvSpPr>
        <p:spPr>
          <a:xfrm>
            <a:off x="8685028" y="4707201"/>
            <a:ext cx="1365662" cy="180229"/>
          </a:xfrm>
          <a:prstGeom prst="rect">
            <a:avLst/>
          </a:prstGeom>
          <a:solidFill>
            <a:schemeClr val="bg1"/>
          </a:solidFill>
          <a:ln w="14224">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91440" rIns="45720" rtlCol="0" anchor="ctr">
            <a:noAutofit/>
          </a:bodyP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8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Compliance Manager</a:t>
            </a:r>
          </a:p>
        </p:txBody>
      </p:sp>
      <p:cxnSp>
        <p:nvCxnSpPr>
          <p:cNvPr id="729" name="Connector: Elbow 728">
            <a:extLst>
              <a:ext uri="{FF2B5EF4-FFF2-40B4-BE49-F238E27FC236}">
                <a16:creationId xmlns:a16="http://schemas.microsoft.com/office/drawing/2014/main" id="{254FC69A-1CE5-A091-41BB-7DD26075B868}"/>
              </a:ext>
            </a:extLst>
          </p:cNvPr>
          <p:cNvCxnSpPr>
            <a:cxnSpLocks/>
          </p:cNvCxnSpPr>
          <p:nvPr/>
        </p:nvCxnSpPr>
        <p:spPr>
          <a:xfrm rot="5400000">
            <a:off x="10102894" y="1265809"/>
            <a:ext cx="1268784" cy="606499"/>
          </a:xfrm>
          <a:prstGeom prst="bentConnector3">
            <a:avLst>
              <a:gd name="adj1" fmla="val 29230"/>
            </a:avLst>
          </a:prstGeom>
          <a:ln w="19050">
            <a:solidFill>
              <a:srgbClr val="EDAEFF"/>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93" name="Group 192">
            <a:extLst>
              <a:ext uri="{FF2B5EF4-FFF2-40B4-BE49-F238E27FC236}">
                <a16:creationId xmlns:a16="http://schemas.microsoft.com/office/drawing/2014/main" id="{D5561BBC-E22F-3C72-E070-D6B97D95325F}"/>
              </a:ext>
            </a:extLst>
          </p:cNvPr>
          <p:cNvGrpSpPr/>
          <p:nvPr/>
        </p:nvGrpSpPr>
        <p:grpSpPr>
          <a:xfrm>
            <a:off x="2780680" y="4754757"/>
            <a:ext cx="691377" cy="85751"/>
            <a:chOff x="2780680" y="4754757"/>
            <a:chExt cx="691377" cy="85751"/>
          </a:xfrm>
        </p:grpSpPr>
        <p:cxnSp>
          <p:nvCxnSpPr>
            <p:cNvPr id="499" name="Straight Connector 498">
              <a:extLst>
                <a:ext uri="{FF2B5EF4-FFF2-40B4-BE49-F238E27FC236}">
                  <a16:creationId xmlns:a16="http://schemas.microsoft.com/office/drawing/2014/main" id="{2DBFADEF-51F9-1A05-6C5F-5F9B495520FE}"/>
                </a:ext>
              </a:extLst>
            </p:cNvPr>
            <p:cNvCxnSpPr>
              <a:cxnSpLocks/>
            </p:cNvCxnSpPr>
            <p:nvPr/>
          </p:nvCxnSpPr>
          <p:spPr>
            <a:xfrm>
              <a:off x="2789307" y="4754757"/>
              <a:ext cx="0" cy="85117"/>
            </a:xfrm>
            <a:prstGeom prst="line">
              <a:avLst/>
            </a:pr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cxnSp>
        <p:cxnSp>
          <p:nvCxnSpPr>
            <p:cNvPr id="503" name="Straight Connector 502">
              <a:extLst>
                <a:ext uri="{FF2B5EF4-FFF2-40B4-BE49-F238E27FC236}">
                  <a16:creationId xmlns:a16="http://schemas.microsoft.com/office/drawing/2014/main" id="{339D04BF-8BB3-1970-F45C-B51BD645E409}"/>
                </a:ext>
              </a:extLst>
            </p:cNvPr>
            <p:cNvCxnSpPr>
              <a:cxnSpLocks/>
            </p:cNvCxnSpPr>
            <p:nvPr/>
          </p:nvCxnSpPr>
          <p:spPr>
            <a:xfrm>
              <a:off x="2780680" y="4840508"/>
              <a:ext cx="691377" cy="0"/>
            </a:xfrm>
            <a:prstGeom prst="line">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 name="Group 1">
            <a:extLst>
              <a:ext uri="{FF2B5EF4-FFF2-40B4-BE49-F238E27FC236}">
                <a16:creationId xmlns:a16="http://schemas.microsoft.com/office/drawing/2014/main" id="{5BF046BC-DB71-38CB-E1CC-414CD9C4C7FF}"/>
              </a:ext>
            </a:extLst>
          </p:cNvPr>
          <p:cNvGrpSpPr/>
          <p:nvPr/>
        </p:nvGrpSpPr>
        <p:grpSpPr>
          <a:xfrm>
            <a:off x="5150838" y="4063431"/>
            <a:ext cx="1560525" cy="238020"/>
            <a:chOff x="5150838" y="4063431"/>
            <a:chExt cx="1560525" cy="238020"/>
          </a:xfrm>
        </p:grpSpPr>
        <p:sp>
          <p:nvSpPr>
            <p:cNvPr id="685" name="Rectangle 684">
              <a:hlinkClick r:id="rId56" tooltip="Azure Private Link enables you to access Azure PaaS Services (for example, Azure Storage and SQL Database) and Azure hosted customer-owned/partner services over a Private Endpoint in your virtual network."/>
              <a:extLst>
                <a:ext uri="{FF2B5EF4-FFF2-40B4-BE49-F238E27FC236}">
                  <a16:creationId xmlns:a16="http://schemas.microsoft.com/office/drawing/2014/main" id="{5862D835-4715-6273-4986-DB4CC8BE13BA}"/>
                </a:ext>
              </a:extLst>
            </p:cNvPr>
            <p:cNvSpPr/>
            <p:nvPr/>
          </p:nvSpPr>
          <p:spPr bwMode="auto">
            <a:xfrm>
              <a:off x="5503585" y="4123332"/>
              <a:ext cx="853263" cy="178119"/>
            </a:xfrm>
            <a:prstGeom prst="rect">
              <a:avLst/>
            </a:prstGeom>
            <a:solidFill>
              <a:srgbClr val="C3E5FF"/>
            </a:solidFill>
            <a:ln w="9525" cap="flat" cmpd="sng" algn="ctr">
              <a:solidFill>
                <a:schemeClr val="bg1"/>
              </a:solidFill>
              <a:prstDash val="solid"/>
              <a:miter lim="800000"/>
              <a:headEnd type="none" w="med" len="med"/>
              <a:tailEnd type="none" w="med" len="med"/>
            </a:ln>
            <a:effectLst>
              <a:outerShdw blurRad="25400" dist="12700" dir="5400000" algn="tl" rotWithShape="0">
                <a:prstClr val="black">
                  <a:alpha val="15000"/>
                </a:prstClr>
              </a:outerShdw>
            </a:effectLst>
          </p:spPr>
          <p:txBody>
            <a:bodyPr lIns="304705" tIns="9144" rIns="0" bIns="9144" anchor="ctr" anchorCtr="0"/>
            <a:lstStyle/>
            <a:p>
              <a:pPr defTabSz="895740">
                <a:lnSpc>
                  <a:spcPct val="90000"/>
                </a:lnSpc>
              </a:pPr>
              <a:r>
                <a:rPr lang="en-US" sz="800">
                  <a:cs typeface="Segoe UI" panose="020B0502040204020203" pitchFamily="34" charset="0"/>
                </a:rPr>
                <a:t>Private Link</a:t>
              </a:r>
            </a:p>
          </p:txBody>
        </p:sp>
        <p:grpSp>
          <p:nvGrpSpPr>
            <p:cNvPr id="557" name="Group 556">
              <a:extLst>
                <a:ext uri="{FF2B5EF4-FFF2-40B4-BE49-F238E27FC236}">
                  <a16:creationId xmlns:a16="http://schemas.microsoft.com/office/drawing/2014/main" id="{53209364-8F43-B256-1863-4B1143C29A19}"/>
                </a:ext>
              </a:extLst>
            </p:cNvPr>
            <p:cNvGrpSpPr/>
            <p:nvPr/>
          </p:nvGrpSpPr>
          <p:grpSpPr>
            <a:xfrm>
              <a:off x="5150838" y="4063431"/>
              <a:ext cx="1560525" cy="205942"/>
              <a:chOff x="5150838" y="4063431"/>
              <a:chExt cx="1560525" cy="205942"/>
            </a:xfrm>
          </p:grpSpPr>
          <p:grpSp>
            <p:nvGrpSpPr>
              <p:cNvPr id="558" name="Group 557">
                <a:extLst>
                  <a:ext uri="{FF2B5EF4-FFF2-40B4-BE49-F238E27FC236}">
                    <a16:creationId xmlns:a16="http://schemas.microsoft.com/office/drawing/2014/main" id="{7345F77E-F560-A972-2A6C-F416890510EA}"/>
                  </a:ext>
                </a:extLst>
              </p:cNvPr>
              <p:cNvGrpSpPr/>
              <p:nvPr/>
            </p:nvGrpSpPr>
            <p:grpSpPr>
              <a:xfrm>
                <a:off x="5563301" y="4142291"/>
                <a:ext cx="1148062" cy="127082"/>
                <a:chOff x="5563301" y="4142291"/>
                <a:chExt cx="1148062" cy="127082"/>
              </a:xfrm>
            </p:grpSpPr>
            <p:cxnSp>
              <p:nvCxnSpPr>
                <p:cNvPr id="686" name="Straight Connector 685">
                  <a:extLst>
                    <a:ext uri="{FF2B5EF4-FFF2-40B4-BE49-F238E27FC236}">
                      <a16:creationId xmlns:a16="http://schemas.microsoft.com/office/drawing/2014/main" id="{CE4C3E59-15A5-74CA-9643-0EA088A73017}"/>
                    </a:ext>
                  </a:extLst>
                </p:cNvPr>
                <p:cNvCxnSpPr>
                  <a:cxnSpLocks/>
                  <a:stCxn id="685" idx="3"/>
                </p:cNvCxnSpPr>
                <p:nvPr/>
              </p:nvCxnSpPr>
              <p:spPr>
                <a:xfrm>
                  <a:off x="6356848" y="4212392"/>
                  <a:ext cx="354515" cy="0"/>
                </a:xfrm>
                <a:prstGeom prst="line">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684" name="Picture 683">
                  <a:extLst>
                    <a:ext uri="{FF2B5EF4-FFF2-40B4-BE49-F238E27FC236}">
                      <a16:creationId xmlns:a16="http://schemas.microsoft.com/office/drawing/2014/main" id="{FCFC40BD-879C-B38A-417C-BB7CB6BABF57}"/>
                    </a:ext>
                  </a:extLst>
                </p:cNvPr>
                <p:cNvPicPr>
                  <a:picLocks noChangeAspect="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63301" y="4142291"/>
                  <a:ext cx="170430" cy="127082"/>
                </a:xfrm>
                <a:prstGeom prst="rect">
                  <a:avLst/>
                </a:prstGeom>
              </p:spPr>
            </p:pic>
          </p:grpSp>
          <p:cxnSp>
            <p:nvCxnSpPr>
              <p:cNvPr id="559" name="Straight Connector 663">
                <a:extLst>
                  <a:ext uri="{FF2B5EF4-FFF2-40B4-BE49-F238E27FC236}">
                    <a16:creationId xmlns:a16="http://schemas.microsoft.com/office/drawing/2014/main" id="{515BF666-7D39-3E79-CEE9-294C4B2710F2}"/>
                  </a:ext>
                </a:extLst>
              </p:cNvPr>
              <p:cNvCxnSpPr>
                <a:cxnSpLocks/>
                <a:endCxn id="685" idx="1"/>
              </p:cNvCxnSpPr>
              <p:nvPr/>
            </p:nvCxnSpPr>
            <p:spPr>
              <a:xfrm>
                <a:off x="5150838" y="4063431"/>
                <a:ext cx="352747" cy="148961"/>
              </a:xfrm>
              <a:prstGeom prst="bentConnector3">
                <a:avLst>
                  <a:gd name="adj1" fmla="val 50000"/>
                </a:avLst>
              </a:prstGeom>
              <a:noFill/>
              <a:ln w="12700">
                <a:solidFill>
                  <a:schemeClr val="tx2"/>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grpSp>
      <p:grpSp>
        <p:nvGrpSpPr>
          <p:cNvPr id="195" name="Group 194">
            <a:extLst>
              <a:ext uri="{FF2B5EF4-FFF2-40B4-BE49-F238E27FC236}">
                <a16:creationId xmlns:a16="http://schemas.microsoft.com/office/drawing/2014/main" id="{6CCE1E8B-EB9D-6115-9746-EE378136F14F}"/>
              </a:ext>
            </a:extLst>
          </p:cNvPr>
          <p:cNvGrpSpPr/>
          <p:nvPr/>
        </p:nvGrpSpPr>
        <p:grpSpPr>
          <a:xfrm>
            <a:off x="2614674" y="3122312"/>
            <a:ext cx="3856151" cy="1745387"/>
            <a:chOff x="2614674" y="3122312"/>
            <a:chExt cx="3856151" cy="1745387"/>
          </a:xfrm>
        </p:grpSpPr>
        <p:cxnSp>
          <p:nvCxnSpPr>
            <p:cNvPr id="727" name="Straight Connector 726">
              <a:extLst>
                <a:ext uri="{FF2B5EF4-FFF2-40B4-BE49-F238E27FC236}">
                  <a16:creationId xmlns:a16="http://schemas.microsoft.com/office/drawing/2014/main" id="{BA1572E0-E4D9-209D-04C4-D6848F496A68}"/>
                </a:ext>
              </a:extLst>
            </p:cNvPr>
            <p:cNvCxnSpPr/>
            <p:nvPr/>
          </p:nvCxnSpPr>
          <p:spPr>
            <a:xfrm>
              <a:off x="3857342" y="3837347"/>
              <a:ext cx="0" cy="85431"/>
            </a:xfrm>
            <a:prstGeom prst="line">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192" name="Group 191">
              <a:extLst>
                <a:ext uri="{FF2B5EF4-FFF2-40B4-BE49-F238E27FC236}">
                  <a16:creationId xmlns:a16="http://schemas.microsoft.com/office/drawing/2014/main" id="{C427CCEB-47BA-9FA3-56A3-5DC96032AF92}"/>
                </a:ext>
              </a:extLst>
            </p:cNvPr>
            <p:cNvGrpSpPr/>
            <p:nvPr/>
          </p:nvGrpSpPr>
          <p:grpSpPr>
            <a:xfrm>
              <a:off x="2614674" y="3122312"/>
              <a:ext cx="3856151" cy="1745387"/>
              <a:chOff x="2614674" y="3122312"/>
              <a:chExt cx="3856151" cy="1745387"/>
            </a:xfrm>
          </p:grpSpPr>
          <p:grpSp>
            <p:nvGrpSpPr>
              <p:cNvPr id="191" name="Group 190">
                <a:extLst>
                  <a:ext uri="{FF2B5EF4-FFF2-40B4-BE49-F238E27FC236}">
                    <a16:creationId xmlns:a16="http://schemas.microsoft.com/office/drawing/2014/main" id="{CE37ECC1-DD69-71AC-6046-A34558A1A16C}"/>
                  </a:ext>
                </a:extLst>
              </p:cNvPr>
              <p:cNvGrpSpPr/>
              <p:nvPr/>
            </p:nvGrpSpPr>
            <p:grpSpPr>
              <a:xfrm>
                <a:off x="2614674" y="3122312"/>
                <a:ext cx="3773814" cy="1720024"/>
                <a:chOff x="2614674" y="3122312"/>
                <a:chExt cx="3773814" cy="1720024"/>
              </a:xfrm>
            </p:grpSpPr>
            <p:cxnSp>
              <p:nvCxnSpPr>
                <p:cNvPr id="202" name="Straight Connector 201">
                  <a:extLst>
                    <a:ext uri="{FF2B5EF4-FFF2-40B4-BE49-F238E27FC236}">
                      <a16:creationId xmlns:a16="http://schemas.microsoft.com/office/drawing/2014/main" id="{B89F4BA6-4F78-DB21-2382-AC5B807C1281}"/>
                    </a:ext>
                  </a:extLst>
                </p:cNvPr>
                <p:cNvCxnSpPr>
                  <a:cxnSpLocks/>
                </p:cNvCxnSpPr>
                <p:nvPr/>
              </p:nvCxnSpPr>
              <p:spPr>
                <a:xfrm>
                  <a:off x="2614674" y="3915841"/>
                  <a:ext cx="1824456" cy="0"/>
                </a:xfrm>
                <a:prstGeom prst="line">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12" name="Straight Connector 211">
                  <a:extLst>
                    <a:ext uri="{FF2B5EF4-FFF2-40B4-BE49-F238E27FC236}">
                      <a16:creationId xmlns:a16="http://schemas.microsoft.com/office/drawing/2014/main" id="{71FF1ED0-B342-8B6C-4003-D168CFF9CCDB}"/>
                    </a:ext>
                  </a:extLst>
                </p:cNvPr>
                <p:cNvCxnSpPr/>
                <p:nvPr/>
              </p:nvCxnSpPr>
              <p:spPr>
                <a:xfrm>
                  <a:off x="4434292" y="3837347"/>
                  <a:ext cx="0" cy="85431"/>
                </a:xfrm>
                <a:prstGeom prst="line">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116" name="Rectangle 115">
                  <a:extLst>
                    <a:ext uri="{FF2B5EF4-FFF2-40B4-BE49-F238E27FC236}">
                      <a16:creationId xmlns:a16="http://schemas.microsoft.com/office/drawing/2014/main" id="{20D60770-AE3D-57C8-7434-F408EC8ED79A}"/>
                    </a:ext>
                  </a:extLst>
                </p:cNvPr>
                <p:cNvSpPr/>
                <p:nvPr/>
              </p:nvSpPr>
              <p:spPr bwMode="auto">
                <a:xfrm>
                  <a:off x="4909558" y="3787654"/>
                  <a:ext cx="107450" cy="124614"/>
                </a:xfrm>
                <a:custGeom>
                  <a:avLst/>
                  <a:gdLst>
                    <a:gd name="connsiteX0" fmla="*/ 0 w 168554"/>
                    <a:gd name="connsiteY0" fmla="*/ 0 h 168554"/>
                    <a:gd name="connsiteX1" fmla="*/ 168554 w 168554"/>
                    <a:gd name="connsiteY1" fmla="*/ 0 h 168554"/>
                    <a:gd name="connsiteX2" fmla="*/ 168554 w 168554"/>
                    <a:gd name="connsiteY2" fmla="*/ 168554 h 168554"/>
                    <a:gd name="connsiteX3" fmla="*/ 0 w 168554"/>
                    <a:gd name="connsiteY3" fmla="*/ 168554 h 168554"/>
                    <a:gd name="connsiteX4" fmla="*/ 0 w 168554"/>
                    <a:gd name="connsiteY4" fmla="*/ 0 h 168554"/>
                    <a:gd name="connsiteX0" fmla="*/ 0 w 168554"/>
                    <a:gd name="connsiteY0" fmla="*/ 0 h 168554"/>
                    <a:gd name="connsiteX1" fmla="*/ 168554 w 168554"/>
                    <a:gd name="connsiteY1" fmla="*/ 0 h 168554"/>
                    <a:gd name="connsiteX2" fmla="*/ 168554 w 168554"/>
                    <a:gd name="connsiteY2" fmla="*/ 168554 h 168554"/>
                    <a:gd name="connsiteX3" fmla="*/ 0 w 168554"/>
                    <a:gd name="connsiteY3" fmla="*/ 168554 h 168554"/>
                    <a:gd name="connsiteX4" fmla="*/ 91440 w 168554"/>
                    <a:gd name="connsiteY4" fmla="*/ 91440 h 168554"/>
                    <a:gd name="connsiteX0" fmla="*/ 168554 w 168554"/>
                    <a:gd name="connsiteY0" fmla="*/ 0 h 168554"/>
                    <a:gd name="connsiteX1" fmla="*/ 168554 w 168554"/>
                    <a:gd name="connsiteY1" fmla="*/ 168554 h 168554"/>
                    <a:gd name="connsiteX2" fmla="*/ 0 w 168554"/>
                    <a:gd name="connsiteY2" fmla="*/ 168554 h 168554"/>
                    <a:gd name="connsiteX3" fmla="*/ 91440 w 168554"/>
                    <a:gd name="connsiteY3" fmla="*/ 91440 h 168554"/>
                    <a:gd name="connsiteX0" fmla="*/ 168554 w 168554"/>
                    <a:gd name="connsiteY0" fmla="*/ 0 h 168554"/>
                    <a:gd name="connsiteX1" fmla="*/ 168554 w 168554"/>
                    <a:gd name="connsiteY1" fmla="*/ 168554 h 168554"/>
                    <a:gd name="connsiteX2" fmla="*/ 0 w 168554"/>
                    <a:gd name="connsiteY2" fmla="*/ 168554 h 168554"/>
                  </a:gdLst>
                  <a:ahLst/>
                  <a:cxnLst>
                    <a:cxn ang="0">
                      <a:pos x="connsiteX0" y="connsiteY0"/>
                    </a:cxn>
                    <a:cxn ang="0">
                      <a:pos x="connsiteX1" y="connsiteY1"/>
                    </a:cxn>
                    <a:cxn ang="0">
                      <a:pos x="connsiteX2" y="connsiteY2"/>
                    </a:cxn>
                  </a:cxnLst>
                  <a:rect l="l" t="t" r="r" b="b"/>
                  <a:pathLst>
                    <a:path w="168554" h="168554">
                      <a:moveTo>
                        <a:pt x="168554" y="0"/>
                      </a:moveTo>
                      <a:lnTo>
                        <a:pt x="168554" y="168554"/>
                      </a:lnTo>
                      <a:lnTo>
                        <a:pt x="0" y="168554"/>
                      </a:lnTo>
                    </a:path>
                  </a:pathLst>
                </a:cu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606" name="Rectangle 115">
                  <a:extLst>
                    <a:ext uri="{FF2B5EF4-FFF2-40B4-BE49-F238E27FC236}">
                      <a16:creationId xmlns:a16="http://schemas.microsoft.com/office/drawing/2014/main" id="{440A4CFC-9195-FF13-8A3F-0E7C910E0739}"/>
                    </a:ext>
                  </a:extLst>
                </p:cNvPr>
                <p:cNvSpPr/>
                <p:nvPr/>
              </p:nvSpPr>
              <p:spPr bwMode="auto">
                <a:xfrm flipH="1">
                  <a:off x="5017008" y="3787662"/>
                  <a:ext cx="1365433" cy="124614"/>
                </a:xfrm>
                <a:custGeom>
                  <a:avLst/>
                  <a:gdLst>
                    <a:gd name="connsiteX0" fmla="*/ 0 w 168554"/>
                    <a:gd name="connsiteY0" fmla="*/ 0 h 168554"/>
                    <a:gd name="connsiteX1" fmla="*/ 168554 w 168554"/>
                    <a:gd name="connsiteY1" fmla="*/ 0 h 168554"/>
                    <a:gd name="connsiteX2" fmla="*/ 168554 w 168554"/>
                    <a:gd name="connsiteY2" fmla="*/ 168554 h 168554"/>
                    <a:gd name="connsiteX3" fmla="*/ 0 w 168554"/>
                    <a:gd name="connsiteY3" fmla="*/ 168554 h 168554"/>
                    <a:gd name="connsiteX4" fmla="*/ 0 w 168554"/>
                    <a:gd name="connsiteY4" fmla="*/ 0 h 168554"/>
                    <a:gd name="connsiteX0" fmla="*/ 0 w 168554"/>
                    <a:gd name="connsiteY0" fmla="*/ 0 h 168554"/>
                    <a:gd name="connsiteX1" fmla="*/ 168554 w 168554"/>
                    <a:gd name="connsiteY1" fmla="*/ 0 h 168554"/>
                    <a:gd name="connsiteX2" fmla="*/ 168554 w 168554"/>
                    <a:gd name="connsiteY2" fmla="*/ 168554 h 168554"/>
                    <a:gd name="connsiteX3" fmla="*/ 0 w 168554"/>
                    <a:gd name="connsiteY3" fmla="*/ 168554 h 168554"/>
                    <a:gd name="connsiteX4" fmla="*/ 91440 w 168554"/>
                    <a:gd name="connsiteY4" fmla="*/ 91440 h 168554"/>
                    <a:gd name="connsiteX0" fmla="*/ 168554 w 168554"/>
                    <a:gd name="connsiteY0" fmla="*/ 0 h 168554"/>
                    <a:gd name="connsiteX1" fmla="*/ 168554 w 168554"/>
                    <a:gd name="connsiteY1" fmla="*/ 168554 h 168554"/>
                    <a:gd name="connsiteX2" fmla="*/ 0 w 168554"/>
                    <a:gd name="connsiteY2" fmla="*/ 168554 h 168554"/>
                    <a:gd name="connsiteX3" fmla="*/ 91440 w 168554"/>
                    <a:gd name="connsiteY3" fmla="*/ 91440 h 168554"/>
                    <a:gd name="connsiteX0" fmla="*/ 168554 w 168554"/>
                    <a:gd name="connsiteY0" fmla="*/ 0 h 168554"/>
                    <a:gd name="connsiteX1" fmla="*/ 168554 w 168554"/>
                    <a:gd name="connsiteY1" fmla="*/ 168554 h 168554"/>
                    <a:gd name="connsiteX2" fmla="*/ 0 w 168554"/>
                    <a:gd name="connsiteY2" fmla="*/ 168554 h 168554"/>
                  </a:gdLst>
                  <a:ahLst/>
                  <a:cxnLst>
                    <a:cxn ang="0">
                      <a:pos x="connsiteX0" y="connsiteY0"/>
                    </a:cxn>
                    <a:cxn ang="0">
                      <a:pos x="connsiteX1" y="connsiteY1"/>
                    </a:cxn>
                    <a:cxn ang="0">
                      <a:pos x="connsiteX2" y="connsiteY2"/>
                    </a:cxn>
                  </a:cxnLst>
                  <a:rect l="l" t="t" r="r" b="b"/>
                  <a:pathLst>
                    <a:path w="168554" h="168554">
                      <a:moveTo>
                        <a:pt x="168554" y="0"/>
                      </a:moveTo>
                      <a:lnTo>
                        <a:pt x="168554" y="168554"/>
                      </a:lnTo>
                      <a:lnTo>
                        <a:pt x="0" y="168554"/>
                      </a:lnTo>
                    </a:path>
                  </a:pathLst>
                </a:cu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190" name="Group 189">
                  <a:extLst>
                    <a:ext uri="{FF2B5EF4-FFF2-40B4-BE49-F238E27FC236}">
                      <a16:creationId xmlns:a16="http://schemas.microsoft.com/office/drawing/2014/main" id="{0EF31DAF-5225-5356-56D2-26B2418D3DF3}"/>
                    </a:ext>
                  </a:extLst>
                </p:cNvPr>
                <p:cNvGrpSpPr/>
                <p:nvPr/>
              </p:nvGrpSpPr>
              <p:grpSpPr>
                <a:xfrm>
                  <a:off x="3485488" y="3122312"/>
                  <a:ext cx="2903000" cy="1720024"/>
                  <a:chOff x="3485488" y="3122312"/>
                  <a:chExt cx="2903000" cy="1720024"/>
                </a:xfrm>
              </p:grpSpPr>
              <p:cxnSp>
                <p:nvCxnSpPr>
                  <p:cNvPr id="709" name="Straight Connector 708">
                    <a:extLst>
                      <a:ext uri="{FF2B5EF4-FFF2-40B4-BE49-F238E27FC236}">
                        <a16:creationId xmlns:a16="http://schemas.microsoft.com/office/drawing/2014/main" id="{2604593F-D75F-CB95-1FEA-FF69C0532B07}"/>
                      </a:ext>
                    </a:extLst>
                  </p:cNvPr>
                  <p:cNvCxnSpPr>
                    <a:cxnSpLocks/>
                  </p:cNvCxnSpPr>
                  <p:nvPr/>
                </p:nvCxnSpPr>
                <p:spPr>
                  <a:xfrm>
                    <a:off x="3485488" y="3122312"/>
                    <a:ext cx="0" cy="1664459"/>
                  </a:xfrm>
                  <a:prstGeom prst="line">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41" name="Group 40">
                    <a:extLst>
                      <a:ext uri="{FF2B5EF4-FFF2-40B4-BE49-F238E27FC236}">
                        <a16:creationId xmlns:a16="http://schemas.microsoft.com/office/drawing/2014/main" id="{73F274FC-6CA4-0386-8A6E-C02098873242}"/>
                      </a:ext>
                    </a:extLst>
                  </p:cNvPr>
                  <p:cNvGrpSpPr/>
                  <p:nvPr/>
                </p:nvGrpSpPr>
                <p:grpSpPr>
                  <a:xfrm>
                    <a:off x="3585949" y="4741493"/>
                    <a:ext cx="1963638" cy="100843"/>
                    <a:chOff x="3585949" y="4741493"/>
                    <a:chExt cx="1963638" cy="100843"/>
                  </a:xfrm>
                </p:grpSpPr>
                <p:cxnSp>
                  <p:nvCxnSpPr>
                    <p:cNvPr id="870" name="Straight Connector 869">
                      <a:extLst>
                        <a:ext uri="{FF2B5EF4-FFF2-40B4-BE49-F238E27FC236}">
                          <a16:creationId xmlns:a16="http://schemas.microsoft.com/office/drawing/2014/main" id="{707C3B19-BA1D-0DEB-3271-4DAC4DE88972}"/>
                        </a:ext>
                      </a:extLst>
                    </p:cNvPr>
                    <p:cNvCxnSpPr>
                      <a:cxnSpLocks/>
                    </p:cNvCxnSpPr>
                    <p:nvPr/>
                  </p:nvCxnSpPr>
                  <p:spPr>
                    <a:xfrm>
                      <a:off x="5102278" y="4743486"/>
                      <a:ext cx="0" cy="85117"/>
                    </a:xfrm>
                    <a:prstGeom prst="line">
                      <a:avLst/>
                    </a:pr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cxnSp>
                <p:cxnSp>
                  <p:nvCxnSpPr>
                    <p:cNvPr id="872" name="Straight Connector 871">
                      <a:extLst>
                        <a:ext uri="{FF2B5EF4-FFF2-40B4-BE49-F238E27FC236}">
                          <a16:creationId xmlns:a16="http://schemas.microsoft.com/office/drawing/2014/main" id="{6D0BF099-F70D-AA9E-3CEB-2B21AEC63DF3}"/>
                        </a:ext>
                      </a:extLst>
                    </p:cNvPr>
                    <p:cNvCxnSpPr>
                      <a:cxnSpLocks/>
                    </p:cNvCxnSpPr>
                    <p:nvPr/>
                  </p:nvCxnSpPr>
                  <p:spPr>
                    <a:xfrm>
                      <a:off x="3887072" y="4741493"/>
                      <a:ext cx="0" cy="85117"/>
                    </a:xfrm>
                    <a:prstGeom prst="line">
                      <a:avLst/>
                    </a:pr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cxnSp>
                <p:cxnSp>
                  <p:nvCxnSpPr>
                    <p:cNvPr id="869" name="Straight Connector 868">
                      <a:extLst>
                        <a:ext uri="{FF2B5EF4-FFF2-40B4-BE49-F238E27FC236}">
                          <a16:creationId xmlns:a16="http://schemas.microsoft.com/office/drawing/2014/main" id="{2E2EBABC-1CE6-B800-0EA6-BAE09B025358}"/>
                        </a:ext>
                      </a:extLst>
                    </p:cNvPr>
                    <p:cNvCxnSpPr>
                      <a:cxnSpLocks/>
                    </p:cNvCxnSpPr>
                    <p:nvPr/>
                  </p:nvCxnSpPr>
                  <p:spPr>
                    <a:xfrm>
                      <a:off x="3585949" y="4842336"/>
                      <a:ext cx="1963638" cy="0"/>
                    </a:xfrm>
                    <a:prstGeom prst="line">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873" name="Straight Connector 872">
                      <a:extLst>
                        <a:ext uri="{FF2B5EF4-FFF2-40B4-BE49-F238E27FC236}">
                          <a16:creationId xmlns:a16="http://schemas.microsoft.com/office/drawing/2014/main" id="{66C30B30-4907-491F-1ED7-8A532A47E47B}"/>
                        </a:ext>
                      </a:extLst>
                    </p:cNvPr>
                    <p:cNvCxnSpPr>
                      <a:cxnSpLocks/>
                    </p:cNvCxnSpPr>
                    <p:nvPr/>
                  </p:nvCxnSpPr>
                  <p:spPr>
                    <a:xfrm>
                      <a:off x="4514918" y="4747289"/>
                      <a:ext cx="0" cy="85117"/>
                    </a:xfrm>
                    <a:prstGeom prst="line">
                      <a:avLst/>
                    </a:pr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cxnSp>
              </p:grpSp>
              <p:grpSp>
                <p:nvGrpSpPr>
                  <p:cNvPr id="189" name="Group 188">
                    <a:extLst>
                      <a:ext uri="{FF2B5EF4-FFF2-40B4-BE49-F238E27FC236}">
                        <a16:creationId xmlns:a16="http://schemas.microsoft.com/office/drawing/2014/main" id="{37665D75-F859-0EB7-FF20-6A416CE0E701}"/>
                      </a:ext>
                    </a:extLst>
                  </p:cNvPr>
                  <p:cNvGrpSpPr/>
                  <p:nvPr/>
                </p:nvGrpSpPr>
                <p:grpSpPr>
                  <a:xfrm>
                    <a:off x="4918735" y="3122635"/>
                    <a:ext cx="1469753" cy="1719462"/>
                    <a:chOff x="4918735" y="3122635"/>
                    <a:chExt cx="1469753" cy="1719462"/>
                  </a:xfrm>
                </p:grpSpPr>
                <p:sp>
                  <p:nvSpPr>
                    <p:cNvPr id="11" name="Rectangle 10">
                      <a:extLst>
                        <a:ext uri="{FF2B5EF4-FFF2-40B4-BE49-F238E27FC236}">
                          <a16:creationId xmlns:a16="http://schemas.microsoft.com/office/drawing/2014/main" id="{4F700AD0-F19E-384C-C9D7-E9F728C33236}"/>
                        </a:ext>
                      </a:extLst>
                    </p:cNvPr>
                    <p:cNvSpPr/>
                    <p:nvPr/>
                  </p:nvSpPr>
                  <p:spPr bwMode="auto">
                    <a:xfrm>
                      <a:off x="5525937" y="3122635"/>
                      <a:ext cx="862551" cy="1719462"/>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91440 w 914400"/>
                        <a:gd name="connsiteY4" fmla="*/ 91440 h 914400"/>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0" fmla="*/ 840623 w 914400"/>
                        <a:gd name="connsiteY0" fmla="*/ 9859 h 914400"/>
                        <a:gd name="connsiteX1" fmla="*/ 914400 w 914400"/>
                        <a:gd name="connsiteY1" fmla="*/ 0 h 914400"/>
                        <a:gd name="connsiteX2" fmla="*/ 914400 w 914400"/>
                        <a:gd name="connsiteY2" fmla="*/ 914400 h 914400"/>
                        <a:gd name="connsiteX3" fmla="*/ 0 w 914400"/>
                        <a:gd name="connsiteY3" fmla="*/ 914400 h 914400"/>
                        <a:gd name="connsiteX0" fmla="*/ 914400 w 914400"/>
                        <a:gd name="connsiteY0" fmla="*/ 0 h 914400"/>
                        <a:gd name="connsiteX1" fmla="*/ 914400 w 914400"/>
                        <a:gd name="connsiteY1" fmla="*/ 914400 h 914400"/>
                        <a:gd name="connsiteX2" fmla="*/ 0 w 914400"/>
                        <a:gd name="connsiteY2" fmla="*/ 914400 h 914400"/>
                      </a:gdLst>
                      <a:ahLst/>
                      <a:cxnLst>
                        <a:cxn ang="0">
                          <a:pos x="connsiteX0" y="connsiteY0"/>
                        </a:cxn>
                        <a:cxn ang="0">
                          <a:pos x="connsiteX1" y="connsiteY1"/>
                        </a:cxn>
                        <a:cxn ang="0">
                          <a:pos x="connsiteX2" y="connsiteY2"/>
                        </a:cxn>
                      </a:cxnLst>
                      <a:rect l="l" t="t" r="r" b="b"/>
                      <a:pathLst>
                        <a:path w="914400" h="914400">
                          <a:moveTo>
                            <a:pt x="914400" y="0"/>
                          </a:moveTo>
                          <a:lnTo>
                            <a:pt x="914400" y="914400"/>
                          </a:lnTo>
                          <a:lnTo>
                            <a:pt x="0" y="914400"/>
                          </a:lnTo>
                        </a:path>
                      </a:pathLst>
                    </a:custGeom>
                    <a:noFill/>
                    <a:ln w="19050">
                      <a:gradFill>
                        <a:gsLst>
                          <a:gs pos="0">
                            <a:schemeClr val="bg1"/>
                          </a:gs>
                          <a:gs pos="38000">
                            <a:srgbClr val="070707"/>
                          </a:gs>
                        </a:gsLst>
                        <a:lin ang="54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3C6C"/>
                        </a:solidFill>
                        <a:effectLst/>
                        <a:uLnTx/>
                        <a:uFillTx/>
                        <a:latin typeface="Segoe UI"/>
                        <a:ea typeface="Segoe UI" pitchFamily="34" charset="0"/>
                        <a:cs typeface="Segoe UI" pitchFamily="34" charset="0"/>
                      </a:endParaRPr>
                    </a:p>
                  </p:txBody>
                </p:sp>
                <p:cxnSp>
                  <p:nvCxnSpPr>
                    <p:cNvPr id="480" name="Straight Connector 479">
                      <a:extLst>
                        <a:ext uri="{FF2B5EF4-FFF2-40B4-BE49-F238E27FC236}">
                          <a16:creationId xmlns:a16="http://schemas.microsoft.com/office/drawing/2014/main" id="{A07C487A-752E-36C8-4DB7-D22F0BE22960}"/>
                        </a:ext>
                      </a:extLst>
                    </p:cNvPr>
                    <p:cNvCxnSpPr>
                      <a:cxnSpLocks/>
                    </p:cNvCxnSpPr>
                    <p:nvPr/>
                  </p:nvCxnSpPr>
                  <p:spPr>
                    <a:xfrm>
                      <a:off x="4918735" y="3915135"/>
                      <a:ext cx="1617" cy="921821"/>
                    </a:xfrm>
                    <a:prstGeom prst="line">
                      <a:avLst/>
                    </a:pr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cxnSp>
              </p:grpSp>
            </p:grpSp>
          </p:grpSp>
          <p:pic>
            <p:nvPicPr>
              <p:cNvPr id="728" name="Graphic 727">
                <a:extLst>
                  <a:ext uri="{FF2B5EF4-FFF2-40B4-BE49-F238E27FC236}">
                    <a16:creationId xmlns:a16="http://schemas.microsoft.com/office/drawing/2014/main" id="{5C7E216C-6630-9C5F-2FEB-B5A3B47C7F21}"/>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3390454" y="3455968"/>
                <a:ext cx="179094" cy="97688"/>
              </a:xfrm>
              <a:prstGeom prst="rect">
                <a:avLst/>
              </a:prstGeom>
            </p:spPr>
          </p:pic>
          <p:pic>
            <p:nvPicPr>
              <p:cNvPr id="154" name="Graphic 153">
                <a:extLst>
                  <a:ext uri="{FF2B5EF4-FFF2-40B4-BE49-F238E27FC236}">
                    <a16:creationId xmlns:a16="http://schemas.microsoft.com/office/drawing/2014/main" id="{A7D312A9-4E25-A6C0-1434-BEA4E13874B9}"/>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3394372" y="3853121"/>
                <a:ext cx="179094" cy="97688"/>
              </a:xfrm>
              <a:prstGeom prst="rect">
                <a:avLst/>
              </a:prstGeom>
            </p:spPr>
          </p:pic>
          <p:pic>
            <p:nvPicPr>
              <p:cNvPr id="710" name="Graphic 709">
                <a:extLst>
                  <a:ext uri="{FF2B5EF4-FFF2-40B4-BE49-F238E27FC236}">
                    <a16:creationId xmlns:a16="http://schemas.microsoft.com/office/drawing/2014/main" id="{E60EC59E-3A92-3D7B-A2A7-026167BA61DE}"/>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3412268" y="3989053"/>
                <a:ext cx="155363" cy="144264"/>
              </a:xfrm>
              <a:prstGeom prst="rect">
                <a:avLst/>
              </a:prstGeom>
            </p:spPr>
          </p:pic>
          <p:sp>
            <p:nvSpPr>
              <p:cNvPr id="198" name="Graphic 873">
                <a:extLst>
                  <a:ext uri="{FF2B5EF4-FFF2-40B4-BE49-F238E27FC236}">
                    <a16:creationId xmlns:a16="http://schemas.microsoft.com/office/drawing/2014/main" id="{D2BD8CAF-A4C5-91F0-0587-69AEA9AE859B}"/>
                  </a:ext>
                </a:extLst>
              </p:cNvPr>
              <p:cNvSpPr/>
              <p:nvPr/>
            </p:nvSpPr>
            <p:spPr>
              <a:xfrm>
                <a:off x="3401667" y="4786108"/>
                <a:ext cx="260069" cy="81591"/>
              </a:xfrm>
              <a:custGeom>
                <a:avLst/>
                <a:gdLst>
                  <a:gd name="connsiteX0" fmla="*/ 178479 w 353558"/>
                  <a:gd name="connsiteY0" fmla="*/ 81591 h 81591"/>
                  <a:gd name="connsiteX1" fmla="*/ 93489 w 353558"/>
                  <a:gd name="connsiteY1" fmla="*/ 81591 h 81591"/>
                  <a:gd name="connsiteX2" fmla="*/ 93489 w 353558"/>
                  <a:gd name="connsiteY2" fmla="*/ 28897 h 81591"/>
                  <a:gd name="connsiteX3" fmla="*/ 151282 w 353558"/>
                  <a:gd name="connsiteY3" fmla="*/ 28897 h 81591"/>
                  <a:gd name="connsiteX4" fmla="*/ 151282 w 353558"/>
                  <a:gd name="connsiteY4" fmla="*/ 0 h 81591"/>
                  <a:gd name="connsiteX5" fmla="*/ 205676 w 353558"/>
                  <a:gd name="connsiteY5" fmla="*/ 0 h 81591"/>
                  <a:gd name="connsiteX6" fmla="*/ 205676 w 353558"/>
                  <a:gd name="connsiteY6" fmla="*/ 28897 h 81591"/>
                  <a:gd name="connsiteX7" fmla="*/ 260069 w 353558"/>
                  <a:gd name="connsiteY7" fmla="*/ 28897 h 81591"/>
                  <a:gd name="connsiteX8" fmla="*/ 260069 w 353558"/>
                  <a:gd name="connsiteY8" fmla="*/ 81591 h 81591"/>
                  <a:gd name="connsiteX9" fmla="*/ 178479 w 353558"/>
                  <a:gd name="connsiteY9" fmla="*/ 81591 h 81591"/>
                  <a:gd name="connsiteX10" fmla="*/ 178479 w 353558"/>
                  <a:gd name="connsiteY10" fmla="*/ 81591 h 81591"/>
                  <a:gd name="connsiteX11" fmla="*/ 178479 w 353558"/>
                  <a:gd name="connsiteY11" fmla="*/ 81591 h 81591"/>
                  <a:gd name="connsiteX12" fmla="*/ 93489 w 353558"/>
                  <a:gd name="connsiteY12" fmla="*/ 56094 h 81591"/>
                  <a:gd name="connsiteX13" fmla="*/ 0 w 353558"/>
                  <a:gd name="connsiteY13" fmla="*/ 56094 h 81591"/>
                  <a:gd name="connsiteX14" fmla="*/ 260069 w 353558"/>
                  <a:gd name="connsiteY14" fmla="*/ 56094 h 81591"/>
                  <a:gd name="connsiteX15" fmla="*/ 353558 w 353558"/>
                  <a:gd name="connsiteY15" fmla="*/ 56094 h 81591"/>
                  <a:gd name="connsiteX0" fmla="*/ 84990 w 260069"/>
                  <a:gd name="connsiteY0" fmla="*/ 81591 h 81591"/>
                  <a:gd name="connsiteX1" fmla="*/ 0 w 260069"/>
                  <a:gd name="connsiteY1" fmla="*/ 81591 h 81591"/>
                  <a:gd name="connsiteX2" fmla="*/ 0 w 260069"/>
                  <a:gd name="connsiteY2" fmla="*/ 28897 h 81591"/>
                  <a:gd name="connsiteX3" fmla="*/ 57793 w 260069"/>
                  <a:gd name="connsiteY3" fmla="*/ 28897 h 81591"/>
                  <a:gd name="connsiteX4" fmla="*/ 57793 w 260069"/>
                  <a:gd name="connsiteY4" fmla="*/ 0 h 81591"/>
                  <a:gd name="connsiteX5" fmla="*/ 112187 w 260069"/>
                  <a:gd name="connsiteY5" fmla="*/ 0 h 81591"/>
                  <a:gd name="connsiteX6" fmla="*/ 112187 w 260069"/>
                  <a:gd name="connsiteY6" fmla="*/ 28897 h 81591"/>
                  <a:gd name="connsiteX7" fmla="*/ 166580 w 260069"/>
                  <a:gd name="connsiteY7" fmla="*/ 28897 h 81591"/>
                  <a:gd name="connsiteX8" fmla="*/ 166580 w 260069"/>
                  <a:gd name="connsiteY8" fmla="*/ 81591 h 81591"/>
                  <a:gd name="connsiteX9" fmla="*/ 84990 w 260069"/>
                  <a:gd name="connsiteY9" fmla="*/ 81591 h 81591"/>
                  <a:gd name="connsiteX10" fmla="*/ 84990 w 260069"/>
                  <a:gd name="connsiteY10" fmla="*/ 81591 h 81591"/>
                  <a:gd name="connsiteX11" fmla="*/ 84990 w 260069"/>
                  <a:gd name="connsiteY11" fmla="*/ 81591 h 81591"/>
                  <a:gd name="connsiteX12" fmla="*/ 166580 w 260069"/>
                  <a:gd name="connsiteY12" fmla="*/ 56094 h 81591"/>
                  <a:gd name="connsiteX13" fmla="*/ 260069 w 260069"/>
                  <a:gd name="connsiteY13" fmla="*/ 56094 h 81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069" h="81591">
                    <a:moveTo>
                      <a:pt x="84990" y="81591"/>
                    </a:moveTo>
                    <a:lnTo>
                      <a:pt x="0" y="81591"/>
                    </a:lnTo>
                    <a:lnTo>
                      <a:pt x="0" y="28897"/>
                    </a:lnTo>
                    <a:lnTo>
                      <a:pt x="57793" y="28897"/>
                    </a:lnTo>
                    <a:lnTo>
                      <a:pt x="57793" y="0"/>
                    </a:lnTo>
                    <a:lnTo>
                      <a:pt x="112187" y="0"/>
                    </a:lnTo>
                    <a:lnTo>
                      <a:pt x="112187" y="28897"/>
                    </a:lnTo>
                    <a:lnTo>
                      <a:pt x="166580" y="28897"/>
                    </a:lnTo>
                    <a:lnTo>
                      <a:pt x="166580" y="81591"/>
                    </a:lnTo>
                    <a:lnTo>
                      <a:pt x="84990" y="81591"/>
                    </a:lnTo>
                    <a:lnTo>
                      <a:pt x="84990" y="81591"/>
                    </a:lnTo>
                    <a:lnTo>
                      <a:pt x="84990" y="81591"/>
                    </a:lnTo>
                    <a:close/>
                    <a:moveTo>
                      <a:pt x="166580" y="56094"/>
                    </a:moveTo>
                    <a:lnTo>
                      <a:pt x="260069" y="56094"/>
                    </a:lnTo>
                  </a:path>
                </a:pathLst>
              </a:custGeom>
              <a:solidFill>
                <a:schemeClr val="bg1"/>
              </a:solidFill>
              <a:ln w="18969"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pic>
            <p:nvPicPr>
              <p:cNvPr id="137" name="Graphic 136">
                <a:extLst>
                  <a:ext uri="{FF2B5EF4-FFF2-40B4-BE49-F238E27FC236}">
                    <a16:creationId xmlns:a16="http://schemas.microsoft.com/office/drawing/2014/main" id="{E02D79F9-2E86-3A43-7EB8-FAC16F5D3825}"/>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6315462" y="3489369"/>
                <a:ext cx="155363" cy="144264"/>
              </a:xfrm>
              <a:prstGeom prst="rect">
                <a:avLst/>
              </a:prstGeom>
            </p:spPr>
          </p:pic>
          <p:pic>
            <p:nvPicPr>
              <p:cNvPr id="607" name="Graphic 606">
                <a:extLst>
                  <a:ext uri="{FF2B5EF4-FFF2-40B4-BE49-F238E27FC236}">
                    <a16:creationId xmlns:a16="http://schemas.microsoft.com/office/drawing/2014/main" id="{909CFBB4-A524-9B5B-DFD3-2D85D60BF057}"/>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rot="16200000">
                <a:off x="6186094" y="3864658"/>
                <a:ext cx="373956" cy="101989"/>
              </a:xfrm>
              <a:prstGeom prst="rect">
                <a:avLst/>
              </a:prstGeom>
            </p:spPr>
          </p:pic>
        </p:grpSp>
      </p:grpSp>
      <p:grpSp>
        <p:nvGrpSpPr>
          <p:cNvPr id="717" name="Group 716">
            <a:extLst>
              <a:ext uri="{FF2B5EF4-FFF2-40B4-BE49-F238E27FC236}">
                <a16:creationId xmlns:a16="http://schemas.microsoft.com/office/drawing/2014/main" id="{3BC8803C-5469-294C-F1C3-516CAD7CD87E}"/>
              </a:ext>
            </a:extLst>
          </p:cNvPr>
          <p:cNvGrpSpPr/>
          <p:nvPr/>
        </p:nvGrpSpPr>
        <p:grpSpPr>
          <a:xfrm>
            <a:off x="3824005" y="4469544"/>
            <a:ext cx="370338" cy="327772"/>
            <a:chOff x="4723767" y="3080378"/>
            <a:chExt cx="439858" cy="389301"/>
          </a:xfrm>
        </p:grpSpPr>
        <p:pic>
          <p:nvPicPr>
            <p:cNvPr id="718" name="Picture 717">
              <a:extLst>
                <a:ext uri="{FF2B5EF4-FFF2-40B4-BE49-F238E27FC236}">
                  <a16:creationId xmlns:a16="http://schemas.microsoft.com/office/drawing/2014/main" id="{006A3171-705C-A48A-45D2-850E3AB0097C}"/>
                </a:ext>
              </a:extLst>
            </p:cNvPr>
            <p:cNvPicPr>
              <a:picLocks noChangeAspect="1"/>
            </p:cNvPicPr>
            <p:nvPr/>
          </p:nvPicPr>
          <p:blipFill rotWithShape="1">
            <a:blip r:embed="rId41" cstate="print">
              <a:duotone>
                <a:schemeClr val="accent1">
                  <a:shade val="45000"/>
                  <a:satMod val="135000"/>
                </a:schemeClr>
                <a:prstClr val="white"/>
              </a:duotone>
              <a:extLst>
                <a:ext uri="{28A0092B-C50C-407E-A947-70E740481C1C}">
                  <a14:useLocalDpi xmlns:a14="http://schemas.microsoft.com/office/drawing/2010/main" val="0"/>
                </a:ext>
              </a:extLst>
            </a:blip>
            <a:srcRect l="-2"/>
            <a:stretch/>
          </p:blipFill>
          <p:spPr>
            <a:xfrm>
              <a:off x="4908907" y="3123428"/>
              <a:ext cx="216369" cy="164753"/>
            </a:xfrm>
            <a:prstGeom prst="rect">
              <a:avLst/>
            </a:prstGeom>
          </p:spPr>
        </p:pic>
        <p:grpSp>
          <p:nvGrpSpPr>
            <p:cNvPr id="721" name="Group 720">
              <a:extLst>
                <a:ext uri="{FF2B5EF4-FFF2-40B4-BE49-F238E27FC236}">
                  <a16:creationId xmlns:a16="http://schemas.microsoft.com/office/drawing/2014/main" id="{2D2361CA-38AE-668F-6B7F-8CB8C9D1B2C4}"/>
                </a:ext>
              </a:extLst>
            </p:cNvPr>
            <p:cNvGrpSpPr/>
            <p:nvPr/>
          </p:nvGrpSpPr>
          <p:grpSpPr>
            <a:xfrm>
              <a:off x="4723767" y="3080378"/>
              <a:ext cx="439858" cy="389301"/>
              <a:chOff x="3131835" y="4047725"/>
              <a:chExt cx="439858" cy="389301"/>
            </a:xfrm>
          </p:grpSpPr>
          <p:grpSp>
            <p:nvGrpSpPr>
              <p:cNvPr id="722" name="Group 721">
                <a:extLst>
                  <a:ext uri="{FF2B5EF4-FFF2-40B4-BE49-F238E27FC236}">
                    <a16:creationId xmlns:a16="http://schemas.microsoft.com/office/drawing/2014/main" id="{0C13978E-06D7-70AB-E483-E9784538BAB3}"/>
                  </a:ext>
                </a:extLst>
              </p:cNvPr>
              <p:cNvGrpSpPr/>
              <p:nvPr/>
            </p:nvGrpSpPr>
            <p:grpSpPr>
              <a:xfrm>
                <a:off x="3131835" y="4047725"/>
                <a:ext cx="182560" cy="348911"/>
                <a:chOff x="2136298" y="4226790"/>
                <a:chExt cx="196678" cy="375893"/>
              </a:xfrm>
            </p:grpSpPr>
            <p:sp>
              <p:nvSpPr>
                <p:cNvPr id="731" name="Rectangle 730">
                  <a:extLst>
                    <a:ext uri="{FF2B5EF4-FFF2-40B4-BE49-F238E27FC236}">
                      <a16:creationId xmlns:a16="http://schemas.microsoft.com/office/drawing/2014/main" id="{47EA964A-782C-7963-37FF-C57FE1494EE1}"/>
                    </a:ext>
                  </a:extLst>
                </p:cNvPr>
                <p:cNvSpPr/>
                <p:nvPr/>
              </p:nvSpPr>
              <p:spPr bwMode="auto">
                <a:xfrm>
                  <a:off x="2138191" y="4226790"/>
                  <a:ext cx="194785" cy="375893"/>
                </a:xfrm>
                <a:prstGeom prst="rect">
                  <a:avLst/>
                </a:prstGeom>
                <a:solidFill>
                  <a:schemeClr val="tx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32" name="server">
                  <a:extLst>
                    <a:ext uri="{FF2B5EF4-FFF2-40B4-BE49-F238E27FC236}">
                      <a16:creationId xmlns:a16="http://schemas.microsoft.com/office/drawing/2014/main" id="{71164BAC-5F8A-735F-774C-4344BE97D99C}"/>
                    </a:ext>
                  </a:extLst>
                </p:cNvPr>
                <p:cNvSpPr>
                  <a:spLocks noChangeAspect="1" noEditPoints="1"/>
                </p:cNvSpPr>
                <p:nvPr/>
              </p:nvSpPr>
              <p:spPr bwMode="auto">
                <a:xfrm>
                  <a:off x="2136298" y="4235711"/>
                  <a:ext cx="192569" cy="36576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4224"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723" name="Oval 722">
                <a:extLst>
                  <a:ext uri="{FF2B5EF4-FFF2-40B4-BE49-F238E27FC236}">
                    <a16:creationId xmlns:a16="http://schemas.microsoft.com/office/drawing/2014/main" id="{377EE5F7-FE7D-7235-BDC0-811D6CE928C9}"/>
                  </a:ext>
                </a:extLst>
              </p:cNvPr>
              <p:cNvSpPr/>
              <p:nvPr/>
            </p:nvSpPr>
            <p:spPr bwMode="auto">
              <a:xfrm>
                <a:off x="3218521" y="4213899"/>
                <a:ext cx="223127" cy="223127"/>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25" name="Picture 724">
                <a:extLst>
                  <a:ext uri="{FF2B5EF4-FFF2-40B4-BE49-F238E27FC236}">
                    <a16:creationId xmlns:a16="http://schemas.microsoft.com/office/drawing/2014/main" id="{07686D97-822B-E1A6-1C23-8A108D2FF6D7}"/>
                  </a:ext>
                </a:extLst>
              </p:cNvPr>
              <p:cNvPicPr>
                <a:picLocks noChangeAspect="1"/>
              </p:cNvPicPr>
              <p:nvPr/>
            </p:nvPicPr>
            <p:blipFill rotWithShape="1">
              <a:blip r:embed="rId42" cstate="email">
                <a:extLst>
                  <a:ext uri="{28A0092B-C50C-407E-A947-70E740481C1C}">
                    <a14:useLocalDpi xmlns:a14="http://schemas.microsoft.com/office/drawing/2010/main"/>
                  </a:ext>
                </a:extLst>
              </a:blip>
              <a:srcRect r="83295"/>
              <a:stretch/>
            </p:blipFill>
            <p:spPr>
              <a:xfrm>
                <a:off x="3414387" y="4255363"/>
                <a:ext cx="157306" cy="137160"/>
              </a:xfrm>
              <a:prstGeom prst="rect">
                <a:avLst/>
              </a:prstGeom>
            </p:spPr>
          </p:pic>
          <p:sp>
            <p:nvSpPr>
              <p:cNvPr id="730" name="Freeform 6">
                <a:extLst>
                  <a:ext uri="{FF2B5EF4-FFF2-40B4-BE49-F238E27FC236}">
                    <a16:creationId xmlns:a16="http://schemas.microsoft.com/office/drawing/2014/main" id="{4C8EF58B-63A7-62C7-1AD3-2B6DD539983B}"/>
                  </a:ext>
                </a:extLst>
              </p:cNvPr>
              <p:cNvSpPr>
                <a:spLocks noEditPoints="1"/>
              </p:cNvSpPr>
              <p:nvPr/>
            </p:nvSpPr>
            <p:spPr bwMode="auto">
              <a:xfrm>
                <a:off x="3256470" y="4258262"/>
                <a:ext cx="135502" cy="134064"/>
              </a:xfrm>
              <a:custGeom>
                <a:avLst/>
                <a:gdLst>
                  <a:gd name="T0" fmla="*/ 88 w 1374"/>
                  <a:gd name="T1" fmla="*/ 1258 h 1620"/>
                  <a:gd name="T2" fmla="*/ 40 w 1374"/>
                  <a:gd name="T3" fmla="*/ 1324 h 1620"/>
                  <a:gd name="T4" fmla="*/ 42 w 1374"/>
                  <a:gd name="T5" fmla="*/ 1484 h 1620"/>
                  <a:gd name="T6" fmla="*/ 386 w 1374"/>
                  <a:gd name="T7" fmla="*/ 1572 h 1620"/>
                  <a:gd name="T8" fmla="*/ 494 w 1374"/>
                  <a:gd name="T9" fmla="*/ 1488 h 1620"/>
                  <a:gd name="T10" fmla="*/ 266 w 1374"/>
                  <a:gd name="T11" fmla="*/ 1124 h 1620"/>
                  <a:gd name="T12" fmla="*/ 190 w 1374"/>
                  <a:gd name="T13" fmla="*/ 1036 h 1620"/>
                  <a:gd name="T14" fmla="*/ 364 w 1374"/>
                  <a:gd name="T15" fmla="*/ 682 h 1620"/>
                  <a:gd name="T16" fmla="*/ 452 w 1374"/>
                  <a:gd name="T17" fmla="*/ 438 h 1620"/>
                  <a:gd name="T18" fmla="*/ 478 w 1374"/>
                  <a:gd name="T19" fmla="*/ 92 h 1620"/>
                  <a:gd name="T20" fmla="*/ 656 w 1374"/>
                  <a:gd name="T21" fmla="*/ 0 h 1620"/>
                  <a:gd name="T22" fmla="*/ 922 w 1374"/>
                  <a:gd name="T23" fmla="*/ 168 h 1620"/>
                  <a:gd name="T24" fmla="*/ 978 w 1374"/>
                  <a:gd name="T25" fmla="*/ 502 h 1620"/>
                  <a:gd name="T26" fmla="*/ 1140 w 1374"/>
                  <a:gd name="T27" fmla="*/ 750 h 1620"/>
                  <a:gd name="T28" fmla="*/ 1224 w 1374"/>
                  <a:gd name="T29" fmla="*/ 1120 h 1620"/>
                  <a:gd name="T30" fmla="*/ 1078 w 1374"/>
                  <a:gd name="T31" fmla="*/ 1242 h 1620"/>
                  <a:gd name="T32" fmla="*/ 988 w 1374"/>
                  <a:gd name="T33" fmla="*/ 1172 h 1620"/>
                  <a:gd name="T34" fmla="*/ 932 w 1374"/>
                  <a:gd name="T35" fmla="*/ 1222 h 1620"/>
                  <a:gd name="T36" fmla="*/ 952 w 1374"/>
                  <a:gd name="T37" fmla="*/ 1542 h 1620"/>
                  <a:gd name="T38" fmla="*/ 1068 w 1374"/>
                  <a:gd name="T39" fmla="*/ 1560 h 1620"/>
                  <a:gd name="T40" fmla="*/ 1292 w 1374"/>
                  <a:gd name="T41" fmla="*/ 1434 h 1620"/>
                  <a:gd name="T42" fmla="*/ 1236 w 1374"/>
                  <a:gd name="T43" fmla="*/ 1276 h 1620"/>
                  <a:gd name="T44" fmla="*/ 1326 w 1374"/>
                  <a:gd name="T45" fmla="*/ 1330 h 1620"/>
                  <a:gd name="T46" fmla="*/ 1330 w 1374"/>
                  <a:gd name="T47" fmla="*/ 1438 h 1620"/>
                  <a:gd name="T48" fmla="*/ 1048 w 1374"/>
                  <a:gd name="T49" fmla="*/ 1614 h 1620"/>
                  <a:gd name="T50" fmla="*/ 900 w 1374"/>
                  <a:gd name="T51" fmla="*/ 1570 h 1620"/>
                  <a:gd name="T52" fmla="*/ 578 w 1374"/>
                  <a:gd name="T53" fmla="*/ 1546 h 1620"/>
                  <a:gd name="T54" fmla="*/ 356 w 1374"/>
                  <a:gd name="T55" fmla="*/ 1606 h 1620"/>
                  <a:gd name="T56" fmla="*/ 0 w 1374"/>
                  <a:gd name="T57" fmla="*/ 1464 h 1620"/>
                  <a:gd name="T58" fmla="*/ 14 w 1374"/>
                  <a:gd name="T59" fmla="*/ 1256 h 1620"/>
                  <a:gd name="T60" fmla="*/ 166 w 1374"/>
                  <a:gd name="T61" fmla="*/ 1186 h 1620"/>
                  <a:gd name="T62" fmla="*/ 438 w 1374"/>
                  <a:gd name="T63" fmla="*/ 716 h 1620"/>
                  <a:gd name="T64" fmla="*/ 358 w 1374"/>
                  <a:gd name="T65" fmla="*/ 934 h 1620"/>
                  <a:gd name="T66" fmla="*/ 288 w 1374"/>
                  <a:gd name="T67" fmla="*/ 1036 h 1620"/>
                  <a:gd name="T68" fmla="*/ 326 w 1374"/>
                  <a:gd name="T69" fmla="*/ 1124 h 1620"/>
                  <a:gd name="T70" fmla="*/ 520 w 1374"/>
                  <a:gd name="T71" fmla="*/ 1354 h 1620"/>
                  <a:gd name="T72" fmla="*/ 524 w 1374"/>
                  <a:gd name="T73" fmla="*/ 1412 h 1620"/>
                  <a:gd name="T74" fmla="*/ 790 w 1374"/>
                  <a:gd name="T75" fmla="*/ 1418 h 1620"/>
                  <a:gd name="T76" fmla="*/ 892 w 1374"/>
                  <a:gd name="T77" fmla="*/ 1424 h 1620"/>
                  <a:gd name="T78" fmla="*/ 914 w 1374"/>
                  <a:gd name="T79" fmla="*/ 1402 h 1620"/>
                  <a:gd name="T80" fmla="*/ 948 w 1374"/>
                  <a:gd name="T81" fmla="*/ 1130 h 1620"/>
                  <a:gd name="T82" fmla="*/ 976 w 1374"/>
                  <a:gd name="T83" fmla="*/ 930 h 1620"/>
                  <a:gd name="T84" fmla="*/ 842 w 1374"/>
                  <a:gd name="T85" fmla="*/ 588 h 1620"/>
                  <a:gd name="T86" fmla="*/ 820 w 1374"/>
                  <a:gd name="T87" fmla="*/ 438 h 1620"/>
                  <a:gd name="T88" fmla="*/ 700 w 1374"/>
                  <a:gd name="T89" fmla="*/ 370 h 1620"/>
                  <a:gd name="T90" fmla="*/ 744 w 1374"/>
                  <a:gd name="T91" fmla="*/ 288 h 1620"/>
                  <a:gd name="T92" fmla="*/ 802 w 1374"/>
                  <a:gd name="T93" fmla="*/ 390 h 1620"/>
                  <a:gd name="T94" fmla="*/ 786 w 1374"/>
                  <a:gd name="T95" fmla="*/ 246 h 1620"/>
                  <a:gd name="T96" fmla="*/ 674 w 1374"/>
                  <a:gd name="T97" fmla="*/ 302 h 1620"/>
                  <a:gd name="T98" fmla="*/ 538 w 1374"/>
                  <a:gd name="T99" fmla="*/ 246 h 1620"/>
                  <a:gd name="T100" fmla="*/ 494 w 1374"/>
                  <a:gd name="T101" fmla="*/ 368 h 1620"/>
                  <a:gd name="T102" fmla="*/ 508 w 1374"/>
                  <a:gd name="T103" fmla="*/ 344 h 1620"/>
                  <a:gd name="T104" fmla="*/ 558 w 1374"/>
                  <a:gd name="T105" fmla="*/ 304 h 1620"/>
                  <a:gd name="T106" fmla="*/ 510 w 1374"/>
                  <a:gd name="T107" fmla="*/ 418 h 1620"/>
                  <a:gd name="T108" fmla="*/ 576 w 1374"/>
                  <a:gd name="T109" fmla="*/ 514 h 1620"/>
                  <a:gd name="T110" fmla="*/ 792 w 1374"/>
                  <a:gd name="T111" fmla="*/ 466 h 1620"/>
                  <a:gd name="T112" fmla="*/ 570 w 1374"/>
                  <a:gd name="T113" fmla="*/ 560 h 1620"/>
                  <a:gd name="T114" fmla="*/ 762 w 1374"/>
                  <a:gd name="T115" fmla="*/ 514 h 1620"/>
                  <a:gd name="T116" fmla="*/ 568 w 1374"/>
                  <a:gd name="T117" fmla="*/ 618 h 1620"/>
                  <a:gd name="T118" fmla="*/ 1078 w 1374"/>
                  <a:gd name="T119" fmla="*/ 892 h 1620"/>
                  <a:gd name="T120" fmla="*/ 1072 w 1374"/>
                  <a:gd name="T121" fmla="*/ 986 h 1620"/>
                  <a:gd name="T122" fmla="*/ 870 w 1374"/>
                  <a:gd name="T123" fmla="*/ 496 h 1620"/>
                  <a:gd name="T124" fmla="*/ 924 w 1374"/>
                  <a:gd name="T125" fmla="*/ 514 h 1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74" h="1620">
                    <a:moveTo>
                      <a:pt x="174" y="1170"/>
                    </a:moveTo>
                    <a:lnTo>
                      <a:pt x="174" y="1170"/>
                    </a:lnTo>
                    <a:lnTo>
                      <a:pt x="174" y="1188"/>
                    </a:lnTo>
                    <a:lnTo>
                      <a:pt x="172" y="1204"/>
                    </a:lnTo>
                    <a:lnTo>
                      <a:pt x="168" y="1218"/>
                    </a:lnTo>
                    <a:lnTo>
                      <a:pt x="162" y="1230"/>
                    </a:lnTo>
                    <a:lnTo>
                      <a:pt x="154" y="1238"/>
                    </a:lnTo>
                    <a:lnTo>
                      <a:pt x="142" y="1246"/>
                    </a:lnTo>
                    <a:lnTo>
                      <a:pt x="130" y="1252"/>
                    </a:lnTo>
                    <a:lnTo>
                      <a:pt x="114" y="1256"/>
                    </a:lnTo>
                    <a:lnTo>
                      <a:pt x="114" y="1256"/>
                    </a:lnTo>
                    <a:lnTo>
                      <a:pt x="88" y="1258"/>
                    </a:lnTo>
                    <a:lnTo>
                      <a:pt x="64" y="1258"/>
                    </a:lnTo>
                    <a:lnTo>
                      <a:pt x="64" y="1258"/>
                    </a:lnTo>
                    <a:lnTo>
                      <a:pt x="52" y="1260"/>
                    </a:lnTo>
                    <a:lnTo>
                      <a:pt x="42" y="1262"/>
                    </a:lnTo>
                    <a:lnTo>
                      <a:pt x="34" y="1266"/>
                    </a:lnTo>
                    <a:lnTo>
                      <a:pt x="28" y="1272"/>
                    </a:lnTo>
                    <a:lnTo>
                      <a:pt x="26" y="1278"/>
                    </a:lnTo>
                    <a:lnTo>
                      <a:pt x="24" y="1286"/>
                    </a:lnTo>
                    <a:lnTo>
                      <a:pt x="26" y="1294"/>
                    </a:lnTo>
                    <a:lnTo>
                      <a:pt x="30" y="1304"/>
                    </a:lnTo>
                    <a:lnTo>
                      <a:pt x="30" y="1304"/>
                    </a:lnTo>
                    <a:lnTo>
                      <a:pt x="40" y="1324"/>
                    </a:lnTo>
                    <a:lnTo>
                      <a:pt x="46" y="1342"/>
                    </a:lnTo>
                    <a:lnTo>
                      <a:pt x="50" y="1360"/>
                    </a:lnTo>
                    <a:lnTo>
                      <a:pt x="52" y="1378"/>
                    </a:lnTo>
                    <a:lnTo>
                      <a:pt x="52" y="1396"/>
                    </a:lnTo>
                    <a:lnTo>
                      <a:pt x="48" y="1416"/>
                    </a:lnTo>
                    <a:lnTo>
                      <a:pt x="42" y="1434"/>
                    </a:lnTo>
                    <a:lnTo>
                      <a:pt x="32" y="1452"/>
                    </a:lnTo>
                    <a:lnTo>
                      <a:pt x="32" y="1452"/>
                    </a:lnTo>
                    <a:lnTo>
                      <a:pt x="32" y="1456"/>
                    </a:lnTo>
                    <a:lnTo>
                      <a:pt x="32" y="1460"/>
                    </a:lnTo>
                    <a:lnTo>
                      <a:pt x="36" y="1472"/>
                    </a:lnTo>
                    <a:lnTo>
                      <a:pt x="42" y="1484"/>
                    </a:lnTo>
                    <a:lnTo>
                      <a:pt x="50" y="1492"/>
                    </a:lnTo>
                    <a:lnTo>
                      <a:pt x="50" y="1492"/>
                    </a:lnTo>
                    <a:lnTo>
                      <a:pt x="60" y="1498"/>
                    </a:lnTo>
                    <a:lnTo>
                      <a:pt x="72" y="1500"/>
                    </a:lnTo>
                    <a:lnTo>
                      <a:pt x="98" y="1506"/>
                    </a:lnTo>
                    <a:lnTo>
                      <a:pt x="98" y="1506"/>
                    </a:lnTo>
                    <a:lnTo>
                      <a:pt x="216" y="1536"/>
                    </a:lnTo>
                    <a:lnTo>
                      <a:pt x="276" y="1550"/>
                    </a:lnTo>
                    <a:lnTo>
                      <a:pt x="336" y="1564"/>
                    </a:lnTo>
                    <a:lnTo>
                      <a:pt x="336" y="1564"/>
                    </a:lnTo>
                    <a:lnTo>
                      <a:pt x="360" y="1568"/>
                    </a:lnTo>
                    <a:lnTo>
                      <a:pt x="386" y="1572"/>
                    </a:lnTo>
                    <a:lnTo>
                      <a:pt x="412" y="1572"/>
                    </a:lnTo>
                    <a:lnTo>
                      <a:pt x="438" y="1570"/>
                    </a:lnTo>
                    <a:lnTo>
                      <a:pt x="438" y="1570"/>
                    </a:lnTo>
                    <a:lnTo>
                      <a:pt x="452" y="1566"/>
                    </a:lnTo>
                    <a:lnTo>
                      <a:pt x="464" y="1560"/>
                    </a:lnTo>
                    <a:lnTo>
                      <a:pt x="476" y="1552"/>
                    </a:lnTo>
                    <a:lnTo>
                      <a:pt x="484" y="1542"/>
                    </a:lnTo>
                    <a:lnTo>
                      <a:pt x="490" y="1532"/>
                    </a:lnTo>
                    <a:lnTo>
                      <a:pt x="494" y="1518"/>
                    </a:lnTo>
                    <a:lnTo>
                      <a:pt x="494" y="1504"/>
                    </a:lnTo>
                    <a:lnTo>
                      <a:pt x="494" y="1488"/>
                    </a:lnTo>
                    <a:lnTo>
                      <a:pt x="494" y="1488"/>
                    </a:lnTo>
                    <a:lnTo>
                      <a:pt x="490" y="1468"/>
                    </a:lnTo>
                    <a:lnTo>
                      <a:pt x="486" y="1448"/>
                    </a:lnTo>
                    <a:lnTo>
                      <a:pt x="480" y="1430"/>
                    </a:lnTo>
                    <a:lnTo>
                      <a:pt x="472" y="1412"/>
                    </a:lnTo>
                    <a:lnTo>
                      <a:pt x="472" y="1412"/>
                    </a:lnTo>
                    <a:lnTo>
                      <a:pt x="386" y="1284"/>
                    </a:lnTo>
                    <a:lnTo>
                      <a:pt x="344" y="1220"/>
                    </a:lnTo>
                    <a:lnTo>
                      <a:pt x="298" y="1158"/>
                    </a:lnTo>
                    <a:lnTo>
                      <a:pt x="298" y="1158"/>
                    </a:lnTo>
                    <a:lnTo>
                      <a:pt x="290" y="1146"/>
                    </a:lnTo>
                    <a:lnTo>
                      <a:pt x="278" y="1134"/>
                    </a:lnTo>
                    <a:lnTo>
                      <a:pt x="266" y="1124"/>
                    </a:lnTo>
                    <a:lnTo>
                      <a:pt x="254" y="1118"/>
                    </a:lnTo>
                    <a:lnTo>
                      <a:pt x="240" y="1114"/>
                    </a:lnTo>
                    <a:lnTo>
                      <a:pt x="224" y="1112"/>
                    </a:lnTo>
                    <a:lnTo>
                      <a:pt x="208" y="1116"/>
                    </a:lnTo>
                    <a:lnTo>
                      <a:pt x="190" y="1122"/>
                    </a:lnTo>
                    <a:lnTo>
                      <a:pt x="190" y="1122"/>
                    </a:lnTo>
                    <a:lnTo>
                      <a:pt x="186" y="1108"/>
                    </a:lnTo>
                    <a:lnTo>
                      <a:pt x="184" y="1092"/>
                    </a:lnTo>
                    <a:lnTo>
                      <a:pt x="184" y="1078"/>
                    </a:lnTo>
                    <a:lnTo>
                      <a:pt x="184" y="1064"/>
                    </a:lnTo>
                    <a:lnTo>
                      <a:pt x="186" y="1050"/>
                    </a:lnTo>
                    <a:lnTo>
                      <a:pt x="190" y="1036"/>
                    </a:lnTo>
                    <a:lnTo>
                      <a:pt x="200" y="1008"/>
                    </a:lnTo>
                    <a:lnTo>
                      <a:pt x="200" y="1008"/>
                    </a:lnTo>
                    <a:lnTo>
                      <a:pt x="232" y="940"/>
                    </a:lnTo>
                    <a:lnTo>
                      <a:pt x="248" y="906"/>
                    </a:lnTo>
                    <a:lnTo>
                      <a:pt x="262" y="870"/>
                    </a:lnTo>
                    <a:lnTo>
                      <a:pt x="262" y="870"/>
                    </a:lnTo>
                    <a:lnTo>
                      <a:pt x="280" y="820"/>
                    </a:lnTo>
                    <a:lnTo>
                      <a:pt x="304" y="772"/>
                    </a:lnTo>
                    <a:lnTo>
                      <a:pt x="316" y="748"/>
                    </a:lnTo>
                    <a:lnTo>
                      <a:pt x="332" y="726"/>
                    </a:lnTo>
                    <a:lnTo>
                      <a:pt x="348" y="704"/>
                    </a:lnTo>
                    <a:lnTo>
                      <a:pt x="364" y="682"/>
                    </a:lnTo>
                    <a:lnTo>
                      <a:pt x="364" y="682"/>
                    </a:lnTo>
                    <a:lnTo>
                      <a:pt x="378" y="666"/>
                    </a:lnTo>
                    <a:lnTo>
                      <a:pt x="390" y="650"/>
                    </a:lnTo>
                    <a:lnTo>
                      <a:pt x="390" y="650"/>
                    </a:lnTo>
                    <a:lnTo>
                      <a:pt x="406" y="628"/>
                    </a:lnTo>
                    <a:lnTo>
                      <a:pt x="422" y="604"/>
                    </a:lnTo>
                    <a:lnTo>
                      <a:pt x="434" y="578"/>
                    </a:lnTo>
                    <a:lnTo>
                      <a:pt x="444" y="552"/>
                    </a:lnTo>
                    <a:lnTo>
                      <a:pt x="452" y="526"/>
                    </a:lnTo>
                    <a:lnTo>
                      <a:pt x="456" y="498"/>
                    </a:lnTo>
                    <a:lnTo>
                      <a:pt x="456" y="468"/>
                    </a:lnTo>
                    <a:lnTo>
                      <a:pt x="452" y="438"/>
                    </a:lnTo>
                    <a:lnTo>
                      <a:pt x="452" y="438"/>
                    </a:lnTo>
                    <a:lnTo>
                      <a:pt x="448" y="406"/>
                    </a:lnTo>
                    <a:lnTo>
                      <a:pt x="446" y="374"/>
                    </a:lnTo>
                    <a:lnTo>
                      <a:pt x="444" y="310"/>
                    </a:lnTo>
                    <a:lnTo>
                      <a:pt x="446" y="246"/>
                    </a:lnTo>
                    <a:lnTo>
                      <a:pt x="450" y="182"/>
                    </a:lnTo>
                    <a:lnTo>
                      <a:pt x="450" y="182"/>
                    </a:lnTo>
                    <a:lnTo>
                      <a:pt x="452" y="162"/>
                    </a:lnTo>
                    <a:lnTo>
                      <a:pt x="456" y="144"/>
                    </a:lnTo>
                    <a:lnTo>
                      <a:pt x="462" y="124"/>
                    </a:lnTo>
                    <a:lnTo>
                      <a:pt x="470" y="108"/>
                    </a:lnTo>
                    <a:lnTo>
                      <a:pt x="478" y="92"/>
                    </a:lnTo>
                    <a:lnTo>
                      <a:pt x="488" y="76"/>
                    </a:lnTo>
                    <a:lnTo>
                      <a:pt x="500" y="62"/>
                    </a:lnTo>
                    <a:lnTo>
                      <a:pt x="514" y="50"/>
                    </a:lnTo>
                    <a:lnTo>
                      <a:pt x="528" y="40"/>
                    </a:lnTo>
                    <a:lnTo>
                      <a:pt x="544" y="30"/>
                    </a:lnTo>
                    <a:lnTo>
                      <a:pt x="560" y="20"/>
                    </a:lnTo>
                    <a:lnTo>
                      <a:pt x="578" y="14"/>
                    </a:lnTo>
                    <a:lnTo>
                      <a:pt x="596" y="8"/>
                    </a:lnTo>
                    <a:lnTo>
                      <a:pt x="614" y="4"/>
                    </a:lnTo>
                    <a:lnTo>
                      <a:pt x="634" y="2"/>
                    </a:lnTo>
                    <a:lnTo>
                      <a:pt x="656" y="0"/>
                    </a:lnTo>
                    <a:lnTo>
                      <a:pt x="656" y="0"/>
                    </a:lnTo>
                    <a:lnTo>
                      <a:pt x="686" y="2"/>
                    </a:lnTo>
                    <a:lnTo>
                      <a:pt x="718" y="6"/>
                    </a:lnTo>
                    <a:lnTo>
                      <a:pt x="746" y="12"/>
                    </a:lnTo>
                    <a:lnTo>
                      <a:pt x="772" y="20"/>
                    </a:lnTo>
                    <a:lnTo>
                      <a:pt x="798" y="32"/>
                    </a:lnTo>
                    <a:lnTo>
                      <a:pt x="822" y="46"/>
                    </a:lnTo>
                    <a:lnTo>
                      <a:pt x="844" y="60"/>
                    </a:lnTo>
                    <a:lnTo>
                      <a:pt x="864" y="78"/>
                    </a:lnTo>
                    <a:lnTo>
                      <a:pt x="882" y="98"/>
                    </a:lnTo>
                    <a:lnTo>
                      <a:pt x="898" y="120"/>
                    </a:lnTo>
                    <a:lnTo>
                      <a:pt x="910" y="144"/>
                    </a:lnTo>
                    <a:lnTo>
                      <a:pt x="922" y="168"/>
                    </a:lnTo>
                    <a:lnTo>
                      <a:pt x="930" y="196"/>
                    </a:lnTo>
                    <a:lnTo>
                      <a:pt x="938" y="224"/>
                    </a:lnTo>
                    <a:lnTo>
                      <a:pt x="940" y="254"/>
                    </a:lnTo>
                    <a:lnTo>
                      <a:pt x="942" y="286"/>
                    </a:lnTo>
                    <a:lnTo>
                      <a:pt x="942" y="286"/>
                    </a:lnTo>
                    <a:lnTo>
                      <a:pt x="944" y="344"/>
                    </a:lnTo>
                    <a:lnTo>
                      <a:pt x="946" y="370"/>
                    </a:lnTo>
                    <a:lnTo>
                      <a:pt x="950" y="398"/>
                    </a:lnTo>
                    <a:lnTo>
                      <a:pt x="956" y="426"/>
                    </a:lnTo>
                    <a:lnTo>
                      <a:pt x="962" y="452"/>
                    </a:lnTo>
                    <a:lnTo>
                      <a:pt x="968" y="478"/>
                    </a:lnTo>
                    <a:lnTo>
                      <a:pt x="978" y="502"/>
                    </a:lnTo>
                    <a:lnTo>
                      <a:pt x="988" y="528"/>
                    </a:lnTo>
                    <a:lnTo>
                      <a:pt x="998" y="552"/>
                    </a:lnTo>
                    <a:lnTo>
                      <a:pt x="1012" y="576"/>
                    </a:lnTo>
                    <a:lnTo>
                      <a:pt x="1024" y="600"/>
                    </a:lnTo>
                    <a:lnTo>
                      <a:pt x="1040" y="622"/>
                    </a:lnTo>
                    <a:lnTo>
                      <a:pt x="1056" y="646"/>
                    </a:lnTo>
                    <a:lnTo>
                      <a:pt x="1074" y="668"/>
                    </a:lnTo>
                    <a:lnTo>
                      <a:pt x="1094" y="690"/>
                    </a:lnTo>
                    <a:lnTo>
                      <a:pt x="1094" y="690"/>
                    </a:lnTo>
                    <a:lnTo>
                      <a:pt x="1110" y="710"/>
                    </a:lnTo>
                    <a:lnTo>
                      <a:pt x="1126" y="730"/>
                    </a:lnTo>
                    <a:lnTo>
                      <a:pt x="1140" y="750"/>
                    </a:lnTo>
                    <a:lnTo>
                      <a:pt x="1152" y="772"/>
                    </a:lnTo>
                    <a:lnTo>
                      <a:pt x="1176" y="814"/>
                    </a:lnTo>
                    <a:lnTo>
                      <a:pt x="1196" y="860"/>
                    </a:lnTo>
                    <a:lnTo>
                      <a:pt x="1212" y="908"/>
                    </a:lnTo>
                    <a:lnTo>
                      <a:pt x="1224" y="956"/>
                    </a:lnTo>
                    <a:lnTo>
                      <a:pt x="1232" y="1006"/>
                    </a:lnTo>
                    <a:lnTo>
                      <a:pt x="1236" y="1056"/>
                    </a:lnTo>
                    <a:lnTo>
                      <a:pt x="1236" y="1056"/>
                    </a:lnTo>
                    <a:lnTo>
                      <a:pt x="1236" y="1072"/>
                    </a:lnTo>
                    <a:lnTo>
                      <a:pt x="1234" y="1088"/>
                    </a:lnTo>
                    <a:lnTo>
                      <a:pt x="1230" y="1104"/>
                    </a:lnTo>
                    <a:lnTo>
                      <a:pt x="1224" y="1120"/>
                    </a:lnTo>
                    <a:lnTo>
                      <a:pt x="1218" y="1134"/>
                    </a:lnTo>
                    <a:lnTo>
                      <a:pt x="1208" y="1150"/>
                    </a:lnTo>
                    <a:lnTo>
                      <a:pt x="1198" y="1164"/>
                    </a:lnTo>
                    <a:lnTo>
                      <a:pt x="1188" y="1178"/>
                    </a:lnTo>
                    <a:lnTo>
                      <a:pt x="1176" y="1192"/>
                    </a:lnTo>
                    <a:lnTo>
                      <a:pt x="1162" y="1204"/>
                    </a:lnTo>
                    <a:lnTo>
                      <a:pt x="1148" y="1214"/>
                    </a:lnTo>
                    <a:lnTo>
                      <a:pt x="1134" y="1222"/>
                    </a:lnTo>
                    <a:lnTo>
                      <a:pt x="1120" y="1230"/>
                    </a:lnTo>
                    <a:lnTo>
                      <a:pt x="1106" y="1236"/>
                    </a:lnTo>
                    <a:lnTo>
                      <a:pt x="1092" y="1240"/>
                    </a:lnTo>
                    <a:lnTo>
                      <a:pt x="1078" y="1242"/>
                    </a:lnTo>
                    <a:lnTo>
                      <a:pt x="1078" y="1242"/>
                    </a:lnTo>
                    <a:lnTo>
                      <a:pt x="1066" y="1242"/>
                    </a:lnTo>
                    <a:lnTo>
                      <a:pt x="1054" y="1240"/>
                    </a:lnTo>
                    <a:lnTo>
                      <a:pt x="1042" y="1236"/>
                    </a:lnTo>
                    <a:lnTo>
                      <a:pt x="1032" y="1232"/>
                    </a:lnTo>
                    <a:lnTo>
                      <a:pt x="1022" y="1226"/>
                    </a:lnTo>
                    <a:lnTo>
                      <a:pt x="1014" y="1218"/>
                    </a:lnTo>
                    <a:lnTo>
                      <a:pt x="1008" y="1208"/>
                    </a:lnTo>
                    <a:lnTo>
                      <a:pt x="1000" y="1196"/>
                    </a:lnTo>
                    <a:lnTo>
                      <a:pt x="1000" y="1196"/>
                    </a:lnTo>
                    <a:lnTo>
                      <a:pt x="994" y="1184"/>
                    </a:lnTo>
                    <a:lnTo>
                      <a:pt x="988" y="1172"/>
                    </a:lnTo>
                    <a:lnTo>
                      <a:pt x="988" y="1172"/>
                    </a:lnTo>
                    <a:lnTo>
                      <a:pt x="972" y="1158"/>
                    </a:lnTo>
                    <a:lnTo>
                      <a:pt x="964" y="1152"/>
                    </a:lnTo>
                    <a:lnTo>
                      <a:pt x="958" y="1152"/>
                    </a:lnTo>
                    <a:lnTo>
                      <a:pt x="958" y="1152"/>
                    </a:lnTo>
                    <a:lnTo>
                      <a:pt x="950" y="1154"/>
                    </a:lnTo>
                    <a:lnTo>
                      <a:pt x="942" y="1162"/>
                    </a:lnTo>
                    <a:lnTo>
                      <a:pt x="936" y="1170"/>
                    </a:lnTo>
                    <a:lnTo>
                      <a:pt x="934" y="1180"/>
                    </a:lnTo>
                    <a:lnTo>
                      <a:pt x="934" y="1180"/>
                    </a:lnTo>
                    <a:lnTo>
                      <a:pt x="932" y="1200"/>
                    </a:lnTo>
                    <a:lnTo>
                      <a:pt x="932" y="1222"/>
                    </a:lnTo>
                    <a:lnTo>
                      <a:pt x="932" y="1266"/>
                    </a:lnTo>
                    <a:lnTo>
                      <a:pt x="932" y="1266"/>
                    </a:lnTo>
                    <a:lnTo>
                      <a:pt x="940" y="1432"/>
                    </a:lnTo>
                    <a:lnTo>
                      <a:pt x="940" y="1432"/>
                    </a:lnTo>
                    <a:lnTo>
                      <a:pt x="938" y="1456"/>
                    </a:lnTo>
                    <a:lnTo>
                      <a:pt x="936" y="1480"/>
                    </a:lnTo>
                    <a:lnTo>
                      <a:pt x="936" y="1480"/>
                    </a:lnTo>
                    <a:lnTo>
                      <a:pt x="936" y="1494"/>
                    </a:lnTo>
                    <a:lnTo>
                      <a:pt x="938" y="1508"/>
                    </a:lnTo>
                    <a:lnTo>
                      <a:pt x="942" y="1520"/>
                    </a:lnTo>
                    <a:lnTo>
                      <a:pt x="946" y="1532"/>
                    </a:lnTo>
                    <a:lnTo>
                      <a:pt x="952" y="1542"/>
                    </a:lnTo>
                    <a:lnTo>
                      <a:pt x="960" y="1550"/>
                    </a:lnTo>
                    <a:lnTo>
                      <a:pt x="966" y="1558"/>
                    </a:lnTo>
                    <a:lnTo>
                      <a:pt x="976" y="1564"/>
                    </a:lnTo>
                    <a:lnTo>
                      <a:pt x="986" y="1570"/>
                    </a:lnTo>
                    <a:lnTo>
                      <a:pt x="996" y="1572"/>
                    </a:lnTo>
                    <a:lnTo>
                      <a:pt x="1006" y="1574"/>
                    </a:lnTo>
                    <a:lnTo>
                      <a:pt x="1018" y="1574"/>
                    </a:lnTo>
                    <a:lnTo>
                      <a:pt x="1030" y="1574"/>
                    </a:lnTo>
                    <a:lnTo>
                      <a:pt x="1042" y="1570"/>
                    </a:lnTo>
                    <a:lnTo>
                      <a:pt x="1056" y="1566"/>
                    </a:lnTo>
                    <a:lnTo>
                      <a:pt x="1068" y="1560"/>
                    </a:lnTo>
                    <a:lnTo>
                      <a:pt x="1068" y="1560"/>
                    </a:lnTo>
                    <a:lnTo>
                      <a:pt x="1082" y="1552"/>
                    </a:lnTo>
                    <a:lnTo>
                      <a:pt x="1092" y="1544"/>
                    </a:lnTo>
                    <a:lnTo>
                      <a:pt x="1092" y="1544"/>
                    </a:lnTo>
                    <a:lnTo>
                      <a:pt x="1114" y="1526"/>
                    </a:lnTo>
                    <a:lnTo>
                      <a:pt x="1136" y="1510"/>
                    </a:lnTo>
                    <a:lnTo>
                      <a:pt x="1158" y="1496"/>
                    </a:lnTo>
                    <a:lnTo>
                      <a:pt x="1182" y="1482"/>
                    </a:lnTo>
                    <a:lnTo>
                      <a:pt x="1206" y="1470"/>
                    </a:lnTo>
                    <a:lnTo>
                      <a:pt x="1232" y="1458"/>
                    </a:lnTo>
                    <a:lnTo>
                      <a:pt x="1282" y="1438"/>
                    </a:lnTo>
                    <a:lnTo>
                      <a:pt x="1282" y="1438"/>
                    </a:lnTo>
                    <a:lnTo>
                      <a:pt x="1292" y="1434"/>
                    </a:lnTo>
                    <a:lnTo>
                      <a:pt x="1302" y="1428"/>
                    </a:lnTo>
                    <a:lnTo>
                      <a:pt x="1320" y="1416"/>
                    </a:lnTo>
                    <a:lnTo>
                      <a:pt x="1354" y="1386"/>
                    </a:lnTo>
                    <a:lnTo>
                      <a:pt x="1354" y="1386"/>
                    </a:lnTo>
                    <a:lnTo>
                      <a:pt x="1320" y="1360"/>
                    </a:lnTo>
                    <a:lnTo>
                      <a:pt x="1304" y="1348"/>
                    </a:lnTo>
                    <a:lnTo>
                      <a:pt x="1286" y="1336"/>
                    </a:lnTo>
                    <a:lnTo>
                      <a:pt x="1286" y="1336"/>
                    </a:lnTo>
                    <a:lnTo>
                      <a:pt x="1270" y="1326"/>
                    </a:lnTo>
                    <a:lnTo>
                      <a:pt x="1254" y="1312"/>
                    </a:lnTo>
                    <a:lnTo>
                      <a:pt x="1244" y="1296"/>
                    </a:lnTo>
                    <a:lnTo>
                      <a:pt x="1236" y="1276"/>
                    </a:lnTo>
                    <a:lnTo>
                      <a:pt x="1232" y="1256"/>
                    </a:lnTo>
                    <a:lnTo>
                      <a:pt x="1230" y="1232"/>
                    </a:lnTo>
                    <a:lnTo>
                      <a:pt x="1234" y="1208"/>
                    </a:lnTo>
                    <a:lnTo>
                      <a:pt x="1242" y="1182"/>
                    </a:lnTo>
                    <a:lnTo>
                      <a:pt x="1242" y="1182"/>
                    </a:lnTo>
                    <a:lnTo>
                      <a:pt x="1244" y="1210"/>
                    </a:lnTo>
                    <a:lnTo>
                      <a:pt x="1252" y="1236"/>
                    </a:lnTo>
                    <a:lnTo>
                      <a:pt x="1260" y="1260"/>
                    </a:lnTo>
                    <a:lnTo>
                      <a:pt x="1274" y="1280"/>
                    </a:lnTo>
                    <a:lnTo>
                      <a:pt x="1288" y="1298"/>
                    </a:lnTo>
                    <a:lnTo>
                      <a:pt x="1306" y="1316"/>
                    </a:lnTo>
                    <a:lnTo>
                      <a:pt x="1326" y="1330"/>
                    </a:lnTo>
                    <a:lnTo>
                      <a:pt x="1348" y="1344"/>
                    </a:lnTo>
                    <a:lnTo>
                      <a:pt x="1348" y="1344"/>
                    </a:lnTo>
                    <a:lnTo>
                      <a:pt x="1360" y="1352"/>
                    </a:lnTo>
                    <a:lnTo>
                      <a:pt x="1368" y="1360"/>
                    </a:lnTo>
                    <a:lnTo>
                      <a:pt x="1374" y="1370"/>
                    </a:lnTo>
                    <a:lnTo>
                      <a:pt x="1374" y="1382"/>
                    </a:lnTo>
                    <a:lnTo>
                      <a:pt x="1374" y="1392"/>
                    </a:lnTo>
                    <a:lnTo>
                      <a:pt x="1368" y="1404"/>
                    </a:lnTo>
                    <a:lnTo>
                      <a:pt x="1360" y="1414"/>
                    </a:lnTo>
                    <a:lnTo>
                      <a:pt x="1350" y="1424"/>
                    </a:lnTo>
                    <a:lnTo>
                      <a:pt x="1350" y="1424"/>
                    </a:lnTo>
                    <a:lnTo>
                      <a:pt x="1330" y="1438"/>
                    </a:lnTo>
                    <a:lnTo>
                      <a:pt x="1310" y="1450"/>
                    </a:lnTo>
                    <a:lnTo>
                      <a:pt x="1288" y="1462"/>
                    </a:lnTo>
                    <a:lnTo>
                      <a:pt x="1268" y="1474"/>
                    </a:lnTo>
                    <a:lnTo>
                      <a:pt x="1268" y="1474"/>
                    </a:lnTo>
                    <a:lnTo>
                      <a:pt x="1182" y="1528"/>
                    </a:lnTo>
                    <a:lnTo>
                      <a:pt x="1140" y="1558"/>
                    </a:lnTo>
                    <a:lnTo>
                      <a:pt x="1100" y="1588"/>
                    </a:lnTo>
                    <a:lnTo>
                      <a:pt x="1100" y="1588"/>
                    </a:lnTo>
                    <a:lnTo>
                      <a:pt x="1088" y="1596"/>
                    </a:lnTo>
                    <a:lnTo>
                      <a:pt x="1074" y="1602"/>
                    </a:lnTo>
                    <a:lnTo>
                      <a:pt x="1062" y="1608"/>
                    </a:lnTo>
                    <a:lnTo>
                      <a:pt x="1048" y="1614"/>
                    </a:lnTo>
                    <a:lnTo>
                      <a:pt x="1036" y="1616"/>
                    </a:lnTo>
                    <a:lnTo>
                      <a:pt x="1022" y="1618"/>
                    </a:lnTo>
                    <a:lnTo>
                      <a:pt x="1008" y="1620"/>
                    </a:lnTo>
                    <a:lnTo>
                      <a:pt x="996" y="1618"/>
                    </a:lnTo>
                    <a:lnTo>
                      <a:pt x="982" y="1616"/>
                    </a:lnTo>
                    <a:lnTo>
                      <a:pt x="968" y="1614"/>
                    </a:lnTo>
                    <a:lnTo>
                      <a:pt x="956" y="1610"/>
                    </a:lnTo>
                    <a:lnTo>
                      <a:pt x="944" y="1604"/>
                    </a:lnTo>
                    <a:lnTo>
                      <a:pt x="932" y="1598"/>
                    </a:lnTo>
                    <a:lnTo>
                      <a:pt x="920" y="1590"/>
                    </a:lnTo>
                    <a:lnTo>
                      <a:pt x="910" y="1580"/>
                    </a:lnTo>
                    <a:lnTo>
                      <a:pt x="900" y="1570"/>
                    </a:lnTo>
                    <a:lnTo>
                      <a:pt x="900" y="1570"/>
                    </a:lnTo>
                    <a:lnTo>
                      <a:pt x="888" y="1558"/>
                    </a:lnTo>
                    <a:lnTo>
                      <a:pt x="872" y="1548"/>
                    </a:lnTo>
                    <a:lnTo>
                      <a:pt x="854" y="1540"/>
                    </a:lnTo>
                    <a:lnTo>
                      <a:pt x="838" y="1538"/>
                    </a:lnTo>
                    <a:lnTo>
                      <a:pt x="838" y="1538"/>
                    </a:lnTo>
                    <a:lnTo>
                      <a:pt x="780" y="1536"/>
                    </a:lnTo>
                    <a:lnTo>
                      <a:pt x="724" y="1534"/>
                    </a:lnTo>
                    <a:lnTo>
                      <a:pt x="666" y="1536"/>
                    </a:lnTo>
                    <a:lnTo>
                      <a:pt x="610" y="1540"/>
                    </a:lnTo>
                    <a:lnTo>
                      <a:pt x="610" y="1540"/>
                    </a:lnTo>
                    <a:lnTo>
                      <a:pt x="578" y="1546"/>
                    </a:lnTo>
                    <a:lnTo>
                      <a:pt x="546" y="1556"/>
                    </a:lnTo>
                    <a:lnTo>
                      <a:pt x="516" y="1570"/>
                    </a:lnTo>
                    <a:lnTo>
                      <a:pt x="488" y="1584"/>
                    </a:lnTo>
                    <a:lnTo>
                      <a:pt x="488" y="1584"/>
                    </a:lnTo>
                    <a:lnTo>
                      <a:pt x="472" y="1594"/>
                    </a:lnTo>
                    <a:lnTo>
                      <a:pt x="456" y="1602"/>
                    </a:lnTo>
                    <a:lnTo>
                      <a:pt x="440" y="1608"/>
                    </a:lnTo>
                    <a:lnTo>
                      <a:pt x="424" y="1610"/>
                    </a:lnTo>
                    <a:lnTo>
                      <a:pt x="408" y="1612"/>
                    </a:lnTo>
                    <a:lnTo>
                      <a:pt x="392" y="1612"/>
                    </a:lnTo>
                    <a:lnTo>
                      <a:pt x="374" y="1610"/>
                    </a:lnTo>
                    <a:lnTo>
                      <a:pt x="356" y="1606"/>
                    </a:lnTo>
                    <a:lnTo>
                      <a:pt x="356" y="1606"/>
                    </a:lnTo>
                    <a:lnTo>
                      <a:pt x="214" y="1566"/>
                    </a:lnTo>
                    <a:lnTo>
                      <a:pt x="72" y="1530"/>
                    </a:lnTo>
                    <a:lnTo>
                      <a:pt x="72" y="1530"/>
                    </a:lnTo>
                    <a:lnTo>
                      <a:pt x="46" y="1522"/>
                    </a:lnTo>
                    <a:lnTo>
                      <a:pt x="28" y="1514"/>
                    </a:lnTo>
                    <a:lnTo>
                      <a:pt x="14" y="1506"/>
                    </a:lnTo>
                    <a:lnTo>
                      <a:pt x="8" y="1500"/>
                    </a:lnTo>
                    <a:lnTo>
                      <a:pt x="4" y="1494"/>
                    </a:lnTo>
                    <a:lnTo>
                      <a:pt x="2" y="1488"/>
                    </a:lnTo>
                    <a:lnTo>
                      <a:pt x="0" y="1480"/>
                    </a:lnTo>
                    <a:lnTo>
                      <a:pt x="0" y="1464"/>
                    </a:lnTo>
                    <a:lnTo>
                      <a:pt x="4" y="1444"/>
                    </a:lnTo>
                    <a:lnTo>
                      <a:pt x="10" y="1420"/>
                    </a:lnTo>
                    <a:lnTo>
                      <a:pt x="10" y="1420"/>
                    </a:lnTo>
                    <a:lnTo>
                      <a:pt x="16" y="1396"/>
                    </a:lnTo>
                    <a:lnTo>
                      <a:pt x="18" y="1370"/>
                    </a:lnTo>
                    <a:lnTo>
                      <a:pt x="16" y="1344"/>
                    </a:lnTo>
                    <a:lnTo>
                      <a:pt x="12" y="1318"/>
                    </a:lnTo>
                    <a:lnTo>
                      <a:pt x="12" y="1318"/>
                    </a:lnTo>
                    <a:lnTo>
                      <a:pt x="10" y="1298"/>
                    </a:lnTo>
                    <a:lnTo>
                      <a:pt x="8" y="1280"/>
                    </a:lnTo>
                    <a:lnTo>
                      <a:pt x="10" y="1266"/>
                    </a:lnTo>
                    <a:lnTo>
                      <a:pt x="14" y="1256"/>
                    </a:lnTo>
                    <a:lnTo>
                      <a:pt x="22" y="1248"/>
                    </a:lnTo>
                    <a:lnTo>
                      <a:pt x="34" y="1242"/>
                    </a:lnTo>
                    <a:lnTo>
                      <a:pt x="50" y="1240"/>
                    </a:lnTo>
                    <a:lnTo>
                      <a:pt x="72" y="1238"/>
                    </a:lnTo>
                    <a:lnTo>
                      <a:pt x="72" y="1238"/>
                    </a:lnTo>
                    <a:lnTo>
                      <a:pt x="88" y="1236"/>
                    </a:lnTo>
                    <a:lnTo>
                      <a:pt x="104" y="1232"/>
                    </a:lnTo>
                    <a:lnTo>
                      <a:pt x="118" y="1226"/>
                    </a:lnTo>
                    <a:lnTo>
                      <a:pt x="132" y="1220"/>
                    </a:lnTo>
                    <a:lnTo>
                      <a:pt x="144" y="1210"/>
                    </a:lnTo>
                    <a:lnTo>
                      <a:pt x="156" y="1200"/>
                    </a:lnTo>
                    <a:lnTo>
                      <a:pt x="166" y="1186"/>
                    </a:lnTo>
                    <a:lnTo>
                      <a:pt x="174" y="1170"/>
                    </a:lnTo>
                    <a:lnTo>
                      <a:pt x="174" y="1170"/>
                    </a:lnTo>
                    <a:close/>
                    <a:moveTo>
                      <a:pt x="504" y="546"/>
                    </a:moveTo>
                    <a:lnTo>
                      <a:pt x="504" y="546"/>
                    </a:lnTo>
                    <a:lnTo>
                      <a:pt x="488" y="588"/>
                    </a:lnTo>
                    <a:lnTo>
                      <a:pt x="470" y="626"/>
                    </a:lnTo>
                    <a:lnTo>
                      <a:pt x="470" y="626"/>
                    </a:lnTo>
                    <a:lnTo>
                      <a:pt x="456" y="656"/>
                    </a:lnTo>
                    <a:lnTo>
                      <a:pt x="450" y="670"/>
                    </a:lnTo>
                    <a:lnTo>
                      <a:pt x="444" y="686"/>
                    </a:lnTo>
                    <a:lnTo>
                      <a:pt x="440" y="700"/>
                    </a:lnTo>
                    <a:lnTo>
                      <a:pt x="438" y="716"/>
                    </a:lnTo>
                    <a:lnTo>
                      <a:pt x="438" y="734"/>
                    </a:lnTo>
                    <a:lnTo>
                      <a:pt x="442" y="750"/>
                    </a:lnTo>
                    <a:lnTo>
                      <a:pt x="442" y="750"/>
                    </a:lnTo>
                    <a:lnTo>
                      <a:pt x="442" y="756"/>
                    </a:lnTo>
                    <a:lnTo>
                      <a:pt x="442" y="760"/>
                    </a:lnTo>
                    <a:lnTo>
                      <a:pt x="434" y="772"/>
                    </a:lnTo>
                    <a:lnTo>
                      <a:pt x="434" y="772"/>
                    </a:lnTo>
                    <a:lnTo>
                      <a:pt x="414" y="802"/>
                    </a:lnTo>
                    <a:lnTo>
                      <a:pt x="396" y="834"/>
                    </a:lnTo>
                    <a:lnTo>
                      <a:pt x="380" y="866"/>
                    </a:lnTo>
                    <a:lnTo>
                      <a:pt x="368" y="900"/>
                    </a:lnTo>
                    <a:lnTo>
                      <a:pt x="358" y="934"/>
                    </a:lnTo>
                    <a:lnTo>
                      <a:pt x="350" y="970"/>
                    </a:lnTo>
                    <a:lnTo>
                      <a:pt x="346" y="1006"/>
                    </a:lnTo>
                    <a:lnTo>
                      <a:pt x="346" y="1044"/>
                    </a:lnTo>
                    <a:lnTo>
                      <a:pt x="346" y="1044"/>
                    </a:lnTo>
                    <a:lnTo>
                      <a:pt x="346" y="1056"/>
                    </a:lnTo>
                    <a:lnTo>
                      <a:pt x="344" y="1070"/>
                    </a:lnTo>
                    <a:lnTo>
                      <a:pt x="338" y="1104"/>
                    </a:lnTo>
                    <a:lnTo>
                      <a:pt x="338" y="1104"/>
                    </a:lnTo>
                    <a:lnTo>
                      <a:pt x="318" y="1088"/>
                    </a:lnTo>
                    <a:lnTo>
                      <a:pt x="304" y="1072"/>
                    </a:lnTo>
                    <a:lnTo>
                      <a:pt x="296" y="1054"/>
                    </a:lnTo>
                    <a:lnTo>
                      <a:pt x="288" y="1036"/>
                    </a:lnTo>
                    <a:lnTo>
                      <a:pt x="284" y="1018"/>
                    </a:lnTo>
                    <a:lnTo>
                      <a:pt x="282" y="998"/>
                    </a:lnTo>
                    <a:lnTo>
                      <a:pt x="278" y="962"/>
                    </a:lnTo>
                    <a:lnTo>
                      <a:pt x="278" y="962"/>
                    </a:lnTo>
                    <a:lnTo>
                      <a:pt x="274" y="986"/>
                    </a:lnTo>
                    <a:lnTo>
                      <a:pt x="274" y="1008"/>
                    </a:lnTo>
                    <a:lnTo>
                      <a:pt x="274" y="1030"/>
                    </a:lnTo>
                    <a:lnTo>
                      <a:pt x="278" y="1050"/>
                    </a:lnTo>
                    <a:lnTo>
                      <a:pt x="284" y="1070"/>
                    </a:lnTo>
                    <a:lnTo>
                      <a:pt x="294" y="1090"/>
                    </a:lnTo>
                    <a:lnTo>
                      <a:pt x="308" y="1108"/>
                    </a:lnTo>
                    <a:lnTo>
                      <a:pt x="326" y="1124"/>
                    </a:lnTo>
                    <a:lnTo>
                      <a:pt x="326" y="1124"/>
                    </a:lnTo>
                    <a:lnTo>
                      <a:pt x="406" y="1192"/>
                    </a:lnTo>
                    <a:lnTo>
                      <a:pt x="488" y="1260"/>
                    </a:lnTo>
                    <a:lnTo>
                      <a:pt x="488" y="1260"/>
                    </a:lnTo>
                    <a:lnTo>
                      <a:pt x="506" y="1278"/>
                    </a:lnTo>
                    <a:lnTo>
                      <a:pt x="520" y="1294"/>
                    </a:lnTo>
                    <a:lnTo>
                      <a:pt x="528" y="1310"/>
                    </a:lnTo>
                    <a:lnTo>
                      <a:pt x="530" y="1318"/>
                    </a:lnTo>
                    <a:lnTo>
                      <a:pt x="532" y="1324"/>
                    </a:lnTo>
                    <a:lnTo>
                      <a:pt x="530" y="1332"/>
                    </a:lnTo>
                    <a:lnTo>
                      <a:pt x="528" y="1340"/>
                    </a:lnTo>
                    <a:lnTo>
                      <a:pt x="520" y="1354"/>
                    </a:lnTo>
                    <a:lnTo>
                      <a:pt x="506" y="1368"/>
                    </a:lnTo>
                    <a:lnTo>
                      <a:pt x="486" y="1382"/>
                    </a:lnTo>
                    <a:lnTo>
                      <a:pt x="486" y="1382"/>
                    </a:lnTo>
                    <a:lnTo>
                      <a:pt x="546" y="1518"/>
                    </a:lnTo>
                    <a:lnTo>
                      <a:pt x="546" y="1518"/>
                    </a:lnTo>
                    <a:lnTo>
                      <a:pt x="552" y="1504"/>
                    </a:lnTo>
                    <a:lnTo>
                      <a:pt x="554" y="1490"/>
                    </a:lnTo>
                    <a:lnTo>
                      <a:pt x="552" y="1478"/>
                    </a:lnTo>
                    <a:lnTo>
                      <a:pt x="548" y="1464"/>
                    </a:lnTo>
                    <a:lnTo>
                      <a:pt x="534" y="1438"/>
                    </a:lnTo>
                    <a:lnTo>
                      <a:pt x="528" y="1426"/>
                    </a:lnTo>
                    <a:lnTo>
                      <a:pt x="524" y="1412"/>
                    </a:lnTo>
                    <a:lnTo>
                      <a:pt x="524" y="1412"/>
                    </a:lnTo>
                    <a:lnTo>
                      <a:pt x="570" y="1428"/>
                    </a:lnTo>
                    <a:lnTo>
                      <a:pt x="594" y="1434"/>
                    </a:lnTo>
                    <a:lnTo>
                      <a:pt x="618" y="1440"/>
                    </a:lnTo>
                    <a:lnTo>
                      <a:pt x="642" y="1444"/>
                    </a:lnTo>
                    <a:lnTo>
                      <a:pt x="666" y="1446"/>
                    </a:lnTo>
                    <a:lnTo>
                      <a:pt x="692" y="1446"/>
                    </a:lnTo>
                    <a:lnTo>
                      <a:pt x="718" y="1442"/>
                    </a:lnTo>
                    <a:lnTo>
                      <a:pt x="718" y="1442"/>
                    </a:lnTo>
                    <a:lnTo>
                      <a:pt x="744" y="1436"/>
                    </a:lnTo>
                    <a:lnTo>
                      <a:pt x="768" y="1428"/>
                    </a:lnTo>
                    <a:lnTo>
                      <a:pt x="790" y="1418"/>
                    </a:lnTo>
                    <a:lnTo>
                      <a:pt x="812" y="1404"/>
                    </a:lnTo>
                    <a:lnTo>
                      <a:pt x="832" y="1390"/>
                    </a:lnTo>
                    <a:lnTo>
                      <a:pt x="852" y="1372"/>
                    </a:lnTo>
                    <a:lnTo>
                      <a:pt x="870" y="1354"/>
                    </a:lnTo>
                    <a:lnTo>
                      <a:pt x="886" y="1330"/>
                    </a:lnTo>
                    <a:lnTo>
                      <a:pt x="886" y="1330"/>
                    </a:lnTo>
                    <a:lnTo>
                      <a:pt x="892" y="1344"/>
                    </a:lnTo>
                    <a:lnTo>
                      <a:pt x="896" y="1356"/>
                    </a:lnTo>
                    <a:lnTo>
                      <a:pt x="898" y="1368"/>
                    </a:lnTo>
                    <a:lnTo>
                      <a:pt x="898" y="1380"/>
                    </a:lnTo>
                    <a:lnTo>
                      <a:pt x="896" y="1402"/>
                    </a:lnTo>
                    <a:lnTo>
                      <a:pt x="892" y="1424"/>
                    </a:lnTo>
                    <a:lnTo>
                      <a:pt x="886" y="1446"/>
                    </a:lnTo>
                    <a:lnTo>
                      <a:pt x="882" y="1468"/>
                    </a:lnTo>
                    <a:lnTo>
                      <a:pt x="882" y="1480"/>
                    </a:lnTo>
                    <a:lnTo>
                      <a:pt x="882" y="1490"/>
                    </a:lnTo>
                    <a:lnTo>
                      <a:pt x="884" y="1502"/>
                    </a:lnTo>
                    <a:lnTo>
                      <a:pt x="886" y="1512"/>
                    </a:lnTo>
                    <a:lnTo>
                      <a:pt x="886" y="1512"/>
                    </a:lnTo>
                    <a:lnTo>
                      <a:pt x="896" y="1486"/>
                    </a:lnTo>
                    <a:lnTo>
                      <a:pt x="904" y="1458"/>
                    </a:lnTo>
                    <a:lnTo>
                      <a:pt x="910" y="1430"/>
                    </a:lnTo>
                    <a:lnTo>
                      <a:pt x="914" y="1402"/>
                    </a:lnTo>
                    <a:lnTo>
                      <a:pt x="914" y="1402"/>
                    </a:lnTo>
                    <a:lnTo>
                      <a:pt x="912" y="1356"/>
                    </a:lnTo>
                    <a:lnTo>
                      <a:pt x="910" y="1310"/>
                    </a:lnTo>
                    <a:lnTo>
                      <a:pt x="908" y="1266"/>
                    </a:lnTo>
                    <a:lnTo>
                      <a:pt x="908" y="1220"/>
                    </a:lnTo>
                    <a:lnTo>
                      <a:pt x="908" y="1220"/>
                    </a:lnTo>
                    <a:lnTo>
                      <a:pt x="910" y="1200"/>
                    </a:lnTo>
                    <a:lnTo>
                      <a:pt x="912" y="1182"/>
                    </a:lnTo>
                    <a:lnTo>
                      <a:pt x="918" y="1164"/>
                    </a:lnTo>
                    <a:lnTo>
                      <a:pt x="924" y="1156"/>
                    </a:lnTo>
                    <a:lnTo>
                      <a:pt x="928" y="1150"/>
                    </a:lnTo>
                    <a:lnTo>
                      <a:pt x="928" y="1150"/>
                    </a:lnTo>
                    <a:lnTo>
                      <a:pt x="948" y="1130"/>
                    </a:lnTo>
                    <a:lnTo>
                      <a:pt x="970" y="1112"/>
                    </a:lnTo>
                    <a:lnTo>
                      <a:pt x="1006" y="1084"/>
                    </a:lnTo>
                    <a:lnTo>
                      <a:pt x="1006" y="1084"/>
                    </a:lnTo>
                    <a:lnTo>
                      <a:pt x="998" y="1066"/>
                    </a:lnTo>
                    <a:lnTo>
                      <a:pt x="988" y="1048"/>
                    </a:lnTo>
                    <a:lnTo>
                      <a:pt x="982" y="1030"/>
                    </a:lnTo>
                    <a:lnTo>
                      <a:pt x="980" y="1022"/>
                    </a:lnTo>
                    <a:lnTo>
                      <a:pt x="980" y="1014"/>
                    </a:lnTo>
                    <a:lnTo>
                      <a:pt x="980" y="1014"/>
                    </a:lnTo>
                    <a:lnTo>
                      <a:pt x="982" y="986"/>
                    </a:lnTo>
                    <a:lnTo>
                      <a:pt x="980" y="958"/>
                    </a:lnTo>
                    <a:lnTo>
                      <a:pt x="976" y="930"/>
                    </a:lnTo>
                    <a:lnTo>
                      <a:pt x="972" y="904"/>
                    </a:lnTo>
                    <a:lnTo>
                      <a:pt x="966" y="878"/>
                    </a:lnTo>
                    <a:lnTo>
                      <a:pt x="958" y="852"/>
                    </a:lnTo>
                    <a:lnTo>
                      <a:pt x="938" y="800"/>
                    </a:lnTo>
                    <a:lnTo>
                      <a:pt x="916" y="750"/>
                    </a:lnTo>
                    <a:lnTo>
                      <a:pt x="894" y="702"/>
                    </a:lnTo>
                    <a:lnTo>
                      <a:pt x="870" y="652"/>
                    </a:lnTo>
                    <a:lnTo>
                      <a:pt x="850" y="602"/>
                    </a:lnTo>
                    <a:lnTo>
                      <a:pt x="850" y="602"/>
                    </a:lnTo>
                    <a:lnTo>
                      <a:pt x="846" y="594"/>
                    </a:lnTo>
                    <a:lnTo>
                      <a:pt x="842" y="588"/>
                    </a:lnTo>
                    <a:lnTo>
                      <a:pt x="842" y="588"/>
                    </a:lnTo>
                    <a:lnTo>
                      <a:pt x="832" y="574"/>
                    </a:lnTo>
                    <a:lnTo>
                      <a:pt x="822" y="560"/>
                    </a:lnTo>
                    <a:lnTo>
                      <a:pt x="816" y="546"/>
                    </a:lnTo>
                    <a:lnTo>
                      <a:pt x="812" y="530"/>
                    </a:lnTo>
                    <a:lnTo>
                      <a:pt x="810" y="514"/>
                    </a:lnTo>
                    <a:lnTo>
                      <a:pt x="810" y="498"/>
                    </a:lnTo>
                    <a:lnTo>
                      <a:pt x="812" y="482"/>
                    </a:lnTo>
                    <a:lnTo>
                      <a:pt x="816" y="466"/>
                    </a:lnTo>
                    <a:lnTo>
                      <a:pt x="816" y="466"/>
                    </a:lnTo>
                    <a:lnTo>
                      <a:pt x="820" y="456"/>
                    </a:lnTo>
                    <a:lnTo>
                      <a:pt x="820" y="446"/>
                    </a:lnTo>
                    <a:lnTo>
                      <a:pt x="820" y="438"/>
                    </a:lnTo>
                    <a:lnTo>
                      <a:pt x="816" y="432"/>
                    </a:lnTo>
                    <a:lnTo>
                      <a:pt x="812" y="426"/>
                    </a:lnTo>
                    <a:lnTo>
                      <a:pt x="804" y="420"/>
                    </a:lnTo>
                    <a:lnTo>
                      <a:pt x="796" y="416"/>
                    </a:lnTo>
                    <a:lnTo>
                      <a:pt x="786" y="412"/>
                    </a:lnTo>
                    <a:lnTo>
                      <a:pt x="786" y="412"/>
                    </a:lnTo>
                    <a:lnTo>
                      <a:pt x="768" y="406"/>
                    </a:lnTo>
                    <a:lnTo>
                      <a:pt x="750" y="400"/>
                    </a:lnTo>
                    <a:lnTo>
                      <a:pt x="716" y="382"/>
                    </a:lnTo>
                    <a:lnTo>
                      <a:pt x="716" y="382"/>
                    </a:lnTo>
                    <a:lnTo>
                      <a:pt x="708" y="376"/>
                    </a:lnTo>
                    <a:lnTo>
                      <a:pt x="700" y="370"/>
                    </a:lnTo>
                    <a:lnTo>
                      <a:pt x="696" y="362"/>
                    </a:lnTo>
                    <a:lnTo>
                      <a:pt x="696" y="354"/>
                    </a:lnTo>
                    <a:lnTo>
                      <a:pt x="696" y="344"/>
                    </a:lnTo>
                    <a:lnTo>
                      <a:pt x="696" y="336"/>
                    </a:lnTo>
                    <a:lnTo>
                      <a:pt x="702" y="320"/>
                    </a:lnTo>
                    <a:lnTo>
                      <a:pt x="702" y="320"/>
                    </a:lnTo>
                    <a:lnTo>
                      <a:pt x="710" y="308"/>
                    </a:lnTo>
                    <a:lnTo>
                      <a:pt x="720" y="298"/>
                    </a:lnTo>
                    <a:lnTo>
                      <a:pt x="732" y="290"/>
                    </a:lnTo>
                    <a:lnTo>
                      <a:pt x="738" y="288"/>
                    </a:lnTo>
                    <a:lnTo>
                      <a:pt x="744" y="288"/>
                    </a:lnTo>
                    <a:lnTo>
                      <a:pt x="744" y="288"/>
                    </a:lnTo>
                    <a:lnTo>
                      <a:pt x="750" y="290"/>
                    </a:lnTo>
                    <a:lnTo>
                      <a:pt x="756" y="292"/>
                    </a:lnTo>
                    <a:lnTo>
                      <a:pt x="768" y="302"/>
                    </a:lnTo>
                    <a:lnTo>
                      <a:pt x="778" y="312"/>
                    </a:lnTo>
                    <a:lnTo>
                      <a:pt x="786" y="326"/>
                    </a:lnTo>
                    <a:lnTo>
                      <a:pt x="786" y="326"/>
                    </a:lnTo>
                    <a:lnTo>
                      <a:pt x="790" y="340"/>
                    </a:lnTo>
                    <a:lnTo>
                      <a:pt x="790" y="354"/>
                    </a:lnTo>
                    <a:lnTo>
                      <a:pt x="788" y="388"/>
                    </a:lnTo>
                    <a:lnTo>
                      <a:pt x="788" y="388"/>
                    </a:lnTo>
                    <a:lnTo>
                      <a:pt x="796" y="390"/>
                    </a:lnTo>
                    <a:lnTo>
                      <a:pt x="802" y="390"/>
                    </a:lnTo>
                    <a:lnTo>
                      <a:pt x="808" y="388"/>
                    </a:lnTo>
                    <a:lnTo>
                      <a:pt x="814" y="386"/>
                    </a:lnTo>
                    <a:lnTo>
                      <a:pt x="818" y="382"/>
                    </a:lnTo>
                    <a:lnTo>
                      <a:pt x="820" y="376"/>
                    </a:lnTo>
                    <a:lnTo>
                      <a:pt x="824" y="362"/>
                    </a:lnTo>
                    <a:lnTo>
                      <a:pt x="824" y="362"/>
                    </a:lnTo>
                    <a:lnTo>
                      <a:pt x="824" y="338"/>
                    </a:lnTo>
                    <a:lnTo>
                      <a:pt x="822" y="316"/>
                    </a:lnTo>
                    <a:lnTo>
                      <a:pt x="818" y="294"/>
                    </a:lnTo>
                    <a:lnTo>
                      <a:pt x="810" y="276"/>
                    </a:lnTo>
                    <a:lnTo>
                      <a:pt x="798" y="260"/>
                    </a:lnTo>
                    <a:lnTo>
                      <a:pt x="786" y="246"/>
                    </a:lnTo>
                    <a:lnTo>
                      <a:pt x="770" y="238"/>
                    </a:lnTo>
                    <a:lnTo>
                      <a:pt x="762" y="236"/>
                    </a:lnTo>
                    <a:lnTo>
                      <a:pt x="754" y="234"/>
                    </a:lnTo>
                    <a:lnTo>
                      <a:pt x="754" y="234"/>
                    </a:lnTo>
                    <a:lnTo>
                      <a:pt x="738" y="234"/>
                    </a:lnTo>
                    <a:lnTo>
                      <a:pt x="722" y="236"/>
                    </a:lnTo>
                    <a:lnTo>
                      <a:pt x="708" y="240"/>
                    </a:lnTo>
                    <a:lnTo>
                      <a:pt x="702" y="244"/>
                    </a:lnTo>
                    <a:lnTo>
                      <a:pt x="700" y="248"/>
                    </a:lnTo>
                    <a:lnTo>
                      <a:pt x="700" y="248"/>
                    </a:lnTo>
                    <a:lnTo>
                      <a:pt x="686" y="274"/>
                    </a:lnTo>
                    <a:lnTo>
                      <a:pt x="674" y="302"/>
                    </a:lnTo>
                    <a:lnTo>
                      <a:pt x="652" y="358"/>
                    </a:lnTo>
                    <a:lnTo>
                      <a:pt x="652" y="358"/>
                    </a:lnTo>
                    <a:lnTo>
                      <a:pt x="602" y="354"/>
                    </a:lnTo>
                    <a:lnTo>
                      <a:pt x="602" y="354"/>
                    </a:lnTo>
                    <a:lnTo>
                      <a:pt x="592" y="310"/>
                    </a:lnTo>
                    <a:lnTo>
                      <a:pt x="586" y="290"/>
                    </a:lnTo>
                    <a:lnTo>
                      <a:pt x="578" y="272"/>
                    </a:lnTo>
                    <a:lnTo>
                      <a:pt x="578" y="272"/>
                    </a:lnTo>
                    <a:lnTo>
                      <a:pt x="574" y="266"/>
                    </a:lnTo>
                    <a:lnTo>
                      <a:pt x="568" y="260"/>
                    </a:lnTo>
                    <a:lnTo>
                      <a:pt x="552" y="252"/>
                    </a:lnTo>
                    <a:lnTo>
                      <a:pt x="538" y="246"/>
                    </a:lnTo>
                    <a:lnTo>
                      <a:pt x="532" y="244"/>
                    </a:lnTo>
                    <a:lnTo>
                      <a:pt x="530" y="244"/>
                    </a:lnTo>
                    <a:lnTo>
                      <a:pt x="530" y="244"/>
                    </a:lnTo>
                    <a:lnTo>
                      <a:pt x="518" y="260"/>
                    </a:lnTo>
                    <a:lnTo>
                      <a:pt x="506" y="278"/>
                    </a:lnTo>
                    <a:lnTo>
                      <a:pt x="496" y="296"/>
                    </a:lnTo>
                    <a:lnTo>
                      <a:pt x="492" y="314"/>
                    </a:lnTo>
                    <a:lnTo>
                      <a:pt x="492" y="314"/>
                    </a:lnTo>
                    <a:lnTo>
                      <a:pt x="488" y="336"/>
                    </a:lnTo>
                    <a:lnTo>
                      <a:pt x="488" y="346"/>
                    </a:lnTo>
                    <a:lnTo>
                      <a:pt x="490" y="356"/>
                    </a:lnTo>
                    <a:lnTo>
                      <a:pt x="494" y="368"/>
                    </a:lnTo>
                    <a:lnTo>
                      <a:pt x="500" y="376"/>
                    </a:lnTo>
                    <a:lnTo>
                      <a:pt x="508" y="384"/>
                    </a:lnTo>
                    <a:lnTo>
                      <a:pt x="520" y="392"/>
                    </a:lnTo>
                    <a:lnTo>
                      <a:pt x="520" y="392"/>
                    </a:lnTo>
                    <a:lnTo>
                      <a:pt x="522" y="390"/>
                    </a:lnTo>
                    <a:lnTo>
                      <a:pt x="528" y="386"/>
                    </a:lnTo>
                    <a:lnTo>
                      <a:pt x="528" y="386"/>
                    </a:lnTo>
                    <a:lnTo>
                      <a:pt x="516" y="372"/>
                    </a:lnTo>
                    <a:lnTo>
                      <a:pt x="512" y="366"/>
                    </a:lnTo>
                    <a:lnTo>
                      <a:pt x="510" y="358"/>
                    </a:lnTo>
                    <a:lnTo>
                      <a:pt x="510" y="358"/>
                    </a:lnTo>
                    <a:lnTo>
                      <a:pt x="508" y="344"/>
                    </a:lnTo>
                    <a:lnTo>
                      <a:pt x="510" y="328"/>
                    </a:lnTo>
                    <a:lnTo>
                      <a:pt x="512" y="314"/>
                    </a:lnTo>
                    <a:lnTo>
                      <a:pt x="516" y="298"/>
                    </a:lnTo>
                    <a:lnTo>
                      <a:pt x="516" y="298"/>
                    </a:lnTo>
                    <a:lnTo>
                      <a:pt x="518" y="296"/>
                    </a:lnTo>
                    <a:lnTo>
                      <a:pt x="522" y="294"/>
                    </a:lnTo>
                    <a:lnTo>
                      <a:pt x="532" y="292"/>
                    </a:lnTo>
                    <a:lnTo>
                      <a:pt x="542" y="290"/>
                    </a:lnTo>
                    <a:lnTo>
                      <a:pt x="546" y="290"/>
                    </a:lnTo>
                    <a:lnTo>
                      <a:pt x="550" y="292"/>
                    </a:lnTo>
                    <a:lnTo>
                      <a:pt x="550" y="292"/>
                    </a:lnTo>
                    <a:lnTo>
                      <a:pt x="558" y="304"/>
                    </a:lnTo>
                    <a:lnTo>
                      <a:pt x="564" y="318"/>
                    </a:lnTo>
                    <a:lnTo>
                      <a:pt x="570" y="332"/>
                    </a:lnTo>
                    <a:lnTo>
                      <a:pt x="574" y="346"/>
                    </a:lnTo>
                    <a:lnTo>
                      <a:pt x="574" y="346"/>
                    </a:lnTo>
                    <a:lnTo>
                      <a:pt x="574" y="354"/>
                    </a:lnTo>
                    <a:lnTo>
                      <a:pt x="570" y="360"/>
                    </a:lnTo>
                    <a:lnTo>
                      <a:pt x="560" y="374"/>
                    </a:lnTo>
                    <a:lnTo>
                      <a:pt x="560" y="374"/>
                    </a:lnTo>
                    <a:lnTo>
                      <a:pt x="534" y="396"/>
                    </a:lnTo>
                    <a:lnTo>
                      <a:pt x="522" y="406"/>
                    </a:lnTo>
                    <a:lnTo>
                      <a:pt x="510" y="418"/>
                    </a:lnTo>
                    <a:lnTo>
                      <a:pt x="510" y="418"/>
                    </a:lnTo>
                    <a:lnTo>
                      <a:pt x="504" y="428"/>
                    </a:lnTo>
                    <a:lnTo>
                      <a:pt x="498" y="440"/>
                    </a:lnTo>
                    <a:lnTo>
                      <a:pt x="494" y="450"/>
                    </a:lnTo>
                    <a:lnTo>
                      <a:pt x="494" y="454"/>
                    </a:lnTo>
                    <a:lnTo>
                      <a:pt x="494" y="456"/>
                    </a:lnTo>
                    <a:lnTo>
                      <a:pt x="494" y="456"/>
                    </a:lnTo>
                    <a:lnTo>
                      <a:pt x="514" y="476"/>
                    </a:lnTo>
                    <a:lnTo>
                      <a:pt x="526" y="488"/>
                    </a:lnTo>
                    <a:lnTo>
                      <a:pt x="536" y="496"/>
                    </a:lnTo>
                    <a:lnTo>
                      <a:pt x="548" y="504"/>
                    </a:lnTo>
                    <a:lnTo>
                      <a:pt x="562" y="510"/>
                    </a:lnTo>
                    <a:lnTo>
                      <a:pt x="576" y="514"/>
                    </a:lnTo>
                    <a:lnTo>
                      <a:pt x="594" y="514"/>
                    </a:lnTo>
                    <a:lnTo>
                      <a:pt x="594" y="514"/>
                    </a:lnTo>
                    <a:lnTo>
                      <a:pt x="644" y="506"/>
                    </a:lnTo>
                    <a:lnTo>
                      <a:pt x="670" y="500"/>
                    </a:lnTo>
                    <a:lnTo>
                      <a:pt x="694" y="494"/>
                    </a:lnTo>
                    <a:lnTo>
                      <a:pt x="718" y="486"/>
                    </a:lnTo>
                    <a:lnTo>
                      <a:pt x="742" y="474"/>
                    </a:lnTo>
                    <a:lnTo>
                      <a:pt x="766" y="460"/>
                    </a:lnTo>
                    <a:lnTo>
                      <a:pt x="788" y="444"/>
                    </a:lnTo>
                    <a:lnTo>
                      <a:pt x="788" y="444"/>
                    </a:lnTo>
                    <a:lnTo>
                      <a:pt x="792" y="460"/>
                    </a:lnTo>
                    <a:lnTo>
                      <a:pt x="792" y="466"/>
                    </a:lnTo>
                    <a:lnTo>
                      <a:pt x="792" y="466"/>
                    </a:lnTo>
                    <a:lnTo>
                      <a:pt x="734" y="494"/>
                    </a:lnTo>
                    <a:lnTo>
                      <a:pt x="706" y="506"/>
                    </a:lnTo>
                    <a:lnTo>
                      <a:pt x="676" y="518"/>
                    </a:lnTo>
                    <a:lnTo>
                      <a:pt x="646" y="528"/>
                    </a:lnTo>
                    <a:lnTo>
                      <a:pt x="614" y="534"/>
                    </a:lnTo>
                    <a:lnTo>
                      <a:pt x="580" y="538"/>
                    </a:lnTo>
                    <a:lnTo>
                      <a:pt x="564" y="536"/>
                    </a:lnTo>
                    <a:lnTo>
                      <a:pt x="546" y="534"/>
                    </a:lnTo>
                    <a:lnTo>
                      <a:pt x="546" y="534"/>
                    </a:lnTo>
                    <a:lnTo>
                      <a:pt x="558" y="548"/>
                    </a:lnTo>
                    <a:lnTo>
                      <a:pt x="570" y="560"/>
                    </a:lnTo>
                    <a:lnTo>
                      <a:pt x="582" y="566"/>
                    </a:lnTo>
                    <a:lnTo>
                      <a:pt x="596" y="570"/>
                    </a:lnTo>
                    <a:lnTo>
                      <a:pt x="608" y="572"/>
                    </a:lnTo>
                    <a:lnTo>
                      <a:pt x="622" y="570"/>
                    </a:lnTo>
                    <a:lnTo>
                      <a:pt x="634" y="568"/>
                    </a:lnTo>
                    <a:lnTo>
                      <a:pt x="648" y="564"/>
                    </a:lnTo>
                    <a:lnTo>
                      <a:pt x="648" y="564"/>
                    </a:lnTo>
                    <a:lnTo>
                      <a:pt x="672" y="554"/>
                    </a:lnTo>
                    <a:lnTo>
                      <a:pt x="696" y="544"/>
                    </a:lnTo>
                    <a:lnTo>
                      <a:pt x="742" y="520"/>
                    </a:lnTo>
                    <a:lnTo>
                      <a:pt x="742" y="520"/>
                    </a:lnTo>
                    <a:lnTo>
                      <a:pt x="762" y="514"/>
                    </a:lnTo>
                    <a:lnTo>
                      <a:pt x="782" y="510"/>
                    </a:lnTo>
                    <a:lnTo>
                      <a:pt x="782" y="510"/>
                    </a:lnTo>
                    <a:lnTo>
                      <a:pt x="786" y="522"/>
                    </a:lnTo>
                    <a:lnTo>
                      <a:pt x="786" y="522"/>
                    </a:lnTo>
                    <a:lnTo>
                      <a:pt x="698" y="578"/>
                    </a:lnTo>
                    <a:lnTo>
                      <a:pt x="654" y="604"/>
                    </a:lnTo>
                    <a:lnTo>
                      <a:pt x="608" y="630"/>
                    </a:lnTo>
                    <a:lnTo>
                      <a:pt x="608" y="630"/>
                    </a:lnTo>
                    <a:lnTo>
                      <a:pt x="604" y="630"/>
                    </a:lnTo>
                    <a:lnTo>
                      <a:pt x="598" y="630"/>
                    </a:lnTo>
                    <a:lnTo>
                      <a:pt x="582" y="626"/>
                    </a:lnTo>
                    <a:lnTo>
                      <a:pt x="568" y="618"/>
                    </a:lnTo>
                    <a:lnTo>
                      <a:pt x="554" y="608"/>
                    </a:lnTo>
                    <a:lnTo>
                      <a:pt x="554" y="608"/>
                    </a:lnTo>
                    <a:lnTo>
                      <a:pt x="540" y="594"/>
                    </a:lnTo>
                    <a:lnTo>
                      <a:pt x="528" y="578"/>
                    </a:lnTo>
                    <a:lnTo>
                      <a:pt x="504" y="546"/>
                    </a:lnTo>
                    <a:lnTo>
                      <a:pt x="504" y="546"/>
                    </a:lnTo>
                    <a:close/>
                    <a:moveTo>
                      <a:pt x="1078" y="1054"/>
                    </a:moveTo>
                    <a:lnTo>
                      <a:pt x="1078" y="1054"/>
                    </a:lnTo>
                    <a:lnTo>
                      <a:pt x="1084" y="1012"/>
                    </a:lnTo>
                    <a:lnTo>
                      <a:pt x="1086" y="970"/>
                    </a:lnTo>
                    <a:lnTo>
                      <a:pt x="1084" y="930"/>
                    </a:lnTo>
                    <a:lnTo>
                      <a:pt x="1078" y="892"/>
                    </a:lnTo>
                    <a:lnTo>
                      <a:pt x="1068" y="854"/>
                    </a:lnTo>
                    <a:lnTo>
                      <a:pt x="1052" y="818"/>
                    </a:lnTo>
                    <a:lnTo>
                      <a:pt x="1032" y="784"/>
                    </a:lnTo>
                    <a:lnTo>
                      <a:pt x="1008" y="750"/>
                    </a:lnTo>
                    <a:lnTo>
                      <a:pt x="1008" y="750"/>
                    </a:lnTo>
                    <a:lnTo>
                      <a:pt x="1040" y="826"/>
                    </a:lnTo>
                    <a:lnTo>
                      <a:pt x="1056" y="866"/>
                    </a:lnTo>
                    <a:lnTo>
                      <a:pt x="1066" y="904"/>
                    </a:lnTo>
                    <a:lnTo>
                      <a:pt x="1070" y="924"/>
                    </a:lnTo>
                    <a:lnTo>
                      <a:pt x="1072" y="944"/>
                    </a:lnTo>
                    <a:lnTo>
                      <a:pt x="1074" y="966"/>
                    </a:lnTo>
                    <a:lnTo>
                      <a:pt x="1072" y="986"/>
                    </a:lnTo>
                    <a:lnTo>
                      <a:pt x="1070" y="1006"/>
                    </a:lnTo>
                    <a:lnTo>
                      <a:pt x="1064" y="1028"/>
                    </a:lnTo>
                    <a:lnTo>
                      <a:pt x="1056" y="1050"/>
                    </a:lnTo>
                    <a:lnTo>
                      <a:pt x="1046" y="1070"/>
                    </a:lnTo>
                    <a:lnTo>
                      <a:pt x="1046" y="1070"/>
                    </a:lnTo>
                    <a:lnTo>
                      <a:pt x="1108" y="1080"/>
                    </a:lnTo>
                    <a:lnTo>
                      <a:pt x="1108" y="1080"/>
                    </a:lnTo>
                    <a:lnTo>
                      <a:pt x="1078" y="1054"/>
                    </a:lnTo>
                    <a:lnTo>
                      <a:pt x="1078" y="1054"/>
                    </a:lnTo>
                    <a:close/>
                    <a:moveTo>
                      <a:pt x="880" y="490"/>
                    </a:moveTo>
                    <a:lnTo>
                      <a:pt x="880" y="490"/>
                    </a:lnTo>
                    <a:lnTo>
                      <a:pt x="870" y="496"/>
                    </a:lnTo>
                    <a:lnTo>
                      <a:pt x="870" y="496"/>
                    </a:lnTo>
                    <a:lnTo>
                      <a:pt x="888" y="520"/>
                    </a:lnTo>
                    <a:lnTo>
                      <a:pt x="908" y="542"/>
                    </a:lnTo>
                    <a:lnTo>
                      <a:pt x="908" y="542"/>
                    </a:lnTo>
                    <a:lnTo>
                      <a:pt x="912" y="544"/>
                    </a:lnTo>
                    <a:lnTo>
                      <a:pt x="918" y="544"/>
                    </a:lnTo>
                    <a:lnTo>
                      <a:pt x="932" y="542"/>
                    </a:lnTo>
                    <a:lnTo>
                      <a:pt x="932" y="542"/>
                    </a:lnTo>
                    <a:lnTo>
                      <a:pt x="928" y="526"/>
                    </a:lnTo>
                    <a:lnTo>
                      <a:pt x="928" y="520"/>
                    </a:lnTo>
                    <a:lnTo>
                      <a:pt x="924" y="514"/>
                    </a:lnTo>
                    <a:lnTo>
                      <a:pt x="924" y="514"/>
                    </a:lnTo>
                    <a:lnTo>
                      <a:pt x="914" y="508"/>
                    </a:lnTo>
                    <a:lnTo>
                      <a:pt x="902" y="502"/>
                    </a:lnTo>
                    <a:lnTo>
                      <a:pt x="880" y="490"/>
                    </a:lnTo>
                    <a:lnTo>
                      <a:pt x="880" y="490"/>
                    </a:lnTo>
                    <a:close/>
                  </a:path>
                </a:pathLst>
              </a:custGeom>
              <a:solidFill>
                <a:srgbClr val="0070C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706" tIns="146165" rIns="182706" bIns="146165" numCol="1" spcCol="0" rtlCol="0" fromWordArt="0" anchor="t" anchorCtr="0" forceAA="0" compatLnSpc="1">
                <a:prstTxWarp prst="textNoShape">
                  <a:avLst/>
                </a:prstTxWarp>
                <a:noAutofit/>
              </a:bodyPr>
              <a:lstStyle/>
              <a:p>
                <a:pPr marL="0" marR="0" lvl="0" indent="0" algn="ctr" defTabSz="913111" rtl="0" eaLnBrk="1" fontAlgn="base" latinLnBrk="0" hangingPunct="1">
                  <a:lnSpc>
                    <a:spcPct val="90000"/>
                  </a:lnSpc>
                  <a:spcBef>
                    <a:spcPct val="0"/>
                  </a:spcBef>
                  <a:spcAft>
                    <a:spcPct val="0"/>
                  </a:spcAft>
                  <a:buClrTx/>
                  <a:buSzTx/>
                  <a:buFontTx/>
                  <a:buNone/>
                  <a:tabLst/>
                  <a:defRPr/>
                </a:pPr>
                <a:endParaRPr kumimoji="0" lang="en-US" sz="1998" b="0" i="0" u="none" strike="noStrike" kern="1200" cap="none" spc="-50" normalizeH="0" baseline="0" noProof="0">
                  <a:ln>
                    <a:noFill/>
                  </a:ln>
                  <a:gradFill>
                    <a:gsLst>
                      <a:gs pos="1250">
                        <a:srgbClr val="EFEFEF"/>
                      </a:gs>
                      <a:gs pos="10417">
                        <a:srgbClr val="EFEFEF"/>
                      </a:gs>
                    </a:gsLst>
                    <a:lin ang="5400000" scaled="0"/>
                  </a:gradFill>
                  <a:effectLst/>
                  <a:uLnTx/>
                  <a:uFillTx/>
                  <a:latin typeface="Segoe UI Light"/>
                  <a:ea typeface="+mn-ea"/>
                  <a:cs typeface="+mn-cs"/>
                </a:endParaRPr>
              </a:p>
            </p:txBody>
          </p:sp>
        </p:grpSp>
      </p:grpSp>
      <p:grpSp>
        <p:nvGrpSpPr>
          <p:cNvPr id="650" name="Group 649">
            <a:extLst>
              <a:ext uri="{FF2B5EF4-FFF2-40B4-BE49-F238E27FC236}">
                <a16:creationId xmlns:a16="http://schemas.microsoft.com/office/drawing/2014/main" id="{8D3BFD9C-6C83-7734-8534-C3D38552F660}"/>
              </a:ext>
            </a:extLst>
          </p:cNvPr>
          <p:cNvGrpSpPr/>
          <p:nvPr/>
        </p:nvGrpSpPr>
        <p:grpSpPr>
          <a:xfrm>
            <a:off x="5032495" y="4473938"/>
            <a:ext cx="370338" cy="327772"/>
            <a:chOff x="4723767" y="3080378"/>
            <a:chExt cx="439858" cy="389301"/>
          </a:xfrm>
        </p:grpSpPr>
        <p:pic>
          <p:nvPicPr>
            <p:cNvPr id="651" name="Picture 650">
              <a:extLst>
                <a:ext uri="{FF2B5EF4-FFF2-40B4-BE49-F238E27FC236}">
                  <a16:creationId xmlns:a16="http://schemas.microsoft.com/office/drawing/2014/main" id="{3F7DA975-EE9F-BBA6-4F24-7C32BEA1D1E8}"/>
                </a:ext>
              </a:extLst>
            </p:cNvPr>
            <p:cNvPicPr>
              <a:picLocks noChangeAspect="1"/>
            </p:cNvPicPr>
            <p:nvPr/>
          </p:nvPicPr>
          <p:blipFill rotWithShape="1">
            <a:blip r:embed="rId41" cstate="print">
              <a:duotone>
                <a:schemeClr val="accent1">
                  <a:shade val="45000"/>
                  <a:satMod val="135000"/>
                </a:schemeClr>
                <a:prstClr val="white"/>
              </a:duotone>
              <a:extLst>
                <a:ext uri="{28A0092B-C50C-407E-A947-70E740481C1C}">
                  <a14:useLocalDpi xmlns:a14="http://schemas.microsoft.com/office/drawing/2010/main" val="0"/>
                </a:ext>
              </a:extLst>
            </a:blip>
            <a:srcRect l="-2"/>
            <a:stretch/>
          </p:blipFill>
          <p:spPr>
            <a:xfrm>
              <a:off x="4908907" y="3123428"/>
              <a:ext cx="216369" cy="164753"/>
            </a:xfrm>
            <a:prstGeom prst="rect">
              <a:avLst/>
            </a:prstGeom>
          </p:spPr>
        </p:pic>
        <p:grpSp>
          <p:nvGrpSpPr>
            <p:cNvPr id="652" name="Group 651">
              <a:extLst>
                <a:ext uri="{FF2B5EF4-FFF2-40B4-BE49-F238E27FC236}">
                  <a16:creationId xmlns:a16="http://schemas.microsoft.com/office/drawing/2014/main" id="{7143FB6E-D9C7-F9BC-2230-2B31F3092D3F}"/>
                </a:ext>
              </a:extLst>
            </p:cNvPr>
            <p:cNvGrpSpPr/>
            <p:nvPr/>
          </p:nvGrpSpPr>
          <p:grpSpPr>
            <a:xfrm>
              <a:off x="4723767" y="3080378"/>
              <a:ext cx="439858" cy="389301"/>
              <a:chOff x="3131835" y="4047725"/>
              <a:chExt cx="439858" cy="389301"/>
            </a:xfrm>
          </p:grpSpPr>
          <p:grpSp>
            <p:nvGrpSpPr>
              <p:cNvPr id="653" name="Group 652">
                <a:extLst>
                  <a:ext uri="{FF2B5EF4-FFF2-40B4-BE49-F238E27FC236}">
                    <a16:creationId xmlns:a16="http://schemas.microsoft.com/office/drawing/2014/main" id="{3A9A3E60-0FD8-03E1-F70D-E87D27039E79}"/>
                  </a:ext>
                </a:extLst>
              </p:cNvPr>
              <p:cNvGrpSpPr/>
              <p:nvPr/>
            </p:nvGrpSpPr>
            <p:grpSpPr>
              <a:xfrm>
                <a:off x="3131835" y="4047725"/>
                <a:ext cx="182560" cy="348911"/>
                <a:chOff x="2136298" y="4226790"/>
                <a:chExt cx="196678" cy="375893"/>
              </a:xfrm>
            </p:grpSpPr>
            <p:sp>
              <p:nvSpPr>
                <p:cNvPr id="666" name="Rectangle 665">
                  <a:extLst>
                    <a:ext uri="{FF2B5EF4-FFF2-40B4-BE49-F238E27FC236}">
                      <a16:creationId xmlns:a16="http://schemas.microsoft.com/office/drawing/2014/main" id="{4073CE55-0FE7-2314-2842-CAF303613540}"/>
                    </a:ext>
                  </a:extLst>
                </p:cNvPr>
                <p:cNvSpPr/>
                <p:nvPr/>
              </p:nvSpPr>
              <p:spPr bwMode="auto">
                <a:xfrm>
                  <a:off x="2138191" y="4226790"/>
                  <a:ext cx="194785" cy="375893"/>
                </a:xfrm>
                <a:prstGeom prst="rect">
                  <a:avLst/>
                </a:prstGeom>
                <a:solidFill>
                  <a:schemeClr val="tx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67" name="server">
                  <a:extLst>
                    <a:ext uri="{FF2B5EF4-FFF2-40B4-BE49-F238E27FC236}">
                      <a16:creationId xmlns:a16="http://schemas.microsoft.com/office/drawing/2014/main" id="{9372398F-E913-5880-6603-CAE2731F691A}"/>
                    </a:ext>
                  </a:extLst>
                </p:cNvPr>
                <p:cNvSpPr>
                  <a:spLocks noChangeAspect="1" noEditPoints="1"/>
                </p:cNvSpPr>
                <p:nvPr/>
              </p:nvSpPr>
              <p:spPr bwMode="auto">
                <a:xfrm>
                  <a:off x="2136298" y="4235711"/>
                  <a:ext cx="192569" cy="36576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4224"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661" name="Oval 660">
                <a:extLst>
                  <a:ext uri="{FF2B5EF4-FFF2-40B4-BE49-F238E27FC236}">
                    <a16:creationId xmlns:a16="http://schemas.microsoft.com/office/drawing/2014/main" id="{1515049D-1EB1-5DAC-7953-19609A7FA8ED}"/>
                  </a:ext>
                </a:extLst>
              </p:cNvPr>
              <p:cNvSpPr/>
              <p:nvPr/>
            </p:nvSpPr>
            <p:spPr bwMode="auto">
              <a:xfrm>
                <a:off x="3218521" y="4213899"/>
                <a:ext cx="223127" cy="223127"/>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62" name="Picture 661">
                <a:extLst>
                  <a:ext uri="{FF2B5EF4-FFF2-40B4-BE49-F238E27FC236}">
                    <a16:creationId xmlns:a16="http://schemas.microsoft.com/office/drawing/2014/main" id="{E2A2F3D0-0B9D-B997-8267-5AA36DD9AB55}"/>
                  </a:ext>
                </a:extLst>
              </p:cNvPr>
              <p:cNvPicPr>
                <a:picLocks noChangeAspect="1"/>
              </p:cNvPicPr>
              <p:nvPr/>
            </p:nvPicPr>
            <p:blipFill rotWithShape="1">
              <a:blip r:embed="rId42" cstate="email">
                <a:extLst>
                  <a:ext uri="{28A0092B-C50C-407E-A947-70E740481C1C}">
                    <a14:useLocalDpi xmlns:a14="http://schemas.microsoft.com/office/drawing/2010/main"/>
                  </a:ext>
                </a:extLst>
              </a:blip>
              <a:srcRect r="83295"/>
              <a:stretch/>
            </p:blipFill>
            <p:spPr>
              <a:xfrm>
                <a:off x="3414387" y="4255363"/>
                <a:ext cx="157306" cy="137160"/>
              </a:xfrm>
              <a:prstGeom prst="rect">
                <a:avLst/>
              </a:prstGeom>
            </p:spPr>
          </p:pic>
          <p:sp>
            <p:nvSpPr>
              <p:cNvPr id="663" name="Freeform 6">
                <a:extLst>
                  <a:ext uri="{FF2B5EF4-FFF2-40B4-BE49-F238E27FC236}">
                    <a16:creationId xmlns:a16="http://schemas.microsoft.com/office/drawing/2014/main" id="{A457959A-08AE-6235-4315-743CC20ED7BB}"/>
                  </a:ext>
                </a:extLst>
              </p:cNvPr>
              <p:cNvSpPr>
                <a:spLocks noEditPoints="1"/>
              </p:cNvSpPr>
              <p:nvPr/>
            </p:nvSpPr>
            <p:spPr bwMode="auto">
              <a:xfrm>
                <a:off x="3256470" y="4258262"/>
                <a:ext cx="135502" cy="134064"/>
              </a:xfrm>
              <a:custGeom>
                <a:avLst/>
                <a:gdLst>
                  <a:gd name="T0" fmla="*/ 88 w 1374"/>
                  <a:gd name="T1" fmla="*/ 1258 h 1620"/>
                  <a:gd name="T2" fmla="*/ 40 w 1374"/>
                  <a:gd name="T3" fmla="*/ 1324 h 1620"/>
                  <a:gd name="T4" fmla="*/ 42 w 1374"/>
                  <a:gd name="T5" fmla="*/ 1484 h 1620"/>
                  <a:gd name="T6" fmla="*/ 386 w 1374"/>
                  <a:gd name="T7" fmla="*/ 1572 h 1620"/>
                  <a:gd name="T8" fmla="*/ 494 w 1374"/>
                  <a:gd name="T9" fmla="*/ 1488 h 1620"/>
                  <a:gd name="T10" fmla="*/ 266 w 1374"/>
                  <a:gd name="T11" fmla="*/ 1124 h 1620"/>
                  <a:gd name="T12" fmla="*/ 190 w 1374"/>
                  <a:gd name="T13" fmla="*/ 1036 h 1620"/>
                  <a:gd name="T14" fmla="*/ 364 w 1374"/>
                  <a:gd name="T15" fmla="*/ 682 h 1620"/>
                  <a:gd name="T16" fmla="*/ 452 w 1374"/>
                  <a:gd name="T17" fmla="*/ 438 h 1620"/>
                  <a:gd name="T18" fmla="*/ 478 w 1374"/>
                  <a:gd name="T19" fmla="*/ 92 h 1620"/>
                  <a:gd name="T20" fmla="*/ 656 w 1374"/>
                  <a:gd name="T21" fmla="*/ 0 h 1620"/>
                  <a:gd name="T22" fmla="*/ 922 w 1374"/>
                  <a:gd name="T23" fmla="*/ 168 h 1620"/>
                  <a:gd name="T24" fmla="*/ 978 w 1374"/>
                  <a:gd name="T25" fmla="*/ 502 h 1620"/>
                  <a:gd name="T26" fmla="*/ 1140 w 1374"/>
                  <a:gd name="T27" fmla="*/ 750 h 1620"/>
                  <a:gd name="T28" fmla="*/ 1224 w 1374"/>
                  <a:gd name="T29" fmla="*/ 1120 h 1620"/>
                  <a:gd name="T30" fmla="*/ 1078 w 1374"/>
                  <a:gd name="T31" fmla="*/ 1242 h 1620"/>
                  <a:gd name="T32" fmla="*/ 988 w 1374"/>
                  <a:gd name="T33" fmla="*/ 1172 h 1620"/>
                  <a:gd name="T34" fmla="*/ 932 w 1374"/>
                  <a:gd name="T35" fmla="*/ 1222 h 1620"/>
                  <a:gd name="T36" fmla="*/ 952 w 1374"/>
                  <a:gd name="T37" fmla="*/ 1542 h 1620"/>
                  <a:gd name="T38" fmla="*/ 1068 w 1374"/>
                  <a:gd name="T39" fmla="*/ 1560 h 1620"/>
                  <a:gd name="T40" fmla="*/ 1292 w 1374"/>
                  <a:gd name="T41" fmla="*/ 1434 h 1620"/>
                  <a:gd name="T42" fmla="*/ 1236 w 1374"/>
                  <a:gd name="T43" fmla="*/ 1276 h 1620"/>
                  <a:gd name="T44" fmla="*/ 1326 w 1374"/>
                  <a:gd name="T45" fmla="*/ 1330 h 1620"/>
                  <a:gd name="T46" fmla="*/ 1330 w 1374"/>
                  <a:gd name="T47" fmla="*/ 1438 h 1620"/>
                  <a:gd name="T48" fmla="*/ 1048 w 1374"/>
                  <a:gd name="T49" fmla="*/ 1614 h 1620"/>
                  <a:gd name="T50" fmla="*/ 900 w 1374"/>
                  <a:gd name="T51" fmla="*/ 1570 h 1620"/>
                  <a:gd name="T52" fmla="*/ 578 w 1374"/>
                  <a:gd name="T53" fmla="*/ 1546 h 1620"/>
                  <a:gd name="T54" fmla="*/ 356 w 1374"/>
                  <a:gd name="T55" fmla="*/ 1606 h 1620"/>
                  <a:gd name="T56" fmla="*/ 0 w 1374"/>
                  <a:gd name="T57" fmla="*/ 1464 h 1620"/>
                  <a:gd name="T58" fmla="*/ 14 w 1374"/>
                  <a:gd name="T59" fmla="*/ 1256 h 1620"/>
                  <a:gd name="T60" fmla="*/ 166 w 1374"/>
                  <a:gd name="T61" fmla="*/ 1186 h 1620"/>
                  <a:gd name="T62" fmla="*/ 438 w 1374"/>
                  <a:gd name="T63" fmla="*/ 716 h 1620"/>
                  <a:gd name="T64" fmla="*/ 358 w 1374"/>
                  <a:gd name="T65" fmla="*/ 934 h 1620"/>
                  <a:gd name="T66" fmla="*/ 288 w 1374"/>
                  <a:gd name="T67" fmla="*/ 1036 h 1620"/>
                  <a:gd name="T68" fmla="*/ 326 w 1374"/>
                  <a:gd name="T69" fmla="*/ 1124 h 1620"/>
                  <a:gd name="T70" fmla="*/ 520 w 1374"/>
                  <a:gd name="T71" fmla="*/ 1354 h 1620"/>
                  <a:gd name="T72" fmla="*/ 524 w 1374"/>
                  <a:gd name="T73" fmla="*/ 1412 h 1620"/>
                  <a:gd name="T74" fmla="*/ 790 w 1374"/>
                  <a:gd name="T75" fmla="*/ 1418 h 1620"/>
                  <a:gd name="T76" fmla="*/ 892 w 1374"/>
                  <a:gd name="T77" fmla="*/ 1424 h 1620"/>
                  <a:gd name="T78" fmla="*/ 914 w 1374"/>
                  <a:gd name="T79" fmla="*/ 1402 h 1620"/>
                  <a:gd name="T80" fmla="*/ 948 w 1374"/>
                  <a:gd name="T81" fmla="*/ 1130 h 1620"/>
                  <a:gd name="T82" fmla="*/ 976 w 1374"/>
                  <a:gd name="T83" fmla="*/ 930 h 1620"/>
                  <a:gd name="T84" fmla="*/ 842 w 1374"/>
                  <a:gd name="T85" fmla="*/ 588 h 1620"/>
                  <a:gd name="T86" fmla="*/ 820 w 1374"/>
                  <a:gd name="T87" fmla="*/ 438 h 1620"/>
                  <a:gd name="T88" fmla="*/ 700 w 1374"/>
                  <a:gd name="T89" fmla="*/ 370 h 1620"/>
                  <a:gd name="T90" fmla="*/ 744 w 1374"/>
                  <a:gd name="T91" fmla="*/ 288 h 1620"/>
                  <a:gd name="T92" fmla="*/ 802 w 1374"/>
                  <a:gd name="T93" fmla="*/ 390 h 1620"/>
                  <a:gd name="T94" fmla="*/ 786 w 1374"/>
                  <a:gd name="T95" fmla="*/ 246 h 1620"/>
                  <a:gd name="T96" fmla="*/ 674 w 1374"/>
                  <a:gd name="T97" fmla="*/ 302 h 1620"/>
                  <a:gd name="T98" fmla="*/ 538 w 1374"/>
                  <a:gd name="T99" fmla="*/ 246 h 1620"/>
                  <a:gd name="T100" fmla="*/ 494 w 1374"/>
                  <a:gd name="T101" fmla="*/ 368 h 1620"/>
                  <a:gd name="T102" fmla="*/ 508 w 1374"/>
                  <a:gd name="T103" fmla="*/ 344 h 1620"/>
                  <a:gd name="T104" fmla="*/ 558 w 1374"/>
                  <a:gd name="T105" fmla="*/ 304 h 1620"/>
                  <a:gd name="T106" fmla="*/ 510 w 1374"/>
                  <a:gd name="T107" fmla="*/ 418 h 1620"/>
                  <a:gd name="T108" fmla="*/ 576 w 1374"/>
                  <a:gd name="T109" fmla="*/ 514 h 1620"/>
                  <a:gd name="T110" fmla="*/ 792 w 1374"/>
                  <a:gd name="T111" fmla="*/ 466 h 1620"/>
                  <a:gd name="T112" fmla="*/ 570 w 1374"/>
                  <a:gd name="T113" fmla="*/ 560 h 1620"/>
                  <a:gd name="T114" fmla="*/ 762 w 1374"/>
                  <a:gd name="T115" fmla="*/ 514 h 1620"/>
                  <a:gd name="T116" fmla="*/ 568 w 1374"/>
                  <a:gd name="T117" fmla="*/ 618 h 1620"/>
                  <a:gd name="T118" fmla="*/ 1078 w 1374"/>
                  <a:gd name="T119" fmla="*/ 892 h 1620"/>
                  <a:gd name="T120" fmla="*/ 1072 w 1374"/>
                  <a:gd name="T121" fmla="*/ 986 h 1620"/>
                  <a:gd name="T122" fmla="*/ 870 w 1374"/>
                  <a:gd name="T123" fmla="*/ 496 h 1620"/>
                  <a:gd name="T124" fmla="*/ 924 w 1374"/>
                  <a:gd name="T125" fmla="*/ 514 h 1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74" h="1620">
                    <a:moveTo>
                      <a:pt x="174" y="1170"/>
                    </a:moveTo>
                    <a:lnTo>
                      <a:pt x="174" y="1170"/>
                    </a:lnTo>
                    <a:lnTo>
                      <a:pt x="174" y="1188"/>
                    </a:lnTo>
                    <a:lnTo>
                      <a:pt x="172" y="1204"/>
                    </a:lnTo>
                    <a:lnTo>
                      <a:pt x="168" y="1218"/>
                    </a:lnTo>
                    <a:lnTo>
                      <a:pt x="162" y="1230"/>
                    </a:lnTo>
                    <a:lnTo>
                      <a:pt x="154" y="1238"/>
                    </a:lnTo>
                    <a:lnTo>
                      <a:pt x="142" y="1246"/>
                    </a:lnTo>
                    <a:lnTo>
                      <a:pt x="130" y="1252"/>
                    </a:lnTo>
                    <a:lnTo>
                      <a:pt x="114" y="1256"/>
                    </a:lnTo>
                    <a:lnTo>
                      <a:pt x="114" y="1256"/>
                    </a:lnTo>
                    <a:lnTo>
                      <a:pt x="88" y="1258"/>
                    </a:lnTo>
                    <a:lnTo>
                      <a:pt x="64" y="1258"/>
                    </a:lnTo>
                    <a:lnTo>
                      <a:pt x="64" y="1258"/>
                    </a:lnTo>
                    <a:lnTo>
                      <a:pt x="52" y="1260"/>
                    </a:lnTo>
                    <a:lnTo>
                      <a:pt x="42" y="1262"/>
                    </a:lnTo>
                    <a:lnTo>
                      <a:pt x="34" y="1266"/>
                    </a:lnTo>
                    <a:lnTo>
                      <a:pt x="28" y="1272"/>
                    </a:lnTo>
                    <a:lnTo>
                      <a:pt x="26" y="1278"/>
                    </a:lnTo>
                    <a:lnTo>
                      <a:pt x="24" y="1286"/>
                    </a:lnTo>
                    <a:lnTo>
                      <a:pt x="26" y="1294"/>
                    </a:lnTo>
                    <a:lnTo>
                      <a:pt x="30" y="1304"/>
                    </a:lnTo>
                    <a:lnTo>
                      <a:pt x="30" y="1304"/>
                    </a:lnTo>
                    <a:lnTo>
                      <a:pt x="40" y="1324"/>
                    </a:lnTo>
                    <a:lnTo>
                      <a:pt x="46" y="1342"/>
                    </a:lnTo>
                    <a:lnTo>
                      <a:pt x="50" y="1360"/>
                    </a:lnTo>
                    <a:lnTo>
                      <a:pt x="52" y="1378"/>
                    </a:lnTo>
                    <a:lnTo>
                      <a:pt x="52" y="1396"/>
                    </a:lnTo>
                    <a:lnTo>
                      <a:pt x="48" y="1416"/>
                    </a:lnTo>
                    <a:lnTo>
                      <a:pt x="42" y="1434"/>
                    </a:lnTo>
                    <a:lnTo>
                      <a:pt x="32" y="1452"/>
                    </a:lnTo>
                    <a:lnTo>
                      <a:pt x="32" y="1452"/>
                    </a:lnTo>
                    <a:lnTo>
                      <a:pt x="32" y="1456"/>
                    </a:lnTo>
                    <a:lnTo>
                      <a:pt x="32" y="1460"/>
                    </a:lnTo>
                    <a:lnTo>
                      <a:pt x="36" y="1472"/>
                    </a:lnTo>
                    <a:lnTo>
                      <a:pt x="42" y="1484"/>
                    </a:lnTo>
                    <a:lnTo>
                      <a:pt x="50" y="1492"/>
                    </a:lnTo>
                    <a:lnTo>
                      <a:pt x="50" y="1492"/>
                    </a:lnTo>
                    <a:lnTo>
                      <a:pt x="60" y="1498"/>
                    </a:lnTo>
                    <a:lnTo>
                      <a:pt x="72" y="1500"/>
                    </a:lnTo>
                    <a:lnTo>
                      <a:pt x="98" y="1506"/>
                    </a:lnTo>
                    <a:lnTo>
                      <a:pt x="98" y="1506"/>
                    </a:lnTo>
                    <a:lnTo>
                      <a:pt x="216" y="1536"/>
                    </a:lnTo>
                    <a:lnTo>
                      <a:pt x="276" y="1550"/>
                    </a:lnTo>
                    <a:lnTo>
                      <a:pt x="336" y="1564"/>
                    </a:lnTo>
                    <a:lnTo>
                      <a:pt x="336" y="1564"/>
                    </a:lnTo>
                    <a:lnTo>
                      <a:pt x="360" y="1568"/>
                    </a:lnTo>
                    <a:lnTo>
                      <a:pt x="386" y="1572"/>
                    </a:lnTo>
                    <a:lnTo>
                      <a:pt x="412" y="1572"/>
                    </a:lnTo>
                    <a:lnTo>
                      <a:pt x="438" y="1570"/>
                    </a:lnTo>
                    <a:lnTo>
                      <a:pt x="438" y="1570"/>
                    </a:lnTo>
                    <a:lnTo>
                      <a:pt x="452" y="1566"/>
                    </a:lnTo>
                    <a:lnTo>
                      <a:pt x="464" y="1560"/>
                    </a:lnTo>
                    <a:lnTo>
                      <a:pt x="476" y="1552"/>
                    </a:lnTo>
                    <a:lnTo>
                      <a:pt x="484" y="1542"/>
                    </a:lnTo>
                    <a:lnTo>
                      <a:pt x="490" y="1532"/>
                    </a:lnTo>
                    <a:lnTo>
                      <a:pt x="494" y="1518"/>
                    </a:lnTo>
                    <a:lnTo>
                      <a:pt x="494" y="1504"/>
                    </a:lnTo>
                    <a:lnTo>
                      <a:pt x="494" y="1488"/>
                    </a:lnTo>
                    <a:lnTo>
                      <a:pt x="494" y="1488"/>
                    </a:lnTo>
                    <a:lnTo>
                      <a:pt x="490" y="1468"/>
                    </a:lnTo>
                    <a:lnTo>
                      <a:pt x="486" y="1448"/>
                    </a:lnTo>
                    <a:lnTo>
                      <a:pt x="480" y="1430"/>
                    </a:lnTo>
                    <a:lnTo>
                      <a:pt x="472" y="1412"/>
                    </a:lnTo>
                    <a:lnTo>
                      <a:pt x="472" y="1412"/>
                    </a:lnTo>
                    <a:lnTo>
                      <a:pt x="386" y="1284"/>
                    </a:lnTo>
                    <a:lnTo>
                      <a:pt x="344" y="1220"/>
                    </a:lnTo>
                    <a:lnTo>
                      <a:pt x="298" y="1158"/>
                    </a:lnTo>
                    <a:lnTo>
                      <a:pt x="298" y="1158"/>
                    </a:lnTo>
                    <a:lnTo>
                      <a:pt x="290" y="1146"/>
                    </a:lnTo>
                    <a:lnTo>
                      <a:pt x="278" y="1134"/>
                    </a:lnTo>
                    <a:lnTo>
                      <a:pt x="266" y="1124"/>
                    </a:lnTo>
                    <a:lnTo>
                      <a:pt x="254" y="1118"/>
                    </a:lnTo>
                    <a:lnTo>
                      <a:pt x="240" y="1114"/>
                    </a:lnTo>
                    <a:lnTo>
                      <a:pt x="224" y="1112"/>
                    </a:lnTo>
                    <a:lnTo>
                      <a:pt x="208" y="1116"/>
                    </a:lnTo>
                    <a:lnTo>
                      <a:pt x="190" y="1122"/>
                    </a:lnTo>
                    <a:lnTo>
                      <a:pt x="190" y="1122"/>
                    </a:lnTo>
                    <a:lnTo>
                      <a:pt x="186" y="1108"/>
                    </a:lnTo>
                    <a:lnTo>
                      <a:pt x="184" y="1092"/>
                    </a:lnTo>
                    <a:lnTo>
                      <a:pt x="184" y="1078"/>
                    </a:lnTo>
                    <a:lnTo>
                      <a:pt x="184" y="1064"/>
                    </a:lnTo>
                    <a:lnTo>
                      <a:pt x="186" y="1050"/>
                    </a:lnTo>
                    <a:lnTo>
                      <a:pt x="190" y="1036"/>
                    </a:lnTo>
                    <a:lnTo>
                      <a:pt x="200" y="1008"/>
                    </a:lnTo>
                    <a:lnTo>
                      <a:pt x="200" y="1008"/>
                    </a:lnTo>
                    <a:lnTo>
                      <a:pt x="232" y="940"/>
                    </a:lnTo>
                    <a:lnTo>
                      <a:pt x="248" y="906"/>
                    </a:lnTo>
                    <a:lnTo>
                      <a:pt x="262" y="870"/>
                    </a:lnTo>
                    <a:lnTo>
                      <a:pt x="262" y="870"/>
                    </a:lnTo>
                    <a:lnTo>
                      <a:pt x="280" y="820"/>
                    </a:lnTo>
                    <a:lnTo>
                      <a:pt x="304" y="772"/>
                    </a:lnTo>
                    <a:lnTo>
                      <a:pt x="316" y="748"/>
                    </a:lnTo>
                    <a:lnTo>
                      <a:pt x="332" y="726"/>
                    </a:lnTo>
                    <a:lnTo>
                      <a:pt x="348" y="704"/>
                    </a:lnTo>
                    <a:lnTo>
                      <a:pt x="364" y="682"/>
                    </a:lnTo>
                    <a:lnTo>
                      <a:pt x="364" y="682"/>
                    </a:lnTo>
                    <a:lnTo>
                      <a:pt x="378" y="666"/>
                    </a:lnTo>
                    <a:lnTo>
                      <a:pt x="390" y="650"/>
                    </a:lnTo>
                    <a:lnTo>
                      <a:pt x="390" y="650"/>
                    </a:lnTo>
                    <a:lnTo>
                      <a:pt x="406" y="628"/>
                    </a:lnTo>
                    <a:lnTo>
                      <a:pt x="422" y="604"/>
                    </a:lnTo>
                    <a:lnTo>
                      <a:pt x="434" y="578"/>
                    </a:lnTo>
                    <a:lnTo>
                      <a:pt x="444" y="552"/>
                    </a:lnTo>
                    <a:lnTo>
                      <a:pt x="452" y="526"/>
                    </a:lnTo>
                    <a:lnTo>
                      <a:pt x="456" y="498"/>
                    </a:lnTo>
                    <a:lnTo>
                      <a:pt x="456" y="468"/>
                    </a:lnTo>
                    <a:lnTo>
                      <a:pt x="452" y="438"/>
                    </a:lnTo>
                    <a:lnTo>
                      <a:pt x="452" y="438"/>
                    </a:lnTo>
                    <a:lnTo>
                      <a:pt x="448" y="406"/>
                    </a:lnTo>
                    <a:lnTo>
                      <a:pt x="446" y="374"/>
                    </a:lnTo>
                    <a:lnTo>
                      <a:pt x="444" y="310"/>
                    </a:lnTo>
                    <a:lnTo>
                      <a:pt x="446" y="246"/>
                    </a:lnTo>
                    <a:lnTo>
                      <a:pt x="450" y="182"/>
                    </a:lnTo>
                    <a:lnTo>
                      <a:pt x="450" y="182"/>
                    </a:lnTo>
                    <a:lnTo>
                      <a:pt x="452" y="162"/>
                    </a:lnTo>
                    <a:lnTo>
                      <a:pt x="456" y="144"/>
                    </a:lnTo>
                    <a:lnTo>
                      <a:pt x="462" y="124"/>
                    </a:lnTo>
                    <a:lnTo>
                      <a:pt x="470" y="108"/>
                    </a:lnTo>
                    <a:lnTo>
                      <a:pt x="478" y="92"/>
                    </a:lnTo>
                    <a:lnTo>
                      <a:pt x="488" y="76"/>
                    </a:lnTo>
                    <a:lnTo>
                      <a:pt x="500" y="62"/>
                    </a:lnTo>
                    <a:lnTo>
                      <a:pt x="514" y="50"/>
                    </a:lnTo>
                    <a:lnTo>
                      <a:pt x="528" y="40"/>
                    </a:lnTo>
                    <a:lnTo>
                      <a:pt x="544" y="30"/>
                    </a:lnTo>
                    <a:lnTo>
                      <a:pt x="560" y="20"/>
                    </a:lnTo>
                    <a:lnTo>
                      <a:pt x="578" y="14"/>
                    </a:lnTo>
                    <a:lnTo>
                      <a:pt x="596" y="8"/>
                    </a:lnTo>
                    <a:lnTo>
                      <a:pt x="614" y="4"/>
                    </a:lnTo>
                    <a:lnTo>
                      <a:pt x="634" y="2"/>
                    </a:lnTo>
                    <a:lnTo>
                      <a:pt x="656" y="0"/>
                    </a:lnTo>
                    <a:lnTo>
                      <a:pt x="656" y="0"/>
                    </a:lnTo>
                    <a:lnTo>
                      <a:pt x="686" y="2"/>
                    </a:lnTo>
                    <a:lnTo>
                      <a:pt x="718" y="6"/>
                    </a:lnTo>
                    <a:lnTo>
                      <a:pt x="746" y="12"/>
                    </a:lnTo>
                    <a:lnTo>
                      <a:pt x="772" y="20"/>
                    </a:lnTo>
                    <a:lnTo>
                      <a:pt x="798" y="32"/>
                    </a:lnTo>
                    <a:lnTo>
                      <a:pt x="822" y="46"/>
                    </a:lnTo>
                    <a:lnTo>
                      <a:pt x="844" y="60"/>
                    </a:lnTo>
                    <a:lnTo>
                      <a:pt x="864" y="78"/>
                    </a:lnTo>
                    <a:lnTo>
                      <a:pt x="882" y="98"/>
                    </a:lnTo>
                    <a:lnTo>
                      <a:pt x="898" y="120"/>
                    </a:lnTo>
                    <a:lnTo>
                      <a:pt x="910" y="144"/>
                    </a:lnTo>
                    <a:lnTo>
                      <a:pt x="922" y="168"/>
                    </a:lnTo>
                    <a:lnTo>
                      <a:pt x="930" y="196"/>
                    </a:lnTo>
                    <a:lnTo>
                      <a:pt x="938" y="224"/>
                    </a:lnTo>
                    <a:lnTo>
                      <a:pt x="940" y="254"/>
                    </a:lnTo>
                    <a:lnTo>
                      <a:pt x="942" y="286"/>
                    </a:lnTo>
                    <a:lnTo>
                      <a:pt x="942" y="286"/>
                    </a:lnTo>
                    <a:lnTo>
                      <a:pt x="944" y="344"/>
                    </a:lnTo>
                    <a:lnTo>
                      <a:pt x="946" y="370"/>
                    </a:lnTo>
                    <a:lnTo>
                      <a:pt x="950" y="398"/>
                    </a:lnTo>
                    <a:lnTo>
                      <a:pt x="956" y="426"/>
                    </a:lnTo>
                    <a:lnTo>
                      <a:pt x="962" y="452"/>
                    </a:lnTo>
                    <a:lnTo>
                      <a:pt x="968" y="478"/>
                    </a:lnTo>
                    <a:lnTo>
                      <a:pt x="978" y="502"/>
                    </a:lnTo>
                    <a:lnTo>
                      <a:pt x="988" y="528"/>
                    </a:lnTo>
                    <a:lnTo>
                      <a:pt x="998" y="552"/>
                    </a:lnTo>
                    <a:lnTo>
                      <a:pt x="1012" y="576"/>
                    </a:lnTo>
                    <a:lnTo>
                      <a:pt x="1024" y="600"/>
                    </a:lnTo>
                    <a:lnTo>
                      <a:pt x="1040" y="622"/>
                    </a:lnTo>
                    <a:lnTo>
                      <a:pt x="1056" y="646"/>
                    </a:lnTo>
                    <a:lnTo>
                      <a:pt x="1074" y="668"/>
                    </a:lnTo>
                    <a:lnTo>
                      <a:pt x="1094" y="690"/>
                    </a:lnTo>
                    <a:lnTo>
                      <a:pt x="1094" y="690"/>
                    </a:lnTo>
                    <a:lnTo>
                      <a:pt x="1110" y="710"/>
                    </a:lnTo>
                    <a:lnTo>
                      <a:pt x="1126" y="730"/>
                    </a:lnTo>
                    <a:lnTo>
                      <a:pt x="1140" y="750"/>
                    </a:lnTo>
                    <a:lnTo>
                      <a:pt x="1152" y="772"/>
                    </a:lnTo>
                    <a:lnTo>
                      <a:pt x="1176" y="814"/>
                    </a:lnTo>
                    <a:lnTo>
                      <a:pt x="1196" y="860"/>
                    </a:lnTo>
                    <a:lnTo>
                      <a:pt x="1212" y="908"/>
                    </a:lnTo>
                    <a:lnTo>
                      <a:pt x="1224" y="956"/>
                    </a:lnTo>
                    <a:lnTo>
                      <a:pt x="1232" y="1006"/>
                    </a:lnTo>
                    <a:lnTo>
                      <a:pt x="1236" y="1056"/>
                    </a:lnTo>
                    <a:lnTo>
                      <a:pt x="1236" y="1056"/>
                    </a:lnTo>
                    <a:lnTo>
                      <a:pt x="1236" y="1072"/>
                    </a:lnTo>
                    <a:lnTo>
                      <a:pt x="1234" y="1088"/>
                    </a:lnTo>
                    <a:lnTo>
                      <a:pt x="1230" y="1104"/>
                    </a:lnTo>
                    <a:lnTo>
                      <a:pt x="1224" y="1120"/>
                    </a:lnTo>
                    <a:lnTo>
                      <a:pt x="1218" y="1134"/>
                    </a:lnTo>
                    <a:lnTo>
                      <a:pt x="1208" y="1150"/>
                    </a:lnTo>
                    <a:lnTo>
                      <a:pt x="1198" y="1164"/>
                    </a:lnTo>
                    <a:lnTo>
                      <a:pt x="1188" y="1178"/>
                    </a:lnTo>
                    <a:lnTo>
                      <a:pt x="1176" y="1192"/>
                    </a:lnTo>
                    <a:lnTo>
                      <a:pt x="1162" y="1204"/>
                    </a:lnTo>
                    <a:lnTo>
                      <a:pt x="1148" y="1214"/>
                    </a:lnTo>
                    <a:lnTo>
                      <a:pt x="1134" y="1222"/>
                    </a:lnTo>
                    <a:lnTo>
                      <a:pt x="1120" y="1230"/>
                    </a:lnTo>
                    <a:lnTo>
                      <a:pt x="1106" y="1236"/>
                    </a:lnTo>
                    <a:lnTo>
                      <a:pt x="1092" y="1240"/>
                    </a:lnTo>
                    <a:lnTo>
                      <a:pt x="1078" y="1242"/>
                    </a:lnTo>
                    <a:lnTo>
                      <a:pt x="1078" y="1242"/>
                    </a:lnTo>
                    <a:lnTo>
                      <a:pt x="1066" y="1242"/>
                    </a:lnTo>
                    <a:lnTo>
                      <a:pt x="1054" y="1240"/>
                    </a:lnTo>
                    <a:lnTo>
                      <a:pt x="1042" y="1236"/>
                    </a:lnTo>
                    <a:lnTo>
                      <a:pt x="1032" y="1232"/>
                    </a:lnTo>
                    <a:lnTo>
                      <a:pt x="1022" y="1226"/>
                    </a:lnTo>
                    <a:lnTo>
                      <a:pt x="1014" y="1218"/>
                    </a:lnTo>
                    <a:lnTo>
                      <a:pt x="1008" y="1208"/>
                    </a:lnTo>
                    <a:lnTo>
                      <a:pt x="1000" y="1196"/>
                    </a:lnTo>
                    <a:lnTo>
                      <a:pt x="1000" y="1196"/>
                    </a:lnTo>
                    <a:lnTo>
                      <a:pt x="994" y="1184"/>
                    </a:lnTo>
                    <a:lnTo>
                      <a:pt x="988" y="1172"/>
                    </a:lnTo>
                    <a:lnTo>
                      <a:pt x="988" y="1172"/>
                    </a:lnTo>
                    <a:lnTo>
                      <a:pt x="972" y="1158"/>
                    </a:lnTo>
                    <a:lnTo>
                      <a:pt x="964" y="1152"/>
                    </a:lnTo>
                    <a:lnTo>
                      <a:pt x="958" y="1152"/>
                    </a:lnTo>
                    <a:lnTo>
                      <a:pt x="958" y="1152"/>
                    </a:lnTo>
                    <a:lnTo>
                      <a:pt x="950" y="1154"/>
                    </a:lnTo>
                    <a:lnTo>
                      <a:pt x="942" y="1162"/>
                    </a:lnTo>
                    <a:lnTo>
                      <a:pt x="936" y="1170"/>
                    </a:lnTo>
                    <a:lnTo>
                      <a:pt x="934" y="1180"/>
                    </a:lnTo>
                    <a:lnTo>
                      <a:pt x="934" y="1180"/>
                    </a:lnTo>
                    <a:lnTo>
                      <a:pt x="932" y="1200"/>
                    </a:lnTo>
                    <a:lnTo>
                      <a:pt x="932" y="1222"/>
                    </a:lnTo>
                    <a:lnTo>
                      <a:pt x="932" y="1266"/>
                    </a:lnTo>
                    <a:lnTo>
                      <a:pt x="932" y="1266"/>
                    </a:lnTo>
                    <a:lnTo>
                      <a:pt x="940" y="1432"/>
                    </a:lnTo>
                    <a:lnTo>
                      <a:pt x="940" y="1432"/>
                    </a:lnTo>
                    <a:lnTo>
                      <a:pt x="938" y="1456"/>
                    </a:lnTo>
                    <a:lnTo>
                      <a:pt x="936" y="1480"/>
                    </a:lnTo>
                    <a:lnTo>
                      <a:pt x="936" y="1480"/>
                    </a:lnTo>
                    <a:lnTo>
                      <a:pt x="936" y="1494"/>
                    </a:lnTo>
                    <a:lnTo>
                      <a:pt x="938" y="1508"/>
                    </a:lnTo>
                    <a:lnTo>
                      <a:pt x="942" y="1520"/>
                    </a:lnTo>
                    <a:lnTo>
                      <a:pt x="946" y="1532"/>
                    </a:lnTo>
                    <a:lnTo>
                      <a:pt x="952" y="1542"/>
                    </a:lnTo>
                    <a:lnTo>
                      <a:pt x="960" y="1550"/>
                    </a:lnTo>
                    <a:lnTo>
                      <a:pt x="966" y="1558"/>
                    </a:lnTo>
                    <a:lnTo>
                      <a:pt x="976" y="1564"/>
                    </a:lnTo>
                    <a:lnTo>
                      <a:pt x="986" y="1570"/>
                    </a:lnTo>
                    <a:lnTo>
                      <a:pt x="996" y="1572"/>
                    </a:lnTo>
                    <a:lnTo>
                      <a:pt x="1006" y="1574"/>
                    </a:lnTo>
                    <a:lnTo>
                      <a:pt x="1018" y="1574"/>
                    </a:lnTo>
                    <a:lnTo>
                      <a:pt x="1030" y="1574"/>
                    </a:lnTo>
                    <a:lnTo>
                      <a:pt x="1042" y="1570"/>
                    </a:lnTo>
                    <a:lnTo>
                      <a:pt x="1056" y="1566"/>
                    </a:lnTo>
                    <a:lnTo>
                      <a:pt x="1068" y="1560"/>
                    </a:lnTo>
                    <a:lnTo>
                      <a:pt x="1068" y="1560"/>
                    </a:lnTo>
                    <a:lnTo>
                      <a:pt x="1082" y="1552"/>
                    </a:lnTo>
                    <a:lnTo>
                      <a:pt x="1092" y="1544"/>
                    </a:lnTo>
                    <a:lnTo>
                      <a:pt x="1092" y="1544"/>
                    </a:lnTo>
                    <a:lnTo>
                      <a:pt x="1114" y="1526"/>
                    </a:lnTo>
                    <a:lnTo>
                      <a:pt x="1136" y="1510"/>
                    </a:lnTo>
                    <a:lnTo>
                      <a:pt x="1158" y="1496"/>
                    </a:lnTo>
                    <a:lnTo>
                      <a:pt x="1182" y="1482"/>
                    </a:lnTo>
                    <a:lnTo>
                      <a:pt x="1206" y="1470"/>
                    </a:lnTo>
                    <a:lnTo>
                      <a:pt x="1232" y="1458"/>
                    </a:lnTo>
                    <a:lnTo>
                      <a:pt x="1282" y="1438"/>
                    </a:lnTo>
                    <a:lnTo>
                      <a:pt x="1282" y="1438"/>
                    </a:lnTo>
                    <a:lnTo>
                      <a:pt x="1292" y="1434"/>
                    </a:lnTo>
                    <a:lnTo>
                      <a:pt x="1302" y="1428"/>
                    </a:lnTo>
                    <a:lnTo>
                      <a:pt x="1320" y="1416"/>
                    </a:lnTo>
                    <a:lnTo>
                      <a:pt x="1354" y="1386"/>
                    </a:lnTo>
                    <a:lnTo>
                      <a:pt x="1354" y="1386"/>
                    </a:lnTo>
                    <a:lnTo>
                      <a:pt x="1320" y="1360"/>
                    </a:lnTo>
                    <a:lnTo>
                      <a:pt x="1304" y="1348"/>
                    </a:lnTo>
                    <a:lnTo>
                      <a:pt x="1286" y="1336"/>
                    </a:lnTo>
                    <a:lnTo>
                      <a:pt x="1286" y="1336"/>
                    </a:lnTo>
                    <a:lnTo>
                      <a:pt x="1270" y="1326"/>
                    </a:lnTo>
                    <a:lnTo>
                      <a:pt x="1254" y="1312"/>
                    </a:lnTo>
                    <a:lnTo>
                      <a:pt x="1244" y="1296"/>
                    </a:lnTo>
                    <a:lnTo>
                      <a:pt x="1236" y="1276"/>
                    </a:lnTo>
                    <a:lnTo>
                      <a:pt x="1232" y="1256"/>
                    </a:lnTo>
                    <a:lnTo>
                      <a:pt x="1230" y="1232"/>
                    </a:lnTo>
                    <a:lnTo>
                      <a:pt x="1234" y="1208"/>
                    </a:lnTo>
                    <a:lnTo>
                      <a:pt x="1242" y="1182"/>
                    </a:lnTo>
                    <a:lnTo>
                      <a:pt x="1242" y="1182"/>
                    </a:lnTo>
                    <a:lnTo>
                      <a:pt x="1244" y="1210"/>
                    </a:lnTo>
                    <a:lnTo>
                      <a:pt x="1252" y="1236"/>
                    </a:lnTo>
                    <a:lnTo>
                      <a:pt x="1260" y="1260"/>
                    </a:lnTo>
                    <a:lnTo>
                      <a:pt x="1274" y="1280"/>
                    </a:lnTo>
                    <a:lnTo>
                      <a:pt x="1288" y="1298"/>
                    </a:lnTo>
                    <a:lnTo>
                      <a:pt x="1306" y="1316"/>
                    </a:lnTo>
                    <a:lnTo>
                      <a:pt x="1326" y="1330"/>
                    </a:lnTo>
                    <a:lnTo>
                      <a:pt x="1348" y="1344"/>
                    </a:lnTo>
                    <a:lnTo>
                      <a:pt x="1348" y="1344"/>
                    </a:lnTo>
                    <a:lnTo>
                      <a:pt x="1360" y="1352"/>
                    </a:lnTo>
                    <a:lnTo>
                      <a:pt x="1368" y="1360"/>
                    </a:lnTo>
                    <a:lnTo>
                      <a:pt x="1374" y="1370"/>
                    </a:lnTo>
                    <a:lnTo>
                      <a:pt x="1374" y="1382"/>
                    </a:lnTo>
                    <a:lnTo>
                      <a:pt x="1374" y="1392"/>
                    </a:lnTo>
                    <a:lnTo>
                      <a:pt x="1368" y="1404"/>
                    </a:lnTo>
                    <a:lnTo>
                      <a:pt x="1360" y="1414"/>
                    </a:lnTo>
                    <a:lnTo>
                      <a:pt x="1350" y="1424"/>
                    </a:lnTo>
                    <a:lnTo>
                      <a:pt x="1350" y="1424"/>
                    </a:lnTo>
                    <a:lnTo>
                      <a:pt x="1330" y="1438"/>
                    </a:lnTo>
                    <a:lnTo>
                      <a:pt x="1310" y="1450"/>
                    </a:lnTo>
                    <a:lnTo>
                      <a:pt x="1288" y="1462"/>
                    </a:lnTo>
                    <a:lnTo>
                      <a:pt x="1268" y="1474"/>
                    </a:lnTo>
                    <a:lnTo>
                      <a:pt x="1268" y="1474"/>
                    </a:lnTo>
                    <a:lnTo>
                      <a:pt x="1182" y="1528"/>
                    </a:lnTo>
                    <a:lnTo>
                      <a:pt x="1140" y="1558"/>
                    </a:lnTo>
                    <a:lnTo>
                      <a:pt x="1100" y="1588"/>
                    </a:lnTo>
                    <a:lnTo>
                      <a:pt x="1100" y="1588"/>
                    </a:lnTo>
                    <a:lnTo>
                      <a:pt x="1088" y="1596"/>
                    </a:lnTo>
                    <a:lnTo>
                      <a:pt x="1074" y="1602"/>
                    </a:lnTo>
                    <a:lnTo>
                      <a:pt x="1062" y="1608"/>
                    </a:lnTo>
                    <a:lnTo>
                      <a:pt x="1048" y="1614"/>
                    </a:lnTo>
                    <a:lnTo>
                      <a:pt x="1036" y="1616"/>
                    </a:lnTo>
                    <a:lnTo>
                      <a:pt x="1022" y="1618"/>
                    </a:lnTo>
                    <a:lnTo>
                      <a:pt x="1008" y="1620"/>
                    </a:lnTo>
                    <a:lnTo>
                      <a:pt x="996" y="1618"/>
                    </a:lnTo>
                    <a:lnTo>
                      <a:pt x="982" y="1616"/>
                    </a:lnTo>
                    <a:lnTo>
                      <a:pt x="968" y="1614"/>
                    </a:lnTo>
                    <a:lnTo>
                      <a:pt x="956" y="1610"/>
                    </a:lnTo>
                    <a:lnTo>
                      <a:pt x="944" y="1604"/>
                    </a:lnTo>
                    <a:lnTo>
                      <a:pt x="932" y="1598"/>
                    </a:lnTo>
                    <a:lnTo>
                      <a:pt x="920" y="1590"/>
                    </a:lnTo>
                    <a:lnTo>
                      <a:pt x="910" y="1580"/>
                    </a:lnTo>
                    <a:lnTo>
                      <a:pt x="900" y="1570"/>
                    </a:lnTo>
                    <a:lnTo>
                      <a:pt x="900" y="1570"/>
                    </a:lnTo>
                    <a:lnTo>
                      <a:pt x="888" y="1558"/>
                    </a:lnTo>
                    <a:lnTo>
                      <a:pt x="872" y="1548"/>
                    </a:lnTo>
                    <a:lnTo>
                      <a:pt x="854" y="1540"/>
                    </a:lnTo>
                    <a:lnTo>
                      <a:pt x="838" y="1538"/>
                    </a:lnTo>
                    <a:lnTo>
                      <a:pt x="838" y="1538"/>
                    </a:lnTo>
                    <a:lnTo>
                      <a:pt x="780" y="1536"/>
                    </a:lnTo>
                    <a:lnTo>
                      <a:pt x="724" y="1534"/>
                    </a:lnTo>
                    <a:lnTo>
                      <a:pt x="666" y="1536"/>
                    </a:lnTo>
                    <a:lnTo>
                      <a:pt x="610" y="1540"/>
                    </a:lnTo>
                    <a:lnTo>
                      <a:pt x="610" y="1540"/>
                    </a:lnTo>
                    <a:lnTo>
                      <a:pt x="578" y="1546"/>
                    </a:lnTo>
                    <a:lnTo>
                      <a:pt x="546" y="1556"/>
                    </a:lnTo>
                    <a:lnTo>
                      <a:pt x="516" y="1570"/>
                    </a:lnTo>
                    <a:lnTo>
                      <a:pt x="488" y="1584"/>
                    </a:lnTo>
                    <a:lnTo>
                      <a:pt x="488" y="1584"/>
                    </a:lnTo>
                    <a:lnTo>
                      <a:pt x="472" y="1594"/>
                    </a:lnTo>
                    <a:lnTo>
                      <a:pt x="456" y="1602"/>
                    </a:lnTo>
                    <a:lnTo>
                      <a:pt x="440" y="1608"/>
                    </a:lnTo>
                    <a:lnTo>
                      <a:pt x="424" y="1610"/>
                    </a:lnTo>
                    <a:lnTo>
                      <a:pt x="408" y="1612"/>
                    </a:lnTo>
                    <a:lnTo>
                      <a:pt x="392" y="1612"/>
                    </a:lnTo>
                    <a:lnTo>
                      <a:pt x="374" y="1610"/>
                    </a:lnTo>
                    <a:lnTo>
                      <a:pt x="356" y="1606"/>
                    </a:lnTo>
                    <a:lnTo>
                      <a:pt x="356" y="1606"/>
                    </a:lnTo>
                    <a:lnTo>
                      <a:pt x="214" y="1566"/>
                    </a:lnTo>
                    <a:lnTo>
                      <a:pt x="72" y="1530"/>
                    </a:lnTo>
                    <a:lnTo>
                      <a:pt x="72" y="1530"/>
                    </a:lnTo>
                    <a:lnTo>
                      <a:pt x="46" y="1522"/>
                    </a:lnTo>
                    <a:lnTo>
                      <a:pt x="28" y="1514"/>
                    </a:lnTo>
                    <a:lnTo>
                      <a:pt x="14" y="1506"/>
                    </a:lnTo>
                    <a:lnTo>
                      <a:pt x="8" y="1500"/>
                    </a:lnTo>
                    <a:lnTo>
                      <a:pt x="4" y="1494"/>
                    </a:lnTo>
                    <a:lnTo>
                      <a:pt x="2" y="1488"/>
                    </a:lnTo>
                    <a:lnTo>
                      <a:pt x="0" y="1480"/>
                    </a:lnTo>
                    <a:lnTo>
                      <a:pt x="0" y="1464"/>
                    </a:lnTo>
                    <a:lnTo>
                      <a:pt x="4" y="1444"/>
                    </a:lnTo>
                    <a:lnTo>
                      <a:pt x="10" y="1420"/>
                    </a:lnTo>
                    <a:lnTo>
                      <a:pt x="10" y="1420"/>
                    </a:lnTo>
                    <a:lnTo>
                      <a:pt x="16" y="1396"/>
                    </a:lnTo>
                    <a:lnTo>
                      <a:pt x="18" y="1370"/>
                    </a:lnTo>
                    <a:lnTo>
                      <a:pt x="16" y="1344"/>
                    </a:lnTo>
                    <a:lnTo>
                      <a:pt x="12" y="1318"/>
                    </a:lnTo>
                    <a:lnTo>
                      <a:pt x="12" y="1318"/>
                    </a:lnTo>
                    <a:lnTo>
                      <a:pt x="10" y="1298"/>
                    </a:lnTo>
                    <a:lnTo>
                      <a:pt x="8" y="1280"/>
                    </a:lnTo>
                    <a:lnTo>
                      <a:pt x="10" y="1266"/>
                    </a:lnTo>
                    <a:lnTo>
                      <a:pt x="14" y="1256"/>
                    </a:lnTo>
                    <a:lnTo>
                      <a:pt x="22" y="1248"/>
                    </a:lnTo>
                    <a:lnTo>
                      <a:pt x="34" y="1242"/>
                    </a:lnTo>
                    <a:lnTo>
                      <a:pt x="50" y="1240"/>
                    </a:lnTo>
                    <a:lnTo>
                      <a:pt x="72" y="1238"/>
                    </a:lnTo>
                    <a:lnTo>
                      <a:pt x="72" y="1238"/>
                    </a:lnTo>
                    <a:lnTo>
                      <a:pt x="88" y="1236"/>
                    </a:lnTo>
                    <a:lnTo>
                      <a:pt x="104" y="1232"/>
                    </a:lnTo>
                    <a:lnTo>
                      <a:pt x="118" y="1226"/>
                    </a:lnTo>
                    <a:lnTo>
                      <a:pt x="132" y="1220"/>
                    </a:lnTo>
                    <a:lnTo>
                      <a:pt x="144" y="1210"/>
                    </a:lnTo>
                    <a:lnTo>
                      <a:pt x="156" y="1200"/>
                    </a:lnTo>
                    <a:lnTo>
                      <a:pt x="166" y="1186"/>
                    </a:lnTo>
                    <a:lnTo>
                      <a:pt x="174" y="1170"/>
                    </a:lnTo>
                    <a:lnTo>
                      <a:pt x="174" y="1170"/>
                    </a:lnTo>
                    <a:close/>
                    <a:moveTo>
                      <a:pt x="504" y="546"/>
                    </a:moveTo>
                    <a:lnTo>
                      <a:pt x="504" y="546"/>
                    </a:lnTo>
                    <a:lnTo>
                      <a:pt x="488" y="588"/>
                    </a:lnTo>
                    <a:lnTo>
                      <a:pt x="470" y="626"/>
                    </a:lnTo>
                    <a:lnTo>
                      <a:pt x="470" y="626"/>
                    </a:lnTo>
                    <a:lnTo>
                      <a:pt x="456" y="656"/>
                    </a:lnTo>
                    <a:lnTo>
                      <a:pt x="450" y="670"/>
                    </a:lnTo>
                    <a:lnTo>
                      <a:pt x="444" y="686"/>
                    </a:lnTo>
                    <a:lnTo>
                      <a:pt x="440" y="700"/>
                    </a:lnTo>
                    <a:lnTo>
                      <a:pt x="438" y="716"/>
                    </a:lnTo>
                    <a:lnTo>
                      <a:pt x="438" y="734"/>
                    </a:lnTo>
                    <a:lnTo>
                      <a:pt x="442" y="750"/>
                    </a:lnTo>
                    <a:lnTo>
                      <a:pt x="442" y="750"/>
                    </a:lnTo>
                    <a:lnTo>
                      <a:pt x="442" y="756"/>
                    </a:lnTo>
                    <a:lnTo>
                      <a:pt x="442" y="760"/>
                    </a:lnTo>
                    <a:lnTo>
                      <a:pt x="434" y="772"/>
                    </a:lnTo>
                    <a:lnTo>
                      <a:pt x="434" y="772"/>
                    </a:lnTo>
                    <a:lnTo>
                      <a:pt x="414" y="802"/>
                    </a:lnTo>
                    <a:lnTo>
                      <a:pt x="396" y="834"/>
                    </a:lnTo>
                    <a:lnTo>
                      <a:pt x="380" y="866"/>
                    </a:lnTo>
                    <a:lnTo>
                      <a:pt x="368" y="900"/>
                    </a:lnTo>
                    <a:lnTo>
                      <a:pt x="358" y="934"/>
                    </a:lnTo>
                    <a:lnTo>
                      <a:pt x="350" y="970"/>
                    </a:lnTo>
                    <a:lnTo>
                      <a:pt x="346" y="1006"/>
                    </a:lnTo>
                    <a:lnTo>
                      <a:pt x="346" y="1044"/>
                    </a:lnTo>
                    <a:lnTo>
                      <a:pt x="346" y="1044"/>
                    </a:lnTo>
                    <a:lnTo>
                      <a:pt x="346" y="1056"/>
                    </a:lnTo>
                    <a:lnTo>
                      <a:pt x="344" y="1070"/>
                    </a:lnTo>
                    <a:lnTo>
                      <a:pt x="338" y="1104"/>
                    </a:lnTo>
                    <a:lnTo>
                      <a:pt x="338" y="1104"/>
                    </a:lnTo>
                    <a:lnTo>
                      <a:pt x="318" y="1088"/>
                    </a:lnTo>
                    <a:lnTo>
                      <a:pt x="304" y="1072"/>
                    </a:lnTo>
                    <a:lnTo>
                      <a:pt x="296" y="1054"/>
                    </a:lnTo>
                    <a:lnTo>
                      <a:pt x="288" y="1036"/>
                    </a:lnTo>
                    <a:lnTo>
                      <a:pt x="284" y="1018"/>
                    </a:lnTo>
                    <a:lnTo>
                      <a:pt x="282" y="998"/>
                    </a:lnTo>
                    <a:lnTo>
                      <a:pt x="278" y="962"/>
                    </a:lnTo>
                    <a:lnTo>
                      <a:pt x="278" y="962"/>
                    </a:lnTo>
                    <a:lnTo>
                      <a:pt x="274" y="986"/>
                    </a:lnTo>
                    <a:lnTo>
                      <a:pt x="274" y="1008"/>
                    </a:lnTo>
                    <a:lnTo>
                      <a:pt x="274" y="1030"/>
                    </a:lnTo>
                    <a:lnTo>
                      <a:pt x="278" y="1050"/>
                    </a:lnTo>
                    <a:lnTo>
                      <a:pt x="284" y="1070"/>
                    </a:lnTo>
                    <a:lnTo>
                      <a:pt x="294" y="1090"/>
                    </a:lnTo>
                    <a:lnTo>
                      <a:pt x="308" y="1108"/>
                    </a:lnTo>
                    <a:lnTo>
                      <a:pt x="326" y="1124"/>
                    </a:lnTo>
                    <a:lnTo>
                      <a:pt x="326" y="1124"/>
                    </a:lnTo>
                    <a:lnTo>
                      <a:pt x="406" y="1192"/>
                    </a:lnTo>
                    <a:lnTo>
                      <a:pt x="488" y="1260"/>
                    </a:lnTo>
                    <a:lnTo>
                      <a:pt x="488" y="1260"/>
                    </a:lnTo>
                    <a:lnTo>
                      <a:pt x="506" y="1278"/>
                    </a:lnTo>
                    <a:lnTo>
                      <a:pt x="520" y="1294"/>
                    </a:lnTo>
                    <a:lnTo>
                      <a:pt x="528" y="1310"/>
                    </a:lnTo>
                    <a:lnTo>
                      <a:pt x="530" y="1318"/>
                    </a:lnTo>
                    <a:lnTo>
                      <a:pt x="532" y="1324"/>
                    </a:lnTo>
                    <a:lnTo>
                      <a:pt x="530" y="1332"/>
                    </a:lnTo>
                    <a:lnTo>
                      <a:pt x="528" y="1340"/>
                    </a:lnTo>
                    <a:lnTo>
                      <a:pt x="520" y="1354"/>
                    </a:lnTo>
                    <a:lnTo>
                      <a:pt x="506" y="1368"/>
                    </a:lnTo>
                    <a:lnTo>
                      <a:pt x="486" y="1382"/>
                    </a:lnTo>
                    <a:lnTo>
                      <a:pt x="486" y="1382"/>
                    </a:lnTo>
                    <a:lnTo>
                      <a:pt x="546" y="1518"/>
                    </a:lnTo>
                    <a:lnTo>
                      <a:pt x="546" y="1518"/>
                    </a:lnTo>
                    <a:lnTo>
                      <a:pt x="552" y="1504"/>
                    </a:lnTo>
                    <a:lnTo>
                      <a:pt x="554" y="1490"/>
                    </a:lnTo>
                    <a:lnTo>
                      <a:pt x="552" y="1478"/>
                    </a:lnTo>
                    <a:lnTo>
                      <a:pt x="548" y="1464"/>
                    </a:lnTo>
                    <a:lnTo>
                      <a:pt x="534" y="1438"/>
                    </a:lnTo>
                    <a:lnTo>
                      <a:pt x="528" y="1426"/>
                    </a:lnTo>
                    <a:lnTo>
                      <a:pt x="524" y="1412"/>
                    </a:lnTo>
                    <a:lnTo>
                      <a:pt x="524" y="1412"/>
                    </a:lnTo>
                    <a:lnTo>
                      <a:pt x="570" y="1428"/>
                    </a:lnTo>
                    <a:lnTo>
                      <a:pt x="594" y="1434"/>
                    </a:lnTo>
                    <a:lnTo>
                      <a:pt x="618" y="1440"/>
                    </a:lnTo>
                    <a:lnTo>
                      <a:pt x="642" y="1444"/>
                    </a:lnTo>
                    <a:lnTo>
                      <a:pt x="666" y="1446"/>
                    </a:lnTo>
                    <a:lnTo>
                      <a:pt x="692" y="1446"/>
                    </a:lnTo>
                    <a:lnTo>
                      <a:pt x="718" y="1442"/>
                    </a:lnTo>
                    <a:lnTo>
                      <a:pt x="718" y="1442"/>
                    </a:lnTo>
                    <a:lnTo>
                      <a:pt x="744" y="1436"/>
                    </a:lnTo>
                    <a:lnTo>
                      <a:pt x="768" y="1428"/>
                    </a:lnTo>
                    <a:lnTo>
                      <a:pt x="790" y="1418"/>
                    </a:lnTo>
                    <a:lnTo>
                      <a:pt x="812" y="1404"/>
                    </a:lnTo>
                    <a:lnTo>
                      <a:pt x="832" y="1390"/>
                    </a:lnTo>
                    <a:lnTo>
                      <a:pt x="852" y="1372"/>
                    </a:lnTo>
                    <a:lnTo>
                      <a:pt x="870" y="1354"/>
                    </a:lnTo>
                    <a:lnTo>
                      <a:pt x="886" y="1330"/>
                    </a:lnTo>
                    <a:lnTo>
                      <a:pt x="886" y="1330"/>
                    </a:lnTo>
                    <a:lnTo>
                      <a:pt x="892" y="1344"/>
                    </a:lnTo>
                    <a:lnTo>
                      <a:pt x="896" y="1356"/>
                    </a:lnTo>
                    <a:lnTo>
                      <a:pt x="898" y="1368"/>
                    </a:lnTo>
                    <a:lnTo>
                      <a:pt x="898" y="1380"/>
                    </a:lnTo>
                    <a:lnTo>
                      <a:pt x="896" y="1402"/>
                    </a:lnTo>
                    <a:lnTo>
                      <a:pt x="892" y="1424"/>
                    </a:lnTo>
                    <a:lnTo>
                      <a:pt x="886" y="1446"/>
                    </a:lnTo>
                    <a:lnTo>
                      <a:pt x="882" y="1468"/>
                    </a:lnTo>
                    <a:lnTo>
                      <a:pt x="882" y="1480"/>
                    </a:lnTo>
                    <a:lnTo>
                      <a:pt x="882" y="1490"/>
                    </a:lnTo>
                    <a:lnTo>
                      <a:pt x="884" y="1502"/>
                    </a:lnTo>
                    <a:lnTo>
                      <a:pt x="886" y="1512"/>
                    </a:lnTo>
                    <a:lnTo>
                      <a:pt x="886" y="1512"/>
                    </a:lnTo>
                    <a:lnTo>
                      <a:pt x="896" y="1486"/>
                    </a:lnTo>
                    <a:lnTo>
                      <a:pt x="904" y="1458"/>
                    </a:lnTo>
                    <a:lnTo>
                      <a:pt x="910" y="1430"/>
                    </a:lnTo>
                    <a:lnTo>
                      <a:pt x="914" y="1402"/>
                    </a:lnTo>
                    <a:lnTo>
                      <a:pt x="914" y="1402"/>
                    </a:lnTo>
                    <a:lnTo>
                      <a:pt x="912" y="1356"/>
                    </a:lnTo>
                    <a:lnTo>
                      <a:pt x="910" y="1310"/>
                    </a:lnTo>
                    <a:lnTo>
                      <a:pt x="908" y="1266"/>
                    </a:lnTo>
                    <a:lnTo>
                      <a:pt x="908" y="1220"/>
                    </a:lnTo>
                    <a:lnTo>
                      <a:pt x="908" y="1220"/>
                    </a:lnTo>
                    <a:lnTo>
                      <a:pt x="910" y="1200"/>
                    </a:lnTo>
                    <a:lnTo>
                      <a:pt x="912" y="1182"/>
                    </a:lnTo>
                    <a:lnTo>
                      <a:pt x="918" y="1164"/>
                    </a:lnTo>
                    <a:lnTo>
                      <a:pt x="924" y="1156"/>
                    </a:lnTo>
                    <a:lnTo>
                      <a:pt x="928" y="1150"/>
                    </a:lnTo>
                    <a:lnTo>
                      <a:pt x="928" y="1150"/>
                    </a:lnTo>
                    <a:lnTo>
                      <a:pt x="948" y="1130"/>
                    </a:lnTo>
                    <a:lnTo>
                      <a:pt x="970" y="1112"/>
                    </a:lnTo>
                    <a:lnTo>
                      <a:pt x="1006" y="1084"/>
                    </a:lnTo>
                    <a:lnTo>
                      <a:pt x="1006" y="1084"/>
                    </a:lnTo>
                    <a:lnTo>
                      <a:pt x="998" y="1066"/>
                    </a:lnTo>
                    <a:lnTo>
                      <a:pt x="988" y="1048"/>
                    </a:lnTo>
                    <a:lnTo>
                      <a:pt x="982" y="1030"/>
                    </a:lnTo>
                    <a:lnTo>
                      <a:pt x="980" y="1022"/>
                    </a:lnTo>
                    <a:lnTo>
                      <a:pt x="980" y="1014"/>
                    </a:lnTo>
                    <a:lnTo>
                      <a:pt x="980" y="1014"/>
                    </a:lnTo>
                    <a:lnTo>
                      <a:pt x="982" y="986"/>
                    </a:lnTo>
                    <a:lnTo>
                      <a:pt x="980" y="958"/>
                    </a:lnTo>
                    <a:lnTo>
                      <a:pt x="976" y="930"/>
                    </a:lnTo>
                    <a:lnTo>
                      <a:pt x="972" y="904"/>
                    </a:lnTo>
                    <a:lnTo>
                      <a:pt x="966" y="878"/>
                    </a:lnTo>
                    <a:lnTo>
                      <a:pt x="958" y="852"/>
                    </a:lnTo>
                    <a:lnTo>
                      <a:pt x="938" y="800"/>
                    </a:lnTo>
                    <a:lnTo>
                      <a:pt x="916" y="750"/>
                    </a:lnTo>
                    <a:lnTo>
                      <a:pt x="894" y="702"/>
                    </a:lnTo>
                    <a:lnTo>
                      <a:pt x="870" y="652"/>
                    </a:lnTo>
                    <a:lnTo>
                      <a:pt x="850" y="602"/>
                    </a:lnTo>
                    <a:lnTo>
                      <a:pt x="850" y="602"/>
                    </a:lnTo>
                    <a:lnTo>
                      <a:pt x="846" y="594"/>
                    </a:lnTo>
                    <a:lnTo>
                      <a:pt x="842" y="588"/>
                    </a:lnTo>
                    <a:lnTo>
                      <a:pt x="842" y="588"/>
                    </a:lnTo>
                    <a:lnTo>
                      <a:pt x="832" y="574"/>
                    </a:lnTo>
                    <a:lnTo>
                      <a:pt x="822" y="560"/>
                    </a:lnTo>
                    <a:lnTo>
                      <a:pt x="816" y="546"/>
                    </a:lnTo>
                    <a:lnTo>
                      <a:pt x="812" y="530"/>
                    </a:lnTo>
                    <a:lnTo>
                      <a:pt x="810" y="514"/>
                    </a:lnTo>
                    <a:lnTo>
                      <a:pt x="810" y="498"/>
                    </a:lnTo>
                    <a:lnTo>
                      <a:pt x="812" y="482"/>
                    </a:lnTo>
                    <a:lnTo>
                      <a:pt x="816" y="466"/>
                    </a:lnTo>
                    <a:lnTo>
                      <a:pt x="816" y="466"/>
                    </a:lnTo>
                    <a:lnTo>
                      <a:pt x="820" y="456"/>
                    </a:lnTo>
                    <a:lnTo>
                      <a:pt x="820" y="446"/>
                    </a:lnTo>
                    <a:lnTo>
                      <a:pt x="820" y="438"/>
                    </a:lnTo>
                    <a:lnTo>
                      <a:pt x="816" y="432"/>
                    </a:lnTo>
                    <a:lnTo>
                      <a:pt x="812" y="426"/>
                    </a:lnTo>
                    <a:lnTo>
                      <a:pt x="804" y="420"/>
                    </a:lnTo>
                    <a:lnTo>
                      <a:pt x="796" y="416"/>
                    </a:lnTo>
                    <a:lnTo>
                      <a:pt x="786" y="412"/>
                    </a:lnTo>
                    <a:lnTo>
                      <a:pt x="786" y="412"/>
                    </a:lnTo>
                    <a:lnTo>
                      <a:pt x="768" y="406"/>
                    </a:lnTo>
                    <a:lnTo>
                      <a:pt x="750" y="400"/>
                    </a:lnTo>
                    <a:lnTo>
                      <a:pt x="716" y="382"/>
                    </a:lnTo>
                    <a:lnTo>
                      <a:pt x="716" y="382"/>
                    </a:lnTo>
                    <a:lnTo>
                      <a:pt x="708" y="376"/>
                    </a:lnTo>
                    <a:lnTo>
                      <a:pt x="700" y="370"/>
                    </a:lnTo>
                    <a:lnTo>
                      <a:pt x="696" y="362"/>
                    </a:lnTo>
                    <a:lnTo>
                      <a:pt x="696" y="354"/>
                    </a:lnTo>
                    <a:lnTo>
                      <a:pt x="696" y="344"/>
                    </a:lnTo>
                    <a:lnTo>
                      <a:pt x="696" y="336"/>
                    </a:lnTo>
                    <a:lnTo>
                      <a:pt x="702" y="320"/>
                    </a:lnTo>
                    <a:lnTo>
                      <a:pt x="702" y="320"/>
                    </a:lnTo>
                    <a:lnTo>
                      <a:pt x="710" y="308"/>
                    </a:lnTo>
                    <a:lnTo>
                      <a:pt x="720" y="298"/>
                    </a:lnTo>
                    <a:lnTo>
                      <a:pt x="732" y="290"/>
                    </a:lnTo>
                    <a:lnTo>
                      <a:pt x="738" y="288"/>
                    </a:lnTo>
                    <a:lnTo>
                      <a:pt x="744" y="288"/>
                    </a:lnTo>
                    <a:lnTo>
                      <a:pt x="744" y="288"/>
                    </a:lnTo>
                    <a:lnTo>
                      <a:pt x="750" y="290"/>
                    </a:lnTo>
                    <a:lnTo>
                      <a:pt x="756" y="292"/>
                    </a:lnTo>
                    <a:lnTo>
                      <a:pt x="768" y="302"/>
                    </a:lnTo>
                    <a:lnTo>
                      <a:pt x="778" y="312"/>
                    </a:lnTo>
                    <a:lnTo>
                      <a:pt x="786" y="326"/>
                    </a:lnTo>
                    <a:lnTo>
                      <a:pt x="786" y="326"/>
                    </a:lnTo>
                    <a:lnTo>
                      <a:pt x="790" y="340"/>
                    </a:lnTo>
                    <a:lnTo>
                      <a:pt x="790" y="354"/>
                    </a:lnTo>
                    <a:lnTo>
                      <a:pt x="788" y="388"/>
                    </a:lnTo>
                    <a:lnTo>
                      <a:pt x="788" y="388"/>
                    </a:lnTo>
                    <a:lnTo>
                      <a:pt x="796" y="390"/>
                    </a:lnTo>
                    <a:lnTo>
                      <a:pt x="802" y="390"/>
                    </a:lnTo>
                    <a:lnTo>
                      <a:pt x="808" y="388"/>
                    </a:lnTo>
                    <a:lnTo>
                      <a:pt x="814" y="386"/>
                    </a:lnTo>
                    <a:lnTo>
                      <a:pt x="818" y="382"/>
                    </a:lnTo>
                    <a:lnTo>
                      <a:pt x="820" y="376"/>
                    </a:lnTo>
                    <a:lnTo>
                      <a:pt x="824" y="362"/>
                    </a:lnTo>
                    <a:lnTo>
                      <a:pt x="824" y="362"/>
                    </a:lnTo>
                    <a:lnTo>
                      <a:pt x="824" y="338"/>
                    </a:lnTo>
                    <a:lnTo>
                      <a:pt x="822" y="316"/>
                    </a:lnTo>
                    <a:lnTo>
                      <a:pt x="818" y="294"/>
                    </a:lnTo>
                    <a:lnTo>
                      <a:pt x="810" y="276"/>
                    </a:lnTo>
                    <a:lnTo>
                      <a:pt x="798" y="260"/>
                    </a:lnTo>
                    <a:lnTo>
                      <a:pt x="786" y="246"/>
                    </a:lnTo>
                    <a:lnTo>
                      <a:pt x="770" y="238"/>
                    </a:lnTo>
                    <a:lnTo>
                      <a:pt x="762" y="236"/>
                    </a:lnTo>
                    <a:lnTo>
                      <a:pt x="754" y="234"/>
                    </a:lnTo>
                    <a:lnTo>
                      <a:pt x="754" y="234"/>
                    </a:lnTo>
                    <a:lnTo>
                      <a:pt x="738" y="234"/>
                    </a:lnTo>
                    <a:lnTo>
                      <a:pt x="722" y="236"/>
                    </a:lnTo>
                    <a:lnTo>
                      <a:pt x="708" y="240"/>
                    </a:lnTo>
                    <a:lnTo>
                      <a:pt x="702" y="244"/>
                    </a:lnTo>
                    <a:lnTo>
                      <a:pt x="700" y="248"/>
                    </a:lnTo>
                    <a:lnTo>
                      <a:pt x="700" y="248"/>
                    </a:lnTo>
                    <a:lnTo>
                      <a:pt x="686" y="274"/>
                    </a:lnTo>
                    <a:lnTo>
                      <a:pt x="674" y="302"/>
                    </a:lnTo>
                    <a:lnTo>
                      <a:pt x="652" y="358"/>
                    </a:lnTo>
                    <a:lnTo>
                      <a:pt x="652" y="358"/>
                    </a:lnTo>
                    <a:lnTo>
                      <a:pt x="602" y="354"/>
                    </a:lnTo>
                    <a:lnTo>
                      <a:pt x="602" y="354"/>
                    </a:lnTo>
                    <a:lnTo>
                      <a:pt x="592" y="310"/>
                    </a:lnTo>
                    <a:lnTo>
                      <a:pt x="586" y="290"/>
                    </a:lnTo>
                    <a:lnTo>
                      <a:pt x="578" y="272"/>
                    </a:lnTo>
                    <a:lnTo>
                      <a:pt x="578" y="272"/>
                    </a:lnTo>
                    <a:lnTo>
                      <a:pt x="574" y="266"/>
                    </a:lnTo>
                    <a:lnTo>
                      <a:pt x="568" y="260"/>
                    </a:lnTo>
                    <a:lnTo>
                      <a:pt x="552" y="252"/>
                    </a:lnTo>
                    <a:lnTo>
                      <a:pt x="538" y="246"/>
                    </a:lnTo>
                    <a:lnTo>
                      <a:pt x="532" y="244"/>
                    </a:lnTo>
                    <a:lnTo>
                      <a:pt x="530" y="244"/>
                    </a:lnTo>
                    <a:lnTo>
                      <a:pt x="530" y="244"/>
                    </a:lnTo>
                    <a:lnTo>
                      <a:pt x="518" y="260"/>
                    </a:lnTo>
                    <a:lnTo>
                      <a:pt x="506" y="278"/>
                    </a:lnTo>
                    <a:lnTo>
                      <a:pt x="496" y="296"/>
                    </a:lnTo>
                    <a:lnTo>
                      <a:pt x="492" y="314"/>
                    </a:lnTo>
                    <a:lnTo>
                      <a:pt x="492" y="314"/>
                    </a:lnTo>
                    <a:lnTo>
                      <a:pt x="488" y="336"/>
                    </a:lnTo>
                    <a:lnTo>
                      <a:pt x="488" y="346"/>
                    </a:lnTo>
                    <a:lnTo>
                      <a:pt x="490" y="356"/>
                    </a:lnTo>
                    <a:lnTo>
                      <a:pt x="494" y="368"/>
                    </a:lnTo>
                    <a:lnTo>
                      <a:pt x="500" y="376"/>
                    </a:lnTo>
                    <a:lnTo>
                      <a:pt x="508" y="384"/>
                    </a:lnTo>
                    <a:lnTo>
                      <a:pt x="520" y="392"/>
                    </a:lnTo>
                    <a:lnTo>
                      <a:pt x="520" y="392"/>
                    </a:lnTo>
                    <a:lnTo>
                      <a:pt x="522" y="390"/>
                    </a:lnTo>
                    <a:lnTo>
                      <a:pt x="528" y="386"/>
                    </a:lnTo>
                    <a:lnTo>
                      <a:pt x="528" y="386"/>
                    </a:lnTo>
                    <a:lnTo>
                      <a:pt x="516" y="372"/>
                    </a:lnTo>
                    <a:lnTo>
                      <a:pt x="512" y="366"/>
                    </a:lnTo>
                    <a:lnTo>
                      <a:pt x="510" y="358"/>
                    </a:lnTo>
                    <a:lnTo>
                      <a:pt x="510" y="358"/>
                    </a:lnTo>
                    <a:lnTo>
                      <a:pt x="508" y="344"/>
                    </a:lnTo>
                    <a:lnTo>
                      <a:pt x="510" y="328"/>
                    </a:lnTo>
                    <a:lnTo>
                      <a:pt x="512" y="314"/>
                    </a:lnTo>
                    <a:lnTo>
                      <a:pt x="516" y="298"/>
                    </a:lnTo>
                    <a:lnTo>
                      <a:pt x="516" y="298"/>
                    </a:lnTo>
                    <a:lnTo>
                      <a:pt x="518" y="296"/>
                    </a:lnTo>
                    <a:lnTo>
                      <a:pt x="522" y="294"/>
                    </a:lnTo>
                    <a:lnTo>
                      <a:pt x="532" y="292"/>
                    </a:lnTo>
                    <a:lnTo>
                      <a:pt x="542" y="290"/>
                    </a:lnTo>
                    <a:lnTo>
                      <a:pt x="546" y="290"/>
                    </a:lnTo>
                    <a:lnTo>
                      <a:pt x="550" y="292"/>
                    </a:lnTo>
                    <a:lnTo>
                      <a:pt x="550" y="292"/>
                    </a:lnTo>
                    <a:lnTo>
                      <a:pt x="558" y="304"/>
                    </a:lnTo>
                    <a:lnTo>
                      <a:pt x="564" y="318"/>
                    </a:lnTo>
                    <a:lnTo>
                      <a:pt x="570" y="332"/>
                    </a:lnTo>
                    <a:lnTo>
                      <a:pt x="574" y="346"/>
                    </a:lnTo>
                    <a:lnTo>
                      <a:pt x="574" y="346"/>
                    </a:lnTo>
                    <a:lnTo>
                      <a:pt x="574" y="354"/>
                    </a:lnTo>
                    <a:lnTo>
                      <a:pt x="570" y="360"/>
                    </a:lnTo>
                    <a:lnTo>
                      <a:pt x="560" y="374"/>
                    </a:lnTo>
                    <a:lnTo>
                      <a:pt x="560" y="374"/>
                    </a:lnTo>
                    <a:lnTo>
                      <a:pt x="534" y="396"/>
                    </a:lnTo>
                    <a:lnTo>
                      <a:pt x="522" y="406"/>
                    </a:lnTo>
                    <a:lnTo>
                      <a:pt x="510" y="418"/>
                    </a:lnTo>
                    <a:lnTo>
                      <a:pt x="510" y="418"/>
                    </a:lnTo>
                    <a:lnTo>
                      <a:pt x="504" y="428"/>
                    </a:lnTo>
                    <a:lnTo>
                      <a:pt x="498" y="440"/>
                    </a:lnTo>
                    <a:lnTo>
                      <a:pt x="494" y="450"/>
                    </a:lnTo>
                    <a:lnTo>
                      <a:pt x="494" y="454"/>
                    </a:lnTo>
                    <a:lnTo>
                      <a:pt x="494" y="456"/>
                    </a:lnTo>
                    <a:lnTo>
                      <a:pt x="494" y="456"/>
                    </a:lnTo>
                    <a:lnTo>
                      <a:pt x="514" y="476"/>
                    </a:lnTo>
                    <a:lnTo>
                      <a:pt x="526" y="488"/>
                    </a:lnTo>
                    <a:lnTo>
                      <a:pt x="536" y="496"/>
                    </a:lnTo>
                    <a:lnTo>
                      <a:pt x="548" y="504"/>
                    </a:lnTo>
                    <a:lnTo>
                      <a:pt x="562" y="510"/>
                    </a:lnTo>
                    <a:lnTo>
                      <a:pt x="576" y="514"/>
                    </a:lnTo>
                    <a:lnTo>
                      <a:pt x="594" y="514"/>
                    </a:lnTo>
                    <a:lnTo>
                      <a:pt x="594" y="514"/>
                    </a:lnTo>
                    <a:lnTo>
                      <a:pt x="644" y="506"/>
                    </a:lnTo>
                    <a:lnTo>
                      <a:pt x="670" y="500"/>
                    </a:lnTo>
                    <a:lnTo>
                      <a:pt x="694" y="494"/>
                    </a:lnTo>
                    <a:lnTo>
                      <a:pt x="718" y="486"/>
                    </a:lnTo>
                    <a:lnTo>
                      <a:pt x="742" y="474"/>
                    </a:lnTo>
                    <a:lnTo>
                      <a:pt x="766" y="460"/>
                    </a:lnTo>
                    <a:lnTo>
                      <a:pt x="788" y="444"/>
                    </a:lnTo>
                    <a:lnTo>
                      <a:pt x="788" y="444"/>
                    </a:lnTo>
                    <a:lnTo>
                      <a:pt x="792" y="460"/>
                    </a:lnTo>
                    <a:lnTo>
                      <a:pt x="792" y="466"/>
                    </a:lnTo>
                    <a:lnTo>
                      <a:pt x="792" y="466"/>
                    </a:lnTo>
                    <a:lnTo>
                      <a:pt x="734" y="494"/>
                    </a:lnTo>
                    <a:lnTo>
                      <a:pt x="706" y="506"/>
                    </a:lnTo>
                    <a:lnTo>
                      <a:pt x="676" y="518"/>
                    </a:lnTo>
                    <a:lnTo>
                      <a:pt x="646" y="528"/>
                    </a:lnTo>
                    <a:lnTo>
                      <a:pt x="614" y="534"/>
                    </a:lnTo>
                    <a:lnTo>
                      <a:pt x="580" y="538"/>
                    </a:lnTo>
                    <a:lnTo>
                      <a:pt x="564" y="536"/>
                    </a:lnTo>
                    <a:lnTo>
                      <a:pt x="546" y="534"/>
                    </a:lnTo>
                    <a:lnTo>
                      <a:pt x="546" y="534"/>
                    </a:lnTo>
                    <a:lnTo>
                      <a:pt x="558" y="548"/>
                    </a:lnTo>
                    <a:lnTo>
                      <a:pt x="570" y="560"/>
                    </a:lnTo>
                    <a:lnTo>
                      <a:pt x="582" y="566"/>
                    </a:lnTo>
                    <a:lnTo>
                      <a:pt x="596" y="570"/>
                    </a:lnTo>
                    <a:lnTo>
                      <a:pt x="608" y="572"/>
                    </a:lnTo>
                    <a:lnTo>
                      <a:pt x="622" y="570"/>
                    </a:lnTo>
                    <a:lnTo>
                      <a:pt x="634" y="568"/>
                    </a:lnTo>
                    <a:lnTo>
                      <a:pt x="648" y="564"/>
                    </a:lnTo>
                    <a:lnTo>
                      <a:pt x="648" y="564"/>
                    </a:lnTo>
                    <a:lnTo>
                      <a:pt x="672" y="554"/>
                    </a:lnTo>
                    <a:lnTo>
                      <a:pt x="696" y="544"/>
                    </a:lnTo>
                    <a:lnTo>
                      <a:pt x="742" y="520"/>
                    </a:lnTo>
                    <a:lnTo>
                      <a:pt x="742" y="520"/>
                    </a:lnTo>
                    <a:lnTo>
                      <a:pt x="762" y="514"/>
                    </a:lnTo>
                    <a:lnTo>
                      <a:pt x="782" y="510"/>
                    </a:lnTo>
                    <a:lnTo>
                      <a:pt x="782" y="510"/>
                    </a:lnTo>
                    <a:lnTo>
                      <a:pt x="786" y="522"/>
                    </a:lnTo>
                    <a:lnTo>
                      <a:pt x="786" y="522"/>
                    </a:lnTo>
                    <a:lnTo>
                      <a:pt x="698" y="578"/>
                    </a:lnTo>
                    <a:lnTo>
                      <a:pt x="654" y="604"/>
                    </a:lnTo>
                    <a:lnTo>
                      <a:pt x="608" y="630"/>
                    </a:lnTo>
                    <a:lnTo>
                      <a:pt x="608" y="630"/>
                    </a:lnTo>
                    <a:lnTo>
                      <a:pt x="604" y="630"/>
                    </a:lnTo>
                    <a:lnTo>
                      <a:pt x="598" y="630"/>
                    </a:lnTo>
                    <a:lnTo>
                      <a:pt x="582" y="626"/>
                    </a:lnTo>
                    <a:lnTo>
                      <a:pt x="568" y="618"/>
                    </a:lnTo>
                    <a:lnTo>
                      <a:pt x="554" y="608"/>
                    </a:lnTo>
                    <a:lnTo>
                      <a:pt x="554" y="608"/>
                    </a:lnTo>
                    <a:lnTo>
                      <a:pt x="540" y="594"/>
                    </a:lnTo>
                    <a:lnTo>
                      <a:pt x="528" y="578"/>
                    </a:lnTo>
                    <a:lnTo>
                      <a:pt x="504" y="546"/>
                    </a:lnTo>
                    <a:lnTo>
                      <a:pt x="504" y="546"/>
                    </a:lnTo>
                    <a:close/>
                    <a:moveTo>
                      <a:pt x="1078" y="1054"/>
                    </a:moveTo>
                    <a:lnTo>
                      <a:pt x="1078" y="1054"/>
                    </a:lnTo>
                    <a:lnTo>
                      <a:pt x="1084" y="1012"/>
                    </a:lnTo>
                    <a:lnTo>
                      <a:pt x="1086" y="970"/>
                    </a:lnTo>
                    <a:lnTo>
                      <a:pt x="1084" y="930"/>
                    </a:lnTo>
                    <a:lnTo>
                      <a:pt x="1078" y="892"/>
                    </a:lnTo>
                    <a:lnTo>
                      <a:pt x="1068" y="854"/>
                    </a:lnTo>
                    <a:lnTo>
                      <a:pt x="1052" y="818"/>
                    </a:lnTo>
                    <a:lnTo>
                      <a:pt x="1032" y="784"/>
                    </a:lnTo>
                    <a:lnTo>
                      <a:pt x="1008" y="750"/>
                    </a:lnTo>
                    <a:lnTo>
                      <a:pt x="1008" y="750"/>
                    </a:lnTo>
                    <a:lnTo>
                      <a:pt x="1040" y="826"/>
                    </a:lnTo>
                    <a:lnTo>
                      <a:pt x="1056" y="866"/>
                    </a:lnTo>
                    <a:lnTo>
                      <a:pt x="1066" y="904"/>
                    </a:lnTo>
                    <a:lnTo>
                      <a:pt x="1070" y="924"/>
                    </a:lnTo>
                    <a:lnTo>
                      <a:pt x="1072" y="944"/>
                    </a:lnTo>
                    <a:lnTo>
                      <a:pt x="1074" y="966"/>
                    </a:lnTo>
                    <a:lnTo>
                      <a:pt x="1072" y="986"/>
                    </a:lnTo>
                    <a:lnTo>
                      <a:pt x="1070" y="1006"/>
                    </a:lnTo>
                    <a:lnTo>
                      <a:pt x="1064" y="1028"/>
                    </a:lnTo>
                    <a:lnTo>
                      <a:pt x="1056" y="1050"/>
                    </a:lnTo>
                    <a:lnTo>
                      <a:pt x="1046" y="1070"/>
                    </a:lnTo>
                    <a:lnTo>
                      <a:pt x="1046" y="1070"/>
                    </a:lnTo>
                    <a:lnTo>
                      <a:pt x="1108" y="1080"/>
                    </a:lnTo>
                    <a:lnTo>
                      <a:pt x="1108" y="1080"/>
                    </a:lnTo>
                    <a:lnTo>
                      <a:pt x="1078" y="1054"/>
                    </a:lnTo>
                    <a:lnTo>
                      <a:pt x="1078" y="1054"/>
                    </a:lnTo>
                    <a:close/>
                    <a:moveTo>
                      <a:pt x="880" y="490"/>
                    </a:moveTo>
                    <a:lnTo>
                      <a:pt x="880" y="490"/>
                    </a:lnTo>
                    <a:lnTo>
                      <a:pt x="870" y="496"/>
                    </a:lnTo>
                    <a:lnTo>
                      <a:pt x="870" y="496"/>
                    </a:lnTo>
                    <a:lnTo>
                      <a:pt x="888" y="520"/>
                    </a:lnTo>
                    <a:lnTo>
                      <a:pt x="908" y="542"/>
                    </a:lnTo>
                    <a:lnTo>
                      <a:pt x="908" y="542"/>
                    </a:lnTo>
                    <a:lnTo>
                      <a:pt x="912" y="544"/>
                    </a:lnTo>
                    <a:lnTo>
                      <a:pt x="918" y="544"/>
                    </a:lnTo>
                    <a:lnTo>
                      <a:pt x="932" y="542"/>
                    </a:lnTo>
                    <a:lnTo>
                      <a:pt x="932" y="542"/>
                    </a:lnTo>
                    <a:lnTo>
                      <a:pt x="928" y="526"/>
                    </a:lnTo>
                    <a:lnTo>
                      <a:pt x="928" y="520"/>
                    </a:lnTo>
                    <a:lnTo>
                      <a:pt x="924" y="514"/>
                    </a:lnTo>
                    <a:lnTo>
                      <a:pt x="924" y="514"/>
                    </a:lnTo>
                    <a:lnTo>
                      <a:pt x="914" y="508"/>
                    </a:lnTo>
                    <a:lnTo>
                      <a:pt x="902" y="502"/>
                    </a:lnTo>
                    <a:lnTo>
                      <a:pt x="880" y="490"/>
                    </a:lnTo>
                    <a:lnTo>
                      <a:pt x="880" y="490"/>
                    </a:lnTo>
                    <a:close/>
                  </a:path>
                </a:pathLst>
              </a:custGeom>
              <a:solidFill>
                <a:srgbClr val="0070C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706" tIns="146165" rIns="182706" bIns="146165" numCol="1" spcCol="0" rtlCol="0" fromWordArt="0" anchor="t" anchorCtr="0" forceAA="0" compatLnSpc="1">
                <a:prstTxWarp prst="textNoShape">
                  <a:avLst/>
                </a:prstTxWarp>
                <a:noAutofit/>
              </a:bodyPr>
              <a:lstStyle/>
              <a:p>
                <a:pPr marL="0" marR="0" lvl="0" indent="0" algn="ctr" defTabSz="913111" rtl="0" eaLnBrk="1" fontAlgn="base" latinLnBrk="0" hangingPunct="1">
                  <a:lnSpc>
                    <a:spcPct val="90000"/>
                  </a:lnSpc>
                  <a:spcBef>
                    <a:spcPct val="0"/>
                  </a:spcBef>
                  <a:spcAft>
                    <a:spcPct val="0"/>
                  </a:spcAft>
                  <a:buClrTx/>
                  <a:buSzTx/>
                  <a:buFontTx/>
                  <a:buNone/>
                  <a:tabLst/>
                  <a:defRPr/>
                </a:pPr>
                <a:endParaRPr kumimoji="0" lang="en-US" sz="1998" b="0" i="0" u="none" strike="noStrike" kern="1200" cap="none" spc="-50" normalizeH="0" baseline="0" noProof="0">
                  <a:ln>
                    <a:noFill/>
                  </a:ln>
                  <a:gradFill>
                    <a:gsLst>
                      <a:gs pos="1250">
                        <a:srgbClr val="EFEFEF"/>
                      </a:gs>
                      <a:gs pos="10417">
                        <a:srgbClr val="EFEFEF"/>
                      </a:gs>
                    </a:gsLst>
                    <a:lin ang="5400000" scaled="0"/>
                  </a:gradFill>
                  <a:effectLst/>
                  <a:uLnTx/>
                  <a:uFillTx/>
                  <a:latin typeface="Segoe UI Light"/>
                  <a:ea typeface="+mn-ea"/>
                  <a:cs typeface="+mn-cs"/>
                </a:endParaRPr>
              </a:p>
            </p:txBody>
          </p:sp>
        </p:grpSp>
      </p:grpSp>
      <p:grpSp>
        <p:nvGrpSpPr>
          <p:cNvPr id="58" name="Group 57">
            <a:extLst>
              <a:ext uri="{FF2B5EF4-FFF2-40B4-BE49-F238E27FC236}">
                <a16:creationId xmlns:a16="http://schemas.microsoft.com/office/drawing/2014/main" id="{8C610305-207C-D5FF-DB8D-8A7299EE3ECD}"/>
              </a:ext>
            </a:extLst>
          </p:cNvPr>
          <p:cNvGrpSpPr/>
          <p:nvPr/>
        </p:nvGrpSpPr>
        <p:grpSpPr>
          <a:xfrm>
            <a:off x="184949" y="1687989"/>
            <a:ext cx="11727315" cy="437921"/>
            <a:chOff x="184949" y="1692246"/>
            <a:chExt cx="11727315" cy="437921"/>
          </a:xfrm>
        </p:grpSpPr>
        <p:sp>
          <p:nvSpPr>
            <p:cNvPr id="30" name="L-Shape 29">
              <a:extLst>
                <a:ext uri="{FF2B5EF4-FFF2-40B4-BE49-F238E27FC236}">
                  <a16:creationId xmlns:a16="http://schemas.microsoft.com/office/drawing/2014/main" id="{AFE3F4F2-9760-AD2B-E093-CBE2958B2194}"/>
                </a:ext>
              </a:extLst>
            </p:cNvPr>
            <p:cNvSpPr/>
            <p:nvPr/>
          </p:nvSpPr>
          <p:spPr bwMode="auto">
            <a:xfrm flipH="1">
              <a:off x="184949" y="1692246"/>
              <a:ext cx="11727315" cy="437921"/>
            </a:xfrm>
            <a:prstGeom prst="corner">
              <a:avLst>
                <a:gd name="adj1" fmla="val 20789"/>
                <a:gd name="adj2" fmla="val 850612"/>
              </a:avLst>
            </a:prstGeom>
            <a:solidFill>
              <a:srgbClr val="FADAFD"/>
            </a:solidFill>
            <a:ln w="9525">
              <a:solidFill>
                <a:schemeClr val="bg1"/>
              </a:solidFill>
            </a:ln>
            <a:effectLst>
              <a:outerShdw blurRad="25400" dist="12700" dir="552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5760" rtlCol="0" anchor="ctr"/>
            <a:lstStyle/>
            <a:p>
              <a:pPr marL="22860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panose="020B0502040204020203" pitchFamily="34" charset="0"/>
                <a:ea typeface="+mn-ea"/>
                <a:cs typeface="Segoe UI" panose="020B0502040204020203" pitchFamily="34" charset="0"/>
              </a:endParaRPr>
            </a:p>
          </p:txBody>
        </p:sp>
        <p:sp>
          <p:nvSpPr>
            <p:cNvPr id="470" name="Rectangle 469">
              <a:hlinkClick r:id="rId60" tooltip="Conditional Access provides centralized policy control for data and applications by enforcing conditions on account authentication, network location, device health/compliance, and other risk factors. "/>
              <a:extLst>
                <a:ext uri="{FF2B5EF4-FFF2-40B4-BE49-F238E27FC236}">
                  <a16:creationId xmlns:a16="http://schemas.microsoft.com/office/drawing/2014/main" id="{E8654F85-D745-8628-0B80-007E1A2901B9}"/>
                </a:ext>
              </a:extLst>
            </p:cNvPr>
            <p:cNvSpPr/>
            <p:nvPr/>
          </p:nvSpPr>
          <p:spPr>
            <a:xfrm>
              <a:off x="8730208" y="1692532"/>
              <a:ext cx="3180447" cy="43102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Conditional Access </a:t>
              </a:r>
              <a:r>
                <a:rPr kumimoji="0" lang="en-US" sz="85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 Zero Trust Adaptive</a:t>
              </a:r>
              <a:r>
                <a:rPr lang="en-US" sz="850">
                  <a:solidFill>
                    <a:schemeClr val="tx1"/>
                  </a:solidFill>
                  <a:latin typeface="Segoe UI" panose="020B0502040204020203" pitchFamily="34" charset="0"/>
                  <a:cs typeface="Segoe UI" panose="020B0502040204020203" pitchFamily="34" charset="0"/>
                </a:rPr>
                <a:t> Access</a:t>
              </a:r>
              <a:r>
                <a:rPr kumimoji="0" lang="en-US" sz="85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 Control based on explicit validation users, session, &amp; endpoint integrity</a:t>
              </a:r>
              <a:endParaRPr kumimoji="0" lang="en-US" sz="850" b="0" i="0" u="none" strike="noStrike" kern="1200" cap="none" spc="0" normalizeH="0" baseline="0" noProof="0">
                <a:ln>
                  <a:noFill/>
                </a:ln>
                <a:solidFill>
                  <a:schemeClr val="tx1"/>
                </a:solidFill>
                <a:effectLst/>
                <a:highlight>
                  <a:srgbClr val="FFFF00"/>
                </a:highlight>
                <a:uLnTx/>
                <a:uFillTx/>
                <a:latin typeface="Segoe UI" panose="020B0502040204020203" pitchFamily="34" charset="0"/>
                <a:cs typeface="Segoe UI" panose="020B0502040204020203" pitchFamily="34" charset="0"/>
              </a:endParaRPr>
            </a:p>
          </p:txBody>
        </p:sp>
        <p:grpSp>
          <p:nvGrpSpPr>
            <p:cNvPr id="133" name="Group 132">
              <a:extLst>
                <a:ext uri="{FF2B5EF4-FFF2-40B4-BE49-F238E27FC236}">
                  <a16:creationId xmlns:a16="http://schemas.microsoft.com/office/drawing/2014/main" id="{274B1D6F-1040-5025-3B68-98676D333128}"/>
                </a:ext>
              </a:extLst>
            </p:cNvPr>
            <p:cNvGrpSpPr/>
            <p:nvPr/>
          </p:nvGrpSpPr>
          <p:grpSpPr>
            <a:xfrm>
              <a:off x="8246888" y="1749621"/>
              <a:ext cx="542722" cy="257680"/>
              <a:chOff x="8602102" y="2090236"/>
              <a:chExt cx="441328" cy="212672"/>
            </a:xfrm>
          </p:grpSpPr>
          <p:cxnSp>
            <p:nvCxnSpPr>
              <p:cNvPr id="130" name="Straight Arrow Connector 129">
                <a:extLst>
                  <a:ext uri="{FF2B5EF4-FFF2-40B4-BE49-F238E27FC236}">
                    <a16:creationId xmlns:a16="http://schemas.microsoft.com/office/drawing/2014/main" id="{FF7708F2-5100-CF3C-571D-66D038854AA9}"/>
                  </a:ext>
                </a:extLst>
              </p:cNvPr>
              <p:cNvCxnSpPr>
                <a:cxnSpLocks/>
              </p:cNvCxnSpPr>
              <p:nvPr/>
            </p:nvCxnSpPr>
            <p:spPr>
              <a:xfrm>
                <a:off x="8779173" y="2196572"/>
                <a:ext cx="264257" cy="0"/>
              </a:xfrm>
              <a:prstGeom prst="straightConnector1">
                <a:avLst/>
              </a:prstGeom>
              <a:ln w="19050">
                <a:solidFill>
                  <a:srgbClr val="000000"/>
                </a:solidFill>
                <a:headEnd type="none"/>
                <a:tailEnd type="triangle" w="sm" len="med"/>
              </a:ln>
            </p:spPr>
            <p:style>
              <a:lnRef idx="1">
                <a:schemeClr val="accent1"/>
              </a:lnRef>
              <a:fillRef idx="0">
                <a:schemeClr val="accent1"/>
              </a:fillRef>
              <a:effectRef idx="0">
                <a:schemeClr val="accent1"/>
              </a:effectRef>
              <a:fontRef idx="minor">
                <a:schemeClr val="tx1"/>
              </a:fontRef>
            </p:style>
          </p:cxnSp>
          <p:grpSp>
            <p:nvGrpSpPr>
              <p:cNvPr id="670" name="Group 669">
                <a:extLst>
                  <a:ext uri="{FF2B5EF4-FFF2-40B4-BE49-F238E27FC236}">
                    <a16:creationId xmlns:a16="http://schemas.microsoft.com/office/drawing/2014/main" id="{BEC0B6B1-E3F4-521B-35BE-30AC7FE9C014}"/>
                  </a:ext>
                </a:extLst>
              </p:cNvPr>
              <p:cNvGrpSpPr/>
              <p:nvPr/>
            </p:nvGrpSpPr>
            <p:grpSpPr>
              <a:xfrm>
                <a:off x="8602102" y="2090236"/>
                <a:ext cx="317135" cy="212672"/>
                <a:chOff x="4603051" y="2460876"/>
                <a:chExt cx="874090" cy="586170"/>
              </a:xfrm>
            </p:grpSpPr>
            <p:sp>
              <p:nvSpPr>
                <p:cNvPr id="671" name="Flowchart: Decision 670">
                  <a:extLst>
                    <a:ext uri="{FF2B5EF4-FFF2-40B4-BE49-F238E27FC236}">
                      <a16:creationId xmlns:a16="http://schemas.microsoft.com/office/drawing/2014/main" id="{B50362A5-8F06-D068-9EE6-22F1513814D0}"/>
                    </a:ext>
                  </a:extLst>
                </p:cNvPr>
                <p:cNvSpPr/>
                <p:nvPr/>
              </p:nvSpPr>
              <p:spPr bwMode="auto">
                <a:xfrm>
                  <a:off x="4603051" y="2460876"/>
                  <a:ext cx="874090" cy="586170"/>
                </a:xfrm>
                <a:prstGeom prst="flowChartDecision">
                  <a:avLst/>
                </a:prstGeom>
                <a:solidFill>
                  <a:srgbClr val="000000"/>
                </a:solidFill>
                <a:ln w="2857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72" name="Rectangle 671">
                  <a:extLst>
                    <a:ext uri="{FF2B5EF4-FFF2-40B4-BE49-F238E27FC236}">
                      <a16:creationId xmlns:a16="http://schemas.microsoft.com/office/drawing/2014/main" id="{E4A04087-9D63-A649-FB63-C8859993F82C}"/>
                    </a:ext>
                  </a:extLst>
                </p:cNvPr>
                <p:cNvSpPr/>
                <p:nvPr/>
              </p:nvSpPr>
              <p:spPr bwMode="auto">
                <a:xfrm>
                  <a:off x="4945913" y="2732987"/>
                  <a:ext cx="290369" cy="45719"/>
                </a:xfrm>
                <a:prstGeom prst="rect">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680" name="Group 679">
                  <a:extLst>
                    <a:ext uri="{FF2B5EF4-FFF2-40B4-BE49-F238E27FC236}">
                      <a16:creationId xmlns:a16="http://schemas.microsoft.com/office/drawing/2014/main" id="{C779F6E7-967A-EDD9-054F-92572E38DA6A}"/>
                    </a:ext>
                  </a:extLst>
                </p:cNvPr>
                <p:cNvGrpSpPr/>
                <p:nvPr/>
              </p:nvGrpSpPr>
              <p:grpSpPr>
                <a:xfrm>
                  <a:off x="4945912" y="2654084"/>
                  <a:ext cx="246315" cy="202204"/>
                  <a:chOff x="4919039" y="2627071"/>
                  <a:chExt cx="318420" cy="202204"/>
                </a:xfrm>
              </p:grpSpPr>
              <p:sp>
                <p:nvSpPr>
                  <p:cNvPr id="707" name="Rectangle 706">
                    <a:extLst>
                      <a:ext uri="{FF2B5EF4-FFF2-40B4-BE49-F238E27FC236}">
                        <a16:creationId xmlns:a16="http://schemas.microsoft.com/office/drawing/2014/main" id="{8F0C47C5-E493-0CDD-D667-B4C4975C411A}"/>
                      </a:ext>
                    </a:extLst>
                  </p:cNvPr>
                  <p:cNvSpPr/>
                  <p:nvPr/>
                </p:nvSpPr>
                <p:spPr bwMode="auto">
                  <a:xfrm>
                    <a:off x="4919044" y="2627071"/>
                    <a:ext cx="290365" cy="45718"/>
                  </a:xfrm>
                  <a:prstGeom prst="rect">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46" name="Rectangle 745">
                    <a:extLst>
                      <a:ext uri="{FF2B5EF4-FFF2-40B4-BE49-F238E27FC236}">
                        <a16:creationId xmlns:a16="http://schemas.microsoft.com/office/drawing/2014/main" id="{3D503452-BEFE-2140-5AB4-838FB6DF52E1}"/>
                      </a:ext>
                    </a:extLst>
                  </p:cNvPr>
                  <p:cNvSpPr/>
                  <p:nvPr/>
                </p:nvSpPr>
                <p:spPr bwMode="auto">
                  <a:xfrm>
                    <a:off x="4919039" y="2783557"/>
                    <a:ext cx="318420" cy="45718"/>
                  </a:xfrm>
                  <a:prstGeom prst="rect">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699" name="Oval 698">
                  <a:extLst>
                    <a:ext uri="{FF2B5EF4-FFF2-40B4-BE49-F238E27FC236}">
                      <a16:creationId xmlns:a16="http://schemas.microsoft.com/office/drawing/2014/main" id="{F183170A-5F68-D92F-EBE0-811BBACCC136}"/>
                    </a:ext>
                  </a:extLst>
                </p:cNvPr>
                <p:cNvSpPr/>
                <p:nvPr/>
              </p:nvSpPr>
              <p:spPr bwMode="auto">
                <a:xfrm>
                  <a:off x="4867499" y="2654596"/>
                  <a:ext cx="49292" cy="45719"/>
                </a:xfrm>
                <a:prstGeom prst="ellipse">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01" name="Oval 700">
                  <a:extLst>
                    <a:ext uri="{FF2B5EF4-FFF2-40B4-BE49-F238E27FC236}">
                      <a16:creationId xmlns:a16="http://schemas.microsoft.com/office/drawing/2014/main" id="{E2B399FA-523F-9540-0A4E-54A3600D17B2}"/>
                    </a:ext>
                  </a:extLst>
                </p:cNvPr>
                <p:cNvSpPr/>
                <p:nvPr/>
              </p:nvSpPr>
              <p:spPr bwMode="auto">
                <a:xfrm>
                  <a:off x="4869577" y="2815015"/>
                  <a:ext cx="49292" cy="45719"/>
                </a:xfrm>
                <a:prstGeom prst="ellipse">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06" name="Oval 705">
                  <a:extLst>
                    <a:ext uri="{FF2B5EF4-FFF2-40B4-BE49-F238E27FC236}">
                      <a16:creationId xmlns:a16="http://schemas.microsoft.com/office/drawing/2014/main" id="{5AF0DC5A-24CC-CCCF-CA97-E0033CD17C03}"/>
                    </a:ext>
                  </a:extLst>
                </p:cNvPr>
                <p:cNvSpPr/>
                <p:nvPr/>
              </p:nvSpPr>
              <p:spPr bwMode="auto">
                <a:xfrm>
                  <a:off x="4869577" y="2731876"/>
                  <a:ext cx="49292" cy="45719"/>
                </a:xfrm>
                <a:prstGeom prst="ellipse">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cxnSp>
        <p:nvCxnSpPr>
          <p:cNvPr id="95" name="Straight Connector 94">
            <a:extLst>
              <a:ext uri="{FF2B5EF4-FFF2-40B4-BE49-F238E27FC236}">
                <a16:creationId xmlns:a16="http://schemas.microsoft.com/office/drawing/2014/main" id="{D86F2405-C362-A52C-EA37-769D9FD90CA0}"/>
              </a:ext>
            </a:extLst>
          </p:cNvPr>
          <p:cNvCxnSpPr>
            <a:cxnSpLocks/>
          </p:cNvCxnSpPr>
          <p:nvPr/>
        </p:nvCxnSpPr>
        <p:spPr>
          <a:xfrm>
            <a:off x="9988550" y="939955"/>
            <a:ext cx="1876793" cy="0"/>
          </a:xfrm>
          <a:prstGeom prst="line">
            <a:avLst/>
          </a:prstGeom>
          <a:ln w="19050">
            <a:gradFill>
              <a:gsLst>
                <a:gs pos="35000">
                  <a:schemeClr val="tx2"/>
                </a:gs>
                <a:gs pos="7000">
                  <a:schemeClr val="bg1"/>
                </a:gs>
              </a:gsLst>
              <a:lin ang="10800000" scaled="0"/>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97" name="Group 1096">
            <a:extLst>
              <a:ext uri="{FF2B5EF4-FFF2-40B4-BE49-F238E27FC236}">
                <a16:creationId xmlns:a16="http://schemas.microsoft.com/office/drawing/2014/main" id="{C204DC6E-4A84-8DAC-5DC9-743EA22A762B}"/>
              </a:ext>
            </a:extLst>
          </p:cNvPr>
          <p:cNvGrpSpPr/>
          <p:nvPr/>
        </p:nvGrpSpPr>
        <p:grpSpPr>
          <a:xfrm>
            <a:off x="5433191" y="4467156"/>
            <a:ext cx="533026" cy="253182"/>
            <a:chOff x="10037345" y="4277217"/>
            <a:chExt cx="887532" cy="421571"/>
          </a:xfrm>
        </p:grpSpPr>
        <p:pic>
          <p:nvPicPr>
            <p:cNvPr id="1098" name="Picture 1097">
              <a:extLst>
                <a:ext uri="{FF2B5EF4-FFF2-40B4-BE49-F238E27FC236}">
                  <a16:creationId xmlns:a16="http://schemas.microsoft.com/office/drawing/2014/main" id="{058C48C0-22A2-7823-CF52-C70779D7D6CF}"/>
                </a:ext>
              </a:extLst>
            </p:cNvPr>
            <p:cNvPicPr>
              <a:picLocks noChangeAspect="1"/>
            </p:cNvPicPr>
            <p:nvPr/>
          </p:nvPicPr>
          <p:blipFill>
            <a:blip r:embed="rId61">
              <a:extLst>
                <a:ext uri="{28A0092B-C50C-407E-A947-70E740481C1C}">
                  <a14:useLocalDpi xmlns:a14="http://schemas.microsoft.com/office/drawing/2010/main" val="0"/>
                </a:ext>
              </a:extLst>
            </a:blip>
            <a:stretch>
              <a:fillRect/>
            </a:stretch>
          </p:blipFill>
          <p:spPr>
            <a:xfrm>
              <a:off x="10037345" y="4277217"/>
              <a:ext cx="140386" cy="257327"/>
            </a:xfrm>
            <a:prstGeom prst="rect">
              <a:avLst/>
            </a:prstGeom>
          </p:spPr>
        </p:pic>
        <p:pic>
          <p:nvPicPr>
            <p:cNvPr id="1099" name="Picture 1098">
              <a:extLst>
                <a:ext uri="{FF2B5EF4-FFF2-40B4-BE49-F238E27FC236}">
                  <a16:creationId xmlns:a16="http://schemas.microsoft.com/office/drawing/2014/main" id="{A5ACB224-1FBD-4C96-2BF3-E1B7C5E58C59}"/>
                </a:ext>
              </a:extLst>
            </p:cNvPr>
            <p:cNvPicPr>
              <a:picLocks noChangeAspect="1"/>
            </p:cNvPicPr>
            <p:nvPr/>
          </p:nvPicPr>
          <p:blipFill>
            <a:blip r:embed="rId62">
              <a:extLst>
                <a:ext uri="{28A0092B-C50C-407E-A947-70E740481C1C}">
                  <a14:useLocalDpi xmlns:a14="http://schemas.microsoft.com/office/drawing/2010/main" val="0"/>
                </a:ext>
              </a:extLst>
            </a:blip>
            <a:stretch>
              <a:fillRect/>
            </a:stretch>
          </p:blipFill>
          <p:spPr>
            <a:xfrm>
              <a:off x="10158802" y="4553797"/>
              <a:ext cx="269515" cy="144991"/>
            </a:xfrm>
            <a:prstGeom prst="rect">
              <a:avLst/>
            </a:prstGeom>
          </p:spPr>
        </p:pic>
        <p:pic>
          <p:nvPicPr>
            <p:cNvPr id="1100" name="Picture 1099">
              <a:extLst>
                <a:ext uri="{FF2B5EF4-FFF2-40B4-BE49-F238E27FC236}">
                  <a16:creationId xmlns:a16="http://schemas.microsoft.com/office/drawing/2014/main" id="{E6E8E75A-F811-5C3C-625B-EF5D3F9CC302}"/>
                </a:ext>
              </a:extLst>
            </p:cNvPr>
            <p:cNvPicPr>
              <a:picLocks noChangeAspect="1"/>
            </p:cNvPicPr>
            <p:nvPr/>
          </p:nvPicPr>
          <p:blipFill>
            <a:blip r:embed="rId63">
              <a:extLst>
                <a:ext uri="{28A0092B-C50C-407E-A947-70E740481C1C}">
                  <a14:useLocalDpi xmlns:a14="http://schemas.microsoft.com/office/drawing/2010/main" val="0"/>
                </a:ext>
              </a:extLst>
            </a:blip>
            <a:stretch>
              <a:fillRect/>
            </a:stretch>
          </p:blipFill>
          <p:spPr>
            <a:xfrm>
              <a:off x="10648679" y="4326594"/>
              <a:ext cx="276198" cy="172623"/>
            </a:xfrm>
            <a:prstGeom prst="rect">
              <a:avLst/>
            </a:prstGeom>
          </p:spPr>
        </p:pic>
        <p:grpSp>
          <p:nvGrpSpPr>
            <p:cNvPr id="1101" name="Group 1100">
              <a:extLst>
                <a:ext uri="{FF2B5EF4-FFF2-40B4-BE49-F238E27FC236}">
                  <a16:creationId xmlns:a16="http://schemas.microsoft.com/office/drawing/2014/main" id="{DF2E4AD4-9631-2D05-089E-40FB10B289E7}"/>
                </a:ext>
              </a:extLst>
            </p:cNvPr>
            <p:cNvGrpSpPr/>
            <p:nvPr/>
          </p:nvGrpSpPr>
          <p:grpSpPr>
            <a:xfrm>
              <a:off x="10529411" y="4598758"/>
              <a:ext cx="203852" cy="49419"/>
              <a:chOff x="11279844" y="3739404"/>
              <a:chExt cx="343140" cy="83186"/>
            </a:xfrm>
          </p:grpSpPr>
          <p:sp>
            <p:nvSpPr>
              <p:cNvPr id="1103" name="Oval 1102">
                <a:extLst>
                  <a:ext uri="{FF2B5EF4-FFF2-40B4-BE49-F238E27FC236}">
                    <a16:creationId xmlns:a16="http://schemas.microsoft.com/office/drawing/2014/main" id="{9856728E-1CF5-F945-5099-FF8836F79059}"/>
                  </a:ext>
                </a:extLst>
              </p:cNvPr>
              <p:cNvSpPr/>
              <p:nvPr/>
            </p:nvSpPr>
            <p:spPr bwMode="auto">
              <a:xfrm>
                <a:off x="11279844" y="3739404"/>
                <a:ext cx="83149" cy="83148"/>
              </a:xfrm>
              <a:prstGeom prst="ellipse">
                <a:avLst/>
              </a:prstGeom>
              <a:solidFill>
                <a:sysClr val="windowText" lastClr="000000">
                  <a:lumMod val="65000"/>
                  <a:lumOff val="35000"/>
                </a:sysClr>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90000"/>
                  </a:lnSpc>
                  <a:spcBef>
                    <a:spcPct val="0"/>
                  </a:spcBef>
                  <a:spcAft>
                    <a:spcPct val="0"/>
                  </a:spcAft>
                  <a:buClrTx/>
                  <a:buSzTx/>
                  <a:buFontTx/>
                  <a:buNone/>
                  <a:tabLst/>
                  <a:defRPr/>
                </a:pPr>
                <a:endParaRPr kumimoji="0" lang="en-US" sz="36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1104" name="Oval 1103">
                <a:extLst>
                  <a:ext uri="{FF2B5EF4-FFF2-40B4-BE49-F238E27FC236}">
                    <a16:creationId xmlns:a16="http://schemas.microsoft.com/office/drawing/2014/main" id="{5377532F-7002-3F16-89C8-722AAB924479}"/>
                  </a:ext>
                </a:extLst>
              </p:cNvPr>
              <p:cNvSpPr/>
              <p:nvPr/>
            </p:nvSpPr>
            <p:spPr bwMode="auto">
              <a:xfrm>
                <a:off x="11409843" y="3739422"/>
                <a:ext cx="83150" cy="83148"/>
              </a:xfrm>
              <a:prstGeom prst="ellipse">
                <a:avLst/>
              </a:prstGeom>
              <a:solidFill>
                <a:sysClr val="windowText" lastClr="000000">
                  <a:lumMod val="65000"/>
                  <a:lumOff val="35000"/>
                </a:sysClr>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90000"/>
                  </a:lnSpc>
                  <a:spcBef>
                    <a:spcPct val="0"/>
                  </a:spcBef>
                  <a:spcAft>
                    <a:spcPct val="0"/>
                  </a:spcAft>
                  <a:buClrTx/>
                  <a:buSzTx/>
                  <a:buFontTx/>
                  <a:buNone/>
                  <a:tabLst/>
                  <a:defRPr/>
                </a:pPr>
                <a:endParaRPr kumimoji="0" lang="en-US" sz="36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1105" name="Oval 1104">
                <a:extLst>
                  <a:ext uri="{FF2B5EF4-FFF2-40B4-BE49-F238E27FC236}">
                    <a16:creationId xmlns:a16="http://schemas.microsoft.com/office/drawing/2014/main" id="{A3EABA36-1CB0-690A-969C-AB16BD795FB4}"/>
                  </a:ext>
                </a:extLst>
              </p:cNvPr>
              <p:cNvSpPr/>
              <p:nvPr/>
            </p:nvSpPr>
            <p:spPr bwMode="auto">
              <a:xfrm>
                <a:off x="11539834" y="3739442"/>
                <a:ext cx="83150" cy="83148"/>
              </a:xfrm>
              <a:prstGeom prst="ellipse">
                <a:avLst/>
              </a:prstGeom>
              <a:solidFill>
                <a:sysClr val="windowText" lastClr="000000">
                  <a:lumMod val="65000"/>
                  <a:lumOff val="35000"/>
                </a:sysClr>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90000"/>
                  </a:lnSpc>
                  <a:spcBef>
                    <a:spcPct val="0"/>
                  </a:spcBef>
                  <a:spcAft>
                    <a:spcPct val="0"/>
                  </a:spcAft>
                  <a:buClrTx/>
                  <a:buSzTx/>
                  <a:buFontTx/>
                  <a:buNone/>
                  <a:tabLst/>
                  <a:defRPr/>
                </a:pPr>
                <a:endParaRPr kumimoji="0" lang="en-US" sz="36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grpSp>
        <p:pic>
          <p:nvPicPr>
            <p:cNvPr id="1102" name="Picture 1101">
              <a:extLst>
                <a:ext uri="{FF2B5EF4-FFF2-40B4-BE49-F238E27FC236}">
                  <a16:creationId xmlns:a16="http://schemas.microsoft.com/office/drawing/2014/main" id="{BBF1F7FF-09D3-3A6F-1D3D-6951D7BE0DEF}"/>
                </a:ext>
              </a:extLst>
            </p:cNvPr>
            <p:cNvPicPr>
              <a:picLocks noChangeAspect="1"/>
            </p:cNvPicPr>
            <p:nvPr/>
          </p:nvPicPr>
          <p:blipFill rotWithShape="1">
            <a:blip r:embed="rId64">
              <a:extLst>
                <a:ext uri="{28A0092B-C50C-407E-A947-70E740481C1C}">
                  <a14:useLocalDpi xmlns:a14="http://schemas.microsoft.com/office/drawing/2010/main" val="0"/>
                </a:ext>
              </a:extLst>
            </a:blip>
            <a:srcRect l="13212" t="27676" r="12301" b="27919"/>
            <a:stretch/>
          </p:blipFill>
          <p:spPr>
            <a:xfrm>
              <a:off x="10279119" y="4296277"/>
              <a:ext cx="367709" cy="219207"/>
            </a:xfrm>
            <a:prstGeom prst="rect">
              <a:avLst/>
            </a:prstGeom>
          </p:spPr>
        </p:pic>
      </p:grpSp>
      <p:grpSp>
        <p:nvGrpSpPr>
          <p:cNvPr id="631" name="Group 630">
            <a:extLst>
              <a:ext uri="{FF2B5EF4-FFF2-40B4-BE49-F238E27FC236}">
                <a16:creationId xmlns:a16="http://schemas.microsoft.com/office/drawing/2014/main" id="{5DCA0C13-79C1-5BD5-8E3C-41B1B9974245}"/>
              </a:ext>
            </a:extLst>
          </p:cNvPr>
          <p:cNvGrpSpPr/>
          <p:nvPr/>
        </p:nvGrpSpPr>
        <p:grpSpPr>
          <a:xfrm>
            <a:off x="4368917" y="4469544"/>
            <a:ext cx="370338" cy="327772"/>
            <a:chOff x="4723767" y="3080378"/>
            <a:chExt cx="439858" cy="389301"/>
          </a:xfrm>
        </p:grpSpPr>
        <p:pic>
          <p:nvPicPr>
            <p:cNvPr id="632" name="Picture 631">
              <a:extLst>
                <a:ext uri="{FF2B5EF4-FFF2-40B4-BE49-F238E27FC236}">
                  <a16:creationId xmlns:a16="http://schemas.microsoft.com/office/drawing/2014/main" id="{7975BCE0-F16F-2474-D155-F1150EB49377}"/>
                </a:ext>
              </a:extLst>
            </p:cNvPr>
            <p:cNvPicPr>
              <a:picLocks noChangeAspect="1"/>
            </p:cNvPicPr>
            <p:nvPr/>
          </p:nvPicPr>
          <p:blipFill rotWithShape="1">
            <a:blip r:embed="rId41" cstate="print">
              <a:duotone>
                <a:schemeClr val="accent1">
                  <a:shade val="45000"/>
                  <a:satMod val="135000"/>
                </a:schemeClr>
                <a:prstClr val="white"/>
              </a:duotone>
              <a:extLst>
                <a:ext uri="{28A0092B-C50C-407E-A947-70E740481C1C}">
                  <a14:useLocalDpi xmlns:a14="http://schemas.microsoft.com/office/drawing/2010/main" val="0"/>
                </a:ext>
              </a:extLst>
            </a:blip>
            <a:srcRect l="-2"/>
            <a:stretch/>
          </p:blipFill>
          <p:spPr>
            <a:xfrm>
              <a:off x="4908907" y="3123428"/>
              <a:ext cx="216369" cy="164753"/>
            </a:xfrm>
            <a:prstGeom prst="rect">
              <a:avLst/>
            </a:prstGeom>
          </p:spPr>
        </p:pic>
        <p:grpSp>
          <p:nvGrpSpPr>
            <p:cNvPr id="633" name="Group 632">
              <a:extLst>
                <a:ext uri="{FF2B5EF4-FFF2-40B4-BE49-F238E27FC236}">
                  <a16:creationId xmlns:a16="http://schemas.microsoft.com/office/drawing/2014/main" id="{6C59F843-2CBE-8C87-B38A-6F5D0984416E}"/>
                </a:ext>
              </a:extLst>
            </p:cNvPr>
            <p:cNvGrpSpPr/>
            <p:nvPr/>
          </p:nvGrpSpPr>
          <p:grpSpPr>
            <a:xfrm>
              <a:off x="4723767" y="3080378"/>
              <a:ext cx="439858" cy="389301"/>
              <a:chOff x="3131835" y="4047725"/>
              <a:chExt cx="439858" cy="389301"/>
            </a:xfrm>
          </p:grpSpPr>
          <p:grpSp>
            <p:nvGrpSpPr>
              <p:cNvPr id="635" name="Group 634">
                <a:extLst>
                  <a:ext uri="{FF2B5EF4-FFF2-40B4-BE49-F238E27FC236}">
                    <a16:creationId xmlns:a16="http://schemas.microsoft.com/office/drawing/2014/main" id="{FB517B14-431D-5B7B-A8EB-10EB5ED0423F}"/>
                  </a:ext>
                </a:extLst>
              </p:cNvPr>
              <p:cNvGrpSpPr/>
              <p:nvPr/>
            </p:nvGrpSpPr>
            <p:grpSpPr>
              <a:xfrm>
                <a:off x="3131835" y="4047725"/>
                <a:ext cx="182560" cy="348911"/>
                <a:chOff x="2136298" y="4226790"/>
                <a:chExt cx="196678" cy="375893"/>
              </a:xfrm>
            </p:grpSpPr>
            <p:sp>
              <p:nvSpPr>
                <p:cNvPr id="648" name="Rectangle 647">
                  <a:extLst>
                    <a:ext uri="{FF2B5EF4-FFF2-40B4-BE49-F238E27FC236}">
                      <a16:creationId xmlns:a16="http://schemas.microsoft.com/office/drawing/2014/main" id="{AA291825-AF60-5675-3247-92C81711DD2C}"/>
                    </a:ext>
                  </a:extLst>
                </p:cNvPr>
                <p:cNvSpPr/>
                <p:nvPr/>
              </p:nvSpPr>
              <p:spPr bwMode="auto">
                <a:xfrm>
                  <a:off x="2138191" y="4226790"/>
                  <a:ext cx="194785" cy="375893"/>
                </a:xfrm>
                <a:prstGeom prst="rect">
                  <a:avLst/>
                </a:prstGeom>
                <a:solidFill>
                  <a:schemeClr val="tx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49" name="server">
                  <a:extLst>
                    <a:ext uri="{FF2B5EF4-FFF2-40B4-BE49-F238E27FC236}">
                      <a16:creationId xmlns:a16="http://schemas.microsoft.com/office/drawing/2014/main" id="{B0D7D6B5-E659-8500-2A93-60DB23E69B82}"/>
                    </a:ext>
                  </a:extLst>
                </p:cNvPr>
                <p:cNvSpPr>
                  <a:spLocks noChangeAspect="1" noEditPoints="1"/>
                </p:cNvSpPr>
                <p:nvPr/>
              </p:nvSpPr>
              <p:spPr bwMode="auto">
                <a:xfrm>
                  <a:off x="2136298" y="4235711"/>
                  <a:ext cx="192569" cy="36576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4224"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636" name="Oval 635">
                <a:extLst>
                  <a:ext uri="{FF2B5EF4-FFF2-40B4-BE49-F238E27FC236}">
                    <a16:creationId xmlns:a16="http://schemas.microsoft.com/office/drawing/2014/main" id="{F9FAF176-00F1-3D47-65F0-C0AF12A1CE43}"/>
                  </a:ext>
                </a:extLst>
              </p:cNvPr>
              <p:cNvSpPr/>
              <p:nvPr/>
            </p:nvSpPr>
            <p:spPr bwMode="auto">
              <a:xfrm>
                <a:off x="3218521" y="4213899"/>
                <a:ext cx="223127" cy="223127"/>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46" name="Picture 645">
                <a:extLst>
                  <a:ext uri="{FF2B5EF4-FFF2-40B4-BE49-F238E27FC236}">
                    <a16:creationId xmlns:a16="http://schemas.microsoft.com/office/drawing/2014/main" id="{F918A0F3-6C22-AA8F-B923-34F1D7A340B0}"/>
                  </a:ext>
                </a:extLst>
              </p:cNvPr>
              <p:cNvPicPr>
                <a:picLocks noChangeAspect="1"/>
              </p:cNvPicPr>
              <p:nvPr/>
            </p:nvPicPr>
            <p:blipFill rotWithShape="1">
              <a:blip r:embed="rId42" cstate="email">
                <a:extLst>
                  <a:ext uri="{28A0092B-C50C-407E-A947-70E740481C1C}">
                    <a14:useLocalDpi xmlns:a14="http://schemas.microsoft.com/office/drawing/2010/main"/>
                  </a:ext>
                </a:extLst>
              </a:blip>
              <a:srcRect r="83295"/>
              <a:stretch/>
            </p:blipFill>
            <p:spPr>
              <a:xfrm>
                <a:off x="3414387" y="4255363"/>
                <a:ext cx="157306" cy="137160"/>
              </a:xfrm>
              <a:prstGeom prst="rect">
                <a:avLst/>
              </a:prstGeom>
            </p:spPr>
          </p:pic>
          <p:sp>
            <p:nvSpPr>
              <p:cNvPr id="647" name="Freeform 6">
                <a:extLst>
                  <a:ext uri="{FF2B5EF4-FFF2-40B4-BE49-F238E27FC236}">
                    <a16:creationId xmlns:a16="http://schemas.microsoft.com/office/drawing/2014/main" id="{E6049EA7-5018-E067-C21F-302459F3E3C8}"/>
                  </a:ext>
                </a:extLst>
              </p:cNvPr>
              <p:cNvSpPr>
                <a:spLocks noEditPoints="1"/>
              </p:cNvSpPr>
              <p:nvPr/>
            </p:nvSpPr>
            <p:spPr bwMode="auto">
              <a:xfrm>
                <a:off x="3256470" y="4258262"/>
                <a:ext cx="135502" cy="134064"/>
              </a:xfrm>
              <a:custGeom>
                <a:avLst/>
                <a:gdLst>
                  <a:gd name="T0" fmla="*/ 88 w 1374"/>
                  <a:gd name="T1" fmla="*/ 1258 h 1620"/>
                  <a:gd name="T2" fmla="*/ 40 w 1374"/>
                  <a:gd name="T3" fmla="*/ 1324 h 1620"/>
                  <a:gd name="T4" fmla="*/ 42 w 1374"/>
                  <a:gd name="T5" fmla="*/ 1484 h 1620"/>
                  <a:gd name="T6" fmla="*/ 386 w 1374"/>
                  <a:gd name="T7" fmla="*/ 1572 h 1620"/>
                  <a:gd name="T8" fmla="*/ 494 w 1374"/>
                  <a:gd name="T9" fmla="*/ 1488 h 1620"/>
                  <a:gd name="T10" fmla="*/ 266 w 1374"/>
                  <a:gd name="T11" fmla="*/ 1124 h 1620"/>
                  <a:gd name="T12" fmla="*/ 190 w 1374"/>
                  <a:gd name="T13" fmla="*/ 1036 h 1620"/>
                  <a:gd name="T14" fmla="*/ 364 w 1374"/>
                  <a:gd name="T15" fmla="*/ 682 h 1620"/>
                  <a:gd name="T16" fmla="*/ 452 w 1374"/>
                  <a:gd name="T17" fmla="*/ 438 h 1620"/>
                  <a:gd name="T18" fmla="*/ 478 w 1374"/>
                  <a:gd name="T19" fmla="*/ 92 h 1620"/>
                  <a:gd name="T20" fmla="*/ 656 w 1374"/>
                  <a:gd name="T21" fmla="*/ 0 h 1620"/>
                  <a:gd name="T22" fmla="*/ 922 w 1374"/>
                  <a:gd name="T23" fmla="*/ 168 h 1620"/>
                  <a:gd name="T24" fmla="*/ 978 w 1374"/>
                  <a:gd name="T25" fmla="*/ 502 h 1620"/>
                  <a:gd name="T26" fmla="*/ 1140 w 1374"/>
                  <a:gd name="T27" fmla="*/ 750 h 1620"/>
                  <a:gd name="T28" fmla="*/ 1224 w 1374"/>
                  <a:gd name="T29" fmla="*/ 1120 h 1620"/>
                  <a:gd name="T30" fmla="*/ 1078 w 1374"/>
                  <a:gd name="T31" fmla="*/ 1242 h 1620"/>
                  <a:gd name="T32" fmla="*/ 988 w 1374"/>
                  <a:gd name="T33" fmla="*/ 1172 h 1620"/>
                  <a:gd name="T34" fmla="*/ 932 w 1374"/>
                  <a:gd name="T35" fmla="*/ 1222 h 1620"/>
                  <a:gd name="T36" fmla="*/ 952 w 1374"/>
                  <a:gd name="T37" fmla="*/ 1542 h 1620"/>
                  <a:gd name="T38" fmla="*/ 1068 w 1374"/>
                  <a:gd name="T39" fmla="*/ 1560 h 1620"/>
                  <a:gd name="T40" fmla="*/ 1292 w 1374"/>
                  <a:gd name="T41" fmla="*/ 1434 h 1620"/>
                  <a:gd name="T42" fmla="*/ 1236 w 1374"/>
                  <a:gd name="T43" fmla="*/ 1276 h 1620"/>
                  <a:gd name="T44" fmla="*/ 1326 w 1374"/>
                  <a:gd name="T45" fmla="*/ 1330 h 1620"/>
                  <a:gd name="T46" fmla="*/ 1330 w 1374"/>
                  <a:gd name="T47" fmla="*/ 1438 h 1620"/>
                  <a:gd name="T48" fmla="*/ 1048 w 1374"/>
                  <a:gd name="T49" fmla="*/ 1614 h 1620"/>
                  <a:gd name="T50" fmla="*/ 900 w 1374"/>
                  <a:gd name="T51" fmla="*/ 1570 h 1620"/>
                  <a:gd name="T52" fmla="*/ 578 w 1374"/>
                  <a:gd name="T53" fmla="*/ 1546 h 1620"/>
                  <a:gd name="T54" fmla="*/ 356 w 1374"/>
                  <a:gd name="T55" fmla="*/ 1606 h 1620"/>
                  <a:gd name="T56" fmla="*/ 0 w 1374"/>
                  <a:gd name="T57" fmla="*/ 1464 h 1620"/>
                  <a:gd name="T58" fmla="*/ 14 w 1374"/>
                  <a:gd name="T59" fmla="*/ 1256 h 1620"/>
                  <a:gd name="T60" fmla="*/ 166 w 1374"/>
                  <a:gd name="T61" fmla="*/ 1186 h 1620"/>
                  <a:gd name="T62" fmla="*/ 438 w 1374"/>
                  <a:gd name="T63" fmla="*/ 716 h 1620"/>
                  <a:gd name="T64" fmla="*/ 358 w 1374"/>
                  <a:gd name="T65" fmla="*/ 934 h 1620"/>
                  <a:gd name="T66" fmla="*/ 288 w 1374"/>
                  <a:gd name="T67" fmla="*/ 1036 h 1620"/>
                  <a:gd name="T68" fmla="*/ 326 w 1374"/>
                  <a:gd name="T69" fmla="*/ 1124 h 1620"/>
                  <a:gd name="T70" fmla="*/ 520 w 1374"/>
                  <a:gd name="T71" fmla="*/ 1354 h 1620"/>
                  <a:gd name="T72" fmla="*/ 524 w 1374"/>
                  <a:gd name="T73" fmla="*/ 1412 h 1620"/>
                  <a:gd name="T74" fmla="*/ 790 w 1374"/>
                  <a:gd name="T75" fmla="*/ 1418 h 1620"/>
                  <a:gd name="T76" fmla="*/ 892 w 1374"/>
                  <a:gd name="T77" fmla="*/ 1424 h 1620"/>
                  <a:gd name="T78" fmla="*/ 914 w 1374"/>
                  <a:gd name="T79" fmla="*/ 1402 h 1620"/>
                  <a:gd name="T80" fmla="*/ 948 w 1374"/>
                  <a:gd name="T81" fmla="*/ 1130 h 1620"/>
                  <a:gd name="T82" fmla="*/ 976 w 1374"/>
                  <a:gd name="T83" fmla="*/ 930 h 1620"/>
                  <a:gd name="T84" fmla="*/ 842 w 1374"/>
                  <a:gd name="T85" fmla="*/ 588 h 1620"/>
                  <a:gd name="T86" fmla="*/ 820 w 1374"/>
                  <a:gd name="T87" fmla="*/ 438 h 1620"/>
                  <a:gd name="T88" fmla="*/ 700 w 1374"/>
                  <a:gd name="T89" fmla="*/ 370 h 1620"/>
                  <a:gd name="T90" fmla="*/ 744 w 1374"/>
                  <a:gd name="T91" fmla="*/ 288 h 1620"/>
                  <a:gd name="T92" fmla="*/ 802 w 1374"/>
                  <a:gd name="T93" fmla="*/ 390 h 1620"/>
                  <a:gd name="T94" fmla="*/ 786 w 1374"/>
                  <a:gd name="T95" fmla="*/ 246 h 1620"/>
                  <a:gd name="T96" fmla="*/ 674 w 1374"/>
                  <a:gd name="T97" fmla="*/ 302 h 1620"/>
                  <a:gd name="T98" fmla="*/ 538 w 1374"/>
                  <a:gd name="T99" fmla="*/ 246 h 1620"/>
                  <a:gd name="T100" fmla="*/ 494 w 1374"/>
                  <a:gd name="T101" fmla="*/ 368 h 1620"/>
                  <a:gd name="T102" fmla="*/ 508 w 1374"/>
                  <a:gd name="T103" fmla="*/ 344 h 1620"/>
                  <a:gd name="T104" fmla="*/ 558 w 1374"/>
                  <a:gd name="T105" fmla="*/ 304 h 1620"/>
                  <a:gd name="T106" fmla="*/ 510 w 1374"/>
                  <a:gd name="T107" fmla="*/ 418 h 1620"/>
                  <a:gd name="T108" fmla="*/ 576 w 1374"/>
                  <a:gd name="T109" fmla="*/ 514 h 1620"/>
                  <a:gd name="T110" fmla="*/ 792 w 1374"/>
                  <a:gd name="T111" fmla="*/ 466 h 1620"/>
                  <a:gd name="T112" fmla="*/ 570 w 1374"/>
                  <a:gd name="T113" fmla="*/ 560 h 1620"/>
                  <a:gd name="T114" fmla="*/ 762 w 1374"/>
                  <a:gd name="T115" fmla="*/ 514 h 1620"/>
                  <a:gd name="T116" fmla="*/ 568 w 1374"/>
                  <a:gd name="T117" fmla="*/ 618 h 1620"/>
                  <a:gd name="T118" fmla="*/ 1078 w 1374"/>
                  <a:gd name="T119" fmla="*/ 892 h 1620"/>
                  <a:gd name="T120" fmla="*/ 1072 w 1374"/>
                  <a:gd name="T121" fmla="*/ 986 h 1620"/>
                  <a:gd name="T122" fmla="*/ 870 w 1374"/>
                  <a:gd name="T123" fmla="*/ 496 h 1620"/>
                  <a:gd name="T124" fmla="*/ 924 w 1374"/>
                  <a:gd name="T125" fmla="*/ 514 h 1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74" h="1620">
                    <a:moveTo>
                      <a:pt x="174" y="1170"/>
                    </a:moveTo>
                    <a:lnTo>
                      <a:pt x="174" y="1170"/>
                    </a:lnTo>
                    <a:lnTo>
                      <a:pt x="174" y="1188"/>
                    </a:lnTo>
                    <a:lnTo>
                      <a:pt x="172" y="1204"/>
                    </a:lnTo>
                    <a:lnTo>
                      <a:pt x="168" y="1218"/>
                    </a:lnTo>
                    <a:lnTo>
                      <a:pt x="162" y="1230"/>
                    </a:lnTo>
                    <a:lnTo>
                      <a:pt x="154" y="1238"/>
                    </a:lnTo>
                    <a:lnTo>
                      <a:pt x="142" y="1246"/>
                    </a:lnTo>
                    <a:lnTo>
                      <a:pt x="130" y="1252"/>
                    </a:lnTo>
                    <a:lnTo>
                      <a:pt x="114" y="1256"/>
                    </a:lnTo>
                    <a:lnTo>
                      <a:pt x="114" y="1256"/>
                    </a:lnTo>
                    <a:lnTo>
                      <a:pt x="88" y="1258"/>
                    </a:lnTo>
                    <a:lnTo>
                      <a:pt x="64" y="1258"/>
                    </a:lnTo>
                    <a:lnTo>
                      <a:pt x="64" y="1258"/>
                    </a:lnTo>
                    <a:lnTo>
                      <a:pt x="52" y="1260"/>
                    </a:lnTo>
                    <a:lnTo>
                      <a:pt x="42" y="1262"/>
                    </a:lnTo>
                    <a:lnTo>
                      <a:pt x="34" y="1266"/>
                    </a:lnTo>
                    <a:lnTo>
                      <a:pt x="28" y="1272"/>
                    </a:lnTo>
                    <a:lnTo>
                      <a:pt x="26" y="1278"/>
                    </a:lnTo>
                    <a:lnTo>
                      <a:pt x="24" y="1286"/>
                    </a:lnTo>
                    <a:lnTo>
                      <a:pt x="26" y="1294"/>
                    </a:lnTo>
                    <a:lnTo>
                      <a:pt x="30" y="1304"/>
                    </a:lnTo>
                    <a:lnTo>
                      <a:pt x="30" y="1304"/>
                    </a:lnTo>
                    <a:lnTo>
                      <a:pt x="40" y="1324"/>
                    </a:lnTo>
                    <a:lnTo>
                      <a:pt x="46" y="1342"/>
                    </a:lnTo>
                    <a:lnTo>
                      <a:pt x="50" y="1360"/>
                    </a:lnTo>
                    <a:lnTo>
                      <a:pt x="52" y="1378"/>
                    </a:lnTo>
                    <a:lnTo>
                      <a:pt x="52" y="1396"/>
                    </a:lnTo>
                    <a:lnTo>
                      <a:pt x="48" y="1416"/>
                    </a:lnTo>
                    <a:lnTo>
                      <a:pt x="42" y="1434"/>
                    </a:lnTo>
                    <a:lnTo>
                      <a:pt x="32" y="1452"/>
                    </a:lnTo>
                    <a:lnTo>
                      <a:pt x="32" y="1452"/>
                    </a:lnTo>
                    <a:lnTo>
                      <a:pt x="32" y="1456"/>
                    </a:lnTo>
                    <a:lnTo>
                      <a:pt x="32" y="1460"/>
                    </a:lnTo>
                    <a:lnTo>
                      <a:pt x="36" y="1472"/>
                    </a:lnTo>
                    <a:lnTo>
                      <a:pt x="42" y="1484"/>
                    </a:lnTo>
                    <a:lnTo>
                      <a:pt x="50" y="1492"/>
                    </a:lnTo>
                    <a:lnTo>
                      <a:pt x="50" y="1492"/>
                    </a:lnTo>
                    <a:lnTo>
                      <a:pt x="60" y="1498"/>
                    </a:lnTo>
                    <a:lnTo>
                      <a:pt x="72" y="1500"/>
                    </a:lnTo>
                    <a:lnTo>
                      <a:pt x="98" y="1506"/>
                    </a:lnTo>
                    <a:lnTo>
                      <a:pt x="98" y="1506"/>
                    </a:lnTo>
                    <a:lnTo>
                      <a:pt x="216" y="1536"/>
                    </a:lnTo>
                    <a:lnTo>
                      <a:pt x="276" y="1550"/>
                    </a:lnTo>
                    <a:lnTo>
                      <a:pt x="336" y="1564"/>
                    </a:lnTo>
                    <a:lnTo>
                      <a:pt x="336" y="1564"/>
                    </a:lnTo>
                    <a:lnTo>
                      <a:pt x="360" y="1568"/>
                    </a:lnTo>
                    <a:lnTo>
                      <a:pt x="386" y="1572"/>
                    </a:lnTo>
                    <a:lnTo>
                      <a:pt x="412" y="1572"/>
                    </a:lnTo>
                    <a:lnTo>
                      <a:pt x="438" y="1570"/>
                    </a:lnTo>
                    <a:lnTo>
                      <a:pt x="438" y="1570"/>
                    </a:lnTo>
                    <a:lnTo>
                      <a:pt x="452" y="1566"/>
                    </a:lnTo>
                    <a:lnTo>
                      <a:pt x="464" y="1560"/>
                    </a:lnTo>
                    <a:lnTo>
                      <a:pt x="476" y="1552"/>
                    </a:lnTo>
                    <a:lnTo>
                      <a:pt x="484" y="1542"/>
                    </a:lnTo>
                    <a:lnTo>
                      <a:pt x="490" y="1532"/>
                    </a:lnTo>
                    <a:lnTo>
                      <a:pt x="494" y="1518"/>
                    </a:lnTo>
                    <a:lnTo>
                      <a:pt x="494" y="1504"/>
                    </a:lnTo>
                    <a:lnTo>
                      <a:pt x="494" y="1488"/>
                    </a:lnTo>
                    <a:lnTo>
                      <a:pt x="494" y="1488"/>
                    </a:lnTo>
                    <a:lnTo>
                      <a:pt x="490" y="1468"/>
                    </a:lnTo>
                    <a:lnTo>
                      <a:pt x="486" y="1448"/>
                    </a:lnTo>
                    <a:lnTo>
                      <a:pt x="480" y="1430"/>
                    </a:lnTo>
                    <a:lnTo>
                      <a:pt x="472" y="1412"/>
                    </a:lnTo>
                    <a:lnTo>
                      <a:pt x="472" y="1412"/>
                    </a:lnTo>
                    <a:lnTo>
                      <a:pt x="386" y="1284"/>
                    </a:lnTo>
                    <a:lnTo>
                      <a:pt x="344" y="1220"/>
                    </a:lnTo>
                    <a:lnTo>
                      <a:pt x="298" y="1158"/>
                    </a:lnTo>
                    <a:lnTo>
                      <a:pt x="298" y="1158"/>
                    </a:lnTo>
                    <a:lnTo>
                      <a:pt x="290" y="1146"/>
                    </a:lnTo>
                    <a:lnTo>
                      <a:pt x="278" y="1134"/>
                    </a:lnTo>
                    <a:lnTo>
                      <a:pt x="266" y="1124"/>
                    </a:lnTo>
                    <a:lnTo>
                      <a:pt x="254" y="1118"/>
                    </a:lnTo>
                    <a:lnTo>
                      <a:pt x="240" y="1114"/>
                    </a:lnTo>
                    <a:lnTo>
                      <a:pt x="224" y="1112"/>
                    </a:lnTo>
                    <a:lnTo>
                      <a:pt x="208" y="1116"/>
                    </a:lnTo>
                    <a:lnTo>
                      <a:pt x="190" y="1122"/>
                    </a:lnTo>
                    <a:lnTo>
                      <a:pt x="190" y="1122"/>
                    </a:lnTo>
                    <a:lnTo>
                      <a:pt x="186" y="1108"/>
                    </a:lnTo>
                    <a:lnTo>
                      <a:pt x="184" y="1092"/>
                    </a:lnTo>
                    <a:lnTo>
                      <a:pt x="184" y="1078"/>
                    </a:lnTo>
                    <a:lnTo>
                      <a:pt x="184" y="1064"/>
                    </a:lnTo>
                    <a:lnTo>
                      <a:pt x="186" y="1050"/>
                    </a:lnTo>
                    <a:lnTo>
                      <a:pt x="190" y="1036"/>
                    </a:lnTo>
                    <a:lnTo>
                      <a:pt x="200" y="1008"/>
                    </a:lnTo>
                    <a:lnTo>
                      <a:pt x="200" y="1008"/>
                    </a:lnTo>
                    <a:lnTo>
                      <a:pt x="232" y="940"/>
                    </a:lnTo>
                    <a:lnTo>
                      <a:pt x="248" y="906"/>
                    </a:lnTo>
                    <a:lnTo>
                      <a:pt x="262" y="870"/>
                    </a:lnTo>
                    <a:lnTo>
                      <a:pt x="262" y="870"/>
                    </a:lnTo>
                    <a:lnTo>
                      <a:pt x="280" y="820"/>
                    </a:lnTo>
                    <a:lnTo>
                      <a:pt x="304" y="772"/>
                    </a:lnTo>
                    <a:lnTo>
                      <a:pt x="316" y="748"/>
                    </a:lnTo>
                    <a:lnTo>
                      <a:pt x="332" y="726"/>
                    </a:lnTo>
                    <a:lnTo>
                      <a:pt x="348" y="704"/>
                    </a:lnTo>
                    <a:lnTo>
                      <a:pt x="364" y="682"/>
                    </a:lnTo>
                    <a:lnTo>
                      <a:pt x="364" y="682"/>
                    </a:lnTo>
                    <a:lnTo>
                      <a:pt x="378" y="666"/>
                    </a:lnTo>
                    <a:lnTo>
                      <a:pt x="390" y="650"/>
                    </a:lnTo>
                    <a:lnTo>
                      <a:pt x="390" y="650"/>
                    </a:lnTo>
                    <a:lnTo>
                      <a:pt x="406" y="628"/>
                    </a:lnTo>
                    <a:lnTo>
                      <a:pt x="422" y="604"/>
                    </a:lnTo>
                    <a:lnTo>
                      <a:pt x="434" y="578"/>
                    </a:lnTo>
                    <a:lnTo>
                      <a:pt x="444" y="552"/>
                    </a:lnTo>
                    <a:lnTo>
                      <a:pt x="452" y="526"/>
                    </a:lnTo>
                    <a:lnTo>
                      <a:pt x="456" y="498"/>
                    </a:lnTo>
                    <a:lnTo>
                      <a:pt x="456" y="468"/>
                    </a:lnTo>
                    <a:lnTo>
                      <a:pt x="452" y="438"/>
                    </a:lnTo>
                    <a:lnTo>
                      <a:pt x="452" y="438"/>
                    </a:lnTo>
                    <a:lnTo>
                      <a:pt x="448" y="406"/>
                    </a:lnTo>
                    <a:lnTo>
                      <a:pt x="446" y="374"/>
                    </a:lnTo>
                    <a:lnTo>
                      <a:pt x="444" y="310"/>
                    </a:lnTo>
                    <a:lnTo>
                      <a:pt x="446" y="246"/>
                    </a:lnTo>
                    <a:lnTo>
                      <a:pt x="450" y="182"/>
                    </a:lnTo>
                    <a:lnTo>
                      <a:pt x="450" y="182"/>
                    </a:lnTo>
                    <a:lnTo>
                      <a:pt x="452" y="162"/>
                    </a:lnTo>
                    <a:lnTo>
                      <a:pt x="456" y="144"/>
                    </a:lnTo>
                    <a:lnTo>
                      <a:pt x="462" y="124"/>
                    </a:lnTo>
                    <a:lnTo>
                      <a:pt x="470" y="108"/>
                    </a:lnTo>
                    <a:lnTo>
                      <a:pt x="478" y="92"/>
                    </a:lnTo>
                    <a:lnTo>
                      <a:pt x="488" y="76"/>
                    </a:lnTo>
                    <a:lnTo>
                      <a:pt x="500" y="62"/>
                    </a:lnTo>
                    <a:lnTo>
                      <a:pt x="514" y="50"/>
                    </a:lnTo>
                    <a:lnTo>
                      <a:pt x="528" y="40"/>
                    </a:lnTo>
                    <a:lnTo>
                      <a:pt x="544" y="30"/>
                    </a:lnTo>
                    <a:lnTo>
                      <a:pt x="560" y="20"/>
                    </a:lnTo>
                    <a:lnTo>
                      <a:pt x="578" y="14"/>
                    </a:lnTo>
                    <a:lnTo>
                      <a:pt x="596" y="8"/>
                    </a:lnTo>
                    <a:lnTo>
                      <a:pt x="614" y="4"/>
                    </a:lnTo>
                    <a:lnTo>
                      <a:pt x="634" y="2"/>
                    </a:lnTo>
                    <a:lnTo>
                      <a:pt x="656" y="0"/>
                    </a:lnTo>
                    <a:lnTo>
                      <a:pt x="656" y="0"/>
                    </a:lnTo>
                    <a:lnTo>
                      <a:pt x="686" y="2"/>
                    </a:lnTo>
                    <a:lnTo>
                      <a:pt x="718" y="6"/>
                    </a:lnTo>
                    <a:lnTo>
                      <a:pt x="746" y="12"/>
                    </a:lnTo>
                    <a:lnTo>
                      <a:pt x="772" y="20"/>
                    </a:lnTo>
                    <a:lnTo>
                      <a:pt x="798" y="32"/>
                    </a:lnTo>
                    <a:lnTo>
                      <a:pt x="822" y="46"/>
                    </a:lnTo>
                    <a:lnTo>
                      <a:pt x="844" y="60"/>
                    </a:lnTo>
                    <a:lnTo>
                      <a:pt x="864" y="78"/>
                    </a:lnTo>
                    <a:lnTo>
                      <a:pt x="882" y="98"/>
                    </a:lnTo>
                    <a:lnTo>
                      <a:pt x="898" y="120"/>
                    </a:lnTo>
                    <a:lnTo>
                      <a:pt x="910" y="144"/>
                    </a:lnTo>
                    <a:lnTo>
                      <a:pt x="922" y="168"/>
                    </a:lnTo>
                    <a:lnTo>
                      <a:pt x="930" y="196"/>
                    </a:lnTo>
                    <a:lnTo>
                      <a:pt x="938" y="224"/>
                    </a:lnTo>
                    <a:lnTo>
                      <a:pt x="940" y="254"/>
                    </a:lnTo>
                    <a:lnTo>
                      <a:pt x="942" y="286"/>
                    </a:lnTo>
                    <a:lnTo>
                      <a:pt x="942" y="286"/>
                    </a:lnTo>
                    <a:lnTo>
                      <a:pt x="944" y="344"/>
                    </a:lnTo>
                    <a:lnTo>
                      <a:pt x="946" y="370"/>
                    </a:lnTo>
                    <a:lnTo>
                      <a:pt x="950" y="398"/>
                    </a:lnTo>
                    <a:lnTo>
                      <a:pt x="956" y="426"/>
                    </a:lnTo>
                    <a:lnTo>
                      <a:pt x="962" y="452"/>
                    </a:lnTo>
                    <a:lnTo>
                      <a:pt x="968" y="478"/>
                    </a:lnTo>
                    <a:lnTo>
                      <a:pt x="978" y="502"/>
                    </a:lnTo>
                    <a:lnTo>
                      <a:pt x="988" y="528"/>
                    </a:lnTo>
                    <a:lnTo>
                      <a:pt x="998" y="552"/>
                    </a:lnTo>
                    <a:lnTo>
                      <a:pt x="1012" y="576"/>
                    </a:lnTo>
                    <a:lnTo>
                      <a:pt x="1024" y="600"/>
                    </a:lnTo>
                    <a:lnTo>
                      <a:pt x="1040" y="622"/>
                    </a:lnTo>
                    <a:lnTo>
                      <a:pt x="1056" y="646"/>
                    </a:lnTo>
                    <a:lnTo>
                      <a:pt x="1074" y="668"/>
                    </a:lnTo>
                    <a:lnTo>
                      <a:pt x="1094" y="690"/>
                    </a:lnTo>
                    <a:lnTo>
                      <a:pt x="1094" y="690"/>
                    </a:lnTo>
                    <a:lnTo>
                      <a:pt x="1110" y="710"/>
                    </a:lnTo>
                    <a:lnTo>
                      <a:pt x="1126" y="730"/>
                    </a:lnTo>
                    <a:lnTo>
                      <a:pt x="1140" y="750"/>
                    </a:lnTo>
                    <a:lnTo>
                      <a:pt x="1152" y="772"/>
                    </a:lnTo>
                    <a:lnTo>
                      <a:pt x="1176" y="814"/>
                    </a:lnTo>
                    <a:lnTo>
                      <a:pt x="1196" y="860"/>
                    </a:lnTo>
                    <a:lnTo>
                      <a:pt x="1212" y="908"/>
                    </a:lnTo>
                    <a:lnTo>
                      <a:pt x="1224" y="956"/>
                    </a:lnTo>
                    <a:lnTo>
                      <a:pt x="1232" y="1006"/>
                    </a:lnTo>
                    <a:lnTo>
                      <a:pt x="1236" y="1056"/>
                    </a:lnTo>
                    <a:lnTo>
                      <a:pt x="1236" y="1056"/>
                    </a:lnTo>
                    <a:lnTo>
                      <a:pt x="1236" y="1072"/>
                    </a:lnTo>
                    <a:lnTo>
                      <a:pt x="1234" y="1088"/>
                    </a:lnTo>
                    <a:lnTo>
                      <a:pt x="1230" y="1104"/>
                    </a:lnTo>
                    <a:lnTo>
                      <a:pt x="1224" y="1120"/>
                    </a:lnTo>
                    <a:lnTo>
                      <a:pt x="1218" y="1134"/>
                    </a:lnTo>
                    <a:lnTo>
                      <a:pt x="1208" y="1150"/>
                    </a:lnTo>
                    <a:lnTo>
                      <a:pt x="1198" y="1164"/>
                    </a:lnTo>
                    <a:lnTo>
                      <a:pt x="1188" y="1178"/>
                    </a:lnTo>
                    <a:lnTo>
                      <a:pt x="1176" y="1192"/>
                    </a:lnTo>
                    <a:lnTo>
                      <a:pt x="1162" y="1204"/>
                    </a:lnTo>
                    <a:lnTo>
                      <a:pt x="1148" y="1214"/>
                    </a:lnTo>
                    <a:lnTo>
                      <a:pt x="1134" y="1222"/>
                    </a:lnTo>
                    <a:lnTo>
                      <a:pt x="1120" y="1230"/>
                    </a:lnTo>
                    <a:lnTo>
                      <a:pt x="1106" y="1236"/>
                    </a:lnTo>
                    <a:lnTo>
                      <a:pt x="1092" y="1240"/>
                    </a:lnTo>
                    <a:lnTo>
                      <a:pt x="1078" y="1242"/>
                    </a:lnTo>
                    <a:lnTo>
                      <a:pt x="1078" y="1242"/>
                    </a:lnTo>
                    <a:lnTo>
                      <a:pt x="1066" y="1242"/>
                    </a:lnTo>
                    <a:lnTo>
                      <a:pt x="1054" y="1240"/>
                    </a:lnTo>
                    <a:lnTo>
                      <a:pt x="1042" y="1236"/>
                    </a:lnTo>
                    <a:lnTo>
                      <a:pt x="1032" y="1232"/>
                    </a:lnTo>
                    <a:lnTo>
                      <a:pt x="1022" y="1226"/>
                    </a:lnTo>
                    <a:lnTo>
                      <a:pt x="1014" y="1218"/>
                    </a:lnTo>
                    <a:lnTo>
                      <a:pt x="1008" y="1208"/>
                    </a:lnTo>
                    <a:lnTo>
                      <a:pt x="1000" y="1196"/>
                    </a:lnTo>
                    <a:lnTo>
                      <a:pt x="1000" y="1196"/>
                    </a:lnTo>
                    <a:lnTo>
                      <a:pt x="994" y="1184"/>
                    </a:lnTo>
                    <a:lnTo>
                      <a:pt x="988" y="1172"/>
                    </a:lnTo>
                    <a:lnTo>
                      <a:pt x="988" y="1172"/>
                    </a:lnTo>
                    <a:lnTo>
                      <a:pt x="972" y="1158"/>
                    </a:lnTo>
                    <a:lnTo>
                      <a:pt x="964" y="1152"/>
                    </a:lnTo>
                    <a:lnTo>
                      <a:pt x="958" y="1152"/>
                    </a:lnTo>
                    <a:lnTo>
                      <a:pt x="958" y="1152"/>
                    </a:lnTo>
                    <a:lnTo>
                      <a:pt x="950" y="1154"/>
                    </a:lnTo>
                    <a:lnTo>
                      <a:pt x="942" y="1162"/>
                    </a:lnTo>
                    <a:lnTo>
                      <a:pt x="936" y="1170"/>
                    </a:lnTo>
                    <a:lnTo>
                      <a:pt x="934" y="1180"/>
                    </a:lnTo>
                    <a:lnTo>
                      <a:pt x="934" y="1180"/>
                    </a:lnTo>
                    <a:lnTo>
                      <a:pt x="932" y="1200"/>
                    </a:lnTo>
                    <a:lnTo>
                      <a:pt x="932" y="1222"/>
                    </a:lnTo>
                    <a:lnTo>
                      <a:pt x="932" y="1266"/>
                    </a:lnTo>
                    <a:lnTo>
                      <a:pt x="932" y="1266"/>
                    </a:lnTo>
                    <a:lnTo>
                      <a:pt x="940" y="1432"/>
                    </a:lnTo>
                    <a:lnTo>
                      <a:pt x="940" y="1432"/>
                    </a:lnTo>
                    <a:lnTo>
                      <a:pt x="938" y="1456"/>
                    </a:lnTo>
                    <a:lnTo>
                      <a:pt x="936" y="1480"/>
                    </a:lnTo>
                    <a:lnTo>
                      <a:pt x="936" y="1480"/>
                    </a:lnTo>
                    <a:lnTo>
                      <a:pt x="936" y="1494"/>
                    </a:lnTo>
                    <a:lnTo>
                      <a:pt x="938" y="1508"/>
                    </a:lnTo>
                    <a:lnTo>
                      <a:pt x="942" y="1520"/>
                    </a:lnTo>
                    <a:lnTo>
                      <a:pt x="946" y="1532"/>
                    </a:lnTo>
                    <a:lnTo>
                      <a:pt x="952" y="1542"/>
                    </a:lnTo>
                    <a:lnTo>
                      <a:pt x="960" y="1550"/>
                    </a:lnTo>
                    <a:lnTo>
                      <a:pt x="966" y="1558"/>
                    </a:lnTo>
                    <a:lnTo>
                      <a:pt x="976" y="1564"/>
                    </a:lnTo>
                    <a:lnTo>
                      <a:pt x="986" y="1570"/>
                    </a:lnTo>
                    <a:lnTo>
                      <a:pt x="996" y="1572"/>
                    </a:lnTo>
                    <a:lnTo>
                      <a:pt x="1006" y="1574"/>
                    </a:lnTo>
                    <a:lnTo>
                      <a:pt x="1018" y="1574"/>
                    </a:lnTo>
                    <a:lnTo>
                      <a:pt x="1030" y="1574"/>
                    </a:lnTo>
                    <a:lnTo>
                      <a:pt x="1042" y="1570"/>
                    </a:lnTo>
                    <a:lnTo>
                      <a:pt x="1056" y="1566"/>
                    </a:lnTo>
                    <a:lnTo>
                      <a:pt x="1068" y="1560"/>
                    </a:lnTo>
                    <a:lnTo>
                      <a:pt x="1068" y="1560"/>
                    </a:lnTo>
                    <a:lnTo>
                      <a:pt x="1082" y="1552"/>
                    </a:lnTo>
                    <a:lnTo>
                      <a:pt x="1092" y="1544"/>
                    </a:lnTo>
                    <a:lnTo>
                      <a:pt x="1092" y="1544"/>
                    </a:lnTo>
                    <a:lnTo>
                      <a:pt x="1114" y="1526"/>
                    </a:lnTo>
                    <a:lnTo>
                      <a:pt x="1136" y="1510"/>
                    </a:lnTo>
                    <a:lnTo>
                      <a:pt x="1158" y="1496"/>
                    </a:lnTo>
                    <a:lnTo>
                      <a:pt x="1182" y="1482"/>
                    </a:lnTo>
                    <a:lnTo>
                      <a:pt x="1206" y="1470"/>
                    </a:lnTo>
                    <a:lnTo>
                      <a:pt x="1232" y="1458"/>
                    </a:lnTo>
                    <a:lnTo>
                      <a:pt x="1282" y="1438"/>
                    </a:lnTo>
                    <a:lnTo>
                      <a:pt x="1282" y="1438"/>
                    </a:lnTo>
                    <a:lnTo>
                      <a:pt x="1292" y="1434"/>
                    </a:lnTo>
                    <a:lnTo>
                      <a:pt x="1302" y="1428"/>
                    </a:lnTo>
                    <a:lnTo>
                      <a:pt x="1320" y="1416"/>
                    </a:lnTo>
                    <a:lnTo>
                      <a:pt x="1354" y="1386"/>
                    </a:lnTo>
                    <a:lnTo>
                      <a:pt x="1354" y="1386"/>
                    </a:lnTo>
                    <a:lnTo>
                      <a:pt x="1320" y="1360"/>
                    </a:lnTo>
                    <a:lnTo>
                      <a:pt x="1304" y="1348"/>
                    </a:lnTo>
                    <a:lnTo>
                      <a:pt x="1286" y="1336"/>
                    </a:lnTo>
                    <a:lnTo>
                      <a:pt x="1286" y="1336"/>
                    </a:lnTo>
                    <a:lnTo>
                      <a:pt x="1270" y="1326"/>
                    </a:lnTo>
                    <a:lnTo>
                      <a:pt x="1254" y="1312"/>
                    </a:lnTo>
                    <a:lnTo>
                      <a:pt x="1244" y="1296"/>
                    </a:lnTo>
                    <a:lnTo>
                      <a:pt x="1236" y="1276"/>
                    </a:lnTo>
                    <a:lnTo>
                      <a:pt x="1232" y="1256"/>
                    </a:lnTo>
                    <a:lnTo>
                      <a:pt x="1230" y="1232"/>
                    </a:lnTo>
                    <a:lnTo>
                      <a:pt x="1234" y="1208"/>
                    </a:lnTo>
                    <a:lnTo>
                      <a:pt x="1242" y="1182"/>
                    </a:lnTo>
                    <a:lnTo>
                      <a:pt x="1242" y="1182"/>
                    </a:lnTo>
                    <a:lnTo>
                      <a:pt x="1244" y="1210"/>
                    </a:lnTo>
                    <a:lnTo>
                      <a:pt x="1252" y="1236"/>
                    </a:lnTo>
                    <a:lnTo>
                      <a:pt x="1260" y="1260"/>
                    </a:lnTo>
                    <a:lnTo>
                      <a:pt x="1274" y="1280"/>
                    </a:lnTo>
                    <a:lnTo>
                      <a:pt x="1288" y="1298"/>
                    </a:lnTo>
                    <a:lnTo>
                      <a:pt x="1306" y="1316"/>
                    </a:lnTo>
                    <a:lnTo>
                      <a:pt x="1326" y="1330"/>
                    </a:lnTo>
                    <a:lnTo>
                      <a:pt x="1348" y="1344"/>
                    </a:lnTo>
                    <a:lnTo>
                      <a:pt x="1348" y="1344"/>
                    </a:lnTo>
                    <a:lnTo>
                      <a:pt x="1360" y="1352"/>
                    </a:lnTo>
                    <a:lnTo>
                      <a:pt x="1368" y="1360"/>
                    </a:lnTo>
                    <a:lnTo>
                      <a:pt x="1374" y="1370"/>
                    </a:lnTo>
                    <a:lnTo>
                      <a:pt x="1374" y="1382"/>
                    </a:lnTo>
                    <a:lnTo>
                      <a:pt x="1374" y="1392"/>
                    </a:lnTo>
                    <a:lnTo>
                      <a:pt x="1368" y="1404"/>
                    </a:lnTo>
                    <a:lnTo>
                      <a:pt x="1360" y="1414"/>
                    </a:lnTo>
                    <a:lnTo>
                      <a:pt x="1350" y="1424"/>
                    </a:lnTo>
                    <a:lnTo>
                      <a:pt x="1350" y="1424"/>
                    </a:lnTo>
                    <a:lnTo>
                      <a:pt x="1330" y="1438"/>
                    </a:lnTo>
                    <a:lnTo>
                      <a:pt x="1310" y="1450"/>
                    </a:lnTo>
                    <a:lnTo>
                      <a:pt x="1288" y="1462"/>
                    </a:lnTo>
                    <a:lnTo>
                      <a:pt x="1268" y="1474"/>
                    </a:lnTo>
                    <a:lnTo>
                      <a:pt x="1268" y="1474"/>
                    </a:lnTo>
                    <a:lnTo>
                      <a:pt x="1182" y="1528"/>
                    </a:lnTo>
                    <a:lnTo>
                      <a:pt x="1140" y="1558"/>
                    </a:lnTo>
                    <a:lnTo>
                      <a:pt x="1100" y="1588"/>
                    </a:lnTo>
                    <a:lnTo>
                      <a:pt x="1100" y="1588"/>
                    </a:lnTo>
                    <a:lnTo>
                      <a:pt x="1088" y="1596"/>
                    </a:lnTo>
                    <a:lnTo>
                      <a:pt x="1074" y="1602"/>
                    </a:lnTo>
                    <a:lnTo>
                      <a:pt x="1062" y="1608"/>
                    </a:lnTo>
                    <a:lnTo>
                      <a:pt x="1048" y="1614"/>
                    </a:lnTo>
                    <a:lnTo>
                      <a:pt x="1036" y="1616"/>
                    </a:lnTo>
                    <a:lnTo>
                      <a:pt x="1022" y="1618"/>
                    </a:lnTo>
                    <a:lnTo>
                      <a:pt x="1008" y="1620"/>
                    </a:lnTo>
                    <a:lnTo>
                      <a:pt x="996" y="1618"/>
                    </a:lnTo>
                    <a:lnTo>
                      <a:pt x="982" y="1616"/>
                    </a:lnTo>
                    <a:lnTo>
                      <a:pt x="968" y="1614"/>
                    </a:lnTo>
                    <a:lnTo>
                      <a:pt x="956" y="1610"/>
                    </a:lnTo>
                    <a:lnTo>
                      <a:pt x="944" y="1604"/>
                    </a:lnTo>
                    <a:lnTo>
                      <a:pt x="932" y="1598"/>
                    </a:lnTo>
                    <a:lnTo>
                      <a:pt x="920" y="1590"/>
                    </a:lnTo>
                    <a:lnTo>
                      <a:pt x="910" y="1580"/>
                    </a:lnTo>
                    <a:lnTo>
                      <a:pt x="900" y="1570"/>
                    </a:lnTo>
                    <a:lnTo>
                      <a:pt x="900" y="1570"/>
                    </a:lnTo>
                    <a:lnTo>
                      <a:pt x="888" y="1558"/>
                    </a:lnTo>
                    <a:lnTo>
                      <a:pt x="872" y="1548"/>
                    </a:lnTo>
                    <a:lnTo>
                      <a:pt x="854" y="1540"/>
                    </a:lnTo>
                    <a:lnTo>
                      <a:pt x="838" y="1538"/>
                    </a:lnTo>
                    <a:lnTo>
                      <a:pt x="838" y="1538"/>
                    </a:lnTo>
                    <a:lnTo>
                      <a:pt x="780" y="1536"/>
                    </a:lnTo>
                    <a:lnTo>
                      <a:pt x="724" y="1534"/>
                    </a:lnTo>
                    <a:lnTo>
                      <a:pt x="666" y="1536"/>
                    </a:lnTo>
                    <a:lnTo>
                      <a:pt x="610" y="1540"/>
                    </a:lnTo>
                    <a:lnTo>
                      <a:pt x="610" y="1540"/>
                    </a:lnTo>
                    <a:lnTo>
                      <a:pt x="578" y="1546"/>
                    </a:lnTo>
                    <a:lnTo>
                      <a:pt x="546" y="1556"/>
                    </a:lnTo>
                    <a:lnTo>
                      <a:pt x="516" y="1570"/>
                    </a:lnTo>
                    <a:lnTo>
                      <a:pt x="488" y="1584"/>
                    </a:lnTo>
                    <a:lnTo>
                      <a:pt x="488" y="1584"/>
                    </a:lnTo>
                    <a:lnTo>
                      <a:pt x="472" y="1594"/>
                    </a:lnTo>
                    <a:lnTo>
                      <a:pt x="456" y="1602"/>
                    </a:lnTo>
                    <a:lnTo>
                      <a:pt x="440" y="1608"/>
                    </a:lnTo>
                    <a:lnTo>
                      <a:pt x="424" y="1610"/>
                    </a:lnTo>
                    <a:lnTo>
                      <a:pt x="408" y="1612"/>
                    </a:lnTo>
                    <a:lnTo>
                      <a:pt x="392" y="1612"/>
                    </a:lnTo>
                    <a:lnTo>
                      <a:pt x="374" y="1610"/>
                    </a:lnTo>
                    <a:lnTo>
                      <a:pt x="356" y="1606"/>
                    </a:lnTo>
                    <a:lnTo>
                      <a:pt x="356" y="1606"/>
                    </a:lnTo>
                    <a:lnTo>
                      <a:pt x="214" y="1566"/>
                    </a:lnTo>
                    <a:lnTo>
                      <a:pt x="72" y="1530"/>
                    </a:lnTo>
                    <a:lnTo>
                      <a:pt x="72" y="1530"/>
                    </a:lnTo>
                    <a:lnTo>
                      <a:pt x="46" y="1522"/>
                    </a:lnTo>
                    <a:lnTo>
                      <a:pt x="28" y="1514"/>
                    </a:lnTo>
                    <a:lnTo>
                      <a:pt x="14" y="1506"/>
                    </a:lnTo>
                    <a:lnTo>
                      <a:pt x="8" y="1500"/>
                    </a:lnTo>
                    <a:lnTo>
                      <a:pt x="4" y="1494"/>
                    </a:lnTo>
                    <a:lnTo>
                      <a:pt x="2" y="1488"/>
                    </a:lnTo>
                    <a:lnTo>
                      <a:pt x="0" y="1480"/>
                    </a:lnTo>
                    <a:lnTo>
                      <a:pt x="0" y="1464"/>
                    </a:lnTo>
                    <a:lnTo>
                      <a:pt x="4" y="1444"/>
                    </a:lnTo>
                    <a:lnTo>
                      <a:pt x="10" y="1420"/>
                    </a:lnTo>
                    <a:lnTo>
                      <a:pt x="10" y="1420"/>
                    </a:lnTo>
                    <a:lnTo>
                      <a:pt x="16" y="1396"/>
                    </a:lnTo>
                    <a:lnTo>
                      <a:pt x="18" y="1370"/>
                    </a:lnTo>
                    <a:lnTo>
                      <a:pt x="16" y="1344"/>
                    </a:lnTo>
                    <a:lnTo>
                      <a:pt x="12" y="1318"/>
                    </a:lnTo>
                    <a:lnTo>
                      <a:pt x="12" y="1318"/>
                    </a:lnTo>
                    <a:lnTo>
                      <a:pt x="10" y="1298"/>
                    </a:lnTo>
                    <a:lnTo>
                      <a:pt x="8" y="1280"/>
                    </a:lnTo>
                    <a:lnTo>
                      <a:pt x="10" y="1266"/>
                    </a:lnTo>
                    <a:lnTo>
                      <a:pt x="14" y="1256"/>
                    </a:lnTo>
                    <a:lnTo>
                      <a:pt x="22" y="1248"/>
                    </a:lnTo>
                    <a:lnTo>
                      <a:pt x="34" y="1242"/>
                    </a:lnTo>
                    <a:lnTo>
                      <a:pt x="50" y="1240"/>
                    </a:lnTo>
                    <a:lnTo>
                      <a:pt x="72" y="1238"/>
                    </a:lnTo>
                    <a:lnTo>
                      <a:pt x="72" y="1238"/>
                    </a:lnTo>
                    <a:lnTo>
                      <a:pt x="88" y="1236"/>
                    </a:lnTo>
                    <a:lnTo>
                      <a:pt x="104" y="1232"/>
                    </a:lnTo>
                    <a:lnTo>
                      <a:pt x="118" y="1226"/>
                    </a:lnTo>
                    <a:lnTo>
                      <a:pt x="132" y="1220"/>
                    </a:lnTo>
                    <a:lnTo>
                      <a:pt x="144" y="1210"/>
                    </a:lnTo>
                    <a:lnTo>
                      <a:pt x="156" y="1200"/>
                    </a:lnTo>
                    <a:lnTo>
                      <a:pt x="166" y="1186"/>
                    </a:lnTo>
                    <a:lnTo>
                      <a:pt x="174" y="1170"/>
                    </a:lnTo>
                    <a:lnTo>
                      <a:pt x="174" y="1170"/>
                    </a:lnTo>
                    <a:close/>
                    <a:moveTo>
                      <a:pt x="504" y="546"/>
                    </a:moveTo>
                    <a:lnTo>
                      <a:pt x="504" y="546"/>
                    </a:lnTo>
                    <a:lnTo>
                      <a:pt x="488" y="588"/>
                    </a:lnTo>
                    <a:lnTo>
                      <a:pt x="470" y="626"/>
                    </a:lnTo>
                    <a:lnTo>
                      <a:pt x="470" y="626"/>
                    </a:lnTo>
                    <a:lnTo>
                      <a:pt x="456" y="656"/>
                    </a:lnTo>
                    <a:lnTo>
                      <a:pt x="450" y="670"/>
                    </a:lnTo>
                    <a:lnTo>
                      <a:pt x="444" y="686"/>
                    </a:lnTo>
                    <a:lnTo>
                      <a:pt x="440" y="700"/>
                    </a:lnTo>
                    <a:lnTo>
                      <a:pt x="438" y="716"/>
                    </a:lnTo>
                    <a:lnTo>
                      <a:pt x="438" y="734"/>
                    </a:lnTo>
                    <a:lnTo>
                      <a:pt x="442" y="750"/>
                    </a:lnTo>
                    <a:lnTo>
                      <a:pt x="442" y="750"/>
                    </a:lnTo>
                    <a:lnTo>
                      <a:pt x="442" y="756"/>
                    </a:lnTo>
                    <a:lnTo>
                      <a:pt x="442" y="760"/>
                    </a:lnTo>
                    <a:lnTo>
                      <a:pt x="434" y="772"/>
                    </a:lnTo>
                    <a:lnTo>
                      <a:pt x="434" y="772"/>
                    </a:lnTo>
                    <a:lnTo>
                      <a:pt x="414" y="802"/>
                    </a:lnTo>
                    <a:lnTo>
                      <a:pt x="396" y="834"/>
                    </a:lnTo>
                    <a:lnTo>
                      <a:pt x="380" y="866"/>
                    </a:lnTo>
                    <a:lnTo>
                      <a:pt x="368" y="900"/>
                    </a:lnTo>
                    <a:lnTo>
                      <a:pt x="358" y="934"/>
                    </a:lnTo>
                    <a:lnTo>
                      <a:pt x="350" y="970"/>
                    </a:lnTo>
                    <a:lnTo>
                      <a:pt x="346" y="1006"/>
                    </a:lnTo>
                    <a:lnTo>
                      <a:pt x="346" y="1044"/>
                    </a:lnTo>
                    <a:lnTo>
                      <a:pt x="346" y="1044"/>
                    </a:lnTo>
                    <a:lnTo>
                      <a:pt x="346" y="1056"/>
                    </a:lnTo>
                    <a:lnTo>
                      <a:pt x="344" y="1070"/>
                    </a:lnTo>
                    <a:lnTo>
                      <a:pt x="338" y="1104"/>
                    </a:lnTo>
                    <a:lnTo>
                      <a:pt x="338" y="1104"/>
                    </a:lnTo>
                    <a:lnTo>
                      <a:pt x="318" y="1088"/>
                    </a:lnTo>
                    <a:lnTo>
                      <a:pt x="304" y="1072"/>
                    </a:lnTo>
                    <a:lnTo>
                      <a:pt x="296" y="1054"/>
                    </a:lnTo>
                    <a:lnTo>
                      <a:pt x="288" y="1036"/>
                    </a:lnTo>
                    <a:lnTo>
                      <a:pt x="284" y="1018"/>
                    </a:lnTo>
                    <a:lnTo>
                      <a:pt x="282" y="998"/>
                    </a:lnTo>
                    <a:lnTo>
                      <a:pt x="278" y="962"/>
                    </a:lnTo>
                    <a:lnTo>
                      <a:pt x="278" y="962"/>
                    </a:lnTo>
                    <a:lnTo>
                      <a:pt x="274" y="986"/>
                    </a:lnTo>
                    <a:lnTo>
                      <a:pt x="274" y="1008"/>
                    </a:lnTo>
                    <a:lnTo>
                      <a:pt x="274" y="1030"/>
                    </a:lnTo>
                    <a:lnTo>
                      <a:pt x="278" y="1050"/>
                    </a:lnTo>
                    <a:lnTo>
                      <a:pt x="284" y="1070"/>
                    </a:lnTo>
                    <a:lnTo>
                      <a:pt x="294" y="1090"/>
                    </a:lnTo>
                    <a:lnTo>
                      <a:pt x="308" y="1108"/>
                    </a:lnTo>
                    <a:lnTo>
                      <a:pt x="326" y="1124"/>
                    </a:lnTo>
                    <a:lnTo>
                      <a:pt x="326" y="1124"/>
                    </a:lnTo>
                    <a:lnTo>
                      <a:pt x="406" y="1192"/>
                    </a:lnTo>
                    <a:lnTo>
                      <a:pt x="488" y="1260"/>
                    </a:lnTo>
                    <a:lnTo>
                      <a:pt x="488" y="1260"/>
                    </a:lnTo>
                    <a:lnTo>
                      <a:pt x="506" y="1278"/>
                    </a:lnTo>
                    <a:lnTo>
                      <a:pt x="520" y="1294"/>
                    </a:lnTo>
                    <a:lnTo>
                      <a:pt x="528" y="1310"/>
                    </a:lnTo>
                    <a:lnTo>
                      <a:pt x="530" y="1318"/>
                    </a:lnTo>
                    <a:lnTo>
                      <a:pt x="532" y="1324"/>
                    </a:lnTo>
                    <a:lnTo>
                      <a:pt x="530" y="1332"/>
                    </a:lnTo>
                    <a:lnTo>
                      <a:pt x="528" y="1340"/>
                    </a:lnTo>
                    <a:lnTo>
                      <a:pt x="520" y="1354"/>
                    </a:lnTo>
                    <a:lnTo>
                      <a:pt x="506" y="1368"/>
                    </a:lnTo>
                    <a:lnTo>
                      <a:pt x="486" y="1382"/>
                    </a:lnTo>
                    <a:lnTo>
                      <a:pt x="486" y="1382"/>
                    </a:lnTo>
                    <a:lnTo>
                      <a:pt x="546" y="1518"/>
                    </a:lnTo>
                    <a:lnTo>
                      <a:pt x="546" y="1518"/>
                    </a:lnTo>
                    <a:lnTo>
                      <a:pt x="552" y="1504"/>
                    </a:lnTo>
                    <a:lnTo>
                      <a:pt x="554" y="1490"/>
                    </a:lnTo>
                    <a:lnTo>
                      <a:pt x="552" y="1478"/>
                    </a:lnTo>
                    <a:lnTo>
                      <a:pt x="548" y="1464"/>
                    </a:lnTo>
                    <a:lnTo>
                      <a:pt x="534" y="1438"/>
                    </a:lnTo>
                    <a:lnTo>
                      <a:pt x="528" y="1426"/>
                    </a:lnTo>
                    <a:lnTo>
                      <a:pt x="524" y="1412"/>
                    </a:lnTo>
                    <a:lnTo>
                      <a:pt x="524" y="1412"/>
                    </a:lnTo>
                    <a:lnTo>
                      <a:pt x="570" y="1428"/>
                    </a:lnTo>
                    <a:lnTo>
                      <a:pt x="594" y="1434"/>
                    </a:lnTo>
                    <a:lnTo>
                      <a:pt x="618" y="1440"/>
                    </a:lnTo>
                    <a:lnTo>
                      <a:pt x="642" y="1444"/>
                    </a:lnTo>
                    <a:lnTo>
                      <a:pt x="666" y="1446"/>
                    </a:lnTo>
                    <a:lnTo>
                      <a:pt x="692" y="1446"/>
                    </a:lnTo>
                    <a:lnTo>
                      <a:pt x="718" y="1442"/>
                    </a:lnTo>
                    <a:lnTo>
                      <a:pt x="718" y="1442"/>
                    </a:lnTo>
                    <a:lnTo>
                      <a:pt x="744" y="1436"/>
                    </a:lnTo>
                    <a:lnTo>
                      <a:pt x="768" y="1428"/>
                    </a:lnTo>
                    <a:lnTo>
                      <a:pt x="790" y="1418"/>
                    </a:lnTo>
                    <a:lnTo>
                      <a:pt x="812" y="1404"/>
                    </a:lnTo>
                    <a:lnTo>
                      <a:pt x="832" y="1390"/>
                    </a:lnTo>
                    <a:lnTo>
                      <a:pt x="852" y="1372"/>
                    </a:lnTo>
                    <a:lnTo>
                      <a:pt x="870" y="1354"/>
                    </a:lnTo>
                    <a:lnTo>
                      <a:pt x="886" y="1330"/>
                    </a:lnTo>
                    <a:lnTo>
                      <a:pt x="886" y="1330"/>
                    </a:lnTo>
                    <a:lnTo>
                      <a:pt x="892" y="1344"/>
                    </a:lnTo>
                    <a:lnTo>
                      <a:pt x="896" y="1356"/>
                    </a:lnTo>
                    <a:lnTo>
                      <a:pt x="898" y="1368"/>
                    </a:lnTo>
                    <a:lnTo>
                      <a:pt x="898" y="1380"/>
                    </a:lnTo>
                    <a:lnTo>
                      <a:pt x="896" y="1402"/>
                    </a:lnTo>
                    <a:lnTo>
                      <a:pt x="892" y="1424"/>
                    </a:lnTo>
                    <a:lnTo>
                      <a:pt x="886" y="1446"/>
                    </a:lnTo>
                    <a:lnTo>
                      <a:pt x="882" y="1468"/>
                    </a:lnTo>
                    <a:lnTo>
                      <a:pt x="882" y="1480"/>
                    </a:lnTo>
                    <a:lnTo>
                      <a:pt x="882" y="1490"/>
                    </a:lnTo>
                    <a:lnTo>
                      <a:pt x="884" y="1502"/>
                    </a:lnTo>
                    <a:lnTo>
                      <a:pt x="886" y="1512"/>
                    </a:lnTo>
                    <a:lnTo>
                      <a:pt x="886" y="1512"/>
                    </a:lnTo>
                    <a:lnTo>
                      <a:pt x="896" y="1486"/>
                    </a:lnTo>
                    <a:lnTo>
                      <a:pt x="904" y="1458"/>
                    </a:lnTo>
                    <a:lnTo>
                      <a:pt x="910" y="1430"/>
                    </a:lnTo>
                    <a:lnTo>
                      <a:pt x="914" y="1402"/>
                    </a:lnTo>
                    <a:lnTo>
                      <a:pt x="914" y="1402"/>
                    </a:lnTo>
                    <a:lnTo>
                      <a:pt x="912" y="1356"/>
                    </a:lnTo>
                    <a:lnTo>
                      <a:pt x="910" y="1310"/>
                    </a:lnTo>
                    <a:lnTo>
                      <a:pt x="908" y="1266"/>
                    </a:lnTo>
                    <a:lnTo>
                      <a:pt x="908" y="1220"/>
                    </a:lnTo>
                    <a:lnTo>
                      <a:pt x="908" y="1220"/>
                    </a:lnTo>
                    <a:lnTo>
                      <a:pt x="910" y="1200"/>
                    </a:lnTo>
                    <a:lnTo>
                      <a:pt x="912" y="1182"/>
                    </a:lnTo>
                    <a:lnTo>
                      <a:pt x="918" y="1164"/>
                    </a:lnTo>
                    <a:lnTo>
                      <a:pt x="924" y="1156"/>
                    </a:lnTo>
                    <a:lnTo>
                      <a:pt x="928" y="1150"/>
                    </a:lnTo>
                    <a:lnTo>
                      <a:pt x="928" y="1150"/>
                    </a:lnTo>
                    <a:lnTo>
                      <a:pt x="948" y="1130"/>
                    </a:lnTo>
                    <a:lnTo>
                      <a:pt x="970" y="1112"/>
                    </a:lnTo>
                    <a:lnTo>
                      <a:pt x="1006" y="1084"/>
                    </a:lnTo>
                    <a:lnTo>
                      <a:pt x="1006" y="1084"/>
                    </a:lnTo>
                    <a:lnTo>
                      <a:pt x="998" y="1066"/>
                    </a:lnTo>
                    <a:lnTo>
                      <a:pt x="988" y="1048"/>
                    </a:lnTo>
                    <a:lnTo>
                      <a:pt x="982" y="1030"/>
                    </a:lnTo>
                    <a:lnTo>
                      <a:pt x="980" y="1022"/>
                    </a:lnTo>
                    <a:lnTo>
                      <a:pt x="980" y="1014"/>
                    </a:lnTo>
                    <a:lnTo>
                      <a:pt x="980" y="1014"/>
                    </a:lnTo>
                    <a:lnTo>
                      <a:pt x="982" y="986"/>
                    </a:lnTo>
                    <a:lnTo>
                      <a:pt x="980" y="958"/>
                    </a:lnTo>
                    <a:lnTo>
                      <a:pt x="976" y="930"/>
                    </a:lnTo>
                    <a:lnTo>
                      <a:pt x="972" y="904"/>
                    </a:lnTo>
                    <a:lnTo>
                      <a:pt x="966" y="878"/>
                    </a:lnTo>
                    <a:lnTo>
                      <a:pt x="958" y="852"/>
                    </a:lnTo>
                    <a:lnTo>
                      <a:pt x="938" y="800"/>
                    </a:lnTo>
                    <a:lnTo>
                      <a:pt x="916" y="750"/>
                    </a:lnTo>
                    <a:lnTo>
                      <a:pt x="894" y="702"/>
                    </a:lnTo>
                    <a:lnTo>
                      <a:pt x="870" y="652"/>
                    </a:lnTo>
                    <a:lnTo>
                      <a:pt x="850" y="602"/>
                    </a:lnTo>
                    <a:lnTo>
                      <a:pt x="850" y="602"/>
                    </a:lnTo>
                    <a:lnTo>
                      <a:pt x="846" y="594"/>
                    </a:lnTo>
                    <a:lnTo>
                      <a:pt x="842" y="588"/>
                    </a:lnTo>
                    <a:lnTo>
                      <a:pt x="842" y="588"/>
                    </a:lnTo>
                    <a:lnTo>
                      <a:pt x="832" y="574"/>
                    </a:lnTo>
                    <a:lnTo>
                      <a:pt x="822" y="560"/>
                    </a:lnTo>
                    <a:lnTo>
                      <a:pt x="816" y="546"/>
                    </a:lnTo>
                    <a:lnTo>
                      <a:pt x="812" y="530"/>
                    </a:lnTo>
                    <a:lnTo>
                      <a:pt x="810" y="514"/>
                    </a:lnTo>
                    <a:lnTo>
                      <a:pt x="810" y="498"/>
                    </a:lnTo>
                    <a:lnTo>
                      <a:pt x="812" y="482"/>
                    </a:lnTo>
                    <a:lnTo>
                      <a:pt x="816" y="466"/>
                    </a:lnTo>
                    <a:lnTo>
                      <a:pt x="816" y="466"/>
                    </a:lnTo>
                    <a:lnTo>
                      <a:pt x="820" y="456"/>
                    </a:lnTo>
                    <a:lnTo>
                      <a:pt x="820" y="446"/>
                    </a:lnTo>
                    <a:lnTo>
                      <a:pt x="820" y="438"/>
                    </a:lnTo>
                    <a:lnTo>
                      <a:pt x="816" y="432"/>
                    </a:lnTo>
                    <a:lnTo>
                      <a:pt x="812" y="426"/>
                    </a:lnTo>
                    <a:lnTo>
                      <a:pt x="804" y="420"/>
                    </a:lnTo>
                    <a:lnTo>
                      <a:pt x="796" y="416"/>
                    </a:lnTo>
                    <a:lnTo>
                      <a:pt x="786" y="412"/>
                    </a:lnTo>
                    <a:lnTo>
                      <a:pt x="786" y="412"/>
                    </a:lnTo>
                    <a:lnTo>
                      <a:pt x="768" y="406"/>
                    </a:lnTo>
                    <a:lnTo>
                      <a:pt x="750" y="400"/>
                    </a:lnTo>
                    <a:lnTo>
                      <a:pt x="716" y="382"/>
                    </a:lnTo>
                    <a:lnTo>
                      <a:pt x="716" y="382"/>
                    </a:lnTo>
                    <a:lnTo>
                      <a:pt x="708" y="376"/>
                    </a:lnTo>
                    <a:lnTo>
                      <a:pt x="700" y="370"/>
                    </a:lnTo>
                    <a:lnTo>
                      <a:pt x="696" y="362"/>
                    </a:lnTo>
                    <a:lnTo>
                      <a:pt x="696" y="354"/>
                    </a:lnTo>
                    <a:lnTo>
                      <a:pt x="696" y="344"/>
                    </a:lnTo>
                    <a:lnTo>
                      <a:pt x="696" y="336"/>
                    </a:lnTo>
                    <a:lnTo>
                      <a:pt x="702" y="320"/>
                    </a:lnTo>
                    <a:lnTo>
                      <a:pt x="702" y="320"/>
                    </a:lnTo>
                    <a:lnTo>
                      <a:pt x="710" y="308"/>
                    </a:lnTo>
                    <a:lnTo>
                      <a:pt x="720" y="298"/>
                    </a:lnTo>
                    <a:lnTo>
                      <a:pt x="732" y="290"/>
                    </a:lnTo>
                    <a:lnTo>
                      <a:pt x="738" y="288"/>
                    </a:lnTo>
                    <a:lnTo>
                      <a:pt x="744" y="288"/>
                    </a:lnTo>
                    <a:lnTo>
                      <a:pt x="744" y="288"/>
                    </a:lnTo>
                    <a:lnTo>
                      <a:pt x="750" y="290"/>
                    </a:lnTo>
                    <a:lnTo>
                      <a:pt x="756" y="292"/>
                    </a:lnTo>
                    <a:lnTo>
                      <a:pt x="768" y="302"/>
                    </a:lnTo>
                    <a:lnTo>
                      <a:pt x="778" y="312"/>
                    </a:lnTo>
                    <a:lnTo>
                      <a:pt x="786" y="326"/>
                    </a:lnTo>
                    <a:lnTo>
                      <a:pt x="786" y="326"/>
                    </a:lnTo>
                    <a:lnTo>
                      <a:pt x="790" y="340"/>
                    </a:lnTo>
                    <a:lnTo>
                      <a:pt x="790" y="354"/>
                    </a:lnTo>
                    <a:lnTo>
                      <a:pt x="788" y="388"/>
                    </a:lnTo>
                    <a:lnTo>
                      <a:pt x="788" y="388"/>
                    </a:lnTo>
                    <a:lnTo>
                      <a:pt x="796" y="390"/>
                    </a:lnTo>
                    <a:lnTo>
                      <a:pt x="802" y="390"/>
                    </a:lnTo>
                    <a:lnTo>
                      <a:pt x="808" y="388"/>
                    </a:lnTo>
                    <a:lnTo>
                      <a:pt x="814" y="386"/>
                    </a:lnTo>
                    <a:lnTo>
                      <a:pt x="818" y="382"/>
                    </a:lnTo>
                    <a:lnTo>
                      <a:pt x="820" y="376"/>
                    </a:lnTo>
                    <a:lnTo>
                      <a:pt x="824" y="362"/>
                    </a:lnTo>
                    <a:lnTo>
                      <a:pt x="824" y="362"/>
                    </a:lnTo>
                    <a:lnTo>
                      <a:pt x="824" y="338"/>
                    </a:lnTo>
                    <a:lnTo>
                      <a:pt x="822" y="316"/>
                    </a:lnTo>
                    <a:lnTo>
                      <a:pt x="818" y="294"/>
                    </a:lnTo>
                    <a:lnTo>
                      <a:pt x="810" y="276"/>
                    </a:lnTo>
                    <a:lnTo>
                      <a:pt x="798" y="260"/>
                    </a:lnTo>
                    <a:lnTo>
                      <a:pt x="786" y="246"/>
                    </a:lnTo>
                    <a:lnTo>
                      <a:pt x="770" y="238"/>
                    </a:lnTo>
                    <a:lnTo>
                      <a:pt x="762" y="236"/>
                    </a:lnTo>
                    <a:lnTo>
                      <a:pt x="754" y="234"/>
                    </a:lnTo>
                    <a:lnTo>
                      <a:pt x="754" y="234"/>
                    </a:lnTo>
                    <a:lnTo>
                      <a:pt x="738" y="234"/>
                    </a:lnTo>
                    <a:lnTo>
                      <a:pt x="722" y="236"/>
                    </a:lnTo>
                    <a:lnTo>
                      <a:pt x="708" y="240"/>
                    </a:lnTo>
                    <a:lnTo>
                      <a:pt x="702" y="244"/>
                    </a:lnTo>
                    <a:lnTo>
                      <a:pt x="700" y="248"/>
                    </a:lnTo>
                    <a:lnTo>
                      <a:pt x="700" y="248"/>
                    </a:lnTo>
                    <a:lnTo>
                      <a:pt x="686" y="274"/>
                    </a:lnTo>
                    <a:lnTo>
                      <a:pt x="674" y="302"/>
                    </a:lnTo>
                    <a:lnTo>
                      <a:pt x="652" y="358"/>
                    </a:lnTo>
                    <a:lnTo>
                      <a:pt x="652" y="358"/>
                    </a:lnTo>
                    <a:lnTo>
                      <a:pt x="602" y="354"/>
                    </a:lnTo>
                    <a:lnTo>
                      <a:pt x="602" y="354"/>
                    </a:lnTo>
                    <a:lnTo>
                      <a:pt x="592" y="310"/>
                    </a:lnTo>
                    <a:lnTo>
                      <a:pt x="586" y="290"/>
                    </a:lnTo>
                    <a:lnTo>
                      <a:pt x="578" y="272"/>
                    </a:lnTo>
                    <a:lnTo>
                      <a:pt x="578" y="272"/>
                    </a:lnTo>
                    <a:lnTo>
                      <a:pt x="574" y="266"/>
                    </a:lnTo>
                    <a:lnTo>
                      <a:pt x="568" y="260"/>
                    </a:lnTo>
                    <a:lnTo>
                      <a:pt x="552" y="252"/>
                    </a:lnTo>
                    <a:lnTo>
                      <a:pt x="538" y="246"/>
                    </a:lnTo>
                    <a:lnTo>
                      <a:pt x="532" y="244"/>
                    </a:lnTo>
                    <a:lnTo>
                      <a:pt x="530" y="244"/>
                    </a:lnTo>
                    <a:lnTo>
                      <a:pt x="530" y="244"/>
                    </a:lnTo>
                    <a:lnTo>
                      <a:pt x="518" y="260"/>
                    </a:lnTo>
                    <a:lnTo>
                      <a:pt x="506" y="278"/>
                    </a:lnTo>
                    <a:lnTo>
                      <a:pt x="496" y="296"/>
                    </a:lnTo>
                    <a:lnTo>
                      <a:pt x="492" y="314"/>
                    </a:lnTo>
                    <a:lnTo>
                      <a:pt x="492" y="314"/>
                    </a:lnTo>
                    <a:lnTo>
                      <a:pt x="488" y="336"/>
                    </a:lnTo>
                    <a:lnTo>
                      <a:pt x="488" y="346"/>
                    </a:lnTo>
                    <a:lnTo>
                      <a:pt x="490" y="356"/>
                    </a:lnTo>
                    <a:lnTo>
                      <a:pt x="494" y="368"/>
                    </a:lnTo>
                    <a:lnTo>
                      <a:pt x="500" y="376"/>
                    </a:lnTo>
                    <a:lnTo>
                      <a:pt x="508" y="384"/>
                    </a:lnTo>
                    <a:lnTo>
                      <a:pt x="520" y="392"/>
                    </a:lnTo>
                    <a:lnTo>
                      <a:pt x="520" y="392"/>
                    </a:lnTo>
                    <a:lnTo>
                      <a:pt x="522" y="390"/>
                    </a:lnTo>
                    <a:lnTo>
                      <a:pt x="528" y="386"/>
                    </a:lnTo>
                    <a:lnTo>
                      <a:pt x="528" y="386"/>
                    </a:lnTo>
                    <a:lnTo>
                      <a:pt x="516" y="372"/>
                    </a:lnTo>
                    <a:lnTo>
                      <a:pt x="512" y="366"/>
                    </a:lnTo>
                    <a:lnTo>
                      <a:pt x="510" y="358"/>
                    </a:lnTo>
                    <a:lnTo>
                      <a:pt x="510" y="358"/>
                    </a:lnTo>
                    <a:lnTo>
                      <a:pt x="508" y="344"/>
                    </a:lnTo>
                    <a:lnTo>
                      <a:pt x="510" y="328"/>
                    </a:lnTo>
                    <a:lnTo>
                      <a:pt x="512" y="314"/>
                    </a:lnTo>
                    <a:lnTo>
                      <a:pt x="516" y="298"/>
                    </a:lnTo>
                    <a:lnTo>
                      <a:pt x="516" y="298"/>
                    </a:lnTo>
                    <a:lnTo>
                      <a:pt x="518" y="296"/>
                    </a:lnTo>
                    <a:lnTo>
                      <a:pt x="522" y="294"/>
                    </a:lnTo>
                    <a:lnTo>
                      <a:pt x="532" y="292"/>
                    </a:lnTo>
                    <a:lnTo>
                      <a:pt x="542" y="290"/>
                    </a:lnTo>
                    <a:lnTo>
                      <a:pt x="546" y="290"/>
                    </a:lnTo>
                    <a:lnTo>
                      <a:pt x="550" y="292"/>
                    </a:lnTo>
                    <a:lnTo>
                      <a:pt x="550" y="292"/>
                    </a:lnTo>
                    <a:lnTo>
                      <a:pt x="558" y="304"/>
                    </a:lnTo>
                    <a:lnTo>
                      <a:pt x="564" y="318"/>
                    </a:lnTo>
                    <a:lnTo>
                      <a:pt x="570" y="332"/>
                    </a:lnTo>
                    <a:lnTo>
                      <a:pt x="574" y="346"/>
                    </a:lnTo>
                    <a:lnTo>
                      <a:pt x="574" y="346"/>
                    </a:lnTo>
                    <a:lnTo>
                      <a:pt x="574" y="354"/>
                    </a:lnTo>
                    <a:lnTo>
                      <a:pt x="570" y="360"/>
                    </a:lnTo>
                    <a:lnTo>
                      <a:pt x="560" y="374"/>
                    </a:lnTo>
                    <a:lnTo>
                      <a:pt x="560" y="374"/>
                    </a:lnTo>
                    <a:lnTo>
                      <a:pt x="534" y="396"/>
                    </a:lnTo>
                    <a:lnTo>
                      <a:pt x="522" y="406"/>
                    </a:lnTo>
                    <a:lnTo>
                      <a:pt x="510" y="418"/>
                    </a:lnTo>
                    <a:lnTo>
                      <a:pt x="510" y="418"/>
                    </a:lnTo>
                    <a:lnTo>
                      <a:pt x="504" y="428"/>
                    </a:lnTo>
                    <a:lnTo>
                      <a:pt x="498" y="440"/>
                    </a:lnTo>
                    <a:lnTo>
                      <a:pt x="494" y="450"/>
                    </a:lnTo>
                    <a:lnTo>
                      <a:pt x="494" y="454"/>
                    </a:lnTo>
                    <a:lnTo>
                      <a:pt x="494" y="456"/>
                    </a:lnTo>
                    <a:lnTo>
                      <a:pt x="494" y="456"/>
                    </a:lnTo>
                    <a:lnTo>
                      <a:pt x="514" y="476"/>
                    </a:lnTo>
                    <a:lnTo>
                      <a:pt x="526" y="488"/>
                    </a:lnTo>
                    <a:lnTo>
                      <a:pt x="536" y="496"/>
                    </a:lnTo>
                    <a:lnTo>
                      <a:pt x="548" y="504"/>
                    </a:lnTo>
                    <a:lnTo>
                      <a:pt x="562" y="510"/>
                    </a:lnTo>
                    <a:lnTo>
                      <a:pt x="576" y="514"/>
                    </a:lnTo>
                    <a:lnTo>
                      <a:pt x="594" y="514"/>
                    </a:lnTo>
                    <a:lnTo>
                      <a:pt x="594" y="514"/>
                    </a:lnTo>
                    <a:lnTo>
                      <a:pt x="644" y="506"/>
                    </a:lnTo>
                    <a:lnTo>
                      <a:pt x="670" y="500"/>
                    </a:lnTo>
                    <a:lnTo>
                      <a:pt x="694" y="494"/>
                    </a:lnTo>
                    <a:lnTo>
                      <a:pt x="718" y="486"/>
                    </a:lnTo>
                    <a:lnTo>
                      <a:pt x="742" y="474"/>
                    </a:lnTo>
                    <a:lnTo>
                      <a:pt x="766" y="460"/>
                    </a:lnTo>
                    <a:lnTo>
                      <a:pt x="788" y="444"/>
                    </a:lnTo>
                    <a:lnTo>
                      <a:pt x="788" y="444"/>
                    </a:lnTo>
                    <a:lnTo>
                      <a:pt x="792" y="460"/>
                    </a:lnTo>
                    <a:lnTo>
                      <a:pt x="792" y="466"/>
                    </a:lnTo>
                    <a:lnTo>
                      <a:pt x="792" y="466"/>
                    </a:lnTo>
                    <a:lnTo>
                      <a:pt x="734" y="494"/>
                    </a:lnTo>
                    <a:lnTo>
                      <a:pt x="706" y="506"/>
                    </a:lnTo>
                    <a:lnTo>
                      <a:pt x="676" y="518"/>
                    </a:lnTo>
                    <a:lnTo>
                      <a:pt x="646" y="528"/>
                    </a:lnTo>
                    <a:lnTo>
                      <a:pt x="614" y="534"/>
                    </a:lnTo>
                    <a:lnTo>
                      <a:pt x="580" y="538"/>
                    </a:lnTo>
                    <a:lnTo>
                      <a:pt x="564" y="536"/>
                    </a:lnTo>
                    <a:lnTo>
                      <a:pt x="546" y="534"/>
                    </a:lnTo>
                    <a:lnTo>
                      <a:pt x="546" y="534"/>
                    </a:lnTo>
                    <a:lnTo>
                      <a:pt x="558" y="548"/>
                    </a:lnTo>
                    <a:lnTo>
                      <a:pt x="570" y="560"/>
                    </a:lnTo>
                    <a:lnTo>
                      <a:pt x="582" y="566"/>
                    </a:lnTo>
                    <a:lnTo>
                      <a:pt x="596" y="570"/>
                    </a:lnTo>
                    <a:lnTo>
                      <a:pt x="608" y="572"/>
                    </a:lnTo>
                    <a:lnTo>
                      <a:pt x="622" y="570"/>
                    </a:lnTo>
                    <a:lnTo>
                      <a:pt x="634" y="568"/>
                    </a:lnTo>
                    <a:lnTo>
                      <a:pt x="648" y="564"/>
                    </a:lnTo>
                    <a:lnTo>
                      <a:pt x="648" y="564"/>
                    </a:lnTo>
                    <a:lnTo>
                      <a:pt x="672" y="554"/>
                    </a:lnTo>
                    <a:lnTo>
                      <a:pt x="696" y="544"/>
                    </a:lnTo>
                    <a:lnTo>
                      <a:pt x="742" y="520"/>
                    </a:lnTo>
                    <a:lnTo>
                      <a:pt x="742" y="520"/>
                    </a:lnTo>
                    <a:lnTo>
                      <a:pt x="762" y="514"/>
                    </a:lnTo>
                    <a:lnTo>
                      <a:pt x="782" y="510"/>
                    </a:lnTo>
                    <a:lnTo>
                      <a:pt x="782" y="510"/>
                    </a:lnTo>
                    <a:lnTo>
                      <a:pt x="786" y="522"/>
                    </a:lnTo>
                    <a:lnTo>
                      <a:pt x="786" y="522"/>
                    </a:lnTo>
                    <a:lnTo>
                      <a:pt x="698" y="578"/>
                    </a:lnTo>
                    <a:lnTo>
                      <a:pt x="654" y="604"/>
                    </a:lnTo>
                    <a:lnTo>
                      <a:pt x="608" y="630"/>
                    </a:lnTo>
                    <a:lnTo>
                      <a:pt x="608" y="630"/>
                    </a:lnTo>
                    <a:lnTo>
                      <a:pt x="604" y="630"/>
                    </a:lnTo>
                    <a:lnTo>
                      <a:pt x="598" y="630"/>
                    </a:lnTo>
                    <a:lnTo>
                      <a:pt x="582" y="626"/>
                    </a:lnTo>
                    <a:lnTo>
                      <a:pt x="568" y="618"/>
                    </a:lnTo>
                    <a:lnTo>
                      <a:pt x="554" y="608"/>
                    </a:lnTo>
                    <a:lnTo>
                      <a:pt x="554" y="608"/>
                    </a:lnTo>
                    <a:lnTo>
                      <a:pt x="540" y="594"/>
                    </a:lnTo>
                    <a:lnTo>
                      <a:pt x="528" y="578"/>
                    </a:lnTo>
                    <a:lnTo>
                      <a:pt x="504" y="546"/>
                    </a:lnTo>
                    <a:lnTo>
                      <a:pt x="504" y="546"/>
                    </a:lnTo>
                    <a:close/>
                    <a:moveTo>
                      <a:pt x="1078" y="1054"/>
                    </a:moveTo>
                    <a:lnTo>
                      <a:pt x="1078" y="1054"/>
                    </a:lnTo>
                    <a:lnTo>
                      <a:pt x="1084" y="1012"/>
                    </a:lnTo>
                    <a:lnTo>
                      <a:pt x="1086" y="970"/>
                    </a:lnTo>
                    <a:lnTo>
                      <a:pt x="1084" y="930"/>
                    </a:lnTo>
                    <a:lnTo>
                      <a:pt x="1078" y="892"/>
                    </a:lnTo>
                    <a:lnTo>
                      <a:pt x="1068" y="854"/>
                    </a:lnTo>
                    <a:lnTo>
                      <a:pt x="1052" y="818"/>
                    </a:lnTo>
                    <a:lnTo>
                      <a:pt x="1032" y="784"/>
                    </a:lnTo>
                    <a:lnTo>
                      <a:pt x="1008" y="750"/>
                    </a:lnTo>
                    <a:lnTo>
                      <a:pt x="1008" y="750"/>
                    </a:lnTo>
                    <a:lnTo>
                      <a:pt x="1040" y="826"/>
                    </a:lnTo>
                    <a:lnTo>
                      <a:pt x="1056" y="866"/>
                    </a:lnTo>
                    <a:lnTo>
                      <a:pt x="1066" y="904"/>
                    </a:lnTo>
                    <a:lnTo>
                      <a:pt x="1070" y="924"/>
                    </a:lnTo>
                    <a:lnTo>
                      <a:pt x="1072" y="944"/>
                    </a:lnTo>
                    <a:lnTo>
                      <a:pt x="1074" y="966"/>
                    </a:lnTo>
                    <a:lnTo>
                      <a:pt x="1072" y="986"/>
                    </a:lnTo>
                    <a:lnTo>
                      <a:pt x="1070" y="1006"/>
                    </a:lnTo>
                    <a:lnTo>
                      <a:pt x="1064" y="1028"/>
                    </a:lnTo>
                    <a:lnTo>
                      <a:pt x="1056" y="1050"/>
                    </a:lnTo>
                    <a:lnTo>
                      <a:pt x="1046" y="1070"/>
                    </a:lnTo>
                    <a:lnTo>
                      <a:pt x="1046" y="1070"/>
                    </a:lnTo>
                    <a:lnTo>
                      <a:pt x="1108" y="1080"/>
                    </a:lnTo>
                    <a:lnTo>
                      <a:pt x="1108" y="1080"/>
                    </a:lnTo>
                    <a:lnTo>
                      <a:pt x="1078" y="1054"/>
                    </a:lnTo>
                    <a:lnTo>
                      <a:pt x="1078" y="1054"/>
                    </a:lnTo>
                    <a:close/>
                    <a:moveTo>
                      <a:pt x="880" y="490"/>
                    </a:moveTo>
                    <a:lnTo>
                      <a:pt x="880" y="490"/>
                    </a:lnTo>
                    <a:lnTo>
                      <a:pt x="870" y="496"/>
                    </a:lnTo>
                    <a:lnTo>
                      <a:pt x="870" y="496"/>
                    </a:lnTo>
                    <a:lnTo>
                      <a:pt x="888" y="520"/>
                    </a:lnTo>
                    <a:lnTo>
                      <a:pt x="908" y="542"/>
                    </a:lnTo>
                    <a:lnTo>
                      <a:pt x="908" y="542"/>
                    </a:lnTo>
                    <a:lnTo>
                      <a:pt x="912" y="544"/>
                    </a:lnTo>
                    <a:lnTo>
                      <a:pt x="918" y="544"/>
                    </a:lnTo>
                    <a:lnTo>
                      <a:pt x="932" y="542"/>
                    </a:lnTo>
                    <a:lnTo>
                      <a:pt x="932" y="542"/>
                    </a:lnTo>
                    <a:lnTo>
                      <a:pt x="928" y="526"/>
                    </a:lnTo>
                    <a:lnTo>
                      <a:pt x="928" y="520"/>
                    </a:lnTo>
                    <a:lnTo>
                      <a:pt x="924" y="514"/>
                    </a:lnTo>
                    <a:lnTo>
                      <a:pt x="924" y="514"/>
                    </a:lnTo>
                    <a:lnTo>
                      <a:pt x="914" y="508"/>
                    </a:lnTo>
                    <a:lnTo>
                      <a:pt x="902" y="502"/>
                    </a:lnTo>
                    <a:lnTo>
                      <a:pt x="880" y="490"/>
                    </a:lnTo>
                    <a:lnTo>
                      <a:pt x="880" y="490"/>
                    </a:lnTo>
                    <a:close/>
                  </a:path>
                </a:pathLst>
              </a:custGeom>
              <a:solidFill>
                <a:srgbClr val="0070C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706" tIns="146165" rIns="182706" bIns="146165" numCol="1" spcCol="0" rtlCol="0" fromWordArt="0" anchor="t" anchorCtr="0" forceAA="0" compatLnSpc="1">
                <a:prstTxWarp prst="textNoShape">
                  <a:avLst/>
                </a:prstTxWarp>
                <a:noAutofit/>
              </a:bodyPr>
              <a:lstStyle/>
              <a:p>
                <a:pPr marL="0" marR="0" lvl="0" indent="0" algn="ctr" defTabSz="913111" rtl="0" eaLnBrk="1" fontAlgn="base" latinLnBrk="0" hangingPunct="1">
                  <a:lnSpc>
                    <a:spcPct val="90000"/>
                  </a:lnSpc>
                  <a:spcBef>
                    <a:spcPct val="0"/>
                  </a:spcBef>
                  <a:spcAft>
                    <a:spcPct val="0"/>
                  </a:spcAft>
                  <a:buClrTx/>
                  <a:buSzTx/>
                  <a:buFontTx/>
                  <a:buNone/>
                  <a:tabLst/>
                  <a:defRPr/>
                </a:pPr>
                <a:endParaRPr kumimoji="0" lang="en-US" sz="1998" b="0" i="0" u="none" strike="noStrike" kern="1200" cap="none" spc="-50" normalizeH="0" baseline="0" noProof="0">
                  <a:ln>
                    <a:noFill/>
                  </a:ln>
                  <a:gradFill>
                    <a:gsLst>
                      <a:gs pos="1250">
                        <a:srgbClr val="EFEFEF"/>
                      </a:gs>
                      <a:gs pos="10417">
                        <a:srgbClr val="EFEFEF"/>
                      </a:gs>
                    </a:gsLst>
                    <a:lin ang="5400000" scaled="0"/>
                  </a:gradFill>
                  <a:effectLst/>
                  <a:uLnTx/>
                  <a:uFillTx/>
                  <a:latin typeface="Segoe UI Light"/>
                  <a:ea typeface="+mn-ea"/>
                  <a:cs typeface="+mn-cs"/>
                </a:endParaRPr>
              </a:p>
            </p:txBody>
          </p:sp>
        </p:grpSp>
      </p:grpSp>
      <p:cxnSp>
        <p:nvCxnSpPr>
          <p:cNvPr id="169" name="Connector: Elbow 168">
            <a:extLst>
              <a:ext uri="{FF2B5EF4-FFF2-40B4-BE49-F238E27FC236}">
                <a16:creationId xmlns:a16="http://schemas.microsoft.com/office/drawing/2014/main" id="{6ABCC7F2-6566-43A4-C70D-49732F2A0FBC}"/>
              </a:ext>
            </a:extLst>
          </p:cNvPr>
          <p:cNvCxnSpPr>
            <a:cxnSpLocks/>
            <a:stCxn id="582" idx="0"/>
            <a:endCxn id="175" idx="1"/>
          </p:cNvCxnSpPr>
          <p:nvPr/>
        </p:nvCxnSpPr>
        <p:spPr>
          <a:xfrm rot="16200000" flipH="1">
            <a:off x="3508490" y="3048491"/>
            <a:ext cx="582881" cy="2151359"/>
          </a:xfrm>
          <a:prstGeom prst="bentConnector3">
            <a:avLst>
              <a:gd name="adj1" fmla="val 71697"/>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6" name="Connector: Elbow 1105">
            <a:extLst>
              <a:ext uri="{FF2B5EF4-FFF2-40B4-BE49-F238E27FC236}">
                <a16:creationId xmlns:a16="http://schemas.microsoft.com/office/drawing/2014/main" id="{D82683A3-A34B-B719-7717-D3CC19F7399B}"/>
              </a:ext>
            </a:extLst>
          </p:cNvPr>
          <p:cNvCxnSpPr>
            <a:cxnSpLocks/>
          </p:cNvCxnSpPr>
          <p:nvPr/>
        </p:nvCxnSpPr>
        <p:spPr>
          <a:xfrm rot="16200000" flipH="1">
            <a:off x="1352160" y="2790160"/>
            <a:ext cx="1688245" cy="392064"/>
          </a:xfrm>
          <a:prstGeom prst="bentConnector3">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71" name="Group 170">
            <a:extLst>
              <a:ext uri="{FF2B5EF4-FFF2-40B4-BE49-F238E27FC236}">
                <a16:creationId xmlns:a16="http://schemas.microsoft.com/office/drawing/2014/main" id="{C8FD4F31-F66B-2B23-C738-EC8CCF92FE21}"/>
              </a:ext>
            </a:extLst>
          </p:cNvPr>
          <p:cNvGrpSpPr/>
          <p:nvPr/>
        </p:nvGrpSpPr>
        <p:grpSpPr>
          <a:xfrm>
            <a:off x="284627" y="5490836"/>
            <a:ext cx="1623782" cy="830688"/>
            <a:chOff x="284627" y="5490836"/>
            <a:chExt cx="1623782" cy="830688"/>
          </a:xfrm>
        </p:grpSpPr>
        <p:grpSp>
          <p:nvGrpSpPr>
            <p:cNvPr id="13" name="Group 12">
              <a:extLst>
                <a:ext uri="{FF2B5EF4-FFF2-40B4-BE49-F238E27FC236}">
                  <a16:creationId xmlns:a16="http://schemas.microsoft.com/office/drawing/2014/main" id="{3C54A99E-D049-BA2C-898E-8C08063CF276}"/>
                </a:ext>
              </a:extLst>
            </p:cNvPr>
            <p:cNvGrpSpPr/>
            <p:nvPr/>
          </p:nvGrpSpPr>
          <p:grpSpPr>
            <a:xfrm>
              <a:off x="284627" y="5490836"/>
              <a:ext cx="1623782" cy="830688"/>
              <a:chOff x="136776" y="5337327"/>
              <a:chExt cx="1623782" cy="830688"/>
            </a:xfrm>
          </p:grpSpPr>
          <p:grpSp>
            <p:nvGrpSpPr>
              <p:cNvPr id="502" name="Group 501">
                <a:extLst>
                  <a:ext uri="{FF2B5EF4-FFF2-40B4-BE49-F238E27FC236}">
                    <a16:creationId xmlns:a16="http://schemas.microsoft.com/office/drawing/2014/main" id="{FDE712DA-0A77-1EBB-B79D-542D12B8A706}"/>
                  </a:ext>
                </a:extLst>
              </p:cNvPr>
              <p:cNvGrpSpPr/>
              <p:nvPr/>
            </p:nvGrpSpPr>
            <p:grpSpPr>
              <a:xfrm>
                <a:off x="136776" y="5337327"/>
                <a:ext cx="1623782" cy="830688"/>
                <a:chOff x="3829108" y="5417189"/>
                <a:chExt cx="1623782" cy="830688"/>
              </a:xfrm>
            </p:grpSpPr>
            <p:sp>
              <p:nvSpPr>
                <p:cNvPr id="567" name="Rectangle 566">
                  <a:hlinkClick r:id="rId65" tooltip="Windows 10 is designed to protect against known and emerging security threats across the spectrum of attackers and attack vectors. Windows 10 focuses on providing excellence in both security and productivity."/>
                  <a:extLst>
                    <a:ext uri="{FF2B5EF4-FFF2-40B4-BE49-F238E27FC236}">
                      <a16:creationId xmlns:a16="http://schemas.microsoft.com/office/drawing/2014/main" id="{8AD28655-F4C6-3E53-DCD6-D231BA5A5A7D}"/>
                    </a:ext>
                  </a:extLst>
                </p:cNvPr>
                <p:cNvSpPr/>
                <p:nvPr/>
              </p:nvSpPr>
              <p:spPr bwMode="auto">
                <a:xfrm>
                  <a:off x="3829108" y="5417189"/>
                  <a:ext cx="1623782" cy="830688"/>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800" b="1">
                    <a:solidFill>
                      <a:prstClr val="black"/>
                    </a:solidFill>
                    <a:latin typeface="+mj-lt"/>
                    <a:cs typeface="Segoe Sans Display" pitchFamily="2" charset="0"/>
                  </a:endParaRPr>
                </a:p>
              </p:txBody>
            </p:sp>
            <p:sp>
              <p:nvSpPr>
                <p:cNvPr id="568" name="Rounded Rectangle 1457">
                  <a:hlinkClick r:id="rId65" tooltip="Windows 10 is designed to protect against known and emerging security threats across the spectrum of attackers and attack vectors. Windows 10 focus on providing excellence in both security and productivity. "/>
                  <a:extLst>
                    <a:ext uri="{FF2B5EF4-FFF2-40B4-BE49-F238E27FC236}">
                      <a16:creationId xmlns:a16="http://schemas.microsoft.com/office/drawing/2014/main" id="{50FB9B94-864A-067E-1651-8D565DD99337}"/>
                    </a:ext>
                  </a:extLst>
                </p:cNvPr>
                <p:cNvSpPr/>
                <p:nvPr/>
              </p:nvSpPr>
              <p:spPr>
                <a:xfrm>
                  <a:off x="3871934" y="5962199"/>
                  <a:ext cx="1203095" cy="183991"/>
                </a:xfrm>
                <a:prstGeom prst="roundRect">
                  <a:avLst>
                    <a:gd name="adj" fmla="val 0"/>
                  </a:avLst>
                </a:prstGeom>
                <a:no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91440" numCol="1"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57150" marR="0" lvl="0" indent="0" algn="l" defTabSz="914400" rtl="0" eaLnBrk="1" fontAlgn="auto" latinLnBrk="0" hangingPunct="1">
                    <a:lnSpc>
                      <a:spcPct val="90000"/>
                    </a:lnSpc>
                    <a:spcBef>
                      <a:spcPts val="0"/>
                    </a:spcBef>
                    <a:spcAft>
                      <a:spcPts val="150"/>
                    </a:spcAft>
                    <a:buClrTx/>
                    <a:buSzTx/>
                    <a:buFontTx/>
                    <a:buNone/>
                    <a:tabLst/>
                    <a:defRPr/>
                  </a:pPr>
                  <a:r>
                    <a:rPr kumimoji="0" lang="en-US" sz="550" b="0" i="1"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Network protection</a:t>
                  </a:r>
                </a:p>
                <a:p>
                  <a:pPr marL="57150" marR="0" lvl="0" indent="0" algn="l" defTabSz="914400" rtl="0" eaLnBrk="1" fontAlgn="auto" latinLnBrk="0" hangingPunct="1">
                    <a:lnSpc>
                      <a:spcPct val="90000"/>
                    </a:lnSpc>
                    <a:spcBef>
                      <a:spcPts val="0"/>
                    </a:spcBef>
                    <a:spcAft>
                      <a:spcPts val="150"/>
                    </a:spcAft>
                    <a:buClrTx/>
                    <a:buSzTx/>
                    <a:buFontTx/>
                    <a:buNone/>
                    <a:tabLst/>
                    <a:defRPr/>
                  </a:pPr>
                  <a:r>
                    <a:rPr kumimoji="0" lang="en-US" sz="550" b="0" i="1"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Credential protection</a:t>
                  </a:r>
                </a:p>
              </p:txBody>
            </p:sp>
            <p:pic>
              <p:nvPicPr>
                <p:cNvPr id="600" name="Picture 599">
                  <a:extLst>
                    <a:ext uri="{FF2B5EF4-FFF2-40B4-BE49-F238E27FC236}">
                      <a16:creationId xmlns:a16="http://schemas.microsoft.com/office/drawing/2014/main" id="{69E0D809-FBCD-DFC2-EBE6-015838D3E04B}"/>
                    </a:ext>
                  </a:extLst>
                </p:cNvPr>
                <p:cNvPicPr>
                  <a:picLocks noChangeAspect="1"/>
                </p:cNvPicPr>
                <p:nvPr/>
              </p:nvPicPr>
              <p:blipFill>
                <a:blip r:embed="rId66">
                  <a:duotone>
                    <a:prstClr val="black"/>
                    <a:schemeClr val="accent1">
                      <a:tint val="45000"/>
                      <a:satMod val="400000"/>
                    </a:schemeClr>
                  </a:duotone>
                </a:blip>
                <a:stretch>
                  <a:fillRect/>
                </a:stretch>
              </p:blipFill>
              <p:spPr>
                <a:xfrm>
                  <a:off x="3926237" y="5465007"/>
                  <a:ext cx="121976" cy="120106"/>
                </a:xfrm>
                <a:prstGeom prst="rect">
                  <a:avLst/>
                </a:prstGeom>
              </p:spPr>
            </p:pic>
            <p:sp>
              <p:nvSpPr>
                <p:cNvPr id="601" name="Rectangle 600">
                  <a:extLst>
                    <a:ext uri="{FF2B5EF4-FFF2-40B4-BE49-F238E27FC236}">
                      <a16:creationId xmlns:a16="http://schemas.microsoft.com/office/drawing/2014/main" id="{065B0017-801B-5232-DB0C-DAD94AE4EA5B}"/>
                    </a:ext>
                  </a:extLst>
                </p:cNvPr>
                <p:cNvSpPr/>
                <p:nvPr/>
              </p:nvSpPr>
              <p:spPr>
                <a:xfrm>
                  <a:off x="4032242" y="5425922"/>
                  <a:ext cx="1329024" cy="211725"/>
                </a:xfrm>
                <a:prstGeom prst="rect">
                  <a:avLst/>
                </a:prstGeom>
                <a:no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t"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8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Windows 11 &amp; 10 Security</a:t>
                  </a:r>
                </a:p>
              </p:txBody>
            </p:sp>
          </p:grpSp>
          <p:sp>
            <p:nvSpPr>
              <p:cNvPr id="12" name="TextBox 11">
                <a:extLst>
                  <a:ext uri="{FF2B5EF4-FFF2-40B4-BE49-F238E27FC236}">
                    <a16:creationId xmlns:a16="http://schemas.microsoft.com/office/drawing/2014/main" id="{CFD25A2C-766C-3776-15C0-DE8328774F98}"/>
                  </a:ext>
                </a:extLst>
              </p:cNvPr>
              <p:cNvSpPr txBox="1"/>
              <p:nvPr/>
            </p:nvSpPr>
            <p:spPr>
              <a:xfrm>
                <a:off x="917529" y="5519636"/>
                <a:ext cx="832784" cy="532921"/>
              </a:xfrm>
              <a:prstGeom prst="rect">
                <a:avLst/>
              </a:prstGeom>
              <a:no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numCol="1" rtlCol="0" anchor="t" anchorCtr="0"/>
              <a:lstStyle>
                <a:defPPr>
                  <a:defRPr lang="en-US"/>
                </a:defPPr>
                <a:lvl1pPr marL="114300">
                  <a:lnSpc>
                    <a:spcPct val="97000"/>
                  </a:lnSpc>
                  <a:spcAft>
                    <a:spcPts val="300"/>
                  </a:spcAft>
                  <a:defRPr sz="750">
                    <a:gradFill>
                      <a:gsLst>
                        <a:gs pos="0">
                          <a:schemeClr val="tx1">
                            <a:lumMod val="75000"/>
                          </a:schemeClr>
                        </a:gs>
                        <a:gs pos="100000">
                          <a:schemeClr val="tx1">
                            <a:lumMod val="75000"/>
                          </a:schemeClr>
                        </a:gs>
                      </a:gsLst>
                      <a:lin ang="5400000" scaled="1"/>
                    </a:gradFill>
                    <a:latin typeface="Segoe UI" panose="020B0502040204020203" pitchFamily="34" charset="0"/>
                    <a:cs typeface="Segoe UI"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4300" marR="0" lvl="0" indent="0" defTabSz="914400" eaLnBrk="1" fontAlgn="auto" latinLnBrk="0" hangingPunct="1">
                  <a:lnSpc>
                    <a:spcPct val="90000"/>
                  </a:lnSpc>
                  <a:spcBef>
                    <a:spcPts val="0"/>
                  </a:spcBef>
                  <a:spcAft>
                    <a:spcPts val="150"/>
                  </a:spcAft>
                  <a:buClrTx/>
                  <a:buSzTx/>
                  <a:buFontTx/>
                  <a:buNone/>
                  <a:tabLst/>
                  <a:defRPr/>
                </a:pPr>
                <a:r>
                  <a:rPr kumimoji="0" lang="en-US" sz="550" b="0" i="1" u="none" strike="noStrike" kern="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Exploit protection</a:t>
                </a:r>
              </a:p>
              <a:p>
                <a:pPr marL="114300" marR="0" lvl="0" indent="0" defTabSz="914400" eaLnBrk="1" fontAlgn="auto" latinLnBrk="0" hangingPunct="1">
                  <a:lnSpc>
                    <a:spcPct val="90000"/>
                  </a:lnSpc>
                  <a:spcBef>
                    <a:spcPts val="0"/>
                  </a:spcBef>
                  <a:spcAft>
                    <a:spcPts val="150"/>
                  </a:spcAft>
                  <a:buClrTx/>
                  <a:buSzTx/>
                  <a:buFontTx/>
                  <a:buNone/>
                  <a:tabLst/>
                  <a:defRPr/>
                </a:pPr>
                <a:r>
                  <a:rPr kumimoji="0" lang="en-US" sz="550" b="0" i="1" u="none" strike="noStrike" kern="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App control</a:t>
                </a:r>
              </a:p>
              <a:p>
                <a:pPr marL="114300" marR="0" lvl="0" indent="0" defTabSz="914400" eaLnBrk="1" fontAlgn="auto" latinLnBrk="0" hangingPunct="1">
                  <a:lnSpc>
                    <a:spcPct val="90000"/>
                  </a:lnSpc>
                  <a:spcBef>
                    <a:spcPts val="0"/>
                  </a:spcBef>
                  <a:spcAft>
                    <a:spcPts val="150"/>
                  </a:spcAft>
                  <a:buClrTx/>
                  <a:buSzTx/>
                  <a:buFontTx/>
                  <a:buNone/>
                  <a:tabLst/>
                  <a:defRPr/>
                </a:pPr>
                <a:r>
                  <a:rPr kumimoji="0" lang="en-US" sz="550" b="0" i="1" u="none" strike="noStrike" kern="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Full Disk Encryption</a:t>
                </a:r>
              </a:p>
              <a:p>
                <a:pPr marL="114300" marR="0" lvl="0" indent="0" defTabSz="914400" eaLnBrk="1" fontAlgn="auto" latinLnBrk="0" hangingPunct="1">
                  <a:lnSpc>
                    <a:spcPct val="90000"/>
                  </a:lnSpc>
                  <a:spcBef>
                    <a:spcPts val="0"/>
                  </a:spcBef>
                  <a:spcAft>
                    <a:spcPts val="150"/>
                  </a:spcAft>
                  <a:buClrTx/>
                  <a:buSzTx/>
                  <a:buFontTx/>
                  <a:buNone/>
                  <a:tabLst/>
                  <a:defRPr/>
                </a:pPr>
                <a:r>
                  <a:rPr kumimoji="0" lang="en-US" sz="550" b="0" i="1" u="none" strike="noStrike" kern="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Attack surface</a:t>
                </a:r>
                <a:br>
                  <a:rPr kumimoji="0" lang="en-US" sz="550" b="0" i="1" u="none" strike="noStrike" kern="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br>
                <a:r>
                  <a:rPr kumimoji="0" lang="en-US" sz="550" b="0" i="1" u="none" strike="noStrike" kern="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reduction</a:t>
                </a:r>
              </a:p>
            </p:txBody>
          </p:sp>
        </p:grpSp>
        <p:grpSp>
          <p:nvGrpSpPr>
            <p:cNvPr id="551" name="Group 550">
              <a:extLst>
                <a:ext uri="{FF2B5EF4-FFF2-40B4-BE49-F238E27FC236}">
                  <a16:creationId xmlns:a16="http://schemas.microsoft.com/office/drawing/2014/main" id="{F84DA765-9E0F-1AF5-AA66-5C77543D0148}"/>
                </a:ext>
              </a:extLst>
            </p:cNvPr>
            <p:cNvGrpSpPr/>
            <p:nvPr/>
          </p:nvGrpSpPr>
          <p:grpSpPr>
            <a:xfrm>
              <a:off x="1184453" y="6203698"/>
              <a:ext cx="188672" cy="45740"/>
              <a:chOff x="6297188" y="3865066"/>
              <a:chExt cx="188672" cy="45740"/>
            </a:xfrm>
            <a:solidFill>
              <a:srgbClr val="8D8D8D"/>
            </a:solidFill>
          </p:grpSpPr>
          <p:sp>
            <p:nvSpPr>
              <p:cNvPr id="556" name="Oval 555">
                <a:extLst>
                  <a:ext uri="{FF2B5EF4-FFF2-40B4-BE49-F238E27FC236}">
                    <a16:creationId xmlns:a16="http://schemas.microsoft.com/office/drawing/2014/main" id="{C76A9D68-D7AA-FFB6-E92D-1205996F5F38}"/>
                  </a:ext>
                </a:extLst>
              </p:cNvPr>
              <p:cNvSpPr/>
              <p:nvPr/>
            </p:nvSpPr>
            <p:spPr bwMode="auto">
              <a:xfrm>
                <a:off x="6297188" y="3865066"/>
                <a:ext cx="45720" cy="45718"/>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79" name="Oval 578">
                <a:extLst>
                  <a:ext uri="{FF2B5EF4-FFF2-40B4-BE49-F238E27FC236}">
                    <a16:creationId xmlns:a16="http://schemas.microsoft.com/office/drawing/2014/main" id="{14139520-91E2-DA2E-97C7-B192642678DD}"/>
                  </a:ext>
                </a:extLst>
              </p:cNvPr>
              <p:cNvSpPr/>
              <p:nvPr/>
            </p:nvSpPr>
            <p:spPr bwMode="auto">
              <a:xfrm>
                <a:off x="6368664" y="3865070"/>
                <a:ext cx="45720" cy="45717"/>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80" name="Oval 579">
                <a:extLst>
                  <a:ext uri="{FF2B5EF4-FFF2-40B4-BE49-F238E27FC236}">
                    <a16:creationId xmlns:a16="http://schemas.microsoft.com/office/drawing/2014/main" id="{21D56FEC-B9BA-3B89-4A19-6A648251C002}"/>
                  </a:ext>
                </a:extLst>
              </p:cNvPr>
              <p:cNvSpPr/>
              <p:nvPr/>
            </p:nvSpPr>
            <p:spPr bwMode="auto">
              <a:xfrm>
                <a:off x="6440140" y="3865087"/>
                <a:ext cx="45720" cy="45719"/>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486" name="Group 485">
            <a:extLst>
              <a:ext uri="{FF2B5EF4-FFF2-40B4-BE49-F238E27FC236}">
                <a16:creationId xmlns:a16="http://schemas.microsoft.com/office/drawing/2014/main" id="{62C1E3E7-AA13-28DD-B263-33125111B0C8}"/>
              </a:ext>
            </a:extLst>
          </p:cNvPr>
          <p:cNvGrpSpPr/>
          <p:nvPr/>
        </p:nvGrpSpPr>
        <p:grpSpPr>
          <a:xfrm>
            <a:off x="155473" y="78036"/>
            <a:ext cx="4445764" cy="1921385"/>
            <a:chOff x="155473" y="80170"/>
            <a:chExt cx="4445764" cy="1743554"/>
          </a:xfrm>
        </p:grpSpPr>
        <p:sp>
          <p:nvSpPr>
            <p:cNvPr id="487" name="Rectangle 486">
              <a:extLst>
                <a:ext uri="{FF2B5EF4-FFF2-40B4-BE49-F238E27FC236}">
                  <a16:creationId xmlns:a16="http://schemas.microsoft.com/office/drawing/2014/main" id="{109CA6EA-F842-46F2-0412-11E1550E6C5A}"/>
                </a:ext>
              </a:extLst>
            </p:cNvPr>
            <p:cNvSpPr/>
            <p:nvPr/>
          </p:nvSpPr>
          <p:spPr bwMode="auto">
            <a:xfrm>
              <a:off x="178712" y="101084"/>
              <a:ext cx="4422525" cy="1722640"/>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lstStyle/>
            <a:p>
              <a:pPr algn="ctr"/>
              <a:endParaRPr lang="en-US" sz="1200" b="1">
                <a:solidFill>
                  <a:prstClr val="black"/>
                </a:solidFill>
                <a:latin typeface="Segoe Sans Display Semibold"/>
                <a:cs typeface="Segoe Sans Display" pitchFamily="2" charset="0"/>
              </a:endParaRPr>
            </a:p>
          </p:txBody>
        </p:sp>
        <p:sp>
          <p:nvSpPr>
            <p:cNvPr id="488" name="Rectangle 487">
              <a:extLst>
                <a:ext uri="{FF2B5EF4-FFF2-40B4-BE49-F238E27FC236}">
                  <a16:creationId xmlns:a16="http://schemas.microsoft.com/office/drawing/2014/main" id="{6C3B34E9-9DD0-A3AF-AFD0-3A88C8AE7BEF}"/>
                </a:ext>
              </a:extLst>
            </p:cNvPr>
            <p:cNvSpPr/>
            <p:nvPr/>
          </p:nvSpPr>
          <p:spPr>
            <a:xfrm>
              <a:off x="155473" y="80170"/>
              <a:ext cx="4416527" cy="27929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rPr>
                <a:t>Security Operations (SecOps/SOC)</a:t>
              </a:r>
            </a:p>
          </p:txBody>
        </p:sp>
      </p:grpSp>
      <p:cxnSp>
        <p:nvCxnSpPr>
          <p:cNvPr id="92" name="Straight Connector 91">
            <a:extLst>
              <a:ext uri="{FF2B5EF4-FFF2-40B4-BE49-F238E27FC236}">
                <a16:creationId xmlns:a16="http://schemas.microsoft.com/office/drawing/2014/main" id="{01836278-02BF-FDBF-EF8F-A35BBF554149}"/>
              </a:ext>
            </a:extLst>
          </p:cNvPr>
          <p:cNvCxnSpPr>
            <a:cxnSpLocks/>
          </p:cNvCxnSpPr>
          <p:nvPr/>
        </p:nvCxnSpPr>
        <p:spPr>
          <a:xfrm>
            <a:off x="1107439" y="3021093"/>
            <a:ext cx="0" cy="237345"/>
          </a:xfrm>
          <a:prstGeom prst="line">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cxnSp>
      <p:cxnSp>
        <p:nvCxnSpPr>
          <p:cNvPr id="630" name="Straight Connector 629">
            <a:extLst>
              <a:ext uri="{FF2B5EF4-FFF2-40B4-BE49-F238E27FC236}">
                <a16:creationId xmlns:a16="http://schemas.microsoft.com/office/drawing/2014/main" id="{24D113CA-A1AE-FDB9-9DDD-61369DDEEC8B}"/>
              </a:ext>
            </a:extLst>
          </p:cNvPr>
          <p:cNvCxnSpPr>
            <a:cxnSpLocks/>
          </p:cNvCxnSpPr>
          <p:nvPr/>
        </p:nvCxnSpPr>
        <p:spPr>
          <a:xfrm>
            <a:off x="1107439" y="3690887"/>
            <a:ext cx="0" cy="151369"/>
          </a:xfrm>
          <a:prstGeom prst="line">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44" name="Rectangle 43">
            <a:extLst>
              <a:ext uri="{FF2B5EF4-FFF2-40B4-BE49-F238E27FC236}">
                <a16:creationId xmlns:a16="http://schemas.microsoft.com/office/drawing/2014/main" id="{464BD846-620A-5060-4AFD-C5DD04FE3078}"/>
              </a:ext>
            </a:extLst>
          </p:cNvPr>
          <p:cNvSpPr/>
          <p:nvPr/>
        </p:nvSpPr>
        <p:spPr bwMode="auto">
          <a:xfrm>
            <a:off x="193454" y="3281662"/>
            <a:ext cx="1778266" cy="370937"/>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r"/>
            <a:r>
              <a:rPr lang="en-US" sz="1200" b="1">
                <a:solidFill>
                  <a:prstClr val="black"/>
                </a:solidFill>
                <a:latin typeface="Segoe Sans Display Semibold"/>
                <a:cs typeface="Segoe Sans Display" pitchFamily="2" charset="0"/>
              </a:rPr>
              <a:t>v</a:t>
            </a:r>
          </a:p>
        </p:txBody>
      </p:sp>
      <p:sp>
        <p:nvSpPr>
          <p:cNvPr id="622" name="Rectangle 621">
            <a:hlinkClick r:id="rId67" tooltip="Microsoft Defender for Endpoints (formerly Defender ATP) provides Endpoint Detection and Response (EDR), Threat and Vulnerability Management (TVM),  automated incident investigation/remediation, and more for Windows, Linux, iOS, and Android"/>
            <a:extLst>
              <a:ext uri="{FF2B5EF4-FFF2-40B4-BE49-F238E27FC236}">
                <a16:creationId xmlns:a16="http://schemas.microsoft.com/office/drawing/2014/main" id="{C6DCBB68-9491-7844-08CB-15A8D181EC14}"/>
              </a:ext>
            </a:extLst>
          </p:cNvPr>
          <p:cNvSpPr/>
          <p:nvPr/>
        </p:nvSpPr>
        <p:spPr>
          <a:xfrm>
            <a:off x="193454" y="3809380"/>
            <a:ext cx="1746281" cy="1058315"/>
          </a:xfrm>
          <a:prstGeom prst="rect">
            <a:avLst/>
          </a:prstGeom>
          <a:solidFill>
            <a:srgbClr val="C3E5FF"/>
          </a:solidFill>
          <a:ln w="9525">
            <a:solidFill>
              <a:schemeClr val="bg1"/>
            </a:solidFill>
            <a:prstDash val="solid"/>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7000"/>
              </a:lnSpc>
              <a:spcBef>
                <a:spcPts val="0"/>
              </a:spcBef>
              <a:spcAft>
                <a:spcPts val="100"/>
              </a:spcAft>
              <a:buClrTx/>
              <a:buSzTx/>
              <a:buFontTx/>
              <a:buNone/>
              <a:tabLst>
                <a:tab pos="1028700" algn="l"/>
              </a:tabLst>
              <a:defRPr/>
            </a:pPr>
            <a:r>
              <a:rPr kumimoji="0" lang="en-US" sz="750" b="1"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Semibold" panose="020B0702040204020203" pitchFamily="34" charset="0"/>
                <a:cs typeface="Segoe UI Semibold" panose="020B0702040204020203" pitchFamily="34" charset="0"/>
              </a:rPr>
              <a:t> Microsoft Defender for Endpoint</a:t>
            </a:r>
          </a:p>
          <a:p>
            <a:pPr marL="0" marR="0" lvl="0" indent="0" algn="ctr" defTabSz="914400" rtl="0" eaLnBrk="1" fontAlgn="auto" latinLnBrk="0" hangingPunct="1">
              <a:lnSpc>
                <a:spcPct val="97000"/>
              </a:lnSpc>
              <a:spcBef>
                <a:spcPts val="0"/>
              </a:spcBef>
              <a:spcAft>
                <a:spcPts val="300"/>
              </a:spcAft>
              <a:buClrTx/>
              <a:buSzTx/>
              <a:buFontTx/>
              <a:buNone/>
              <a:tabLst>
                <a:tab pos="1028700" algn="l"/>
              </a:tabLst>
              <a:defRPr/>
            </a:pPr>
            <a:r>
              <a:rPr kumimoji="0" lang="en-US" sz="700" b="0"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panose="020B0502040204020203" pitchFamily="34" charset="0"/>
                <a:ea typeface="+mn-ea"/>
                <a:cs typeface="Segoe UI" panose="020B0502040204020203" pitchFamily="34" charset="0"/>
              </a:rPr>
              <a:t>Unified Endpoint Security</a:t>
            </a:r>
          </a:p>
        </p:txBody>
      </p:sp>
      <p:sp>
        <p:nvSpPr>
          <p:cNvPr id="4" name="Rectangle 3">
            <a:hlinkClick r:id="rId68"/>
            <a:extLst>
              <a:ext uri="{FF2B5EF4-FFF2-40B4-BE49-F238E27FC236}">
                <a16:creationId xmlns:a16="http://schemas.microsoft.com/office/drawing/2014/main" id="{D6D2CB4B-2C23-E6D4-2C98-C32BA89B0339}"/>
              </a:ext>
            </a:extLst>
          </p:cNvPr>
          <p:cNvSpPr/>
          <p:nvPr/>
        </p:nvSpPr>
        <p:spPr>
          <a:xfrm>
            <a:off x="356243" y="4589983"/>
            <a:ext cx="1420702" cy="135066"/>
          </a:xfrm>
          <a:prstGeom prst="rect">
            <a:avLst/>
          </a:prstGeom>
          <a:solidFill>
            <a:schemeClr val="bg1"/>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Semibold" panose="020B0702040204020203" pitchFamily="34" charset="0"/>
                <a:cs typeface="Segoe UI Semibold" panose="020B0702040204020203" pitchFamily="34" charset="0"/>
              </a:rPr>
              <a:t>Endpoint Data Loss Protection (DLP)</a:t>
            </a:r>
          </a:p>
        </p:txBody>
      </p:sp>
      <p:sp>
        <p:nvSpPr>
          <p:cNvPr id="6" name="Rectangle 5">
            <a:hlinkClick r:id="rId69"/>
            <a:extLst>
              <a:ext uri="{FF2B5EF4-FFF2-40B4-BE49-F238E27FC236}">
                <a16:creationId xmlns:a16="http://schemas.microsoft.com/office/drawing/2014/main" id="{B3988C6B-2A57-5D5B-B202-7A242E980882}"/>
              </a:ext>
            </a:extLst>
          </p:cNvPr>
          <p:cNvSpPr/>
          <p:nvPr/>
        </p:nvSpPr>
        <p:spPr>
          <a:xfrm>
            <a:off x="356243" y="4268624"/>
            <a:ext cx="1420702" cy="135066"/>
          </a:xfrm>
          <a:prstGeom prst="rect">
            <a:avLst/>
          </a:prstGeom>
          <a:solidFill>
            <a:schemeClr val="bg1"/>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Semibold" panose="020B0702040204020203" pitchFamily="34" charset="0"/>
                <a:cs typeface="Segoe UI Semibold" panose="020B0702040204020203" pitchFamily="34" charset="0"/>
              </a:rPr>
              <a:t>Web Content Filtering</a:t>
            </a:r>
          </a:p>
        </p:txBody>
      </p:sp>
      <p:grpSp>
        <p:nvGrpSpPr>
          <p:cNvPr id="28" name="Group 27">
            <a:extLst>
              <a:ext uri="{FF2B5EF4-FFF2-40B4-BE49-F238E27FC236}">
                <a16:creationId xmlns:a16="http://schemas.microsoft.com/office/drawing/2014/main" id="{C9732F46-0A21-86C4-AB59-0624A7C5BF07}"/>
              </a:ext>
            </a:extLst>
          </p:cNvPr>
          <p:cNvGrpSpPr/>
          <p:nvPr/>
        </p:nvGrpSpPr>
        <p:grpSpPr>
          <a:xfrm>
            <a:off x="972258" y="4776164"/>
            <a:ext cx="188672" cy="45740"/>
            <a:chOff x="6071763" y="3898466"/>
            <a:chExt cx="188672" cy="45740"/>
          </a:xfrm>
          <a:solidFill>
            <a:srgbClr val="0078D7"/>
          </a:solidFill>
        </p:grpSpPr>
        <p:sp>
          <p:nvSpPr>
            <p:cNvPr id="9" name="Oval 8">
              <a:extLst>
                <a:ext uri="{FF2B5EF4-FFF2-40B4-BE49-F238E27FC236}">
                  <a16:creationId xmlns:a16="http://schemas.microsoft.com/office/drawing/2014/main" id="{D1608305-736A-2734-9C6F-A9F5406BC61E}"/>
                </a:ext>
              </a:extLst>
            </p:cNvPr>
            <p:cNvSpPr/>
            <p:nvPr/>
          </p:nvSpPr>
          <p:spPr bwMode="auto">
            <a:xfrm>
              <a:off x="6071763" y="3898466"/>
              <a:ext cx="45720" cy="45718"/>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 name="Oval 13">
              <a:extLst>
                <a:ext uri="{FF2B5EF4-FFF2-40B4-BE49-F238E27FC236}">
                  <a16:creationId xmlns:a16="http://schemas.microsoft.com/office/drawing/2014/main" id="{ECF2C366-5E1A-1465-601E-16497DE20A76}"/>
                </a:ext>
              </a:extLst>
            </p:cNvPr>
            <p:cNvSpPr/>
            <p:nvPr/>
          </p:nvSpPr>
          <p:spPr bwMode="auto">
            <a:xfrm>
              <a:off x="6143239" y="3898470"/>
              <a:ext cx="45720" cy="45717"/>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2" name="Oval 21">
              <a:extLst>
                <a:ext uri="{FF2B5EF4-FFF2-40B4-BE49-F238E27FC236}">
                  <a16:creationId xmlns:a16="http://schemas.microsoft.com/office/drawing/2014/main" id="{E54BFB67-F69A-00AA-9B91-85301D2B8962}"/>
                </a:ext>
              </a:extLst>
            </p:cNvPr>
            <p:cNvSpPr/>
            <p:nvPr/>
          </p:nvSpPr>
          <p:spPr bwMode="auto">
            <a:xfrm>
              <a:off x="6214715" y="3898487"/>
              <a:ext cx="45720" cy="45719"/>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Rectangle 31">
            <a:hlinkClick r:id="rId67" tooltip="Microsoft Defender for Endpoints (formerly Defender ATP) provides Endpoint Detection and Response (EDR), Threat and Vulnerability Management (TVM),  automated incident investigation/remediation, and more for Windows, Linux, iOS, and Android"/>
            <a:extLst>
              <a:ext uri="{FF2B5EF4-FFF2-40B4-BE49-F238E27FC236}">
                <a16:creationId xmlns:a16="http://schemas.microsoft.com/office/drawing/2014/main" id="{6EB54EF7-8E56-34D1-41B0-9B4E099D960D}"/>
              </a:ext>
            </a:extLst>
          </p:cNvPr>
          <p:cNvSpPr/>
          <p:nvPr/>
        </p:nvSpPr>
        <p:spPr>
          <a:xfrm>
            <a:off x="356243" y="4107944"/>
            <a:ext cx="1420702" cy="135066"/>
          </a:xfrm>
          <a:prstGeom prst="rect">
            <a:avLst/>
          </a:prstGeom>
          <a:solidFill>
            <a:schemeClr val="bg1"/>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Semibold" panose="020B0702040204020203" pitchFamily="34" charset="0"/>
                <a:cs typeface="Segoe UI Semibold" panose="020B0702040204020203" pitchFamily="34" charset="0"/>
              </a:rPr>
              <a:t>Endpoint Detection &amp; Response (EDR)</a:t>
            </a:r>
          </a:p>
        </p:txBody>
      </p:sp>
      <p:sp>
        <p:nvSpPr>
          <p:cNvPr id="33" name="Rectangle 32">
            <a:hlinkClick r:id="rId70"/>
            <a:extLst>
              <a:ext uri="{FF2B5EF4-FFF2-40B4-BE49-F238E27FC236}">
                <a16:creationId xmlns:a16="http://schemas.microsoft.com/office/drawing/2014/main" id="{B7D43320-BCBE-5572-64E8-E625AF0A3000}"/>
              </a:ext>
            </a:extLst>
          </p:cNvPr>
          <p:cNvSpPr/>
          <p:nvPr/>
        </p:nvSpPr>
        <p:spPr>
          <a:xfrm>
            <a:off x="356243" y="4429304"/>
            <a:ext cx="1420702" cy="135066"/>
          </a:xfrm>
          <a:prstGeom prst="rect">
            <a:avLst/>
          </a:prstGeom>
          <a:solidFill>
            <a:schemeClr val="bg1"/>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Semibold" panose="020B0702040204020203" pitchFamily="34" charset="0"/>
                <a:cs typeface="Segoe UI Semibold" panose="020B0702040204020203" pitchFamily="34" charset="0"/>
              </a:rPr>
              <a:t>Threat &amp; Vuln Management</a:t>
            </a:r>
          </a:p>
        </p:txBody>
      </p:sp>
      <p:cxnSp>
        <p:nvCxnSpPr>
          <p:cNvPr id="617" name="Straight Connector 616">
            <a:extLst>
              <a:ext uri="{FF2B5EF4-FFF2-40B4-BE49-F238E27FC236}">
                <a16:creationId xmlns:a16="http://schemas.microsoft.com/office/drawing/2014/main" id="{B6FB2EFE-8455-BDD6-BB8D-CBDC39F2616B}"/>
              </a:ext>
            </a:extLst>
          </p:cNvPr>
          <p:cNvCxnSpPr>
            <a:cxnSpLocks/>
          </p:cNvCxnSpPr>
          <p:nvPr/>
        </p:nvCxnSpPr>
        <p:spPr>
          <a:xfrm>
            <a:off x="6711363" y="3121046"/>
            <a:ext cx="0" cy="2452014"/>
          </a:xfrm>
          <a:prstGeom prst="line">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58672122-A648-35AE-4C99-41ACF19D3DBC}"/>
              </a:ext>
            </a:extLst>
          </p:cNvPr>
          <p:cNvGrpSpPr/>
          <p:nvPr/>
        </p:nvGrpSpPr>
        <p:grpSpPr>
          <a:xfrm>
            <a:off x="3053186" y="5532991"/>
            <a:ext cx="5138706" cy="785136"/>
            <a:chOff x="3053186" y="5532991"/>
            <a:chExt cx="5138706" cy="785136"/>
          </a:xfrm>
        </p:grpSpPr>
        <p:sp>
          <p:nvSpPr>
            <p:cNvPr id="149" name="L-Shape 148">
              <a:hlinkClick r:id="rId71" tooltip="(formerly ASC Standard) provides XDR capabilities designed to simplify detection, automated investigation and response for Azure resources (Linux and Windows VMs, Networks, Kubernetes/Containers, SQL, Storage, IoT/OT, and more) "/>
              <a:extLst>
                <a:ext uri="{FF2B5EF4-FFF2-40B4-BE49-F238E27FC236}">
                  <a16:creationId xmlns:a16="http://schemas.microsoft.com/office/drawing/2014/main" id="{D91264BD-C5C2-0555-DB32-40B7099306ED}"/>
                </a:ext>
              </a:extLst>
            </p:cNvPr>
            <p:cNvSpPr/>
            <p:nvPr/>
          </p:nvSpPr>
          <p:spPr bwMode="auto">
            <a:xfrm flipH="1">
              <a:off x="3053186" y="5532991"/>
              <a:ext cx="5092220" cy="785136"/>
            </a:xfrm>
            <a:prstGeom prst="corner">
              <a:avLst>
                <a:gd name="adj1" fmla="val 65944"/>
                <a:gd name="adj2" fmla="val 338827"/>
              </a:avLst>
            </a:prstGeom>
            <a:solidFill>
              <a:srgbClr val="C3E5FF"/>
            </a:solidFill>
            <a:ln w="9525">
              <a:solidFill>
                <a:schemeClr val="bg1"/>
              </a:solidFill>
              <a:prstDash val="solid"/>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t">
              <a:noAutofit/>
            </a:bodyPr>
            <a:lstStyle/>
            <a:p>
              <a:pPr marL="2343150" marR="0" lvl="0" indent="0" algn="ctr" defTabSz="914400" rtl="0" eaLnBrk="1" fontAlgn="auto" latinLnBrk="0" hangingPunct="1">
                <a:lnSpc>
                  <a:spcPct val="97000"/>
                </a:lnSpc>
                <a:spcBef>
                  <a:spcPts val="0"/>
                </a:spcBef>
                <a:spcAft>
                  <a:spcPts val="0"/>
                </a:spcAft>
                <a:buClrTx/>
                <a:buSzTx/>
                <a:buFontTx/>
                <a:buNone/>
                <a:tabLst/>
                <a:defRPr/>
              </a:pPr>
              <a:endParaRPr kumimoji="0" lang="en-US" sz="750" b="1"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highlight>
                  <a:srgbClr val="FFFF00"/>
                </a:highlight>
                <a:uLnTx/>
                <a:uFillTx/>
                <a:latin typeface="Segoe UI" panose="020B0502040204020203" pitchFamily="34" charset="0"/>
                <a:ea typeface="+mn-ea"/>
                <a:cs typeface="Segoe UI" panose="020B0502040204020203" pitchFamily="34" charset="0"/>
              </a:endParaRPr>
            </a:p>
          </p:txBody>
        </p:sp>
        <p:sp>
          <p:nvSpPr>
            <p:cNvPr id="891" name="TextBox 890">
              <a:hlinkClick r:id="rId72" tooltip="Microsoft Defender for Cloud provides XDR and CSPM capabilities to posture management and security operations for Azure, AWS, GCP, and on-premises resources (VMs, Networks, Kubernetes/Containers, SQL, Storage, IoT/OT, &amp; more)"/>
              <a:extLst>
                <a:ext uri="{FF2B5EF4-FFF2-40B4-BE49-F238E27FC236}">
                  <a16:creationId xmlns:a16="http://schemas.microsoft.com/office/drawing/2014/main" id="{69354685-BD69-CBF7-9D62-05FC94A788AD}"/>
                </a:ext>
              </a:extLst>
            </p:cNvPr>
            <p:cNvSpPr txBox="1"/>
            <p:nvPr/>
          </p:nvSpPr>
          <p:spPr>
            <a:xfrm>
              <a:off x="5463208" y="5549081"/>
              <a:ext cx="2728684" cy="564514"/>
            </a:xfrm>
            <a:prstGeom prst="rect">
              <a:avLst/>
            </a:prstGeom>
            <a:noFill/>
          </p:spPr>
          <p:txBody>
            <a:bodyPr wrap="square">
              <a:spAutoFit/>
            </a:bodyPr>
            <a:lstStyle/>
            <a:p>
              <a:pPr marL="0" marR="0" lvl="0" indent="0" algn="ctr" defTabSz="914400" rtl="0" eaLnBrk="1" fontAlgn="auto" latinLnBrk="0" hangingPunct="1">
                <a:lnSpc>
                  <a:spcPct val="97000"/>
                </a:lnSpc>
                <a:spcBef>
                  <a:spcPts val="0"/>
                </a:spcBef>
                <a:spcAft>
                  <a:spcPts val="200"/>
                </a:spcAft>
                <a:buClrTx/>
                <a:buSzTx/>
                <a:buFontTx/>
                <a:buNone/>
                <a:tabLst/>
                <a:defRPr/>
              </a:pPr>
              <a:r>
                <a:rPr kumimoji="0" lang="en-US" sz="800"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Defender for Cloud </a:t>
              </a:r>
              <a:r>
                <a:rPr kumimoji="0" lang="en-US" sz="800" b="1" i="0" u="none" strike="noStrike" kern="1200" cap="none" spc="0" normalizeH="0" baseline="0" noProof="0">
                  <a:ln>
                    <a:noFill/>
                  </a:ln>
                  <a:effectLst/>
                  <a:uLnTx/>
                  <a:uFillTx/>
                  <a:latin typeface="Segoe UI" panose="020B0502040204020203" pitchFamily="34" charset="0"/>
                  <a:cs typeface="Segoe UI" panose="020B0502040204020203" pitchFamily="34" charset="0"/>
                </a:rPr>
                <a:t>– </a:t>
              </a:r>
              <a:r>
                <a:rPr kumimoji="0" lang="en-US" sz="800" b="0" i="0" u="none" strike="noStrike" kern="1200" cap="none" spc="0" normalizeH="0" baseline="0" noProof="0">
                  <a:ln>
                    <a:noFill/>
                  </a:ln>
                  <a:effectLst/>
                  <a:uLnTx/>
                  <a:uFillTx/>
                  <a:latin typeface="Segoe UI" panose="020B0502040204020203" pitchFamily="34" charset="0"/>
                  <a:cs typeface="Segoe UI" panose="020B0502040204020203" pitchFamily="34" charset="0"/>
                </a:rPr>
                <a:t>Cross-Platform, Multi-Cloud XDR</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50" b="0" i="1"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Detection and response capabilities for infrastructure and development across IaaS, PaaS, and on-premises</a:t>
              </a:r>
            </a:p>
            <a:p>
              <a:pPr marL="0" marR="0" lvl="0" indent="0" algn="ctr" defTabSz="914400" rtl="0" eaLnBrk="1" fontAlgn="auto" latinLnBrk="0" hangingPunct="1">
                <a:lnSpc>
                  <a:spcPct val="97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Segoe UI" panose="020B0502040204020203" pitchFamily="34" charset="0"/>
                <a:ea typeface="+mn-ea"/>
                <a:cs typeface="Segoe UI" panose="020B0502040204020203" pitchFamily="34" charset="0"/>
              </a:endParaRPr>
            </a:p>
          </p:txBody>
        </p:sp>
        <p:grpSp>
          <p:nvGrpSpPr>
            <p:cNvPr id="124" name="Group 123">
              <a:extLst>
                <a:ext uri="{FF2B5EF4-FFF2-40B4-BE49-F238E27FC236}">
                  <a16:creationId xmlns:a16="http://schemas.microsoft.com/office/drawing/2014/main" id="{5E8EEED7-E150-A042-1907-DBF0C5340053}"/>
                </a:ext>
              </a:extLst>
            </p:cNvPr>
            <p:cNvGrpSpPr/>
            <p:nvPr/>
          </p:nvGrpSpPr>
          <p:grpSpPr>
            <a:xfrm>
              <a:off x="4739609" y="5987595"/>
              <a:ext cx="3346444" cy="286748"/>
              <a:chOff x="4739609" y="5987595"/>
              <a:chExt cx="3346444" cy="286748"/>
            </a:xfrm>
          </p:grpSpPr>
          <p:sp>
            <p:nvSpPr>
              <p:cNvPr id="46" name="Rectangle: Rounded Corners 45">
                <a:extLst>
                  <a:ext uri="{FF2B5EF4-FFF2-40B4-BE49-F238E27FC236}">
                    <a16:creationId xmlns:a16="http://schemas.microsoft.com/office/drawing/2014/main" id="{C3524D57-4F49-77DE-980E-D14608DE2896}"/>
                  </a:ext>
                </a:extLst>
              </p:cNvPr>
              <p:cNvSpPr/>
              <p:nvPr/>
            </p:nvSpPr>
            <p:spPr bwMode="auto">
              <a:xfrm>
                <a:off x="4739609" y="5987595"/>
                <a:ext cx="3346444" cy="286748"/>
              </a:xfrm>
              <a:prstGeom prst="roundRect">
                <a:avLst>
                  <a:gd name="adj" fmla="val 0"/>
                </a:avLst>
              </a:prstGeom>
              <a:solidFill>
                <a:schemeClr val="bg1"/>
              </a:solidFill>
              <a:ln>
                <a:noFill/>
                <a:headEnd type="none" w="med" len="med"/>
                <a:tailEnd type="none" w="med" len="med"/>
              </a:ln>
              <a:effectLst>
                <a:softEdge rad="3175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21" name="Picture 171">
                <a:extLst>
                  <a:ext uri="{FF2B5EF4-FFF2-40B4-BE49-F238E27FC236}">
                    <a16:creationId xmlns:a16="http://schemas.microsoft.com/office/drawing/2014/main" id="{E3B39AAD-D6F9-F9EA-3D9C-66293C33BC51}"/>
                  </a:ext>
                </a:extLst>
              </p:cNvPr>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4866207" y="6056637"/>
                <a:ext cx="148615" cy="148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7" name="Picture 806">
                <a:extLst>
                  <a:ext uri="{FF2B5EF4-FFF2-40B4-BE49-F238E27FC236}">
                    <a16:creationId xmlns:a16="http://schemas.microsoft.com/office/drawing/2014/main" id="{746A9494-52C8-1EF4-7056-6151D7BE9625}"/>
                  </a:ext>
                </a:extLst>
              </p:cNvPr>
              <p:cNvPicPr>
                <a:picLocks noChangeAspect="1"/>
              </p:cNvPicPr>
              <p:nvPr/>
            </p:nvPicPr>
            <p:blipFill>
              <a:blip r:embed="rId73"/>
              <a:stretch>
                <a:fillRect/>
              </a:stretch>
            </p:blipFill>
            <p:spPr>
              <a:xfrm>
                <a:off x="5252931" y="6072611"/>
                <a:ext cx="102167" cy="116716"/>
              </a:xfrm>
              <a:prstGeom prst="rect">
                <a:avLst/>
              </a:prstGeom>
            </p:spPr>
          </p:pic>
          <p:pic>
            <p:nvPicPr>
              <p:cNvPr id="808" name="Picture 807">
                <a:extLst>
                  <a:ext uri="{FF2B5EF4-FFF2-40B4-BE49-F238E27FC236}">
                    <a16:creationId xmlns:a16="http://schemas.microsoft.com/office/drawing/2014/main" id="{81CD7901-1721-8F55-36CF-C8C3E74977C1}"/>
                  </a:ext>
                </a:extLst>
              </p:cNvPr>
              <p:cNvPicPr>
                <a:picLocks noChangeAspect="1"/>
              </p:cNvPicPr>
              <p:nvPr/>
            </p:nvPicPr>
            <p:blipFill>
              <a:blip r:embed="rId74"/>
              <a:stretch>
                <a:fillRect/>
              </a:stretch>
            </p:blipFill>
            <p:spPr>
              <a:xfrm>
                <a:off x="6518059" y="6057557"/>
                <a:ext cx="161926" cy="146825"/>
              </a:xfrm>
              <a:prstGeom prst="rect">
                <a:avLst/>
              </a:prstGeom>
            </p:spPr>
          </p:pic>
          <p:pic>
            <p:nvPicPr>
              <p:cNvPr id="809" name="Picture 808">
                <a:extLst>
                  <a:ext uri="{FF2B5EF4-FFF2-40B4-BE49-F238E27FC236}">
                    <a16:creationId xmlns:a16="http://schemas.microsoft.com/office/drawing/2014/main" id="{2E7F433F-4E05-81EE-72F7-63D8FE094E79}"/>
                  </a:ext>
                </a:extLst>
              </p:cNvPr>
              <p:cNvPicPr>
                <a:picLocks noChangeAspect="1"/>
              </p:cNvPicPr>
              <p:nvPr/>
            </p:nvPicPr>
            <p:blipFill>
              <a:blip r:embed="rId75"/>
              <a:stretch>
                <a:fillRect/>
              </a:stretch>
            </p:blipFill>
            <p:spPr>
              <a:xfrm>
                <a:off x="7546787" y="6066521"/>
                <a:ext cx="142280" cy="128897"/>
              </a:xfrm>
              <a:prstGeom prst="rect">
                <a:avLst/>
              </a:prstGeom>
            </p:spPr>
          </p:pic>
          <p:pic>
            <p:nvPicPr>
              <p:cNvPr id="810" name="Picture 809">
                <a:extLst>
                  <a:ext uri="{FF2B5EF4-FFF2-40B4-BE49-F238E27FC236}">
                    <a16:creationId xmlns:a16="http://schemas.microsoft.com/office/drawing/2014/main" id="{97A1CC3C-0D1B-732B-2FAD-C5E4C7CA0C9B}"/>
                  </a:ext>
                </a:extLst>
              </p:cNvPr>
              <p:cNvPicPr>
                <a:picLocks noChangeAspect="1"/>
              </p:cNvPicPr>
              <p:nvPr/>
            </p:nvPicPr>
            <p:blipFill>
              <a:blip r:embed="rId76"/>
              <a:stretch>
                <a:fillRect/>
              </a:stretch>
            </p:blipFill>
            <p:spPr>
              <a:xfrm>
                <a:off x="5086415" y="6076475"/>
                <a:ext cx="94923" cy="108989"/>
              </a:xfrm>
              <a:prstGeom prst="rect">
                <a:avLst/>
              </a:prstGeom>
            </p:spPr>
          </p:pic>
          <p:pic>
            <p:nvPicPr>
              <p:cNvPr id="811" name="図 379">
                <a:extLst>
                  <a:ext uri="{FF2B5EF4-FFF2-40B4-BE49-F238E27FC236}">
                    <a16:creationId xmlns:a16="http://schemas.microsoft.com/office/drawing/2014/main" id="{36CF7E9B-ACF7-CA98-9C51-254928741C1F}"/>
                  </a:ext>
                </a:extLst>
              </p:cNvPr>
              <p:cNvPicPr>
                <a:picLocks noChangeAspect="1"/>
              </p:cNvPicPr>
              <p:nvPr/>
            </p:nvPicPr>
            <p:blipFill>
              <a:blip r:embed="rId77" cstate="screen">
                <a:extLst>
                  <a:ext uri="{28A0092B-C50C-407E-A947-70E740481C1C}">
                    <a14:useLocalDpi xmlns:a14="http://schemas.microsoft.com/office/drawing/2010/main"/>
                  </a:ext>
                </a:extLst>
              </a:blip>
              <a:stretch>
                <a:fillRect/>
              </a:stretch>
            </p:blipFill>
            <p:spPr>
              <a:xfrm>
                <a:off x="5905217" y="6068493"/>
                <a:ext cx="124953" cy="124953"/>
              </a:xfrm>
              <a:prstGeom prst="rect">
                <a:avLst/>
              </a:prstGeom>
            </p:spPr>
          </p:pic>
          <p:pic>
            <p:nvPicPr>
              <p:cNvPr id="812" name="Picture 10" descr="תוצאת תמונה עבור ‪azure virtual machine logo‬‏">
                <a:extLst>
                  <a:ext uri="{FF2B5EF4-FFF2-40B4-BE49-F238E27FC236}">
                    <a16:creationId xmlns:a16="http://schemas.microsoft.com/office/drawing/2014/main" id="{B6AFC536-4129-F29B-A883-4857E8749EAF}"/>
                  </a:ext>
                </a:extLst>
              </p:cNvPr>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6930735" y="6071750"/>
                <a:ext cx="139817" cy="118438"/>
              </a:xfrm>
              <a:prstGeom prst="rect">
                <a:avLst/>
              </a:prstGeom>
              <a:noFill/>
              <a:extLst>
                <a:ext uri="{909E8E84-426E-40DD-AFC4-6F175D3DCCD1}">
                  <a14:hiddenFill xmlns:a14="http://schemas.microsoft.com/office/drawing/2010/main">
                    <a:solidFill>
                      <a:srgbClr val="FFFFFF"/>
                    </a:solidFill>
                  </a14:hiddenFill>
                </a:ext>
              </a:extLst>
            </p:spPr>
          </p:pic>
          <p:pic>
            <p:nvPicPr>
              <p:cNvPr id="813" name="Picture 12" descr="תוצאת תמונה עבור ‪azure virtual machine logo‬‏">
                <a:extLst>
                  <a:ext uri="{FF2B5EF4-FFF2-40B4-BE49-F238E27FC236}">
                    <a16:creationId xmlns:a16="http://schemas.microsoft.com/office/drawing/2014/main" id="{E833C8DB-CA9D-C4DD-278D-57929DE55B3D}"/>
                  </a:ext>
                </a:extLst>
              </p:cNvPr>
              <p:cNvPicPr>
                <a:picLocks noChangeAspect="1" noChangeArrowheads="1"/>
              </p:cNvPicPr>
              <p:nvPr/>
            </p:nvPicPr>
            <p:blipFill>
              <a:blip r:embed="rId79">
                <a:extLst>
                  <a:ext uri="{28A0092B-C50C-407E-A947-70E740481C1C}">
                    <a14:useLocalDpi xmlns:a14="http://schemas.microsoft.com/office/drawing/2010/main" val="0"/>
                  </a:ext>
                </a:extLst>
              </a:blip>
              <a:srcRect/>
              <a:stretch>
                <a:fillRect/>
              </a:stretch>
            </p:blipFill>
            <p:spPr bwMode="auto">
              <a:xfrm>
                <a:off x="7142145" y="6077041"/>
                <a:ext cx="127651" cy="107856"/>
              </a:xfrm>
              <a:prstGeom prst="rect">
                <a:avLst/>
              </a:prstGeom>
              <a:noFill/>
              <a:extLst>
                <a:ext uri="{909E8E84-426E-40DD-AFC4-6F175D3DCCD1}">
                  <a14:hiddenFill xmlns:a14="http://schemas.microsoft.com/office/drawing/2010/main">
                    <a:solidFill>
                      <a:srgbClr val="FFFFFF"/>
                    </a:solidFill>
                  </a14:hiddenFill>
                </a:ext>
              </a:extLst>
            </p:spPr>
          </p:pic>
          <p:pic>
            <p:nvPicPr>
              <p:cNvPr id="815" name="Picture 10" descr="תוצאת תמונה עבור ‪azure kubernetes service‬‏">
                <a:extLst>
                  <a:ext uri="{FF2B5EF4-FFF2-40B4-BE49-F238E27FC236}">
                    <a16:creationId xmlns:a16="http://schemas.microsoft.com/office/drawing/2014/main" id="{2E8A667F-1AF5-3FB7-BCD0-4A6AF8F29D54}"/>
                  </a:ext>
                </a:extLst>
              </p:cNvPr>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6101763" y="6071671"/>
                <a:ext cx="142873" cy="118596"/>
              </a:xfrm>
              <a:prstGeom prst="rect">
                <a:avLst/>
              </a:prstGeom>
              <a:noFill/>
              <a:extLst>
                <a:ext uri="{909E8E84-426E-40DD-AFC4-6F175D3DCCD1}">
                  <a14:hiddenFill xmlns:a14="http://schemas.microsoft.com/office/drawing/2010/main">
                    <a:solidFill>
                      <a:srgbClr val="FFFFFF"/>
                    </a:solidFill>
                  </a14:hiddenFill>
                </a:ext>
              </a:extLst>
            </p:spPr>
          </p:pic>
          <p:pic>
            <p:nvPicPr>
              <p:cNvPr id="816" name="Picture 6" descr="Image result for Azure Files   icon">
                <a:extLst>
                  <a:ext uri="{FF2B5EF4-FFF2-40B4-BE49-F238E27FC236}">
                    <a16:creationId xmlns:a16="http://schemas.microsoft.com/office/drawing/2014/main" id="{B1EDEED7-1DB4-3428-2AE0-2E87DD64712D}"/>
                  </a:ext>
                </a:extLst>
              </p:cNvPr>
              <p:cNvPicPr>
                <a:picLocks noChangeAspect="1" noChangeArrowheads="1"/>
              </p:cNvPicPr>
              <p:nvPr/>
            </p:nvPicPr>
            <p:blipFill>
              <a:blip r:embed="rId81">
                <a:extLst>
                  <a:ext uri="{28A0092B-C50C-407E-A947-70E740481C1C}">
                    <a14:useLocalDpi xmlns:a14="http://schemas.microsoft.com/office/drawing/2010/main" val="0"/>
                  </a:ext>
                </a:extLst>
              </a:blip>
              <a:srcRect/>
              <a:stretch>
                <a:fillRect/>
              </a:stretch>
            </p:blipFill>
            <p:spPr bwMode="auto">
              <a:xfrm>
                <a:off x="7341389" y="6071375"/>
                <a:ext cx="133805" cy="119188"/>
              </a:xfrm>
              <a:prstGeom prst="rect">
                <a:avLst/>
              </a:prstGeom>
              <a:noFill/>
              <a:extLst>
                <a:ext uri="{909E8E84-426E-40DD-AFC4-6F175D3DCCD1}">
                  <a14:hiddenFill xmlns:a14="http://schemas.microsoft.com/office/drawing/2010/main">
                    <a:solidFill>
                      <a:srgbClr val="FFFFFF"/>
                    </a:solidFill>
                  </a14:hiddenFill>
                </a:ext>
              </a:extLst>
            </p:spPr>
          </p:pic>
          <p:pic>
            <p:nvPicPr>
              <p:cNvPr id="827" name="Picture 826">
                <a:extLst>
                  <a:ext uri="{FF2B5EF4-FFF2-40B4-BE49-F238E27FC236}">
                    <a16:creationId xmlns:a16="http://schemas.microsoft.com/office/drawing/2014/main" id="{D7C7EC08-88A2-AF6C-350A-27D3DFFBFE10}"/>
                  </a:ext>
                </a:extLst>
              </p:cNvPr>
              <p:cNvPicPr>
                <a:picLocks noChangeAspect="1"/>
              </p:cNvPicPr>
              <p:nvPr/>
            </p:nvPicPr>
            <p:blipFill>
              <a:blip r:embed="rId82"/>
              <a:stretch>
                <a:fillRect/>
              </a:stretch>
            </p:blipFill>
            <p:spPr>
              <a:xfrm>
                <a:off x="6751578" y="6066659"/>
                <a:ext cx="107564" cy="128620"/>
              </a:xfrm>
              <a:prstGeom prst="rect">
                <a:avLst/>
              </a:prstGeom>
            </p:spPr>
          </p:pic>
          <p:pic>
            <p:nvPicPr>
              <p:cNvPr id="829" name="Picture 2" descr="Azure Blob File System | Drupal.org">
                <a:extLst>
                  <a:ext uri="{FF2B5EF4-FFF2-40B4-BE49-F238E27FC236}">
                    <a16:creationId xmlns:a16="http://schemas.microsoft.com/office/drawing/2014/main" id="{3615AADD-A880-A4C3-7F17-EA0367339A22}"/>
                  </a:ext>
                </a:extLst>
              </p:cNvPr>
              <p:cNvPicPr>
                <a:picLocks noChangeAspect="1" noChangeArrowheads="1"/>
              </p:cNvPicPr>
              <p:nvPr/>
            </p:nvPicPr>
            <p:blipFill>
              <a:blip r:embed="rId83">
                <a:extLst>
                  <a:ext uri="{28A0092B-C50C-407E-A947-70E740481C1C}">
                    <a14:useLocalDpi xmlns:a14="http://schemas.microsoft.com/office/drawing/2010/main" val="0"/>
                  </a:ext>
                </a:extLst>
              </a:blip>
              <a:srcRect/>
              <a:stretch>
                <a:fillRect/>
              </a:stretch>
            </p:blipFill>
            <p:spPr bwMode="auto">
              <a:xfrm>
                <a:off x="6316229" y="6065851"/>
                <a:ext cx="130237" cy="130237"/>
              </a:xfrm>
              <a:prstGeom prst="rect">
                <a:avLst/>
              </a:prstGeom>
              <a:noFill/>
              <a:extLst>
                <a:ext uri="{909E8E84-426E-40DD-AFC4-6F175D3DCCD1}">
                  <a14:hiddenFill xmlns:a14="http://schemas.microsoft.com/office/drawing/2010/main">
                    <a:solidFill>
                      <a:srgbClr val="FFFFFF"/>
                    </a:solidFill>
                  </a14:hiddenFill>
                </a:ext>
              </a:extLst>
            </p:spPr>
          </p:pic>
          <p:pic>
            <p:nvPicPr>
              <p:cNvPr id="821" name="Picture 2" descr="Image result for azure network icon">
                <a:extLst>
                  <a:ext uri="{FF2B5EF4-FFF2-40B4-BE49-F238E27FC236}">
                    <a16:creationId xmlns:a16="http://schemas.microsoft.com/office/drawing/2014/main" id="{084E663F-CA87-398F-7E98-751A439466DE}"/>
                  </a:ext>
                </a:extLst>
              </p:cNvPr>
              <p:cNvPicPr>
                <a:picLocks noChangeAspect="1" noChangeArrowheads="1"/>
              </p:cNvPicPr>
              <p:nvPr/>
            </p:nvPicPr>
            <p:blipFill>
              <a:blip r:embed="rId8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26691" y="6025146"/>
                <a:ext cx="211646" cy="211646"/>
              </a:xfrm>
              <a:prstGeom prst="rect">
                <a:avLst/>
              </a:prstGeom>
              <a:noFill/>
              <a:extLst>
                <a:ext uri="{909E8E84-426E-40DD-AFC4-6F175D3DCCD1}">
                  <a14:hiddenFill xmlns:a14="http://schemas.microsoft.com/office/drawing/2010/main">
                    <a:solidFill>
                      <a:srgbClr val="FFFFFF"/>
                    </a:solidFill>
                  </a14:hiddenFill>
                </a:ext>
              </a:extLst>
            </p:spPr>
          </p:pic>
          <p:pic>
            <p:nvPicPr>
              <p:cNvPr id="846" name="Picture 2" descr="Why Use Azure DNS? | Aidan Finn, IT Pro">
                <a:extLst>
                  <a:ext uri="{FF2B5EF4-FFF2-40B4-BE49-F238E27FC236}">
                    <a16:creationId xmlns:a16="http://schemas.microsoft.com/office/drawing/2014/main" id="{F90CC628-0BEB-F983-0B9F-FC21935119D9}"/>
                  </a:ext>
                </a:extLst>
              </p:cNvPr>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5709930" y="6068351"/>
                <a:ext cx="123694" cy="125236"/>
              </a:xfrm>
              <a:prstGeom prst="rect">
                <a:avLst/>
              </a:prstGeom>
              <a:noFill/>
              <a:extLst>
                <a:ext uri="{909E8E84-426E-40DD-AFC4-6F175D3DCCD1}">
                  <a14:hiddenFill xmlns:a14="http://schemas.microsoft.com/office/drawing/2010/main">
                    <a:solidFill>
                      <a:srgbClr val="FFFFFF"/>
                    </a:solidFill>
                  </a14:hiddenFill>
                </a:ext>
              </a:extLst>
            </p:spPr>
          </p:pic>
          <p:grpSp>
            <p:nvGrpSpPr>
              <p:cNvPr id="554" name="Group 553">
                <a:extLst>
                  <a:ext uri="{FF2B5EF4-FFF2-40B4-BE49-F238E27FC236}">
                    <a16:creationId xmlns:a16="http://schemas.microsoft.com/office/drawing/2014/main" id="{9D44382B-F1DB-11CB-FC9D-D73F5604DF2A}"/>
                  </a:ext>
                </a:extLst>
              </p:cNvPr>
              <p:cNvGrpSpPr/>
              <p:nvPr/>
            </p:nvGrpSpPr>
            <p:grpSpPr>
              <a:xfrm>
                <a:off x="7760659" y="6108110"/>
                <a:ext cx="188672" cy="45719"/>
                <a:chOff x="6660452" y="3094221"/>
                <a:chExt cx="188672" cy="45719"/>
              </a:xfrm>
              <a:solidFill>
                <a:schemeClr val="tx1"/>
              </a:solidFill>
            </p:grpSpPr>
            <p:sp>
              <p:nvSpPr>
                <p:cNvPr id="555" name="Oval 554">
                  <a:extLst>
                    <a:ext uri="{FF2B5EF4-FFF2-40B4-BE49-F238E27FC236}">
                      <a16:creationId xmlns:a16="http://schemas.microsoft.com/office/drawing/2014/main" id="{D613E0FC-9EB1-E9C6-1166-65531EC5E426}"/>
                    </a:ext>
                  </a:extLst>
                </p:cNvPr>
                <p:cNvSpPr/>
                <p:nvPr/>
              </p:nvSpPr>
              <p:spPr bwMode="auto">
                <a:xfrm>
                  <a:off x="6660452" y="3094221"/>
                  <a:ext cx="45720" cy="45719"/>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69" name="Oval 568">
                  <a:extLst>
                    <a:ext uri="{FF2B5EF4-FFF2-40B4-BE49-F238E27FC236}">
                      <a16:creationId xmlns:a16="http://schemas.microsoft.com/office/drawing/2014/main" id="{DE462BCD-D58E-BA57-3382-DB32FC022A39}"/>
                    </a:ext>
                  </a:extLst>
                </p:cNvPr>
                <p:cNvSpPr/>
                <p:nvPr/>
              </p:nvSpPr>
              <p:spPr bwMode="auto">
                <a:xfrm>
                  <a:off x="6731928" y="3094221"/>
                  <a:ext cx="45720" cy="45719"/>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77" name="Oval 576">
                  <a:extLst>
                    <a:ext uri="{FF2B5EF4-FFF2-40B4-BE49-F238E27FC236}">
                      <a16:creationId xmlns:a16="http://schemas.microsoft.com/office/drawing/2014/main" id="{9AA0960B-932E-E5B4-91DC-968C2DF70EFC}"/>
                    </a:ext>
                  </a:extLst>
                </p:cNvPr>
                <p:cNvSpPr/>
                <p:nvPr/>
              </p:nvSpPr>
              <p:spPr bwMode="auto">
                <a:xfrm>
                  <a:off x="6803404" y="3094221"/>
                  <a:ext cx="45720" cy="45719"/>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sp>
        <p:nvSpPr>
          <p:cNvPr id="18" name="Rectangle 17">
            <a:hlinkClick r:id="rId86" tooltip="Communication compliance is an insider risk solution in Microsoft 365 that helps minimize communication risks by helping you detect, capture, and act on inappropriate messages in your organization."/>
            <a:extLst>
              <a:ext uri="{FF2B5EF4-FFF2-40B4-BE49-F238E27FC236}">
                <a16:creationId xmlns:a16="http://schemas.microsoft.com/office/drawing/2014/main" id="{4B31348F-134D-EC09-6DED-2CF185D0B332}"/>
              </a:ext>
            </a:extLst>
          </p:cNvPr>
          <p:cNvSpPr/>
          <p:nvPr/>
        </p:nvSpPr>
        <p:spPr>
          <a:xfrm>
            <a:off x="10538586" y="5802589"/>
            <a:ext cx="1304170" cy="233479"/>
          </a:xfrm>
          <a:prstGeom prst="rect">
            <a:avLst/>
          </a:prstGeom>
          <a:solidFill>
            <a:srgbClr val="BEFFC3"/>
          </a:solidFill>
          <a:ln w="9525">
            <a:solidFill>
              <a:schemeClr val="bg1"/>
            </a:solidFill>
            <a:prstDash val="solid"/>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720" b="1"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Semibold" panose="020B0702040204020203" pitchFamily="34" charset="0"/>
                <a:cs typeface="Segoe UI Semibold" panose="020B0702040204020203" pitchFamily="34" charset="0"/>
              </a:rPr>
              <a:t>Communication Compliance</a:t>
            </a:r>
          </a:p>
        </p:txBody>
      </p:sp>
      <p:grpSp>
        <p:nvGrpSpPr>
          <p:cNvPr id="201" name="Group 200">
            <a:extLst>
              <a:ext uri="{FF2B5EF4-FFF2-40B4-BE49-F238E27FC236}">
                <a16:creationId xmlns:a16="http://schemas.microsoft.com/office/drawing/2014/main" id="{CB27C3AA-EDED-4717-8FB5-772AE1834BD3}"/>
              </a:ext>
            </a:extLst>
          </p:cNvPr>
          <p:cNvGrpSpPr/>
          <p:nvPr/>
        </p:nvGrpSpPr>
        <p:grpSpPr>
          <a:xfrm>
            <a:off x="2072144" y="2573320"/>
            <a:ext cx="6075908" cy="562912"/>
            <a:chOff x="2072144" y="2573320"/>
            <a:chExt cx="6075908" cy="562912"/>
          </a:xfrm>
        </p:grpSpPr>
        <p:grpSp>
          <p:nvGrpSpPr>
            <p:cNvPr id="643" name="Group 642">
              <a:extLst>
                <a:ext uri="{FF2B5EF4-FFF2-40B4-BE49-F238E27FC236}">
                  <a16:creationId xmlns:a16="http://schemas.microsoft.com/office/drawing/2014/main" id="{7A7196AA-4C44-9B99-345C-AD0CED5D67AA}"/>
                </a:ext>
              </a:extLst>
            </p:cNvPr>
            <p:cNvGrpSpPr/>
            <p:nvPr/>
          </p:nvGrpSpPr>
          <p:grpSpPr>
            <a:xfrm>
              <a:off x="2072144" y="2573320"/>
              <a:ext cx="6075908" cy="562912"/>
              <a:chOff x="-5672050" y="1703909"/>
              <a:chExt cx="6069892" cy="562912"/>
            </a:xfrm>
          </p:grpSpPr>
          <p:sp>
            <p:nvSpPr>
              <p:cNvPr id="645" name="L-Shape 644">
                <a:extLst>
                  <a:ext uri="{FF2B5EF4-FFF2-40B4-BE49-F238E27FC236}">
                    <a16:creationId xmlns:a16="http://schemas.microsoft.com/office/drawing/2014/main" id="{7121E48E-4F9A-337B-3CBB-F05F717DD6FE}"/>
                  </a:ext>
                </a:extLst>
              </p:cNvPr>
              <p:cNvSpPr/>
              <p:nvPr/>
            </p:nvSpPr>
            <p:spPr bwMode="auto">
              <a:xfrm rot="10800000">
                <a:off x="-5672050" y="1703909"/>
                <a:ext cx="6069892" cy="562912"/>
              </a:xfrm>
              <a:prstGeom prst="corner">
                <a:avLst>
                  <a:gd name="adj1" fmla="val 43679"/>
                  <a:gd name="adj2" fmla="val 265297"/>
                </a:avLst>
              </a:prstGeom>
              <a:solidFill>
                <a:srgbClr val="C3E5FF"/>
              </a:solidFill>
              <a:ln w="12700">
                <a:solidFill>
                  <a:schemeClr val="bg1"/>
                </a:solidFill>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654" name="Rectangle 653">
                <a:hlinkClick r:id="rId87" tooltip="Defender for Cloud provides unified infrastructure security management system that strengthens the security posture of your data centers across multiple clouds and on-premises."/>
                <a:extLst>
                  <a:ext uri="{FF2B5EF4-FFF2-40B4-BE49-F238E27FC236}">
                    <a16:creationId xmlns:a16="http://schemas.microsoft.com/office/drawing/2014/main" id="{5C348D20-E8AF-28FF-62C8-7B3B1C4E2E63}"/>
                  </a:ext>
                </a:extLst>
              </p:cNvPr>
              <p:cNvSpPr/>
              <p:nvPr/>
            </p:nvSpPr>
            <p:spPr>
              <a:xfrm>
                <a:off x="-5649603" y="1706580"/>
                <a:ext cx="6042684" cy="24459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bIns="45720" rtlCol="0" anchor="ctr"/>
              <a:lstStyle/>
              <a:p>
                <a:pPr marL="11430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Defender for Cloud </a:t>
                </a:r>
                <a:r>
                  <a:rPr kumimoji="0" lang="en-US" sz="900" b="1" i="0" u="none" strike="noStrike" kern="1200" cap="none" spc="0" normalizeH="0" baseline="0" noProof="0">
                    <a:ln>
                      <a:noFill/>
                    </a:ln>
                    <a:solidFill>
                      <a:schemeClr val="tx1"/>
                    </a:solidFill>
                    <a:effectLst/>
                    <a:uLnTx/>
                    <a:uFillTx/>
                    <a:latin typeface="+mj-lt"/>
                    <a:ea typeface="+mn-ea"/>
                    <a:cs typeface="Segoe UI" panose="020B0502040204020203" pitchFamily="34" charset="0"/>
                  </a:rPr>
                  <a:t>– </a:t>
                </a:r>
                <a:r>
                  <a:rPr kumimoji="0" 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Cross-Platform Cloud Security Posture Management (CSPM)</a:t>
                </a:r>
              </a:p>
            </p:txBody>
          </p:sp>
          <p:sp>
            <p:nvSpPr>
              <p:cNvPr id="655" name="Rectangle 654">
                <a:hlinkClick r:id="rId88" tooltip="The regulatory compliance dashboard provides insight into your compliance posture for a set of supported standards and regulations, based on continuous assessments of your Azure environment."/>
                <a:extLst>
                  <a:ext uri="{FF2B5EF4-FFF2-40B4-BE49-F238E27FC236}">
                    <a16:creationId xmlns:a16="http://schemas.microsoft.com/office/drawing/2014/main" id="{4033D668-484D-92D5-C1F9-880C2DCEC8DF}"/>
                  </a:ext>
                </a:extLst>
              </p:cNvPr>
              <p:cNvSpPr/>
              <p:nvPr/>
            </p:nvSpPr>
            <p:spPr>
              <a:xfrm>
                <a:off x="-1020349" y="1912005"/>
                <a:ext cx="1322029" cy="176612"/>
              </a:xfrm>
              <a:prstGeom prst="rect">
                <a:avLst/>
              </a:prstGeom>
              <a:solidFill>
                <a:schemeClr val="bg2"/>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Compliance Dashboard</a:t>
                </a:r>
              </a:p>
            </p:txBody>
          </p:sp>
          <p:sp>
            <p:nvSpPr>
              <p:cNvPr id="656" name="Rectangle 655">
                <a:hlinkClick r:id="rId89" tooltip="Security Center continually assesses your resources, subscriptions, and organization for security issues. It then aggregates all the findings into a single score so that you can tell, at a glance, your current security situation: the higher the score, the "/>
                <a:extLst>
                  <a:ext uri="{FF2B5EF4-FFF2-40B4-BE49-F238E27FC236}">
                    <a16:creationId xmlns:a16="http://schemas.microsoft.com/office/drawing/2014/main" id="{F802B7B0-06B0-64E6-5988-DE9236D6ABF9}"/>
                  </a:ext>
                </a:extLst>
              </p:cNvPr>
              <p:cNvSpPr/>
              <p:nvPr/>
            </p:nvSpPr>
            <p:spPr>
              <a:xfrm>
                <a:off x="-1022171" y="1736762"/>
                <a:ext cx="1325879" cy="176612"/>
              </a:xfrm>
              <a:prstGeom prst="rect">
                <a:avLst/>
              </a:prstGeom>
              <a:solidFill>
                <a:schemeClr val="bg1"/>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Secure Score</a:t>
                </a:r>
              </a:p>
            </p:txBody>
          </p:sp>
          <p:grpSp>
            <p:nvGrpSpPr>
              <p:cNvPr id="657" name="Group 656">
                <a:extLst>
                  <a:ext uri="{FF2B5EF4-FFF2-40B4-BE49-F238E27FC236}">
                    <a16:creationId xmlns:a16="http://schemas.microsoft.com/office/drawing/2014/main" id="{5FC06E93-CAA6-B858-926A-8BB5E6AFC39E}"/>
                  </a:ext>
                </a:extLst>
              </p:cNvPr>
              <p:cNvGrpSpPr/>
              <p:nvPr/>
            </p:nvGrpSpPr>
            <p:grpSpPr>
              <a:xfrm>
                <a:off x="-456294" y="2147605"/>
                <a:ext cx="188672" cy="45719"/>
                <a:chOff x="6662695" y="2902103"/>
                <a:chExt cx="188672" cy="45719"/>
              </a:xfrm>
            </p:grpSpPr>
            <p:sp>
              <p:nvSpPr>
                <p:cNvPr id="659" name="Oval 658">
                  <a:extLst>
                    <a:ext uri="{FF2B5EF4-FFF2-40B4-BE49-F238E27FC236}">
                      <a16:creationId xmlns:a16="http://schemas.microsoft.com/office/drawing/2014/main" id="{656E40FF-BFF5-A8DE-2538-292780F24034}"/>
                    </a:ext>
                  </a:extLst>
                </p:cNvPr>
                <p:cNvSpPr/>
                <p:nvPr/>
              </p:nvSpPr>
              <p:spPr bwMode="auto">
                <a:xfrm>
                  <a:off x="6662695" y="2902103"/>
                  <a:ext cx="45720" cy="45719"/>
                </a:xfrm>
                <a:prstGeom prst="ellipse">
                  <a:avLst/>
                </a:prstGeom>
                <a:solidFill>
                  <a:srgbClr val="0078D7"/>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sp>
              <p:nvSpPr>
                <p:cNvPr id="660" name="Oval 659">
                  <a:extLst>
                    <a:ext uri="{FF2B5EF4-FFF2-40B4-BE49-F238E27FC236}">
                      <a16:creationId xmlns:a16="http://schemas.microsoft.com/office/drawing/2014/main" id="{49D47010-3243-77C1-8481-23762562C6BD}"/>
                    </a:ext>
                  </a:extLst>
                </p:cNvPr>
                <p:cNvSpPr/>
                <p:nvPr/>
              </p:nvSpPr>
              <p:spPr bwMode="auto">
                <a:xfrm>
                  <a:off x="6734171" y="2902103"/>
                  <a:ext cx="45720" cy="45719"/>
                </a:xfrm>
                <a:prstGeom prst="ellipse">
                  <a:avLst/>
                </a:prstGeom>
                <a:solidFill>
                  <a:srgbClr val="0078D7"/>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sp>
              <p:nvSpPr>
                <p:cNvPr id="673" name="Oval 672">
                  <a:extLst>
                    <a:ext uri="{FF2B5EF4-FFF2-40B4-BE49-F238E27FC236}">
                      <a16:creationId xmlns:a16="http://schemas.microsoft.com/office/drawing/2014/main" id="{D6DBF4DF-D53C-9456-CFA0-34F97A437D8D}"/>
                    </a:ext>
                  </a:extLst>
                </p:cNvPr>
                <p:cNvSpPr/>
                <p:nvPr/>
              </p:nvSpPr>
              <p:spPr bwMode="auto">
                <a:xfrm>
                  <a:off x="6805647" y="2902103"/>
                  <a:ext cx="45720" cy="45719"/>
                </a:xfrm>
                <a:prstGeom prst="ellipse">
                  <a:avLst/>
                </a:prstGeom>
                <a:solidFill>
                  <a:srgbClr val="0078D7"/>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grpSp>
        </p:grpSp>
        <p:pic>
          <p:nvPicPr>
            <p:cNvPr id="107" name="Picture 106">
              <a:extLst>
                <a:ext uri="{FF2B5EF4-FFF2-40B4-BE49-F238E27FC236}">
                  <a16:creationId xmlns:a16="http://schemas.microsoft.com/office/drawing/2014/main" id="{AA74DFF7-06A9-C4B0-2CA0-8A32AB5DB55F}"/>
                </a:ext>
              </a:extLst>
            </p:cNvPr>
            <p:cNvPicPr>
              <a:picLocks noChangeAspect="1"/>
            </p:cNvPicPr>
            <p:nvPr/>
          </p:nvPicPr>
          <p:blipFill>
            <a:blip r:embed="rId90">
              <a:clrChange>
                <a:clrFrom>
                  <a:srgbClr val="FFFFFF"/>
                </a:clrFrom>
                <a:clrTo>
                  <a:srgbClr val="FFFFFF">
                    <a:alpha val="0"/>
                  </a:srgbClr>
                </a:clrTo>
              </a:clrChange>
            </a:blip>
            <a:stretch>
              <a:fillRect/>
            </a:stretch>
          </p:blipFill>
          <p:spPr>
            <a:xfrm>
              <a:off x="2108140" y="2629929"/>
              <a:ext cx="167209" cy="143337"/>
            </a:xfrm>
            <a:prstGeom prst="rect">
              <a:avLst/>
            </a:prstGeom>
            <a:ln w="14224">
              <a:noFill/>
            </a:ln>
          </p:spPr>
        </p:pic>
      </p:grpSp>
      <p:sp>
        <p:nvSpPr>
          <p:cNvPr id="139" name="Rectangle 138">
            <a:hlinkClick r:id="rId91" tooltip="Azure Bastion provides secure and seamless RDP/SSH connectivity to your virtual machines directly from the Azure portal over TLS. When you connect via Azure Bastion, your virtual machines do not need a public IP address, agent, or special client software."/>
            <a:extLst>
              <a:ext uri="{FF2B5EF4-FFF2-40B4-BE49-F238E27FC236}">
                <a16:creationId xmlns:a16="http://schemas.microsoft.com/office/drawing/2014/main" id="{567803CC-88E8-9483-EEB9-33976E114C82}"/>
              </a:ext>
            </a:extLst>
          </p:cNvPr>
          <p:cNvSpPr/>
          <p:nvPr/>
        </p:nvSpPr>
        <p:spPr>
          <a:xfrm>
            <a:off x="6826223" y="4123811"/>
            <a:ext cx="1319648" cy="219445"/>
          </a:xfrm>
          <a:prstGeom prst="rect">
            <a:avLst/>
          </a:prstGeom>
          <a:solidFill>
            <a:schemeClr val="bg1"/>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Azure Bastion</a:t>
            </a:r>
          </a:p>
        </p:txBody>
      </p:sp>
      <p:pic>
        <p:nvPicPr>
          <p:cNvPr id="141" name="Picture 140">
            <a:extLst>
              <a:ext uri="{FF2B5EF4-FFF2-40B4-BE49-F238E27FC236}">
                <a16:creationId xmlns:a16="http://schemas.microsoft.com/office/drawing/2014/main" id="{88755D60-BB75-BE5F-2C74-3799AED950D8}"/>
              </a:ext>
            </a:extLst>
          </p:cNvPr>
          <p:cNvPicPr>
            <a:picLocks noChangeAspect="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58738" y="4180605"/>
            <a:ext cx="150932" cy="112545"/>
          </a:xfrm>
          <a:prstGeom prst="rect">
            <a:avLst/>
          </a:prstGeom>
        </p:spPr>
      </p:pic>
      <p:grpSp>
        <p:nvGrpSpPr>
          <p:cNvPr id="156" name="Group 155">
            <a:extLst>
              <a:ext uri="{FF2B5EF4-FFF2-40B4-BE49-F238E27FC236}">
                <a16:creationId xmlns:a16="http://schemas.microsoft.com/office/drawing/2014/main" id="{7473E446-F764-E181-F1F7-215EB57ED943}"/>
              </a:ext>
            </a:extLst>
          </p:cNvPr>
          <p:cNvGrpSpPr/>
          <p:nvPr/>
        </p:nvGrpSpPr>
        <p:grpSpPr>
          <a:xfrm>
            <a:off x="8496606" y="2022764"/>
            <a:ext cx="203471" cy="2500256"/>
            <a:chOff x="8496606" y="2022764"/>
            <a:chExt cx="203471" cy="2500256"/>
          </a:xfrm>
        </p:grpSpPr>
        <p:cxnSp>
          <p:nvCxnSpPr>
            <p:cNvPr id="35" name="Connector: Elbow 34">
              <a:extLst>
                <a:ext uri="{FF2B5EF4-FFF2-40B4-BE49-F238E27FC236}">
                  <a16:creationId xmlns:a16="http://schemas.microsoft.com/office/drawing/2014/main" id="{17A86E89-9216-07EF-A4F5-826325B06BD7}"/>
                </a:ext>
              </a:extLst>
            </p:cNvPr>
            <p:cNvCxnSpPr>
              <a:cxnSpLocks/>
              <a:endCxn id="26" idx="1"/>
            </p:cNvCxnSpPr>
            <p:nvPr/>
          </p:nvCxnSpPr>
          <p:spPr>
            <a:xfrm rot="16200000" flipH="1">
              <a:off x="7386266" y="3226548"/>
              <a:ext cx="2500256" cy="92688"/>
            </a:xfrm>
            <a:prstGeom prst="bentConnector2">
              <a:avLst/>
            </a:prstGeom>
            <a:ln w="19050">
              <a:gradFill>
                <a:gsLst>
                  <a:gs pos="0">
                    <a:srgbClr val="FADAFD"/>
                  </a:gs>
                  <a:gs pos="14000">
                    <a:srgbClr val="FADC14"/>
                  </a:gs>
                </a:gsLst>
                <a:lin ang="0" scaled="0"/>
              </a:gradFill>
              <a:headEnd type="none"/>
              <a:tailEnd type="none"/>
            </a:ln>
          </p:spPr>
          <p:style>
            <a:lnRef idx="1">
              <a:schemeClr val="accent1"/>
            </a:lnRef>
            <a:fillRef idx="0">
              <a:schemeClr val="accent1"/>
            </a:fillRef>
            <a:effectRef idx="0">
              <a:schemeClr val="accent1"/>
            </a:effectRef>
            <a:fontRef idx="minor">
              <a:schemeClr val="tx1"/>
            </a:fontRef>
          </p:style>
        </p:cxnSp>
        <p:sp>
          <p:nvSpPr>
            <p:cNvPr id="575" name="Rectangle 574">
              <a:extLst>
                <a:ext uri="{FF2B5EF4-FFF2-40B4-BE49-F238E27FC236}">
                  <a16:creationId xmlns:a16="http://schemas.microsoft.com/office/drawing/2014/main" id="{2E8F95E3-B7CD-0868-6DAC-75EA958449EB}"/>
                </a:ext>
              </a:extLst>
            </p:cNvPr>
            <p:cNvSpPr/>
            <p:nvPr/>
          </p:nvSpPr>
          <p:spPr>
            <a:xfrm rot="16200000">
              <a:off x="7810398" y="3256760"/>
              <a:ext cx="1564866" cy="192449"/>
            </a:xfrm>
            <a:prstGeom prst="rect">
              <a:avLst/>
            </a:prstGeom>
            <a:solidFill>
              <a:schemeClr val="bg1"/>
            </a:solidFill>
            <a:ln w="19050">
              <a:solidFill>
                <a:srgbClr val="FADC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45720" rtlCol="0" anchor="ct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850" b="1" i="1" u="none" strike="noStrike" kern="1200" cap="none" spc="0" normalizeH="0" baseline="0" noProof="0">
                  <a:ln>
                    <a:noFill/>
                  </a:ln>
                  <a:solidFill>
                    <a:schemeClr val="tx1"/>
                  </a:solidFill>
                  <a:effectLst/>
                  <a:uLnTx/>
                  <a:uFillTx/>
                  <a:latin typeface="+mj-lt"/>
                  <a:ea typeface="+mn-ea"/>
                  <a:cs typeface="Segoe UI Semilight" panose="020B0402040204020203" pitchFamily="34" charset="0"/>
                </a:rPr>
                <a:t>Classification Labels</a:t>
              </a:r>
            </a:p>
          </p:txBody>
        </p:sp>
        <p:cxnSp>
          <p:nvCxnSpPr>
            <p:cNvPr id="594" name="Connector: Elbow 799">
              <a:extLst>
                <a:ext uri="{FF2B5EF4-FFF2-40B4-BE49-F238E27FC236}">
                  <a16:creationId xmlns:a16="http://schemas.microsoft.com/office/drawing/2014/main" id="{2E34ACD8-64D9-FE6F-67ED-44FB835EB1D6}"/>
                </a:ext>
              </a:extLst>
            </p:cNvPr>
            <p:cNvCxnSpPr>
              <a:cxnSpLocks/>
            </p:cNvCxnSpPr>
            <p:nvPr/>
          </p:nvCxnSpPr>
          <p:spPr>
            <a:xfrm flipH="1">
              <a:off x="8589931" y="4294718"/>
              <a:ext cx="110146" cy="0"/>
            </a:xfrm>
            <a:prstGeom prst="straightConnector1">
              <a:avLst/>
            </a:prstGeom>
            <a:ln w="19050">
              <a:solidFill>
                <a:srgbClr val="FADC14"/>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5" name="Rectangle 44">
            <a:hlinkClick r:id="rId92" tooltip="Azure Lighthouse enables cross- and multi-tenant management, allowing for higher automation, scalability, and enhanced governance across resources and tenants."/>
            <a:extLst>
              <a:ext uri="{FF2B5EF4-FFF2-40B4-BE49-F238E27FC236}">
                <a16:creationId xmlns:a16="http://schemas.microsoft.com/office/drawing/2014/main" id="{E8ECFB16-EA7F-F84B-5BC9-02EB0CC59341}"/>
              </a:ext>
            </a:extLst>
          </p:cNvPr>
          <p:cNvSpPr/>
          <p:nvPr/>
        </p:nvSpPr>
        <p:spPr>
          <a:xfrm>
            <a:off x="6596694" y="4335640"/>
            <a:ext cx="1554018" cy="219445"/>
          </a:xfrm>
          <a:prstGeom prst="rect">
            <a:avLst/>
          </a:prstGeom>
          <a:solidFill>
            <a:srgbClr val="C3E5FF"/>
          </a:solidFill>
          <a:ln w="9525" cap="flat" cmpd="sng" algn="ctr">
            <a:solidFill>
              <a:schemeClr val="bg1"/>
            </a:solidFill>
            <a:prstDash val="solid"/>
            <a:miter lim="800000"/>
            <a:headEnd type="none" w="med" len="med"/>
            <a:tailEnd type="none" w="med" len="med"/>
          </a:ln>
          <a:effectLst>
            <a:outerShdw blurRad="25400" dist="12700" dir="5400000" algn="tl" rotWithShape="0">
              <a:prstClr val="black">
                <a:alpha val="15000"/>
              </a:prstClr>
            </a:outerShdw>
          </a:effectLst>
        </p:spPr>
        <p:txBody>
          <a:bodyPr lIns="304705" tIns="9144" rIns="0" bIns="9144" anchor="ctr" anchorCtr="0"/>
          <a:lstStyle/>
          <a:p>
            <a:pPr defTabSz="895740">
              <a:lnSpc>
                <a:spcPct val="90000"/>
              </a:lnSpc>
            </a:pPr>
            <a:r>
              <a:rPr lang="en-US" altLang="en-US" sz="900">
                <a:solidFill>
                  <a:schemeClr val="tx1"/>
                </a:solidFill>
                <a:cs typeface="Segoe UI" panose="020B0502040204020203" pitchFamily="34" charset="0"/>
              </a:rPr>
              <a:t>Azure Lighthouse</a:t>
            </a:r>
          </a:p>
        </p:txBody>
      </p:sp>
      <p:sp>
        <p:nvSpPr>
          <p:cNvPr id="420" name="Rectangle 419">
            <a:extLst>
              <a:ext uri="{FF2B5EF4-FFF2-40B4-BE49-F238E27FC236}">
                <a16:creationId xmlns:a16="http://schemas.microsoft.com/office/drawing/2014/main" id="{81F089A6-D7C1-362E-1D8D-766C02F66B09}"/>
              </a:ext>
            </a:extLst>
          </p:cNvPr>
          <p:cNvSpPr/>
          <p:nvPr/>
        </p:nvSpPr>
        <p:spPr>
          <a:xfrm>
            <a:off x="8452915" y="2277973"/>
            <a:ext cx="1658425" cy="261610"/>
          </a:xfrm>
          <a:prstGeom prst="rect">
            <a:avLst/>
          </a:prstGeom>
          <a:solidFill>
            <a:srgbClr val="FEFCB9"/>
          </a:solidFill>
        </p:spPr>
        <p:txBody>
          <a:bodyPr wrap="square" lIns="0" r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Information Protection</a:t>
            </a:r>
          </a:p>
        </p:txBody>
      </p:sp>
      <p:sp>
        <p:nvSpPr>
          <p:cNvPr id="26" name="Rectangle 25">
            <a:hlinkClick r:id="rId93" tooltip="Simplifies the eDiscovery process and helps analyze unstructured data within Office 365, efficiently review documents, and make scope reduction decisions for eDiscovery."/>
            <a:extLst>
              <a:ext uri="{FF2B5EF4-FFF2-40B4-BE49-F238E27FC236}">
                <a16:creationId xmlns:a16="http://schemas.microsoft.com/office/drawing/2014/main" id="{A3723E86-4A8D-27DC-EEF1-2B6D9B74F3DC}"/>
              </a:ext>
            </a:extLst>
          </p:cNvPr>
          <p:cNvSpPr/>
          <p:nvPr/>
        </p:nvSpPr>
        <p:spPr>
          <a:xfrm>
            <a:off x="8682738" y="4415611"/>
            <a:ext cx="1370243" cy="214818"/>
          </a:xfrm>
          <a:prstGeom prst="rect">
            <a:avLst/>
          </a:prstGeom>
          <a:solidFill>
            <a:schemeClr val="bg1"/>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Advanced eDiscovery</a:t>
            </a:r>
          </a:p>
        </p:txBody>
      </p:sp>
      <p:sp>
        <p:nvSpPr>
          <p:cNvPr id="590" name="Rectangle 589">
            <a:hlinkClick r:id="rId94" tooltip="Allows for full content lifecycle management from creating/importing through retention and deletion. Supervision also lets you define policies that capture communications in your organization for internal or external reviewers. "/>
            <a:extLst>
              <a:ext uri="{FF2B5EF4-FFF2-40B4-BE49-F238E27FC236}">
                <a16:creationId xmlns:a16="http://schemas.microsoft.com/office/drawing/2014/main" id="{077F9EEA-3AF0-EACC-18D3-E450EEB38156}"/>
              </a:ext>
            </a:extLst>
          </p:cNvPr>
          <p:cNvSpPr/>
          <p:nvPr/>
        </p:nvSpPr>
        <p:spPr>
          <a:xfrm>
            <a:off x="8684404" y="4172501"/>
            <a:ext cx="1370243" cy="214818"/>
          </a:xfrm>
          <a:prstGeom prst="rect">
            <a:avLst/>
          </a:prstGeom>
          <a:solidFill>
            <a:schemeClr val="bg1"/>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Data Governance</a:t>
            </a:r>
          </a:p>
        </p:txBody>
      </p:sp>
      <p:grpSp>
        <p:nvGrpSpPr>
          <p:cNvPr id="180" name="Group 179">
            <a:extLst>
              <a:ext uri="{FF2B5EF4-FFF2-40B4-BE49-F238E27FC236}">
                <a16:creationId xmlns:a16="http://schemas.microsoft.com/office/drawing/2014/main" id="{DD6F4E1C-0ED0-86EC-ECB6-65183F2073BD}"/>
              </a:ext>
            </a:extLst>
          </p:cNvPr>
          <p:cNvGrpSpPr/>
          <p:nvPr/>
        </p:nvGrpSpPr>
        <p:grpSpPr>
          <a:xfrm>
            <a:off x="2982622" y="5780024"/>
            <a:ext cx="1775116" cy="563622"/>
            <a:chOff x="2982622" y="5780024"/>
            <a:chExt cx="1775116" cy="563622"/>
          </a:xfrm>
        </p:grpSpPr>
        <p:sp>
          <p:nvSpPr>
            <p:cNvPr id="177" name="Rectangle 176" descr="Azure Defender for IoT provides agentless security for unmanaged IoT/OT devices (via integration of CyberX technology) plus security for greenfield devices managed via Azure IoT Hub. It is deployed either as a cloud-connected or fully on-premises solution.">
              <a:hlinkClick r:id="rId95" tooltip="Azure Defender for IoT offers agentless, network-layer security that is rapidly deployed, works with diverse industrial equipment, and interoperates with Azure Sentinel and other SOC tools."/>
              <a:extLst>
                <a:ext uri="{FF2B5EF4-FFF2-40B4-BE49-F238E27FC236}">
                  <a16:creationId xmlns:a16="http://schemas.microsoft.com/office/drawing/2014/main" id="{AE069D63-0C1A-7C56-B049-FF9DE49C0F08}"/>
                </a:ext>
              </a:extLst>
            </p:cNvPr>
            <p:cNvSpPr/>
            <p:nvPr/>
          </p:nvSpPr>
          <p:spPr>
            <a:xfrm>
              <a:off x="3029366" y="5780024"/>
              <a:ext cx="1700344" cy="533970"/>
            </a:xfrm>
            <a:prstGeom prst="rect">
              <a:avLst/>
            </a:prstGeom>
            <a:no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t">
              <a:noAutofit/>
            </a:bodyP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750"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Microsoft Defender for IoT (and OT)</a:t>
              </a:r>
            </a:p>
          </p:txBody>
        </p:sp>
        <p:sp>
          <p:nvSpPr>
            <p:cNvPr id="178" name="Rounded Rectangle 1457">
              <a:extLst>
                <a:ext uri="{FF2B5EF4-FFF2-40B4-BE49-F238E27FC236}">
                  <a16:creationId xmlns:a16="http://schemas.microsoft.com/office/drawing/2014/main" id="{A21E2A0F-B910-0ED7-CA8C-93CC63B5FC92}"/>
                </a:ext>
              </a:extLst>
            </p:cNvPr>
            <p:cNvSpPr/>
            <p:nvPr/>
          </p:nvSpPr>
          <p:spPr>
            <a:xfrm>
              <a:off x="3818384" y="5927564"/>
              <a:ext cx="939354" cy="411738"/>
            </a:xfrm>
            <a:prstGeom prst="roundRect">
              <a:avLst>
                <a:gd name="adj" fmla="val 0"/>
              </a:avLst>
            </a:prstGeom>
            <a:no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91440" numCol="1"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57150" algn="l" defTabSz="914400" rtl="0" eaLnBrk="1" fontAlgn="auto" latinLnBrk="0" hangingPunct="1">
                <a:lnSpc>
                  <a:spcPct val="90000"/>
                </a:lnSpc>
                <a:spcBef>
                  <a:spcPts val="0"/>
                </a:spcBef>
                <a:spcAft>
                  <a:spcPts val="150"/>
                </a:spcAft>
                <a:buClrTx/>
                <a:buSzTx/>
                <a:buFont typeface="Arial" panose="020B0604020202020204" pitchFamily="34" charset="0"/>
                <a:buChar char="•"/>
                <a:tabLst/>
                <a:defRPr/>
              </a:pPr>
              <a:r>
                <a:rPr kumimoji="0" lang="en-US" sz="55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Asset &amp; Vulnerability management</a:t>
              </a:r>
            </a:p>
            <a:p>
              <a:pPr marL="171450" marR="0" lvl="0" indent="-57150" algn="l" defTabSz="914400" rtl="0" eaLnBrk="1" fontAlgn="auto" latinLnBrk="0" hangingPunct="1">
                <a:lnSpc>
                  <a:spcPct val="90000"/>
                </a:lnSpc>
                <a:spcBef>
                  <a:spcPts val="0"/>
                </a:spcBef>
                <a:spcAft>
                  <a:spcPts val="150"/>
                </a:spcAft>
                <a:buClrTx/>
                <a:buSzTx/>
                <a:buFont typeface="Arial" panose="020B0604020202020204" pitchFamily="34" charset="0"/>
                <a:buChar char="•"/>
                <a:tabLst/>
                <a:defRPr/>
              </a:pPr>
              <a:r>
                <a:rPr kumimoji="0" lang="en-US" sz="55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Threat Detection </a:t>
              </a:r>
              <a:br>
                <a:rPr kumimoji="0" lang="en-US" sz="55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br>
              <a:r>
                <a:rPr kumimoji="0" lang="en-US" sz="55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&amp; Response</a:t>
              </a:r>
            </a:p>
          </p:txBody>
        </p:sp>
        <p:sp>
          <p:nvSpPr>
            <p:cNvPr id="179" name="Rounded Rectangle 1457">
              <a:extLst>
                <a:ext uri="{FF2B5EF4-FFF2-40B4-BE49-F238E27FC236}">
                  <a16:creationId xmlns:a16="http://schemas.microsoft.com/office/drawing/2014/main" id="{AB1BD383-E942-05C1-A7FE-7BD84F25F995}"/>
                </a:ext>
              </a:extLst>
            </p:cNvPr>
            <p:cNvSpPr/>
            <p:nvPr/>
          </p:nvSpPr>
          <p:spPr>
            <a:xfrm>
              <a:off x="2982622" y="5931908"/>
              <a:ext cx="1088559" cy="411738"/>
            </a:xfrm>
            <a:prstGeom prst="roundRect">
              <a:avLst>
                <a:gd name="adj" fmla="val 0"/>
              </a:avLst>
            </a:prstGeom>
            <a:no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91440" numCol="1"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57150" algn="l" defTabSz="914400" rtl="0" eaLnBrk="1" fontAlgn="auto" latinLnBrk="0" hangingPunct="1">
                <a:lnSpc>
                  <a:spcPct val="90000"/>
                </a:lnSpc>
                <a:spcBef>
                  <a:spcPts val="0"/>
                </a:spcBef>
                <a:spcAft>
                  <a:spcPts val="150"/>
                </a:spcAft>
                <a:buClrTx/>
                <a:buSzTx/>
                <a:buFont typeface="Arial" panose="020B0604020202020204" pitchFamily="34" charset="0"/>
                <a:buChar char="•"/>
                <a:tabLst/>
                <a:defRPr/>
              </a:pPr>
              <a:r>
                <a:rPr kumimoji="0" lang="en-US" sz="55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ICS, SCADA, OT</a:t>
              </a:r>
            </a:p>
            <a:p>
              <a:pPr marL="171450" marR="0" lvl="0" indent="-57150" algn="l" defTabSz="914400" rtl="0" eaLnBrk="1" fontAlgn="auto" latinLnBrk="0" hangingPunct="1">
                <a:lnSpc>
                  <a:spcPct val="90000"/>
                </a:lnSpc>
                <a:spcBef>
                  <a:spcPts val="0"/>
                </a:spcBef>
                <a:spcAft>
                  <a:spcPts val="150"/>
                </a:spcAft>
                <a:buClrTx/>
                <a:buSzTx/>
                <a:buFont typeface="Arial" panose="020B0604020202020204" pitchFamily="34" charset="0"/>
                <a:buChar char="•"/>
                <a:tabLst/>
                <a:defRPr/>
              </a:pPr>
              <a:r>
                <a:rPr kumimoji="0" lang="en-US" sz="55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Internet of Things (IoT)</a:t>
              </a:r>
            </a:p>
            <a:p>
              <a:pPr marL="171450" marR="0" lvl="0" indent="-57150" algn="l" defTabSz="914400" rtl="0" eaLnBrk="1" fontAlgn="auto" latinLnBrk="0" hangingPunct="1">
                <a:lnSpc>
                  <a:spcPct val="90000"/>
                </a:lnSpc>
                <a:spcBef>
                  <a:spcPts val="0"/>
                </a:spcBef>
                <a:spcAft>
                  <a:spcPts val="150"/>
                </a:spcAft>
                <a:buClrTx/>
                <a:buSzTx/>
                <a:buFont typeface="Arial" panose="020B0604020202020204" pitchFamily="34" charset="0"/>
                <a:buChar char="•"/>
                <a:tabLst/>
                <a:defRPr/>
              </a:pPr>
              <a:r>
                <a:rPr kumimoji="0" lang="en-US" sz="55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Industrial IoT (</a:t>
              </a:r>
              <a:r>
                <a:rPr kumimoji="0" lang="en-US" sz="550" b="0" i="1" u="none" strike="noStrike" kern="1200" cap="none" spc="0" normalizeH="0" baseline="0" noProof="0" err="1">
                  <a:ln>
                    <a:noFill/>
                  </a:ln>
                  <a:solidFill>
                    <a:schemeClr val="tx1"/>
                  </a:solidFill>
                  <a:effectLst/>
                  <a:uLnTx/>
                  <a:uFillTx/>
                  <a:latin typeface="Segoe UI Semibold" panose="020B0702040204020203" pitchFamily="34" charset="0"/>
                  <a:cs typeface="Segoe UI Semibold" panose="020B0702040204020203" pitchFamily="34" charset="0"/>
                </a:rPr>
                <a:t>IIoT</a:t>
              </a:r>
              <a:r>
                <a:rPr kumimoji="0" lang="en-US" sz="55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a:t>
              </a:r>
            </a:p>
          </p:txBody>
        </p:sp>
      </p:grpSp>
      <p:sp>
        <p:nvSpPr>
          <p:cNvPr id="117" name="Rectangle 116">
            <a:extLst>
              <a:ext uri="{FF2B5EF4-FFF2-40B4-BE49-F238E27FC236}">
                <a16:creationId xmlns:a16="http://schemas.microsoft.com/office/drawing/2014/main" id="{EADE3582-7A0C-CF05-3389-1C22DCB0AA12}"/>
              </a:ext>
            </a:extLst>
          </p:cNvPr>
          <p:cNvSpPr/>
          <p:nvPr/>
        </p:nvSpPr>
        <p:spPr bwMode="auto">
          <a:xfrm>
            <a:off x="186803" y="6505451"/>
            <a:ext cx="11756793" cy="311147"/>
          </a:xfrm>
          <a:prstGeom prst="rect">
            <a:avLst/>
          </a:prstGeom>
          <a:solidFill>
            <a:srgbClr val="0078D4"/>
          </a:solid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91440" rIns="45720" rtlCol="0" anchor="ctr">
            <a:noAutofit/>
          </a:bodyPr>
          <a:lstStyle/>
          <a:p>
            <a:pPr marL="8286750" marR="0" lvl="0" indent="0" algn="ctr" defTabSz="914400" rtl="0" eaLnBrk="1" fontAlgn="auto" latinLnBrk="0" hangingPunct="1">
              <a:lnSpc>
                <a:spcPct val="97000"/>
              </a:lnSpc>
              <a:spcBef>
                <a:spcPts val="0"/>
              </a:spcBef>
              <a:spcAft>
                <a:spcPts val="0"/>
              </a:spcAft>
              <a:buClrTx/>
              <a:buSzTx/>
              <a:buFontTx/>
              <a:buNone/>
              <a:tabLst/>
              <a:defRPr/>
            </a:pPr>
            <a:endParaRPr kumimoji="0" lang="en-US" sz="105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40" name="Rounded Rectangle 804">
            <a:hlinkClick r:id="rId96" tooltip="The Security Development Lifecycle (SDL) is a software development process that helps developers build more secure software and address security compliance requirements while reducing development cost "/>
            <a:extLst>
              <a:ext uri="{FF2B5EF4-FFF2-40B4-BE49-F238E27FC236}">
                <a16:creationId xmlns:a16="http://schemas.microsoft.com/office/drawing/2014/main" id="{FD2C10F4-D288-A19F-B67A-F3E6A1648C9F}"/>
              </a:ext>
            </a:extLst>
          </p:cNvPr>
          <p:cNvSpPr/>
          <p:nvPr/>
        </p:nvSpPr>
        <p:spPr>
          <a:xfrm>
            <a:off x="9691926" y="6562537"/>
            <a:ext cx="2190784" cy="188058"/>
          </a:xfrm>
          <a:prstGeom prst="roundRect">
            <a:avLst>
              <a:gd name="adj" fmla="val 0"/>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Security Development Lifecycle (SDL)</a:t>
            </a:r>
          </a:p>
        </p:txBody>
      </p:sp>
      <p:sp>
        <p:nvSpPr>
          <p:cNvPr id="847" name="Rectangle 846">
            <a:hlinkClick r:id="rId97" tooltip="Review independent audit reports for Microsoft's Cloud services to learn how Microsoft works to secure your data, protect its privacy, and comply with global standards in Microsoft business cloud services. "/>
            <a:extLst>
              <a:ext uri="{FF2B5EF4-FFF2-40B4-BE49-F238E27FC236}">
                <a16:creationId xmlns:a16="http://schemas.microsoft.com/office/drawing/2014/main" id="{7A09EED1-4678-1483-7FFA-61F48A535633}"/>
              </a:ext>
            </a:extLst>
          </p:cNvPr>
          <p:cNvSpPr/>
          <p:nvPr/>
        </p:nvSpPr>
        <p:spPr>
          <a:xfrm>
            <a:off x="6356849" y="6562538"/>
            <a:ext cx="3209051" cy="18805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0" marR="0" lvl="0" indent="0" algn="ctr" defTabSz="914400" rtl="0" eaLnBrk="1" fontAlgn="auto" latinLnBrk="0" hangingPunct="1">
              <a:lnSpc>
                <a:spcPct val="97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Service Trust Portal – </a:t>
            </a:r>
            <a:r>
              <a:rPr kumimoji="0" lang="en-US" sz="900"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How Microsoft secures cloud services</a:t>
            </a:r>
          </a:p>
        </p:txBody>
      </p:sp>
      <p:grpSp>
        <p:nvGrpSpPr>
          <p:cNvPr id="119" name="Group 118">
            <a:extLst>
              <a:ext uri="{FF2B5EF4-FFF2-40B4-BE49-F238E27FC236}">
                <a16:creationId xmlns:a16="http://schemas.microsoft.com/office/drawing/2014/main" id="{42DD344D-6B96-1D95-E15E-1B248472BDBD}"/>
              </a:ext>
            </a:extLst>
          </p:cNvPr>
          <p:cNvGrpSpPr/>
          <p:nvPr/>
        </p:nvGrpSpPr>
        <p:grpSpPr>
          <a:xfrm>
            <a:off x="2443420" y="6558998"/>
            <a:ext cx="3787404" cy="195137"/>
            <a:chOff x="4130626" y="6542160"/>
            <a:chExt cx="3787404" cy="195137"/>
          </a:xfrm>
        </p:grpSpPr>
        <p:sp>
          <p:nvSpPr>
            <p:cNvPr id="848" name="Rectangle 847">
              <a:hlinkClick r:id="rId98" tooltip="Microsoft processes over 8 trillion signals daily that offer insight into normal baseline activity, potentially anomalous behaviors, and verified attacks that help us provide high quality detection by filtering out false positives &amp; amplifying real attacks"/>
              <a:extLst>
                <a:ext uri="{FF2B5EF4-FFF2-40B4-BE49-F238E27FC236}">
                  <a16:creationId xmlns:a16="http://schemas.microsoft.com/office/drawing/2014/main" id="{850B0228-02C7-51D6-89E0-380DD4640848}"/>
                </a:ext>
              </a:extLst>
            </p:cNvPr>
            <p:cNvSpPr/>
            <p:nvPr/>
          </p:nvSpPr>
          <p:spPr>
            <a:xfrm>
              <a:off x="4130626" y="6542160"/>
              <a:ext cx="3787404" cy="19513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171450" marR="0" lvl="0" indent="0" algn="l" defTabSz="914400" rtl="0" eaLnBrk="1" fontAlgn="auto" latinLnBrk="0" hangingPunct="1">
                <a:lnSpc>
                  <a:spcPct val="97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Threat Intelligence – </a:t>
              </a:r>
              <a:r>
                <a:rPr kumimoji="0" lang="en-US" sz="900"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78+ Trillion signals per day of security context</a:t>
              </a:r>
            </a:p>
          </p:txBody>
        </p:sp>
        <p:grpSp>
          <p:nvGrpSpPr>
            <p:cNvPr id="598" name="Group 4">
              <a:extLst>
                <a:ext uri="{FF2B5EF4-FFF2-40B4-BE49-F238E27FC236}">
                  <a16:creationId xmlns:a16="http://schemas.microsoft.com/office/drawing/2014/main" id="{953FA77E-23B1-6151-F931-99126AFFD3AF}"/>
                </a:ext>
              </a:extLst>
            </p:cNvPr>
            <p:cNvGrpSpPr>
              <a:grpSpLocks noChangeAspect="1"/>
            </p:cNvGrpSpPr>
            <p:nvPr/>
          </p:nvGrpSpPr>
          <p:grpSpPr bwMode="auto">
            <a:xfrm>
              <a:off x="4180872" y="6573533"/>
              <a:ext cx="137530" cy="137530"/>
              <a:chOff x="380" y="3325"/>
              <a:chExt cx="286" cy="286"/>
            </a:xfrm>
            <a:solidFill>
              <a:srgbClr val="243A5E"/>
            </a:solidFill>
          </p:grpSpPr>
          <p:sp>
            <p:nvSpPr>
              <p:cNvPr id="613" name="Freeform 5">
                <a:extLst>
                  <a:ext uri="{FF2B5EF4-FFF2-40B4-BE49-F238E27FC236}">
                    <a16:creationId xmlns:a16="http://schemas.microsoft.com/office/drawing/2014/main" id="{B2A68AD4-4F7B-D5FD-B4D8-2F22C078E1E8}"/>
                  </a:ext>
                </a:extLst>
              </p:cNvPr>
              <p:cNvSpPr>
                <a:spLocks noEditPoints="1"/>
              </p:cNvSpPr>
              <p:nvPr/>
            </p:nvSpPr>
            <p:spPr bwMode="auto">
              <a:xfrm>
                <a:off x="398" y="3343"/>
                <a:ext cx="250" cy="250"/>
              </a:xfrm>
              <a:custGeom>
                <a:avLst/>
                <a:gdLst>
                  <a:gd name="T0" fmla="*/ 250 w 250"/>
                  <a:gd name="T1" fmla="*/ 44 h 250"/>
                  <a:gd name="T2" fmla="*/ 244 w 250"/>
                  <a:gd name="T3" fmla="*/ 36 h 250"/>
                  <a:gd name="T4" fmla="*/ 128 w 250"/>
                  <a:gd name="T5" fmla="*/ 0 h 250"/>
                  <a:gd name="T6" fmla="*/ 123 w 250"/>
                  <a:gd name="T7" fmla="*/ 0 h 250"/>
                  <a:gd name="T8" fmla="*/ 6 w 250"/>
                  <a:gd name="T9" fmla="*/ 36 h 250"/>
                  <a:gd name="T10" fmla="*/ 0 w 250"/>
                  <a:gd name="T11" fmla="*/ 44 h 250"/>
                  <a:gd name="T12" fmla="*/ 0 w 250"/>
                  <a:gd name="T13" fmla="*/ 205 h 250"/>
                  <a:gd name="T14" fmla="*/ 6 w 250"/>
                  <a:gd name="T15" fmla="*/ 214 h 250"/>
                  <a:gd name="T16" fmla="*/ 123 w 250"/>
                  <a:gd name="T17" fmla="*/ 250 h 250"/>
                  <a:gd name="T18" fmla="*/ 128 w 250"/>
                  <a:gd name="T19" fmla="*/ 250 h 250"/>
                  <a:gd name="T20" fmla="*/ 244 w 250"/>
                  <a:gd name="T21" fmla="*/ 214 h 250"/>
                  <a:gd name="T22" fmla="*/ 250 w 250"/>
                  <a:gd name="T23" fmla="*/ 205 h 250"/>
                  <a:gd name="T24" fmla="*/ 250 w 250"/>
                  <a:gd name="T25" fmla="*/ 44 h 250"/>
                  <a:gd name="T26" fmla="*/ 116 w 250"/>
                  <a:gd name="T27" fmla="*/ 108 h 250"/>
                  <a:gd name="T28" fmla="*/ 29 w 250"/>
                  <a:gd name="T29" fmla="*/ 47 h 250"/>
                  <a:gd name="T30" fmla="*/ 116 w 250"/>
                  <a:gd name="T31" fmla="*/ 21 h 250"/>
                  <a:gd name="T32" fmla="*/ 116 w 250"/>
                  <a:gd name="T33" fmla="*/ 108 h 250"/>
                  <a:gd name="T34" fmla="*/ 134 w 250"/>
                  <a:gd name="T35" fmla="*/ 21 h 250"/>
                  <a:gd name="T36" fmla="*/ 221 w 250"/>
                  <a:gd name="T37" fmla="*/ 47 h 250"/>
                  <a:gd name="T38" fmla="*/ 134 w 250"/>
                  <a:gd name="T39" fmla="*/ 108 h 250"/>
                  <a:gd name="T40" fmla="*/ 134 w 250"/>
                  <a:gd name="T41" fmla="*/ 21 h 250"/>
                  <a:gd name="T42" fmla="*/ 109 w 250"/>
                  <a:gd name="T43" fmla="*/ 125 h 250"/>
                  <a:gd name="T44" fmla="*/ 18 w 250"/>
                  <a:gd name="T45" fmla="*/ 188 h 250"/>
                  <a:gd name="T46" fmla="*/ 18 w 250"/>
                  <a:gd name="T47" fmla="*/ 62 h 250"/>
                  <a:gd name="T48" fmla="*/ 109 w 250"/>
                  <a:gd name="T49" fmla="*/ 125 h 250"/>
                  <a:gd name="T50" fmla="*/ 116 w 250"/>
                  <a:gd name="T51" fmla="*/ 142 h 250"/>
                  <a:gd name="T52" fmla="*/ 116 w 250"/>
                  <a:gd name="T53" fmla="*/ 229 h 250"/>
                  <a:gd name="T54" fmla="*/ 29 w 250"/>
                  <a:gd name="T55" fmla="*/ 203 h 250"/>
                  <a:gd name="T56" fmla="*/ 116 w 250"/>
                  <a:gd name="T57" fmla="*/ 142 h 250"/>
                  <a:gd name="T58" fmla="*/ 134 w 250"/>
                  <a:gd name="T59" fmla="*/ 142 h 250"/>
                  <a:gd name="T60" fmla="*/ 221 w 250"/>
                  <a:gd name="T61" fmla="*/ 203 h 250"/>
                  <a:gd name="T62" fmla="*/ 134 w 250"/>
                  <a:gd name="T63" fmla="*/ 229 h 250"/>
                  <a:gd name="T64" fmla="*/ 134 w 250"/>
                  <a:gd name="T65" fmla="*/ 142 h 250"/>
                  <a:gd name="T66" fmla="*/ 141 w 250"/>
                  <a:gd name="T67" fmla="*/ 125 h 250"/>
                  <a:gd name="T68" fmla="*/ 233 w 250"/>
                  <a:gd name="T69" fmla="*/ 62 h 250"/>
                  <a:gd name="T70" fmla="*/ 233 w 250"/>
                  <a:gd name="T71" fmla="*/ 188 h 250"/>
                  <a:gd name="T72" fmla="*/ 141 w 250"/>
                  <a:gd name="T73" fmla="*/ 125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0" h="250">
                    <a:moveTo>
                      <a:pt x="250" y="44"/>
                    </a:moveTo>
                    <a:lnTo>
                      <a:pt x="244" y="36"/>
                    </a:lnTo>
                    <a:lnTo>
                      <a:pt x="128" y="0"/>
                    </a:lnTo>
                    <a:lnTo>
                      <a:pt x="123" y="0"/>
                    </a:lnTo>
                    <a:lnTo>
                      <a:pt x="6" y="36"/>
                    </a:lnTo>
                    <a:lnTo>
                      <a:pt x="0" y="44"/>
                    </a:lnTo>
                    <a:lnTo>
                      <a:pt x="0" y="205"/>
                    </a:lnTo>
                    <a:lnTo>
                      <a:pt x="6" y="214"/>
                    </a:lnTo>
                    <a:lnTo>
                      <a:pt x="123" y="250"/>
                    </a:lnTo>
                    <a:lnTo>
                      <a:pt x="128" y="250"/>
                    </a:lnTo>
                    <a:lnTo>
                      <a:pt x="244" y="214"/>
                    </a:lnTo>
                    <a:lnTo>
                      <a:pt x="250" y="205"/>
                    </a:lnTo>
                    <a:lnTo>
                      <a:pt x="250" y="44"/>
                    </a:lnTo>
                    <a:close/>
                    <a:moveTo>
                      <a:pt x="116" y="108"/>
                    </a:moveTo>
                    <a:lnTo>
                      <a:pt x="29" y="47"/>
                    </a:lnTo>
                    <a:lnTo>
                      <a:pt x="116" y="21"/>
                    </a:lnTo>
                    <a:lnTo>
                      <a:pt x="116" y="108"/>
                    </a:lnTo>
                    <a:close/>
                    <a:moveTo>
                      <a:pt x="134" y="21"/>
                    </a:moveTo>
                    <a:lnTo>
                      <a:pt x="221" y="47"/>
                    </a:lnTo>
                    <a:lnTo>
                      <a:pt x="134" y="108"/>
                    </a:lnTo>
                    <a:lnTo>
                      <a:pt x="134" y="21"/>
                    </a:lnTo>
                    <a:close/>
                    <a:moveTo>
                      <a:pt x="109" y="125"/>
                    </a:moveTo>
                    <a:lnTo>
                      <a:pt x="18" y="188"/>
                    </a:lnTo>
                    <a:lnTo>
                      <a:pt x="18" y="62"/>
                    </a:lnTo>
                    <a:lnTo>
                      <a:pt x="109" y="125"/>
                    </a:lnTo>
                    <a:close/>
                    <a:moveTo>
                      <a:pt x="116" y="142"/>
                    </a:moveTo>
                    <a:lnTo>
                      <a:pt x="116" y="229"/>
                    </a:lnTo>
                    <a:lnTo>
                      <a:pt x="29" y="203"/>
                    </a:lnTo>
                    <a:lnTo>
                      <a:pt x="116" y="142"/>
                    </a:lnTo>
                    <a:close/>
                    <a:moveTo>
                      <a:pt x="134" y="142"/>
                    </a:moveTo>
                    <a:lnTo>
                      <a:pt x="221" y="203"/>
                    </a:lnTo>
                    <a:lnTo>
                      <a:pt x="134" y="229"/>
                    </a:lnTo>
                    <a:lnTo>
                      <a:pt x="134" y="142"/>
                    </a:lnTo>
                    <a:close/>
                    <a:moveTo>
                      <a:pt x="141" y="125"/>
                    </a:moveTo>
                    <a:lnTo>
                      <a:pt x="233" y="62"/>
                    </a:lnTo>
                    <a:lnTo>
                      <a:pt x="233" y="188"/>
                    </a:lnTo>
                    <a:lnTo>
                      <a:pt x="141"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sp>
            <p:nvSpPr>
              <p:cNvPr id="614" name="Oval 6">
                <a:extLst>
                  <a:ext uri="{FF2B5EF4-FFF2-40B4-BE49-F238E27FC236}">
                    <a16:creationId xmlns:a16="http://schemas.microsoft.com/office/drawing/2014/main" id="{596C6861-37D5-AA89-C0FC-F106D1F27DD9}"/>
                  </a:ext>
                </a:extLst>
              </p:cNvPr>
              <p:cNvSpPr>
                <a:spLocks noChangeArrowheads="1"/>
              </p:cNvSpPr>
              <p:nvPr/>
            </p:nvSpPr>
            <p:spPr bwMode="auto">
              <a:xfrm>
                <a:off x="612" y="3360"/>
                <a:ext cx="54" cy="5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sp>
            <p:nvSpPr>
              <p:cNvPr id="615" name="Oval 7">
                <a:extLst>
                  <a:ext uri="{FF2B5EF4-FFF2-40B4-BE49-F238E27FC236}">
                    <a16:creationId xmlns:a16="http://schemas.microsoft.com/office/drawing/2014/main" id="{61CC0DEA-2A3F-C8EE-4A17-809EDD2A3FBA}"/>
                  </a:ext>
                </a:extLst>
              </p:cNvPr>
              <p:cNvSpPr>
                <a:spLocks noChangeArrowheads="1"/>
              </p:cNvSpPr>
              <p:nvPr/>
            </p:nvSpPr>
            <p:spPr bwMode="auto">
              <a:xfrm>
                <a:off x="612" y="3521"/>
                <a:ext cx="54" cy="5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sp>
            <p:nvSpPr>
              <p:cNvPr id="618" name="Oval 8">
                <a:extLst>
                  <a:ext uri="{FF2B5EF4-FFF2-40B4-BE49-F238E27FC236}">
                    <a16:creationId xmlns:a16="http://schemas.microsoft.com/office/drawing/2014/main" id="{1FAF8741-346C-93A7-8E0B-CBBB153E107C}"/>
                  </a:ext>
                </a:extLst>
              </p:cNvPr>
              <p:cNvSpPr>
                <a:spLocks noChangeArrowheads="1"/>
              </p:cNvSpPr>
              <p:nvPr/>
            </p:nvSpPr>
            <p:spPr bwMode="auto">
              <a:xfrm>
                <a:off x="380" y="3360"/>
                <a:ext cx="54" cy="5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sp>
            <p:nvSpPr>
              <p:cNvPr id="619" name="Oval 9">
                <a:extLst>
                  <a:ext uri="{FF2B5EF4-FFF2-40B4-BE49-F238E27FC236}">
                    <a16:creationId xmlns:a16="http://schemas.microsoft.com/office/drawing/2014/main" id="{1D4DEE6D-CDE8-3DAF-A599-18AC74030F86}"/>
                  </a:ext>
                </a:extLst>
              </p:cNvPr>
              <p:cNvSpPr>
                <a:spLocks noChangeArrowheads="1"/>
              </p:cNvSpPr>
              <p:nvPr/>
            </p:nvSpPr>
            <p:spPr bwMode="auto">
              <a:xfrm>
                <a:off x="497" y="3441"/>
                <a:ext cx="53" cy="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sp>
            <p:nvSpPr>
              <p:cNvPr id="624" name="Oval 10">
                <a:extLst>
                  <a:ext uri="{FF2B5EF4-FFF2-40B4-BE49-F238E27FC236}">
                    <a16:creationId xmlns:a16="http://schemas.microsoft.com/office/drawing/2014/main" id="{6C928B9F-DC66-6587-44DF-1A23F113CFD6}"/>
                  </a:ext>
                </a:extLst>
              </p:cNvPr>
              <p:cNvSpPr>
                <a:spLocks noChangeArrowheads="1"/>
              </p:cNvSpPr>
              <p:nvPr/>
            </p:nvSpPr>
            <p:spPr bwMode="auto">
              <a:xfrm>
                <a:off x="380" y="3522"/>
                <a:ext cx="54" cy="5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sp>
            <p:nvSpPr>
              <p:cNvPr id="626" name="Oval 11">
                <a:extLst>
                  <a:ext uri="{FF2B5EF4-FFF2-40B4-BE49-F238E27FC236}">
                    <a16:creationId xmlns:a16="http://schemas.microsoft.com/office/drawing/2014/main" id="{8E50E1E0-2BE5-F5FD-44A3-E26526220F68}"/>
                  </a:ext>
                </a:extLst>
              </p:cNvPr>
              <p:cNvSpPr>
                <a:spLocks noChangeArrowheads="1"/>
              </p:cNvSpPr>
              <p:nvPr/>
            </p:nvSpPr>
            <p:spPr bwMode="auto">
              <a:xfrm>
                <a:off x="497" y="3325"/>
                <a:ext cx="53" cy="5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sp>
            <p:nvSpPr>
              <p:cNvPr id="628" name="Oval 12">
                <a:extLst>
                  <a:ext uri="{FF2B5EF4-FFF2-40B4-BE49-F238E27FC236}">
                    <a16:creationId xmlns:a16="http://schemas.microsoft.com/office/drawing/2014/main" id="{465036EF-6344-ED85-CE45-5D44DF1FFE51}"/>
                  </a:ext>
                </a:extLst>
              </p:cNvPr>
              <p:cNvSpPr>
                <a:spLocks noChangeArrowheads="1"/>
              </p:cNvSpPr>
              <p:nvPr/>
            </p:nvSpPr>
            <p:spPr bwMode="auto">
              <a:xfrm>
                <a:off x="497" y="3557"/>
                <a:ext cx="53" cy="5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grpSp>
      </p:grpSp>
      <p:cxnSp>
        <p:nvCxnSpPr>
          <p:cNvPr id="501" name="Connector: Elbow 500">
            <a:extLst>
              <a:ext uri="{FF2B5EF4-FFF2-40B4-BE49-F238E27FC236}">
                <a16:creationId xmlns:a16="http://schemas.microsoft.com/office/drawing/2014/main" id="{B7BECA62-7D0C-B0EB-8196-1F3BD213EA02}"/>
              </a:ext>
            </a:extLst>
          </p:cNvPr>
          <p:cNvCxnSpPr>
            <a:cxnSpLocks/>
            <a:endCxn id="187" idx="2"/>
          </p:cNvCxnSpPr>
          <p:nvPr/>
        </p:nvCxnSpPr>
        <p:spPr>
          <a:xfrm rot="5400000" flipH="1" flipV="1">
            <a:off x="3481620" y="3667741"/>
            <a:ext cx="740952" cy="415870"/>
          </a:xfrm>
          <a:prstGeom prst="bentConnector5">
            <a:avLst>
              <a:gd name="adj1" fmla="val 105733"/>
              <a:gd name="adj2" fmla="val 99706"/>
              <a:gd name="adj3" fmla="val 103695"/>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536" name="Group 535">
            <a:extLst>
              <a:ext uri="{FF2B5EF4-FFF2-40B4-BE49-F238E27FC236}">
                <a16:creationId xmlns:a16="http://schemas.microsoft.com/office/drawing/2014/main" id="{0DA256B1-3A7A-FD04-0A10-9431273B3BDC}"/>
              </a:ext>
            </a:extLst>
          </p:cNvPr>
          <p:cNvGrpSpPr/>
          <p:nvPr/>
        </p:nvGrpSpPr>
        <p:grpSpPr>
          <a:xfrm>
            <a:off x="4940299" y="3547430"/>
            <a:ext cx="370338" cy="327772"/>
            <a:chOff x="4723767" y="3080378"/>
            <a:chExt cx="439858" cy="389301"/>
          </a:xfrm>
        </p:grpSpPr>
        <p:pic>
          <p:nvPicPr>
            <p:cNvPr id="539" name="Picture 538">
              <a:extLst>
                <a:ext uri="{FF2B5EF4-FFF2-40B4-BE49-F238E27FC236}">
                  <a16:creationId xmlns:a16="http://schemas.microsoft.com/office/drawing/2014/main" id="{5148DD3D-519E-84CE-5003-C4AD21FD8EB3}"/>
                </a:ext>
              </a:extLst>
            </p:cNvPr>
            <p:cNvPicPr>
              <a:picLocks noChangeAspect="1"/>
            </p:cNvPicPr>
            <p:nvPr/>
          </p:nvPicPr>
          <p:blipFill rotWithShape="1">
            <a:blip r:embed="rId41" cstate="print">
              <a:duotone>
                <a:schemeClr val="accent1">
                  <a:shade val="45000"/>
                  <a:satMod val="135000"/>
                </a:schemeClr>
                <a:prstClr val="white"/>
              </a:duotone>
              <a:extLst>
                <a:ext uri="{28A0092B-C50C-407E-A947-70E740481C1C}">
                  <a14:useLocalDpi xmlns:a14="http://schemas.microsoft.com/office/drawing/2010/main" val="0"/>
                </a:ext>
              </a:extLst>
            </a:blip>
            <a:srcRect l="-2"/>
            <a:stretch/>
          </p:blipFill>
          <p:spPr>
            <a:xfrm>
              <a:off x="4908907" y="3123428"/>
              <a:ext cx="216369" cy="164753"/>
            </a:xfrm>
            <a:prstGeom prst="rect">
              <a:avLst/>
            </a:prstGeom>
          </p:spPr>
        </p:pic>
        <p:grpSp>
          <p:nvGrpSpPr>
            <p:cNvPr id="540" name="Group 539">
              <a:extLst>
                <a:ext uri="{FF2B5EF4-FFF2-40B4-BE49-F238E27FC236}">
                  <a16:creationId xmlns:a16="http://schemas.microsoft.com/office/drawing/2014/main" id="{618C88D3-D793-81C5-7961-44D6C702912B}"/>
                </a:ext>
              </a:extLst>
            </p:cNvPr>
            <p:cNvGrpSpPr/>
            <p:nvPr/>
          </p:nvGrpSpPr>
          <p:grpSpPr>
            <a:xfrm>
              <a:off x="4723767" y="3080378"/>
              <a:ext cx="439858" cy="389301"/>
              <a:chOff x="3131835" y="4047725"/>
              <a:chExt cx="439858" cy="389301"/>
            </a:xfrm>
          </p:grpSpPr>
          <p:grpSp>
            <p:nvGrpSpPr>
              <p:cNvPr id="541" name="Group 540">
                <a:extLst>
                  <a:ext uri="{FF2B5EF4-FFF2-40B4-BE49-F238E27FC236}">
                    <a16:creationId xmlns:a16="http://schemas.microsoft.com/office/drawing/2014/main" id="{77B9C467-FDE9-6C0D-FEC8-529D438E8A42}"/>
                  </a:ext>
                </a:extLst>
              </p:cNvPr>
              <p:cNvGrpSpPr/>
              <p:nvPr/>
            </p:nvGrpSpPr>
            <p:grpSpPr>
              <a:xfrm>
                <a:off x="3131835" y="4047725"/>
                <a:ext cx="182560" cy="348911"/>
                <a:chOff x="2136298" y="4226790"/>
                <a:chExt cx="196678" cy="375893"/>
              </a:xfrm>
            </p:grpSpPr>
            <p:sp>
              <p:nvSpPr>
                <p:cNvPr id="563" name="Rectangle 562">
                  <a:extLst>
                    <a:ext uri="{FF2B5EF4-FFF2-40B4-BE49-F238E27FC236}">
                      <a16:creationId xmlns:a16="http://schemas.microsoft.com/office/drawing/2014/main" id="{9C7262F9-A713-133B-3462-E9D129C35044}"/>
                    </a:ext>
                  </a:extLst>
                </p:cNvPr>
                <p:cNvSpPr/>
                <p:nvPr/>
              </p:nvSpPr>
              <p:spPr bwMode="auto">
                <a:xfrm>
                  <a:off x="2138191" y="4226790"/>
                  <a:ext cx="194785" cy="375893"/>
                </a:xfrm>
                <a:prstGeom prst="rect">
                  <a:avLst/>
                </a:prstGeom>
                <a:solidFill>
                  <a:schemeClr val="tx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64" name="server">
                  <a:extLst>
                    <a:ext uri="{FF2B5EF4-FFF2-40B4-BE49-F238E27FC236}">
                      <a16:creationId xmlns:a16="http://schemas.microsoft.com/office/drawing/2014/main" id="{2E65F249-94BA-3553-C6C4-1F5A86CCE737}"/>
                    </a:ext>
                  </a:extLst>
                </p:cNvPr>
                <p:cNvSpPr>
                  <a:spLocks noChangeAspect="1" noEditPoints="1"/>
                </p:cNvSpPr>
                <p:nvPr/>
              </p:nvSpPr>
              <p:spPr bwMode="auto">
                <a:xfrm>
                  <a:off x="2136298" y="4235711"/>
                  <a:ext cx="192569" cy="36576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4224"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542" name="Oval 541">
                <a:extLst>
                  <a:ext uri="{FF2B5EF4-FFF2-40B4-BE49-F238E27FC236}">
                    <a16:creationId xmlns:a16="http://schemas.microsoft.com/office/drawing/2014/main" id="{FCC0D5D6-C6F5-2C14-E65E-B7547A64190B}"/>
                  </a:ext>
                </a:extLst>
              </p:cNvPr>
              <p:cNvSpPr/>
              <p:nvPr/>
            </p:nvSpPr>
            <p:spPr bwMode="auto">
              <a:xfrm>
                <a:off x="3218521" y="4213899"/>
                <a:ext cx="223127" cy="223127"/>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43" name="Picture 542">
                <a:extLst>
                  <a:ext uri="{FF2B5EF4-FFF2-40B4-BE49-F238E27FC236}">
                    <a16:creationId xmlns:a16="http://schemas.microsoft.com/office/drawing/2014/main" id="{E0C71B7B-20EC-EE8C-26F2-8A814B20C63D}"/>
                  </a:ext>
                </a:extLst>
              </p:cNvPr>
              <p:cNvPicPr>
                <a:picLocks noChangeAspect="1"/>
              </p:cNvPicPr>
              <p:nvPr/>
            </p:nvPicPr>
            <p:blipFill rotWithShape="1">
              <a:blip r:embed="rId42" cstate="email">
                <a:extLst>
                  <a:ext uri="{28A0092B-C50C-407E-A947-70E740481C1C}">
                    <a14:useLocalDpi xmlns:a14="http://schemas.microsoft.com/office/drawing/2010/main"/>
                  </a:ext>
                </a:extLst>
              </a:blip>
              <a:srcRect r="83295"/>
              <a:stretch/>
            </p:blipFill>
            <p:spPr>
              <a:xfrm>
                <a:off x="3414387" y="4255363"/>
                <a:ext cx="157306" cy="137160"/>
              </a:xfrm>
              <a:prstGeom prst="rect">
                <a:avLst/>
              </a:prstGeom>
            </p:spPr>
          </p:pic>
          <p:sp>
            <p:nvSpPr>
              <p:cNvPr id="560" name="Freeform 6">
                <a:extLst>
                  <a:ext uri="{FF2B5EF4-FFF2-40B4-BE49-F238E27FC236}">
                    <a16:creationId xmlns:a16="http://schemas.microsoft.com/office/drawing/2014/main" id="{6680B645-6D5B-F063-010F-8B128B1C3F16}"/>
                  </a:ext>
                </a:extLst>
              </p:cNvPr>
              <p:cNvSpPr>
                <a:spLocks noEditPoints="1"/>
              </p:cNvSpPr>
              <p:nvPr/>
            </p:nvSpPr>
            <p:spPr bwMode="auto">
              <a:xfrm>
                <a:off x="3256470" y="4258262"/>
                <a:ext cx="135502" cy="134064"/>
              </a:xfrm>
              <a:custGeom>
                <a:avLst/>
                <a:gdLst>
                  <a:gd name="T0" fmla="*/ 88 w 1374"/>
                  <a:gd name="T1" fmla="*/ 1258 h 1620"/>
                  <a:gd name="T2" fmla="*/ 40 w 1374"/>
                  <a:gd name="T3" fmla="*/ 1324 h 1620"/>
                  <a:gd name="T4" fmla="*/ 42 w 1374"/>
                  <a:gd name="T5" fmla="*/ 1484 h 1620"/>
                  <a:gd name="T6" fmla="*/ 386 w 1374"/>
                  <a:gd name="T7" fmla="*/ 1572 h 1620"/>
                  <a:gd name="T8" fmla="*/ 494 w 1374"/>
                  <a:gd name="T9" fmla="*/ 1488 h 1620"/>
                  <a:gd name="T10" fmla="*/ 266 w 1374"/>
                  <a:gd name="T11" fmla="*/ 1124 h 1620"/>
                  <a:gd name="T12" fmla="*/ 190 w 1374"/>
                  <a:gd name="T13" fmla="*/ 1036 h 1620"/>
                  <a:gd name="T14" fmla="*/ 364 w 1374"/>
                  <a:gd name="T15" fmla="*/ 682 h 1620"/>
                  <a:gd name="T16" fmla="*/ 452 w 1374"/>
                  <a:gd name="T17" fmla="*/ 438 h 1620"/>
                  <a:gd name="T18" fmla="*/ 478 w 1374"/>
                  <a:gd name="T19" fmla="*/ 92 h 1620"/>
                  <a:gd name="T20" fmla="*/ 656 w 1374"/>
                  <a:gd name="T21" fmla="*/ 0 h 1620"/>
                  <a:gd name="T22" fmla="*/ 922 w 1374"/>
                  <a:gd name="T23" fmla="*/ 168 h 1620"/>
                  <a:gd name="T24" fmla="*/ 978 w 1374"/>
                  <a:gd name="T25" fmla="*/ 502 h 1620"/>
                  <a:gd name="T26" fmla="*/ 1140 w 1374"/>
                  <a:gd name="T27" fmla="*/ 750 h 1620"/>
                  <a:gd name="T28" fmla="*/ 1224 w 1374"/>
                  <a:gd name="T29" fmla="*/ 1120 h 1620"/>
                  <a:gd name="T30" fmla="*/ 1078 w 1374"/>
                  <a:gd name="T31" fmla="*/ 1242 h 1620"/>
                  <a:gd name="T32" fmla="*/ 988 w 1374"/>
                  <a:gd name="T33" fmla="*/ 1172 h 1620"/>
                  <a:gd name="T34" fmla="*/ 932 w 1374"/>
                  <a:gd name="T35" fmla="*/ 1222 h 1620"/>
                  <a:gd name="T36" fmla="*/ 952 w 1374"/>
                  <a:gd name="T37" fmla="*/ 1542 h 1620"/>
                  <a:gd name="T38" fmla="*/ 1068 w 1374"/>
                  <a:gd name="T39" fmla="*/ 1560 h 1620"/>
                  <a:gd name="T40" fmla="*/ 1292 w 1374"/>
                  <a:gd name="T41" fmla="*/ 1434 h 1620"/>
                  <a:gd name="T42" fmla="*/ 1236 w 1374"/>
                  <a:gd name="T43" fmla="*/ 1276 h 1620"/>
                  <a:gd name="T44" fmla="*/ 1326 w 1374"/>
                  <a:gd name="T45" fmla="*/ 1330 h 1620"/>
                  <a:gd name="T46" fmla="*/ 1330 w 1374"/>
                  <a:gd name="T47" fmla="*/ 1438 h 1620"/>
                  <a:gd name="T48" fmla="*/ 1048 w 1374"/>
                  <a:gd name="T49" fmla="*/ 1614 h 1620"/>
                  <a:gd name="T50" fmla="*/ 900 w 1374"/>
                  <a:gd name="T51" fmla="*/ 1570 h 1620"/>
                  <a:gd name="T52" fmla="*/ 578 w 1374"/>
                  <a:gd name="T53" fmla="*/ 1546 h 1620"/>
                  <a:gd name="T54" fmla="*/ 356 w 1374"/>
                  <a:gd name="T55" fmla="*/ 1606 h 1620"/>
                  <a:gd name="T56" fmla="*/ 0 w 1374"/>
                  <a:gd name="T57" fmla="*/ 1464 h 1620"/>
                  <a:gd name="T58" fmla="*/ 14 w 1374"/>
                  <a:gd name="T59" fmla="*/ 1256 h 1620"/>
                  <a:gd name="T60" fmla="*/ 166 w 1374"/>
                  <a:gd name="T61" fmla="*/ 1186 h 1620"/>
                  <a:gd name="T62" fmla="*/ 438 w 1374"/>
                  <a:gd name="T63" fmla="*/ 716 h 1620"/>
                  <a:gd name="T64" fmla="*/ 358 w 1374"/>
                  <a:gd name="T65" fmla="*/ 934 h 1620"/>
                  <a:gd name="T66" fmla="*/ 288 w 1374"/>
                  <a:gd name="T67" fmla="*/ 1036 h 1620"/>
                  <a:gd name="T68" fmla="*/ 326 w 1374"/>
                  <a:gd name="T69" fmla="*/ 1124 h 1620"/>
                  <a:gd name="T70" fmla="*/ 520 w 1374"/>
                  <a:gd name="T71" fmla="*/ 1354 h 1620"/>
                  <a:gd name="T72" fmla="*/ 524 w 1374"/>
                  <a:gd name="T73" fmla="*/ 1412 h 1620"/>
                  <a:gd name="T74" fmla="*/ 790 w 1374"/>
                  <a:gd name="T75" fmla="*/ 1418 h 1620"/>
                  <a:gd name="T76" fmla="*/ 892 w 1374"/>
                  <a:gd name="T77" fmla="*/ 1424 h 1620"/>
                  <a:gd name="T78" fmla="*/ 914 w 1374"/>
                  <a:gd name="T79" fmla="*/ 1402 h 1620"/>
                  <a:gd name="T80" fmla="*/ 948 w 1374"/>
                  <a:gd name="T81" fmla="*/ 1130 h 1620"/>
                  <a:gd name="T82" fmla="*/ 976 w 1374"/>
                  <a:gd name="T83" fmla="*/ 930 h 1620"/>
                  <a:gd name="T84" fmla="*/ 842 w 1374"/>
                  <a:gd name="T85" fmla="*/ 588 h 1620"/>
                  <a:gd name="T86" fmla="*/ 820 w 1374"/>
                  <a:gd name="T87" fmla="*/ 438 h 1620"/>
                  <a:gd name="T88" fmla="*/ 700 w 1374"/>
                  <a:gd name="T89" fmla="*/ 370 h 1620"/>
                  <a:gd name="T90" fmla="*/ 744 w 1374"/>
                  <a:gd name="T91" fmla="*/ 288 h 1620"/>
                  <a:gd name="T92" fmla="*/ 802 w 1374"/>
                  <a:gd name="T93" fmla="*/ 390 h 1620"/>
                  <a:gd name="T94" fmla="*/ 786 w 1374"/>
                  <a:gd name="T95" fmla="*/ 246 h 1620"/>
                  <a:gd name="T96" fmla="*/ 674 w 1374"/>
                  <a:gd name="T97" fmla="*/ 302 h 1620"/>
                  <a:gd name="T98" fmla="*/ 538 w 1374"/>
                  <a:gd name="T99" fmla="*/ 246 h 1620"/>
                  <a:gd name="T100" fmla="*/ 494 w 1374"/>
                  <a:gd name="T101" fmla="*/ 368 h 1620"/>
                  <a:gd name="T102" fmla="*/ 508 w 1374"/>
                  <a:gd name="T103" fmla="*/ 344 h 1620"/>
                  <a:gd name="T104" fmla="*/ 558 w 1374"/>
                  <a:gd name="T105" fmla="*/ 304 h 1620"/>
                  <a:gd name="T106" fmla="*/ 510 w 1374"/>
                  <a:gd name="T107" fmla="*/ 418 h 1620"/>
                  <a:gd name="T108" fmla="*/ 576 w 1374"/>
                  <a:gd name="T109" fmla="*/ 514 h 1620"/>
                  <a:gd name="T110" fmla="*/ 792 w 1374"/>
                  <a:gd name="T111" fmla="*/ 466 h 1620"/>
                  <a:gd name="T112" fmla="*/ 570 w 1374"/>
                  <a:gd name="T113" fmla="*/ 560 h 1620"/>
                  <a:gd name="T114" fmla="*/ 762 w 1374"/>
                  <a:gd name="T115" fmla="*/ 514 h 1620"/>
                  <a:gd name="T116" fmla="*/ 568 w 1374"/>
                  <a:gd name="T117" fmla="*/ 618 h 1620"/>
                  <a:gd name="T118" fmla="*/ 1078 w 1374"/>
                  <a:gd name="T119" fmla="*/ 892 h 1620"/>
                  <a:gd name="T120" fmla="*/ 1072 w 1374"/>
                  <a:gd name="T121" fmla="*/ 986 h 1620"/>
                  <a:gd name="T122" fmla="*/ 870 w 1374"/>
                  <a:gd name="T123" fmla="*/ 496 h 1620"/>
                  <a:gd name="T124" fmla="*/ 924 w 1374"/>
                  <a:gd name="T125" fmla="*/ 514 h 1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74" h="1620">
                    <a:moveTo>
                      <a:pt x="174" y="1170"/>
                    </a:moveTo>
                    <a:lnTo>
                      <a:pt x="174" y="1170"/>
                    </a:lnTo>
                    <a:lnTo>
                      <a:pt x="174" y="1188"/>
                    </a:lnTo>
                    <a:lnTo>
                      <a:pt x="172" y="1204"/>
                    </a:lnTo>
                    <a:lnTo>
                      <a:pt x="168" y="1218"/>
                    </a:lnTo>
                    <a:lnTo>
                      <a:pt x="162" y="1230"/>
                    </a:lnTo>
                    <a:lnTo>
                      <a:pt x="154" y="1238"/>
                    </a:lnTo>
                    <a:lnTo>
                      <a:pt x="142" y="1246"/>
                    </a:lnTo>
                    <a:lnTo>
                      <a:pt x="130" y="1252"/>
                    </a:lnTo>
                    <a:lnTo>
                      <a:pt x="114" y="1256"/>
                    </a:lnTo>
                    <a:lnTo>
                      <a:pt x="114" y="1256"/>
                    </a:lnTo>
                    <a:lnTo>
                      <a:pt x="88" y="1258"/>
                    </a:lnTo>
                    <a:lnTo>
                      <a:pt x="64" y="1258"/>
                    </a:lnTo>
                    <a:lnTo>
                      <a:pt x="64" y="1258"/>
                    </a:lnTo>
                    <a:lnTo>
                      <a:pt x="52" y="1260"/>
                    </a:lnTo>
                    <a:lnTo>
                      <a:pt x="42" y="1262"/>
                    </a:lnTo>
                    <a:lnTo>
                      <a:pt x="34" y="1266"/>
                    </a:lnTo>
                    <a:lnTo>
                      <a:pt x="28" y="1272"/>
                    </a:lnTo>
                    <a:lnTo>
                      <a:pt x="26" y="1278"/>
                    </a:lnTo>
                    <a:lnTo>
                      <a:pt x="24" y="1286"/>
                    </a:lnTo>
                    <a:lnTo>
                      <a:pt x="26" y="1294"/>
                    </a:lnTo>
                    <a:lnTo>
                      <a:pt x="30" y="1304"/>
                    </a:lnTo>
                    <a:lnTo>
                      <a:pt x="30" y="1304"/>
                    </a:lnTo>
                    <a:lnTo>
                      <a:pt x="40" y="1324"/>
                    </a:lnTo>
                    <a:lnTo>
                      <a:pt x="46" y="1342"/>
                    </a:lnTo>
                    <a:lnTo>
                      <a:pt x="50" y="1360"/>
                    </a:lnTo>
                    <a:lnTo>
                      <a:pt x="52" y="1378"/>
                    </a:lnTo>
                    <a:lnTo>
                      <a:pt x="52" y="1396"/>
                    </a:lnTo>
                    <a:lnTo>
                      <a:pt x="48" y="1416"/>
                    </a:lnTo>
                    <a:lnTo>
                      <a:pt x="42" y="1434"/>
                    </a:lnTo>
                    <a:lnTo>
                      <a:pt x="32" y="1452"/>
                    </a:lnTo>
                    <a:lnTo>
                      <a:pt x="32" y="1452"/>
                    </a:lnTo>
                    <a:lnTo>
                      <a:pt x="32" y="1456"/>
                    </a:lnTo>
                    <a:lnTo>
                      <a:pt x="32" y="1460"/>
                    </a:lnTo>
                    <a:lnTo>
                      <a:pt x="36" y="1472"/>
                    </a:lnTo>
                    <a:lnTo>
                      <a:pt x="42" y="1484"/>
                    </a:lnTo>
                    <a:lnTo>
                      <a:pt x="50" y="1492"/>
                    </a:lnTo>
                    <a:lnTo>
                      <a:pt x="50" y="1492"/>
                    </a:lnTo>
                    <a:lnTo>
                      <a:pt x="60" y="1498"/>
                    </a:lnTo>
                    <a:lnTo>
                      <a:pt x="72" y="1500"/>
                    </a:lnTo>
                    <a:lnTo>
                      <a:pt x="98" y="1506"/>
                    </a:lnTo>
                    <a:lnTo>
                      <a:pt x="98" y="1506"/>
                    </a:lnTo>
                    <a:lnTo>
                      <a:pt x="216" y="1536"/>
                    </a:lnTo>
                    <a:lnTo>
                      <a:pt x="276" y="1550"/>
                    </a:lnTo>
                    <a:lnTo>
                      <a:pt x="336" y="1564"/>
                    </a:lnTo>
                    <a:lnTo>
                      <a:pt x="336" y="1564"/>
                    </a:lnTo>
                    <a:lnTo>
                      <a:pt x="360" y="1568"/>
                    </a:lnTo>
                    <a:lnTo>
                      <a:pt x="386" y="1572"/>
                    </a:lnTo>
                    <a:lnTo>
                      <a:pt x="412" y="1572"/>
                    </a:lnTo>
                    <a:lnTo>
                      <a:pt x="438" y="1570"/>
                    </a:lnTo>
                    <a:lnTo>
                      <a:pt x="438" y="1570"/>
                    </a:lnTo>
                    <a:lnTo>
                      <a:pt x="452" y="1566"/>
                    </a:lnTo>
                    <a:lnTo>
                      <a:pt x="464" y="1560"/>
                    </a:lnTo>
                    <a:lnTo>
                      <a:pt x="476" y="1552"/>
                    </a:lnTo>
                    <a:lnTo>
                      <a:pt x="484" y="1542"/>
                    </a:lnTo>
                    <a:lnTo>
                      <a:pt x="490" y="1532"/>
                    </a:lnTo>
                    <a:lnTo>
                      <a:pt x="494" y="1518"/>
                    </a:lnTo>
                    <a:lnTo>
                      <a:pt x="494" y="1504"/>
                    </a:lnTo>
                    <a:lnTo>
                      <a:pt x="494" y="1488"/>
                    </a:lnTo>
                    <a:lnTo>
                      <a:pt x="494" y="1488"/>
                    </a:lnTo>
                    <a:lnTo>
                      <a:pt x="490" y="1468"/>
                    </a:lnTo>
                    <a:lnTo>
                      <a:pt x="486" y="1448"/>
                    </a:lnTo>
                    <a:lnTo>
                      <a:pt x="480" y="1430"/>
                    </a:lnTo>
                    <a:lnTo>
                      <a:pt x="472" y="1412"/>
                    </a:lnTo>
                    <a:lnTo>
                      <a:pt x="472" y="1412"/>
                    </a:lnTo>
                    <a:lnTo>
                      <a:pt x="386" y="1284"/>
                    </a:lnTo>
                    <a:lnTo>
                      <a:pt x="344" y="1220"/>
                    </a:lnTo>
                    <a:lnTo>
                      <a:pt x="298" y="1158"/>
                    </a:lnTo>
                    <a:lnTo>
                      <a:pt x="298" y="1158"/>
                    </a:lnTo>
                    <a:lnTo>
                      <a:pt x="290" y="1146"/>
                    </a:lnTo>
                    <a:lnTo>
                      <a:pt x="278" y="1134"/>
                    </a:lnTo>
                    <a:lnTo>
                      <a:pt x="266" y="1124"/>
                    </a:lnTo>
                    <a:lnTo>
                      <a:pt x="254" y="1118"/>
                    </a:lnTo>
                    <a:lnTo>
                      <a:pt x="240" y="1114"/>
                    </a:lnTo>
                    <a:lnTo>
                      <a:pt x="224" y="1112"/>
                    </a:lnTo>
                    <a:lnTo>
                      <a:pt x="208" y="1116"/>
                    </a:lnTo>
                    <a:lnTo>
                      <a:pt x="190" y="1122"/>
                    </a:lnTo>
                    <a:lnTo>
                      <a:pt x="190" y="1122"/>
                    </a:lnTo>
                    <a:lnTo>
                      <a:pt x="186" y="1108"/>
                    </a:lnTo>
                    <a:lnTo>
                      <a:pt x="184" y="1092"/>
                    </a:lnTo>
                    <a:lnTo>
                      <a:pt x="184" y="1078"/>
                    </a:lnTo>
                    <a:lnTo>
                      <a:pt x="184" y="1064"/>
                    </a:lnTo>
                    <a:lnTo>
                      <a:pt x="186" y="1050"/>
                    </a:lnTo>
                    <a:lnTo>
                      <a:pt x="190" y="1036"/>
                    </a:lnTo>
                    <a:lnTo>
                      <a:pt x="200" y="1008"/>
                    </a:lnTo>
                    <a:lnTo>
                      <a:pt x="200" y="1008"/>
                    </a:lnTo>
                    <a:lnTo>
                      <a:pt x="232" y="940"/>
                    </a:lnTo>
                    <a:lnTo>
                      <a:pt x="248" y="906"/>
                    </a:lnTo>
                    <a:lnTo>
                      <a:pt x="262" y="870"/>
                    </a:lnTo>
                    <a:lnTo>
                      <a:pt x="262" y="870"/>
                    </a:lnTo>
                    <a:lnTo>
                      <a:pt x="280" y="820"/>
                    </a:lnTo>
                    <a:lnTo>
                      <a:pt x="304" y="772"/>
                    </a:lnTo>
                    <a:lnTo>
                      <a:pt x="316" y="748"/>
                    </a:lnTo>
                    <a:lnTo>
                      <a:pt x="332" y="726"/>
                    </a:lnTo>
                    <a:lnTo>
                      <a:pt x="348" y="704"/>
                    </a:lnTo>
                    <a:lnTo>
                      <a:pt x="364" y="682"/>
                    </a:lnTo>
                    <a:lnTo>
                      <a:pt x="364" y="682"/>
                    </a:lnTo>
                    <a:lnTo>
                      <a:pt x="378" y="666"/>
                    </a:lnTo>
                    <a:lnTo>
                      <a:pt x="390" y="650"/>
                    </a:lnTo>
                    <a:lnTo>
                      <a:pt x="390" y="650"/>
                    </a:lnTo>
                    <a:lnTo>
                      <a:pt x="406" y="628"/>
                    </a:lnTo>
                    <a:lnTo>
                      <a:pt x="422" y="604"/>
                    </a:lnTo>
                    <a:lnTo>
                      <a:pt x="434" y="578"/>
                    </a:lnTo>
                    <a:lnTo>
                      <a:pt x="444" y="552"/>
                    </a:lnTo>
                    <a:lnTo>
                      <a:pt x="452" y="526"/>
                    </a:lnTo>
                    <a:lnTo>
                      <a:pt x="456" y="498"/>
                    </a:lnTo>
                    <a:lnTo>
                      <a:pt x="456" y="468"/>
                    </a:lnTo>
                    <a:lnTo>
                      <a:pt x="452" y="438"/>
                    </a:lnTo>
                    <a:lnTo>
                      <a:pt x="452" y="438"/>
                    </a:lnTo>
                    <a:lnTo>
                      <a:pt x="448" y="406"/>
                    </a:lnTo>
                    <a:lnTo>
                      <a:pt x="446" y="374"/>
                    </a:lnTo>
                    <a:lnTo>
                      <a:pt x="444" y="310"/>
                    </a:lnTo>
                    <a:lnTo>
                      <a:pt x="446" y="246"/>
                    </a:lnTo>
                    <a:lnTo>
                      <a:pt x="450" y="182"/>
                    </a:lnTo>
                    <a:lnTo>
                      <a:pt x="450" y="182"/>
                    </a:lnTo>
                    <a:lnTo>
                      <a:pt x="452" y="162"/>
                    </a:lnTo>
                    <a:lnTo>
                      <a:pt x="456" y="144"/>
                    </a:lnTo>
                    <a:lnTo>
                      <a:pt x="462" y="124"/>
                    </a:lnTo>
                    <a:lnTo>
                      <a:pt x="470" y="108"/>
                    </a:lnTo>
                    <a:lnTo>
                      <a:pt x="478" y="92"/>
                    </a:lnTo>
                    <a:lnTo>
                      <a:pt x="488" y="76"/>
                    </a:lnTo>
                    <a:lnTo>
                      <a:pt x="500" y="62"/>
                    </a:lnTo>
                    <a:lnTo>
                      <a:pt x="514" y="50"/>
                    </a:lnTo>
                    <a:lnTo>
                      <a:pt x="528" y="40"/>
                    </a:lnTo>
                    <a:lnTo>
                      <a:pt x="544" y="30"/>
                    </a:lnTo>
                    <a:lnTo>
                      <a:pt x="560" y="20"/>
                    </a:lnTo>
                    <a:lnTo>
                      <a:pt x="578" y="14"/>
                    </a:lnTo>
                    <a:lnTo>
                      <a:pt x="596" y="8"/>
                    </a:lnTo>
                    <a:lnTo>
                      <a:pt x="614" y="4"/>
                    </a:lnTo>
                    <a:lnTo>
                      <a:pt x="634" y="2"/>
                    </a:lnTo>
                    <a:lnTo>
                      <a:pt x="656" y="0"/>
                    </a:lnTo>
                    <a:lnTo>
                      <a:pt x="656" y="0"/>
                    </a:lnTo>
                    <a:lnTo>
                      <a:pt x="686" y="2"/>
                    </a:lnTo>
                    <a:lnTo>
                      <a:pt x="718" y="6"/>
                    </a:lnTo>
                    <a:lnTo>
                      <a:pt x="746" y="12"/>
                    </a:lnTo>
                    <a:lnTo>
                      <a:pt x="772" y="20"/>
                    </a:lnTo>
                    <a:lnTo>
                      <a:pt x="798" y="32"/>
                    </a:lnTo>
                    <a:lnTo>
                      <a:pt x="822" y="46"/>
                    </a:lnTo>
                    <a:lnTo>
                      <a:pt x="844" y="60"/>
                    </a:lnTo>
                    <a:lnTo>
                      <a:pt x="864" y="78"/>
                    </a:lnTo>
                    <a:lnTo>
                      <a:pt x="882" y="98"/>
                    </a:lnTo>
                    <a:lnTo>
                      <a:pt x="898" y="120"/>
                    </a:lnTo>
                    <a:lnTo>
                      <a:pt x="910" y="144"/>
                    </a:lnTo>
                    <a:lnTo>
                      <a:pt x="922" y="168"/>
                    </a:lnTo>
                    <a:lnTo>
                      <a:pt x="930" y="196"/>
                    </a:lnTo>
                    <a:lnTo>
                      <a:pt x="938" y="224"/>
                    </a:lnTo>
                    <a:lnTo>
                      <a:pt x="940" y="254"/>
                    </a:lnTo>
                    <a:lnTo>
                      <a:pt x="942" y="286"/>
                    </a:lnTo>
                    <a:lnTo>
                      <a:pt x="942" y="286"/>
                    </a:lnTo>
                    <a:lnTo>
                      <a:pt x="944" y="344"/>
                    </a:lnTo>
                    <a:lnTo>
                      <a:pt x="946" y="370"/>
                    </a:lnTo>
                    <a:lnTo>
                      <a:pt x="950" y="398"/>
                    </a:lnTo>
                    <a:lnTo>
                      <a:pt x="956" y="426"/>
                    </a:lnTo>
                    <a:lnTo>
                      <a:pt x="962" y="452"/>
                    </a:lnTo>
                    <a:lnTo>
                      <a:pt x="968" y="478"/>
                    </a:lnTo>
                    <a:lnTo>
                      <a:pt x="978" y="502"/>
                    </a:lnTo>
                    <a:lnTo>
                      <a:pt x="988" y="528"/>
                    </a:lnTo>
                    <a:lnTo>
                      <a:pt x="998" y="552"/>
                    </a:lnTo>
                    <a:lnTo>
                      <a:pt x="1012" y="576"/>
                    </a:lnTo>
                    <a:lnTo>
                      <a:pt x="1024" y="600"/>
                    </a:lnTo>
                    <a:lnTo>
                      <a:pt x="1040" y="622"/>
                    </a:lnTo>
                    <a:lnTo>
                      <a:pt x="1056" y="646"/>
                    </a:lnTo>
                    <a:lnTo>
                      <a:pt x="1074" y="668"/>
                    </a:lnTo>
                    <a:lnTo>
                      <a:pt x="1094" y="690"/>
                    </a:lnTo>
                    <a:lnTo>
                      <a:pt x="1094" y="690"/>
                    </a:lnTo>
                    <a:lnTo>
                      <a:pt x="1110" y="710"/>
                    </a:lnTo>
                    <a:lnTo>
                      <a:pt x="1126" y="730"/>
                    </a:lnTo>
                    <a:lnTo>
                      <a:pt x="1140" y="750"/>
                    </a:lnTo>
                    <a:lnTo>
                      <a:pt x="1152" y="772"/>
                    </a:lnTo>
                    <a:lnTo>
                      <a:pt x="1176" y="814"/>
                    </a:lnTo>
                    <a:lnTo>
                      <a:pt x="1196" y="860"/>
                    </a:lnTo>
                    <a:lnTo>
                      <a:pt x="1212" y="908"/>
                    </a:lnTo>
                    <a:lnTo>
                      <a:pt x="1224" y="956"/>
                    </a:lnTo>
                    <a:lnTo>
                      <a:pt x="1232" y="1006"/>
                    </a:lnTo>
                    <a:lnTo>
                      <a:pt x="1236" y="1056"/>
                    </a:lnTo>
                    <a:lnTo>
                      <a:pt x="1236" y="1056"/>
                    </a:lnTo>
                    <a:lnTo>
                      <a:pt x="1236" y="1072"/>
                    </a:lnTo>
                    <a:lnTo>
                      <a:pt x="1234" y="1088"/>
                    </a:lnTo>
                    <a:lnTo>
                      <a:pt x="1230" y="1104"/>
                    </a:lnTo>
                    <a:lnTo>
                      <a:pt x="1224" y="1120"/>
                    </a:lnTo>
                    <a:lnTo>
                      <a:pt x="1218" y="1134"/>
                    </a:lnTo>
                    <a:lnTo>
                      <a:pt x="1208" y="1150"/>
                    </a:lnTo>
                    <a:lnTo>
                      <a:pt x="1198" y="1164"/>
                    </a:lnTo>
                    <a:lnTo>
                      <a:pt x="1188" y="1178"/>
                    </a:lnTo>
                    <a:lnTo>
                      <a:pt x="1176" y="1192"/>
                    </a:lnTo>
                    <a:lnTo>
                      <a:pt x="1162" y="1204"/>
                    </a:lnTo>
                    <a:lnTo>
                      <a:pt x="1148" y="1214"/>
                    </a:lnTo>
                    <a:lnTo>
                      <a:pt x="1134" y="1222"/>
                    </a:lnTo>
                    <a:lnTo>
                      <a:pt x="1120" y="1230"/>
                    </a:lnTo>
                    <a:lnTo>
                      <a:pt x="1106" y="1236"/>
                    </a:lnTo>
                    <a:lnTo>
                      <a:pt x="1092" y="1240"/>
                    </a:lnTo>
                    <a:lnTo>
                      <a:pt x="1078" y="1242"/>
                    </a:lnTo>
                    <a:lnTo>
                      <a:pt x="1078" y="1242"/>
                    </a:lnTo>
                    <a:lnTo>
                      <a:pt x="1066" y="1242"/>
                    </a:lnTo>
                    <a:lnTo>
                      <a:pt x="1054" y="1240"/>
                    </a:lnTo>
                    <a:lnTo>
                      <a:pt x="1042" y="1236"/>
                    </a:lnTo>
                    <a:lnTo>
                      <a:pt x="1032" y="1232"/>
                    </a:lnTo>
                    <a:lnTo>
                      <a:pt x="1022" y="1226"/>
                    </a:lnTo>
                    <a:lnTo>
                      <a:pt x="1014" y="1218"/>
                    </a:lnTo>
                    <a:lnTo>
                      <a:pt x="1008" y="1208"/>
                    </a:lnTo>
                    <a:lnTo>
                      <a:pt x="1000" y="1196"/>
                    </a:lnTo>
                    <a:lnTo>
                      <a:pt x="1000" y="1196"/>
                    </a:lnTo>
                    <a:lnTo>
                      <a:pt x="994" y="1184"/>
                    </a:lnTo>
                    <a:lnTo>
                      <a:pt x="988" y="1172"/>
                    </a:lnTo>
                    <a:lnTo>
                      <a:pt x="988" y="1172"/>
                    </a:lnTo>
                    <a:lnTo>
                      <a:pt x="972" y="1158"/>
                    </a:lnTo>
                    <a:lnTo>
                      <a:pt x="964" y="1152"/>
                    </a:lnTo>
                    <a:lnTo>
                      <a:pt x="958" y="1152"/>
                    </a:lnTo>
                    <a:lnTo>
                      <a:pt x="958" y="1152"/>
                    </a:lnTo>
                    <a:lnTo>
                      <a:pt x="950" y="1154"/>
                    </a:lnTo>
                    <a:lnTo>
                      <a:pt x="942" y="1162"/>
                    </a:lnTo>
                    <a:lnTo>
                      <a:pt x="936" y="1170"/>
                    </a:lnTo>
                    <a:lnTo>
                      <a:pt x="934" y="1180"/>
                    </a:lnTo>
                    <a:lnTo>
                      <a:pt x="934" y="1180"/>
                    </a:lnTo>
                    <a:lnTo>
                      <a:pt x="932" y="1200"/>
                    </a:lnTo>
                    <a:lnTo>
                      <a:pt x="932" y="1222"/>
                    </a:lnTo>
                    <a:lnTo>
                      <a:pt x="932" y="1266"/>
                    </a:lnTo>
                    <a:lnTo>
                      <a:pt x="932" y="1266"/>
                    </a:lnTo>
                    <a:lnTo>
                      <a:pt x="940" y="1432"/>
                    </a:lnTo>
                    <a:lnTo>
                      <a:pt x="940" y="1432"/>
                    </a:lnTo>
                    <a:lnTo>
                      <a:pt x="938" y="1456"/>
                    </a:lnTo>
                    <a:lnTo>
                      <a:pt x="936" y="1480"/>
                    </a:lnTo>
                    <a:lnTo>
                      <a:pt x="936" y="1480"/>
                    </a:lnTo>
                    <a:lnTo>
                      <a:pt x="936" y="1494"/>
                    </a:lnTo>
                    <a:lnTo>
                      <a:pt x="938" y="1508"/>
                    </a:lnTo>
                    <a:lnTo>
                      <a:pt x="942" y="1520"/>
                    </a:lnTo>
                    <a:lnTo>
                      <a:pt x="946" y="1532"/>
                    </a:lnTo>
                    <a:lnTo>
                      <a:pt x="952" y="1542"/>
                    </a:lnTo>
                    <a:lnTo>
                      <a:pt x="960" y="1550"/>
                    </a:lnTo>
                    <a:lnTo>
                      <a:pt x="966" y="1558"/>
                    </a:lnTo>
                    <a:lnTo>
                      <a:pt x="976" y="1564"/>
                    </a:lnTo>
                    <a:lnTo>
                      <a:pt x="986" y="1570"/>
                    </a:lnTo>
                    <a:lnTo>
                      <a:pt x="996" y="1572"/>
                    </a:lnTo>
                    <a:lnTo>
                      <a:pt x="1006" y="1574"/>
                    </a:lnTo>
                    <a:lnTo>
                      <a:pt x="1018" y="1574"/>
                    </a:lnTo>
                    <a:lnTo>
                      <a:pt x="1030" y="1574"/>
                    </a:lnTo>
                    <a:lnTo>
                      <a:pt x="1042" y="1570"/>
                    </a:lnTo>
                    <a:lnTo>
                      <a:pt x="1056" y="1566"/>
                    </a:lnTo>
                    <a:lnTo>
                      <a:pt x="1068" y="1560"/>
                    </a:lnTo>
                    <a:lnTo>
                      <a:pt x="1068" y="1560"/>
                    </a:lnTo>
                    <a:lnTo>
                      <a:pt x="1082" y="1552"/>
                    </a:lnTo>
                    <a:lnTo>
                      <a:pt x="1092" y="1544"/>
                    </a:lnTo>
                    <a:lnTo>
                      <a:pt x="1092" y="1544"/>
                    </a:lnTo>
                    <a:lnTo>
                      <a:pt x="1114" y="1526"/>
                    </a:lnTo>
                    <a:lnTo>
                      <a:pt x="1136" y="1510"/>
                    </a:lnTo>
                    <a:lnTo>
                      <a:pt x="1158" y="1496"/>
                    </a:lnTo>
                    <a:lnTo>
                      <a:pt x="1182" y="1482"/>
                    </a:lnTo>
                    <a:lnTo>
                      <a:pt x="1206" y="1470"/>
                    </a:lnTo>
                    <a:lnTo>
                      <a:pt x="1232" y="1458"/>
                    </a:lnTo>
                    <a:lnTo>
                      <a:pt x="1282" y="1438"/>
                    </a:lnTo>
                    <a:lnTo>
                      <a:pt x="1282" y="1438"/>
                    </a:lnTo>
                    <a:lnTo>
                      <a:pt x="1292" y="1434"/>
                    </a:lnTo>
                    <a:lnTo>
                      <a:pt x="1302" y="1428"/>
                    </a:lnTo>
                    <a:lnTo>
                      <a:pt x="1320" y="1416"/>
                    </a:lnTo>
                    <a:lnTo>
                      <a:pt x="1354" y="1386"/>
                    </a:lnTo>
                    <a:lnTo>
                      <a:pt x="1354" y="1386"/>
                    </a:lnTo>
                    <a:lnTo>
                      <a:pt x="1320" y="1360"/>
                    </a:lnTo>
                    <a:lnTo>
                      <a:pt x="1304" y="1348"/>
                    </a:lnTo>
                    <a:lnTo>
                      <a:pt x="1286" y="1336"/>
                    </a:lnTo>
                    <a:lnTo>
                      <a:pt x="1286" y="1336"/>
                    </a:lnTo>
                    <a:lnTo>
                      <a:pt x="1270" y="1326"/>
                    </a:lnTo>
                    <a:lnTo>
                      <a:pt x="1254" y="1312"/>
                    </a:lnTo>
                    <a:lnTo>
                      <a:pt x="1244" y="1296"/>
                    </a:lnTo>
                    <a:lnTo>
                      <a:pt x="1236" y="1276"/>
                    </a:lnTo>
                    <a:lnTo>
                      <a:pt x="1232" y="1256"/>
                    </a:lnTo>
                    <a:lnTo>
                      <a:pt x="1230" y="1232"/>
                    </a:lnTo>
                    <a:lnTo>
                      <a:pt x="1234" y="1208"/>
                    </a:lnTo>
                    <a:lnTo>
                      <a:pt x="1242" y="1182"/>
                    </a:lnTo>
                    <a:lnTo>
                      <a:pt x="1242" y="1182"/>
                    </a:lnTo>
                    <a:lnTo>
                      <a:pt x="1244" y="1210"/>
                    </a:lnTo>
                    <a:lnTo>
                      <a:pt x="1252" y="1236"/>
                    </a:lnTo>
                    <a:lnTo>
                      <a:pt x="1260" y="1260"/>
                    </a:lnTo>
                    <a:lnTo>
                      <a:pt x="1274" y="1280"/>
                    </a:lnTo>
                    <a:lnTo>
                      <a:pt x="1288" y="1298"/>
                    </a:lnTo>
                    <a:lnTo>
                      <a:pt x="1306" y="1316"/>
                    </a:lnTo>
                    <a:lnTo>
                      <a:pt x="1326" y="1330"/>
                    </a:lnTo>
                    <a:lnTo>
                      <a:pt x="1348" y="1344"/>
                    </a:lnTo>
                    <a:lnTo>
                      <a:pt x="1348" y="1344"/>
                    </a:lnTo>
                    <a:lnTo>
                      <a:pt x="1360" y="1352"/>
                    </a:lnTo>
                    <a:lnTo>
                      <a:pt x="1368" y="1360"/>
                    </a:lnTo>
                    <a:lnTo>
                      <a:pt x="1374" y="1370"/>
                    </a:lnTo>
                    <a:lnTo>
                      <a:pt x="1374" y="1382"/>
                    </a:lnTo>
                    <a:lnTo>
                      <a:pt x="1374" y="1392"/>
                    </a:lnTo>
                    <a:lnTo>
                      <a:pt x="1368" y="1404"/>
                    </a:lnTo>
                    <a:lnTo>
                      <a:pt x="1360" y="1414"/>
                    </a:lnTo>
                    <a:lnTo>
                      <a:pt x="1350" y="1424"/>
                    </a:lnTo>
                    <a:lnTo>
                      <a:pt x="1350" y="1424"/>
                    </a:lnTo>
                    <a:lnTo>
                      <a:pt x="1330" y="1438"/>
                    </a:lnTo>
                    <a:lnTo>
                      <a:pt x="1310" y="1450"/>
                    </a:lnTo>
                    <a:lnTo>
                      <a:pt x="1288" y="1462"/>
                    </a:lnTo>
                    <a:lnTo>
                      <a:pt x="1268" y="1474"/>
                    </a:lnTo>
                    <a:lnTo>
                      <a:pt x="1268" y="1474"/>
                    </a:lnTo>
                    <a:lnTo>
                      <a:pt x="1182" y="1528"/>
                    </a:lnTo>
                    <a:lnTo>
                      <a:pt x="1140" y="1558"/>
                    </a:lnTo>
                    <a:lnTo>
                      <a:pt x="1100" y="1588"/>
                    </a:lnTo>
                    <a:lnTo>
                      <a:pt x="1100" y="1588"/>
                    </a:lnTo>
                    <a:lnTo>
                      <a:pt x="1088" y="1596"/>
                    </a:lnTo>
                    <a:lnTo>
                      <a:pt x="1074" y="1602"/>
                    </a:lnTo>
                    <a:lnTo>
                      <a:pt x="1062" y="1608"/>
                    </a:lnTo>
                    <a:lnTo>
                      <a:pt x="1048" y="1614"/>
                    </a:lnTo>
                    <a:lnTo>
                      <a:pt x="1036" y="1616"/>
                    </a:lnTo>
                    <a:lnTo>
                      <a:pt x="1022" y="1618"/>
                    </a:lnTo>
                    <a:lnTo>
                      <a:pt x="1008" y="1620"/>
                    </a:lnTo>
                    <a:lnTo>
                      <a:pt x="996" y="1618"/>
                    </a:lnTo>
                    <a:lnTo>
                      <a:pt x="982" y="1616"/>
                    </a:lnTo>
                    <a:lnTo>
                      <a:pt x="968" y="1614"/>
                    </a:lnTo>
                    <a:lnTo>
                      <a:pt x="956" y="1610"/>
                    </a:lnTo>
                    <a:lnTo>
                      <a:pt x="944" y="1604"/>
                    </a:lnTo>
                    <a:lnTo>
                      <a:pt x="932" y="1598"/>
                    </a:lnTo>
                    <a:lnTo>
                      <a:pt x="920" y="1590"/>
                    </a:lnTo>
                    <a:lnTo>
                      <a:pt x="910" y="1580"/>
                    </a:lnTo>
                    <a:lnTo>
                      <a:pt x="900" y="1570"/>
                    </a:lnTo>
                    <a:lnTo>
                      <a:pt x="900" y="1570"/>
                    </a:lnTo>
                    <a:lnTo>
                      <a:pt x="888" y="1558"/>
                    </a:lnTo>
                    <a:lnTo>
                      <a:pt x="872" y="1548"/>
                    </a:lnTo>
                    <a:lnTo>
                      <a:pt x="854" y="1540"/>
                    </a:lnTo>
                    <a:lnTo>
                      <a:pt x="838" y="1538"/>
                    </a:lnTo>
                    <a:lnTo>
                      <a:pt x="838" y="1538"/>
                    </a:lnTo>
                    <a:lnTo>
                      <a:pt x="780" y="1536"/>
                    </a:lnTo>
                    <a:lnTo>
                      <a:pt x="724" y="1534"/>
                    </a:lnTo>
                    <a:lnTo>
                      <a:pt x="666" y="1536"/>
                    </a:lnTo>
                    <a:lnTo>
                      <a:pt x="610" y="1540"/>
                    </a:lnTo>
                    <a:lnTo>
                      <a:pt x="610" y="1540"/>
                    </a:lnTo>
                    <a:lnTo>
                      <a:pt x="578" y="1546"/>
                    </a:lnTo>
                    <a:lnTo>
                      <a:pt x="546" y="1556"/>
                    </a:lnTo>
                    <a:lnTo>
                      <a:pt x="516" y="1570"/>
                    </a:lnTo>
                    <a:lnTo>
                      <a:pt x="488" y="1584"/>
                    </a:lnTo>
                    <a:lnTo>
                      <a:pt x="488" y="1584"/>
                    </a:lnTo>
                    <a:lnTo>
                      <a:pt x="472" y="1594"/>
                    </a:lnTo>
                    <a:lnTo>
                      <a:pt x="456" y="1602"/>
                    </a:lnTo>
                    <a:lnTo>
                      <a:pt x="440" y="1608"/>
                    </a:lnTo>
                    <a:lnTo>
                      <a:pt x="424" y="1610"/>
                    </a:lnTo>
                    <a:lnTo>
                      <a:pt x="408" y="1612"/>
                    </a:lnTo>
                    <a:lnTo>
                      <a:pt x="392" y="1612"/>
                    </a:lnTo>
                    <a:lnTo>
                      <a:pt x="374" y="1610"/>
                    </a:lnTo>
                    <a:lnTo>
                      <a:pt x="356" y="1606"/>
                    </a:lnTo>
                    <a:lnTo>
                      <a:pt x="356" y="1606"/>
                    </a:lnTo>
                    <a:lnTo>
                      <a:pt x="214" y="1566"/>
                    </a:lnTo>
                    <a:lnTo>
                      <a:pt x="72" y="1530"/>
                    </a:lnTo>
                    <a:lnTo>
                      <a:pt x="72" y="1530"/>
                    </a:lnTo>
                    <a:lnTo>
                      <a:pt x="46" y="1522"/>
                    </a:lnTo>
                    <a:lnTo>
                      <a:pt x="28" y="1514"/>
                    </a:lnTo>
                    <a:lnTo>
                      <a:pt x="14" y="1506"/>
                    </a:lnTo>
                    <a:lnTo>
                      <a:pt x="8" y="1500"/>
                    </a:lnTo>
                    <a:lnTo>
                      <a:pt x="4" y="1494"/>
                    </a:lnTo>
                    <a:lnTo>
                      <a:pt x="2" y="1488"/>
                    </a:lnTo>
                    <a:lnTo>
                      <a:pt x="0" y="1480"/>
                    </a:lnTo>
                    <a:lnTo>
                      <a:pt x="0" y="1464"/>
                    </a:lnTo>
                    <a:lnTo>
                      <a:pt x="4" y="1444"/>
                    </a:lnTo>
                    <a:lnTo>
                      <a:pt x="10" y="1420"/>
                    </a:lnTo>
                    <a:lnTo>
                      <a:pt x="10" y="1420"/>
                    </a:lnTo>
                    <a:lnTo>
                      <a:pt x="16" y="1396"/>
                    </a:lnTo>
                    <a:lnTo>
                      <a:pt x="18" y="1370"/>
                    </a:lnTo>
                    <a:lnTo>
                      <a:pt x="16" y="1344"/>
                    </a:lnTo>
                    <a:lnTo>
                      <a:pt x="12" y="1318"/>
                    </a:lnTo>
                    <a:lnTo>
                      <a:pt x="12" y="1318"/>
                    </a:lnTo>
                    <a:lnTo>
                      <a:pt x="10" y="1298"/>
                    </a:lnTo>
                    <a:lnTo>
                      <a:pt x="8" y="1280"/>
                    </a:lnTo>
                    <a:lnTo>
                      <a:pt x="10" y="1266"/>
                    </a:lnTo>
                    <a:lnTo>
                      <a:pt x="14" y="1256"/>
                    </a:lnTo>
                    <a:lnTo>
                      <a:pt x="22" y="1248"/>
                    </a:lnTo>
                    <a:lnTo>
                      <a:pt x="34" y="1242"/>
                    </a:lnTo>
                    <a:lnTo>
                      <a:pt x="50" y="1240"/>
                    </a:lnTo>
                    <a:lnTo>
                      <a:pt x="72" y="1238"/>
                    </a:lnTo>
                    <a:lnTo>
                      <a:pt x="72" y="1238"/>
                    </a:lnTo>
                    <a:lnTo>
                      <a:pt x="88" y="1236"/>
                    </a:lnTo>
                    <a:lnTo>
                      <a:pt x="104" y="1232"/>
                    </a:lnTo>
                    <a:lnTo>
                      <a:pt x="118" y="1226"/>
                    </a:lnTo>
                    <a:lnTo>
                      <a:pt x="132" y="1220"/>
                    </a:lnTo>
                    <a:lnTo>
                      <a:pt x="144" y="1210"/>
                    </a:lnTo>
                    <a:lnTo>
                      <a:pt x="156" y="1200"/>
                    </a:lnTo>
                    <a:lnTo>
                      <a:pt x="166" y="1186"/>
                    </a:lnTo>
                    <a:lnTo>
                      <a:pt x="174" y="1170"/>
                    </a:lnTo>
                    <a:lnTo>
                      <a:pt x="174" y="1170"/>
                    </a:lnTo>
                    <a:close/>
                    <a:moveTo>
                      <a:pt x="504" y="546"/>
                    </a:moveTo>
                    <a:lnTo>
                      <a:pt x="504" y="546"/>
                    </a:lnTo>
                    <a:lnTo>
                      <a:pt x="488" y="588"/>
                    </a:lnTo>
                    <a:lnTo>
                      <a:pt x="470" y="626"/>
                    </a:lnTo>
                    <a:lnTo>
                      <a:pt x="470" y="626"/>
                    </a:lnTo>
                    <a:lnTo>
                      <a:pt x="456" y="656"/>
                    </a:lnTo>
                    <a:lnTo>
                      <a:pt x="450" y="670"/>
                    </a:lnTo>
                    <a:lnTo>
                      <a:pt x="444" y="686"/>
                    </a:lnTo>
                    <a:lnTo>
                      <a:pt x="440" y="700"/>
                    </a:lnTo>
                    <a:lnTo>
                      <a:pt x="438" y="716"/>
                    </a:lnTo>
                    <a:lnTo>
                      <a:pt x="438" y="734"/>
                    </a:lnTo>
                    <a:lnTo>
                      <a:pt x="442" y="750"/>
                    </a:lnTo>
                    <a:lnTo>
                      <a:pt x="442" y="750"/>
                    </a:lnTo>
                    <a:lnTo>
                      <a:pt x="442" y="756"/>
                    </a:lnTo>
                    <a:lnTo>
                      <a:pt x="442" y="760"/>
                    </a:lnTo>
                    <a:lnTo>
                      <a:pt x="434" y="772"/>
                    </a:lnTo>
                    <a:lnTo>
                      <a:pt x="434" y="772"/>
                    </a:lnTo>
                    <a:lnTo>
                      <a:pt x="414" y="802"/>
                    </a:lnTo>
                    <a:lnTo>
                      <a:pt x="396" y="834"/>
                    </a:lnTo>
                    <a:lnTo>
                      <a:pt x="380" y="866"/>
                    </a:lnTo>
                    <a:lnTo>
                      <a:pt x="368" y="900"/>
                    </a:lnTo>
                    <a:lnTo>
                      <a:pt x="358" y="934"/>
                    </a:lnTo>
                    <a:lnTo>
                      <a:pt x="350" y="970"/>
                    </a:lnTo>
                    <a:lnTo>
                      <a:pt x="346" y="1006"/>
                    </a:lnTo>
                    <a:lnTo>
                      <a:pt x="346" y="1044"/>
                    </a:lnTo>
                    <a:lnTo>
                      <a:pt x="346" y="1044"/>
                    </a:lnTo>
                    <a:lnTo>
                      <a:pt x="346" y="1056"/>
                    </a:lnTo>
                    <a:lnTo>
                      <a:pt x="344" y="1070"/>
                    </a:lnTo>
                    <a:lnTo>
                      <a:pt x="338" y="1104"/>
                    </a:lnTo>
                    <a:lnTo>
                      <a:pt x="338" y="1104"/>
                    </a:lnTo>
                    <a:lnTo>
                      <a:pt x="318" y="1088"/>
                    </a:lnTo>
                    <a:lnTo>
                      <a:pt x="304" y="1072"/>
                    </a:lnTo>
                    <a:lnTo>
                      <a:pt x="296" y="1054"/>
                    </a:lnTo>
                    <a:lnTo>
                      <a:pt x="288" y="1036"/>
                    </a:lnTo>
                    <a:lnTo>
                      <a:pt x="284" y="1018"/>
                    </a:lnTo>
                    <a:lnTo>
                      <a:pt x="282" y="998"/>
                    </a:lnTo>
                    <a:lnTo>
                      <a:pt x="278" y="962"/>
                    </a:lnTo>
                    <a:lnTo>
                      <a:pt x="278" y="962"/>
                    </a:lnTo>
                    <a:lnTo>
                      <a:pt x="274" y="986"/>
                    </a:lnTo>
                    <a:lnTo>
                      <a:pt x="274" y="1008"/>
                    </a:lnTo>
                    <a:lnTo>
                      <a:pt x="274" y="1030"/>
                    </a:lnTo>
                    <a:lnTo>
                      <a:pt x="278" y="1050"/>
                    </a:lnTo>
                    <a:lnTo>
                      <a:pt x="284" y="1070"/>
                    </a:lnTo>
                    <a:lnTo>
                      <a:pt x="294" y="1090"/>
                    </a:lnTo>
                    <a:lnTo>
                      <a:pt x="308" y="1108"/>
                    </a:lnTo>
                    <a:lnTo>
                      <a:pt x="326" y="1124"/>
                    </a:lnTo>
                    <a:lnTo>
                      <a:pt x="326" y="1124"/>
                    </a:lnTo>
                    <a:lnTo>
                      <a:pt x="406" y="1192"/>
                    </a:lnTo>
                    <a:lnTo>
                      <a:pt x="488" y="1260"/>
                    </a:lnTo>
                    <a:lnTo>
                      <a:pt x="488" y="1260"/>
                    </a:lnTo>
                    <a:lnTo>
                      <a:pt x="506" y="1278"/>
                    </a:lnTo>
                    <a:lnTo>
                      <a:pt x="520" y="1294"/>
                    </a:lnTo>
                    <a:lnTo>
                      <a:pt x="528" y="1310"/>
                    </a:lnTo>
                    <a:lnTo>
                      <a:pt x="530" y="1318"/>
                    </a:lnTo>
                    <a:lnTo>
                      <a:pt x="532" y="1324"/>
                    </a:lnTo>
                    <a:lnTo>
                      <a:pt x="530" y="1332"/>
                    </a:lnTo>
                    <a:lnTo>
                      <a:pt x="528" y="1340"/>
                    </a:lnTo>
                    <a:lnTo>
                      <a:pt x="520" y="1354"/>
                    </a:lnTo>
                    <a:lnTo>
                      <a:pt x="506" y="1368"/>
                    </a:lnTo>
                    <a:lnTo>
                      <a:pt x="486" y="1382"/>
                    </a:lnTo>
                    <a:lnTo>
                      <a:pt x="486" y="1382"/>
                    </a:lnTo>
                    <a:lnTo>
                      <a:pt x="546" y="1518"/>
                    </a:lnTo>
                    <a:lnTo>
                      <a:pt x="546" y="1518"/>
                    </a:lnTo>
                    <a:lnTo>
                      <a:pt x="552" y="1504"/>
                    </a:lnTo>
                    <a:lnTo>
                      <a:pt x="554" y="1490"/>
                    </a:lnTo>
                    <a:lnTo>
                      <a:pt x="552" y="1478"/>
                    </a:lnTo>
                    <a:lnTo>
                      <a:pt x="548" y="1464"/>
                    </a:lnTo>
                    <a:lnTo>
                      <a:pt x="534" y="1438"/>
                    </a:lnTo>
                    <a:lnTo>
                      <a:pt x="528" y="1426"/>
                    </a:lnTo>
                    <a:lnTo>
                      <a:pt x="524" y="1412"/>
                    </a:lnTo>
                    <a:lnTo>
                      <a:pt x="524" y="1412"/>
                    </a:lnTo>
                    <a:lnTo>
                      <a:pt x="570" y="1428"/>
                    </a:lnTo>
                    <a:lnTo>
                      <a:pt x="594" y="1434"/>
                    </a:lnTo>
                    <a:lnTo>
                      <a:pt x="618" y="1440"/>
                    </a:lnTo>
                    <a:lnTo>
                      <a:pt x="642" y="1444"/>
                    </a:lnTo>
                    <a:lnTo>
                      <a:pt x="666" y="1446"/>
                    </a:lnTo>
                    <a:lnTo>
                      <a:pt x="692" y="1446"/>
                    </a:lnTo>
                    <a:lnTo>
                      <a:pt x="718" y="1442"/>
                    </a:lnTo>
                    <a:lnTo>
                      <a:pt x="718" y="1442"/>
                    </a:lnTo>
                    <a:lnTo>
                      <a:pt x="744" y="1436"/>
                    </a:lnTo>
                    <a:lnTo>
                      <a:pt x="768" y="1428"/>
                    </a:lnTo>
                    <a:lnTo>
                      <a:pt x="790" y="1418"/>
                    </a:lnTo>
                    <a:lnTo>
                      <a:pt x="812" y="1404"/>
                    </a:lnTo>
                    <a:lnTo>
                      <a:pt x="832" y="1390"/>
                    </a:lnTo>
                    <a:lnTo>
                      <a:pt x="852" y="1372"/>
                    </a:lnTo>
                    <a:lnTo>
                      <a:pt x="870" y="1354"/>
                    </a:lnTo>
                    <a:lnTo>
                      <a:pt x="886" y="1330"/>
                    </a:lnTo>
                    <a:lnTo>
                      <a:pt x="886" y="1330"/>
                    </a:lnTo>
                    <a:lnTo>
                      <a:pt x="892" y="1344"/>
                    </a:lnTo>
                    <a:lnTo>
                      <a:pt x="896" y="1356"/>
                    </a:lnTo>
                    <a:lnTo>
                      <a:pt x="898" y="1368"/>
                    </a:lnTo>
                    <a:lnTo>
                      <a:pt x="898" y="1380"/>
                    </a:lnTo>
                    <a:lnTo>
                      <a:pt x="896" y="1402"/>
                    </a:lnTo>
                    <a:lnTo>
                      <a:pt x="892" y="1424"/>
                    </a:lnTo>
                    <a:lnTo>
                      <a:pt x="886" y="1446"/>
                    </a:lnTo>
                    <a:lnTo>
                      <a:pt x="882" y="1468"/>
                    </a:lnTo>
                    <a:lnTo>
                      <a:pt x="882" y="1480"/>
                    </a:lnTo>
                    <a:lnTo>
                      <a:pt x="882" y="1490"/>
                    </a:lnTo>
                    <a:lnTo>
                      <a:pt x="884" y="1502"/>
                    </a:lnTo>
                    <a:lnTo>
                      <a:pt x="886" y="1512"/>
                    </a:lnTo>
                    <a:lnTo>
                      <a:pt x="886" y="1512"/>
                    </a:lnTo>
                    <a:lnTo>
                      <a:pt x="896" y="1486"/>
                    </a:lnTo>
                    <a:lnTo>
                      <a:pt x="904" y="1458"/>
                    </a:lnTo>
                    <a:lnTo>
                      <a:pt x="910" y="1430"/>
                    </a:lnTo>
                    <a:lnTo>
                      <a:pt x="914" y="1402"/>
                    </a:lnTo>
                    <a:lnTo>
                      <a:pt x="914" y="1402"/>
                    </a:lnTo>
                    <a:lnTo>
                      <a:pt x="912" y="1356"/>
                    </a:lnTo>
                    <a:lnTo>
                      <a:pt x="910" y="1310"/>
                    </a:lnTo>
                    <a:lnTo>
                      <a:pt x="908" y="1266"/>
                    </a:lnTo>
                    <a:lnTo>
                      <a:pt x="908" y="1220"/>
                    </a:lnTo>
                    <a:lnTo>
                      <a:pt x="908" y="1220"/>
                    </a:lnTo>
                    <a:lnTo>
                      <a:pt x="910" y="1200"/>
                    </a:lnTo>
                    <a:lnTo>
                      <a:pt x="912" y="1182"/>
                    </a:lnTo>
                    <a:lnTo>
                      <a:pt x="918" y="1164"/>
                    </a:lnTo>
                    <a:lnTo>
                      <a:pt x="924" y="1156"/>
                    </a:lnTo>
                    <a:lnTo>
                      <a:pt x="928" y="1150"/>
                    </a:lnTo>
                    <a:lnTo>
                      <a:pt x="928" y="1150"/>
                    </a:lnTo>
                    <a:lnTo>
                      <a:pt x="948" y="1130"/>
                    </a:lnTo>
                    <a:lnTo>
                      <a:pt x="970" y="1112"/>
                    </a:lnTo>
                    <a:lnTo>
                      <a:pt x="1006" y="1084"/>
                    </a:lnTo>
                    <a:lnTo>
                      <a:pt x="1006" y="1084"/>
                    </a:lnTo>
                    <a:lnTo>
                      <a:pt x="998" y="1066"/>
                    </a:lnTo>
                    <a:lnTo>
                      <a:pt x="988" y="1048"/>
                    </a:lnTo>
                    <a:lnTo>
                      <a:pt x="982" y="1030"/>
                    </a:lnTo>
                    <a:lnTo>
                      <a:pt x="980" y="1022"/>
                    </a:lnTo>
                    <a:lnTo>
                      <a:pt x="980" y="1014"/>
                    </a:lnTo>
                    <a:lnTo>
                      <a:pt x="980" y="1014"/>
                    </a:lnTo>
                    <a:lnTo>
                      <a:pt x="982" y="986"/>
                    </a:lnTo>
                    <a:lnTo>
                      <a:pt x="980" y="958"/>
                    </a:lnTo>
                    <a:lnTo>
                      <a:pt x="976" y="930"/>
                    </a:lnTo>
                    <a:lnTo>
                      <a:pt x="972" y="904"/>
                    </a:lnTo>
                    <a:lnTo>
                      <a:pt x="966" y="878"/>
                    </a:lnTo>
                    <a:lnTo>
                      <a:pt x="958" y="852"/>
                    </a:lnTo>
                    <a:lnTo>
                      <a:pt x="938" y="800"/>
                    </a:lnTo>
                    <a:lnTo>
                      <a:pt x="916" y="750"/>
                    </a:lnTo>
                    <a:lnTo>
                      <a:pt x="894" y="702"/>
                    </a:lnTo>
                    <a:lnTo>
                      <a:pt x="870" y="652"/>
                    </a:lnTo>
                    <a:lnTo>
                      <a:pt x="850" y="602"/>
                    </a:lnTo>
                    <a:lnTo>
                      <a:pt x="850" y="602"/>
                    </a:lnTo>
                    <a:lnTo>
                      <a:pt x="846" y="594"/>
                    </a:lnTo>
                    <a:lnTo>
                      <a:pt x="842" y="588"/>
                    </a:lnTo>
                    <a:lnTo>
                      <a:pt x="842" y="588"/>
                    </a:lnTo>
                    <a:lnTo>
                      <a:pt x="832" y="574"/>
                    </a:lnTo>
                    <a:lnTo>
                      <a:pt x="822" y="560"/>
                    </a:lnTo>
                    <a:lnTo>
                      <a:pt x="816" y="546"/>
                    </a:lnTo>
                    <a:lnTo>
                      <a:pt x="812" y="530"/>
                    </a:lnTo>
                    <a:lnTo>
                      <a:pt x="810" y="514"/>
                    </a:lnTo>
                    <a:lnTo>
                      <a:pt x="810" y="498"/>
                    </a:lnTo>
                    <a:lnTo>
                      <a:pt x="812" y="482"/>
                    </a:lnTo>
                    <a:lnTo>
                      <a:pt x="816" y="466"/>
                    </a:lnTo>
                    <a:lnTo>
                      <a:pt x="816" y="466"/>
                    </a:lnTo>
                    <a:lnTo>
                      <a:pt x="820" y="456"/>
                    </a:lnTo>
                    <a:lnTo>
                      <a:pt x="820" y="446"/>
                    </a:lnTo>
                    <a:lnTo>
                      <a:pt x="820" y="438"/>
                    </a:lnTo>
                    <a:lnTo>
                      <a:pt x="816" y="432"/>
                    </a:lnTo>
                    <a:lnTo>
                      <a:pt x="812" y="426"/>
                    </a:lnTo>
                    <a:lnTo>
                      <a:pt x="804" y="420"/>
                    </a:lnTo>
                    <a:lnTo>
                      <a:pt x="796" y="416"/>
                    </a:lnTo>
                    <a:lnTo>
                      <a:pt x="786" y="412"/>
                    </a:lnTo>
                    <a:lnTo>
                      <a:pt x="786" y="412"/>
                    </a:lnTo>
                    <a:lnTo>
                      <a:pt x="768" y="406"/>
                    </a:lnTo>
                    <a:lnTo>
                      <a:pt x="750" y="400"/>
                    </a:lnTo>
                    <a:lnTo>
                      <a:pt x="716" y="382"/>
                    </a:lnTo>
                    <a:lnTo>
                      <a:pt x="716" y="382"/>
                    </a:lnTo>
                    <a:lnTo>
                      <a:pt x="708" y="376"/>
                    </a:lnTo>
                    <a:lnTo>
                      <a:pt x="700" y="370"/>
                    </a:lnTo>
                    <a:lnTo>
                      <a:pt x="696" y="362"/>
                    </a:lnTo>
                    <a:lnTo>
                      <a:pt x="696" y="354"/>
                    </a:lnTo>
                    <a:lnTo>
                      <a:pt x="696" y="344"/>
                    </a:lnTo>
                    <a:lnTo>
                      <a:pt x="696" y="336"/>
                    </a:lnTo>
                    <a:lnTo>
                      <a:pt x="702" y="320"/>
                    </a:lnTo>
                    <a:lnTo>
                      <a:pt x="702" y="320"/>
                    </a:lnTo>
                    <a:lnTo>
                      <a:pt x="710" y="308"/>
                    </a:lnTo>
                    <a:lnTo>
                      <a:pt x="720" y="298"/>
                    </a:lnTo>
                    <a:lnTo>
                      <a:pt x="732" y="290"/>
                    </a:lnTo>
                    <a:lnTo>
                      <a:pt x="738" y="288"/>
                    </a:lnTo>
                    <a:lnTo>
                      <a:pt x="744" y="288"/>
                    </a:lnTo>
                    <a:lnTo>
                      <a:pt x="744" y="288"/>
                    </a:lnTo>
                    <a:lnTo>
                      <a:pt x="750" y="290"/>
                    </a:lnTo>
                    <a:lnTo>
                      <a:pt x="756" y="292"/>
                    </a:lnTo>
                    <a:lnTo>
                      <a:pt x="768" y="302"/>
                    </a:lnTo>
                    <a:lnTo>
                      <a:pt x="778" y="312"/>
                    </a:lnTo>
                    <a:lnTo>
                      <a:pt x="786" y="326"/>
                    </a:lnTo>
                    <a:lnTo>
                      <a:pt x="786" y="326"/>
                    </a:lnTo>
                    <a:lnTo>
                      <a:pt x="790" y="340"/>
                    </a:lnTo>
                    <a:lnTo>
                      <a:pt x="790" y="354"/>
                    </a:lnTo>
                    <a:lnTo>
                      <a:pt x="788" y="388"/>
                    </a:lnTo>
                    <a:lnTo>
                      <a:pt x="788" y="388"/>
                    </a:lnTo>
                    <a:lnTo>
                      <a:pt x="796" y="390"/>
                    </a:lnTo>
                    <a:lnTo>
                      <a:pt x="802" y="390"/>
                    </a:lnTo>
                    <a:lnTo>
                      <a:pt x="808" y="388"/>
                    </a:lnTo>
                    <a:lnTo>
                      <a:pt x="814" y="386"/>
                    </a:lnTo>
                    <a:lnTo>
                      <a:pt x="818" y="382"/>
                    </a:lnTo>
                    <a:lnTo>
                      <a:pt x="820" y="376"/>
                    </a:lnTo>
                    <a:lnTo>
                      <a:pt x="824" y="362"/>
                    </a:lnTo>
                    <a:lnTo>
                      <a:pt x="824" y="362"/>
                    </a:lnTo>
                    <a:lnTo>
                      <a:pt x="824" y="338"/>
                    </a:lnTo>
                    <a:lnTo>
                      <a:pt x="822" y="316"/>
                    </a:lnTo>
                    <a:lnTo>
                      <a:pt x="818" y="294"/>
                    </a:lnTo>
                    <a:lnTo>
                      <a:pt x="810" y="276"/>
                    </a:lnTo>
                    <a:lnTo>
                      <a:pt x="798" y="260"/>
                    </a:lnTo>
                    <a:lnTo>
                      <a:pt x="786" y="246"/>
                    </a:lnTo>
                    <a:lnTo>
                      <a:pt x="770" y="238"/>
                    </a:lnTo>
                    <a:lnTo>
                      <a:pt x="762" y="236"/>
                    </a:lnTo>
                    <a:lnTo>
                      <a:pt x="754" y="234"/>
                    </a:lnTo>
                    <a:lnTo>
                      <a:pt x="754" y="234"/>
                    </a:lnTo>
                    <a:lnTo>
                      <a:pt x="738" y="234"/>
                    </a:lnTo>
                    <a:lnTo>
                      <a:pt x="722" y="236"/>
                    </a:lnTo>
                    <a:lnTo>
                      <a:pt x="708" y="240"/>
                    </a:lnTo>
                    <a:lnTo>
                      <a:pt x="702" y="244"/>
                    </a:lnTo>
                    <a:lnTo>
                      <a:pt x="700" y="248"/>
                    </a:lnTo>
                    <a:lnTo>
                      <a:pt x="700" y="248"/>
                    </a:lnTo>
                    <a:lnTo>
                      <a:pt x="686" y="274"/>
                    </a:lnTo>
                    <a:lnTo>
                      <a:pt x="674" y="302"/>
                    </a:lnTo>
                    <a:lnTo>
                      <a:pt x="652" y="358"/>
                    </a:lnTo>
                    <a:lnTo>
                      <a:pt x="652" y="358"/>
                    </a:lnTo>
                    <a:lnTo>
                      <a:pt x="602" y="354"/>
                    </a:lnTo>
                    <a:lnTo>
                      <a:pt x="602" y="354"/>
                    </a:lnTo>
                    <a:lnTo>
                      <a:pt x="592" y="310"/>
                    </a:lnTo>
                    <a:lnTo>
                      <a:pt x="586" y="290"/>
                    </a:lnTo>
                    <a:lnTo>
                      <a:pt x="578" y="272"/>
                    </a:lnTo>
                    <a:lnTo>
                      <a:pt x="578" y="272"/>
                    </a:lnTo>
                    <a:lnTo>
                      <a:pt x="574" y="266"/>
                    </a:lnTo>
                    <a:lnTo>
                      <a:pt x="568" y="260"/>
                    </a:lnTo>
                    <a:lnTo>
                      <a:pt x="552" y="252"/>
                    </a:lnTo>
                    <a:lnTo>
                      <a:pt x="538" y="246"/>
                    </a:lnTo>
                    <a:lnTo>
                      <a:pt x="532" y="244"/>
                    </a:lnTo>
                    <a:lnTo>
                      <a:pt x="530" y="244"/>
                    </a:lnTo>
                    <a:lnTo>
                      <a:pt x="530" y="244"/>
                    </a:lnTo>
                    <a:lnTo>
                      <a:pt x="518" y="260"/>
                    </a:lnTo>
                    <a:lnTo>
                      <a:pt x="506" y="278"/>
                    </a:lnTo>
                    <a:lnTo>
                      <a:pt x="496" y="296"/>
                    </a:lnTo>
                    <a:lnTo>
                      <a:pt x="492" y="314"/>
                    </a:lnTo>
                    <a:lnTo>
                      <a:pt x="492" y="314"/>
                    </a:lnTo>
                    <a:lnTo>
                      <a:pt x="488" y="336"/>
                    </a:lnTo>
                    <a:lnTo>
                      <a:pt x="488" y="346"/>
                    </a:lnTo>
                    <a:lnTo>
                      <a:pt x="490" y="356"/>
                    </a:lnTo>
                    <a:lnTo>
                      <a:pt x="494" y="368"/>
                    </a:lnTo>
                    <a:lnTo>
                      <a:pt x="500" y="376"/>
                    </a:lnTo>
                    <a:lnTo>
                      <a:pt x="508" y="384"/>
                    </a:lnTo>
                    <a:lnTo>
                      <a:pt x="520" y="392"/>
                    </a:lnTo>
                    <a:lnTo>
                      <a:pt x="520" y="392"/>
                    </a:lnTo>
                    <a:lnTo>
                      <a:pt x="522" y="390"/>
                    </a:lnTo>
                    <a:lnTo>
                      <a:pt x="528" y="386"/>
                    </a:lnTo>
                    <a:lnTo>
                      <a:pt x="528" y="386"/>
                    </a:lnTo>
                    <a:lnTo>
                      <a:pt x="516" y="372"/>
                    </a:lnTo>
                    <a:lnTo>
                      <a:pt x="512" y="366"/>
                    </a:lnTo>
                    <a:lnTo>
                      <a:pt x="510" y="358"/>
                    </a:lnTo>
                    <a:lnTo>
                      <a:pt x="510" y="358"/>
                    </a:lnTo>
                    <a:lnTo>
                      <a:pt x="508" y="344"/>
                    </a:lnTo>
                    <a:lnTo>
                      <a:pt x="510" y="328"/>
                    </a:lnTo>
                    <a:lnTo>
                      <a:pt x="512" y="314"/>
                    </a:lnTo>
                    <a:lnTo>
                      <a:pt x="516" y="298"/>
                    </a:lnTo>
                    <a:lnTo>
                      <a:pt x="516" y="298"/>
                    </a:lnTo>
                    <a:lnTo>
                      <a:pt x="518" y="296"/>
                    </a:lnTo>
                    <a:lnTo>
                      <a:pt x="522" y="294"/>
                    </a:lnTo>
                    <a:lnTo>
                      <a:pt x="532" y="292"/>
                    </a:lnTo>
                    <a:lnTo>
                      <a:pt x="542" y="290"/>
                    </a:lnTo>
                    <a:lnTo>
                      <a:pt x="546" y="290"/>
                    </a:lnTo>
                    <a:lnTo>
                      <a:pt x="550" y="292"/>
                    </a:lnTo>
                    <a:lnTo>
                      <a:pt x="550" y="292"/>
                    </a:lnTo>
                    <a:lnTo>
                      <a:pt x="558" y="304"/>
                    </a:lnTo>
                    <a:lnTo>
                      <a:pt x="564" y="318"/>
                    </a:lnTo>
                    <a:lnTo>
                      <a:pt x="570" y="332"/>
                    </a:lnTo>
                    <a:lnTo>
                      <a:pt x="574" y="346"/>
                    </a:lnTo>
                    <a:lnTo>
                      <a:pt x="574" y="346"/>
                    </a:lnTo>
                    <a:lnTo>
                      <a:pt x="574" y="354"/>
                    </a:lnTo>
                    <a:lnTo>
                      <a:pt x="570" y="360"/>
                    </a:lnTo>
                    <a:lnTo>
                      <a:pt x="560" y="374"/>
                    </a:lnTo>
                    <a:lnTo>
                      <a:pt x="560" y="374"/>
                    </a:lnTo>
                    <a:lnTo>
                      <a:pt x="534" y="396"/>
                    </a:lnTo>
                    <a:lnTo>
                      <a:pt x="522" y="406"/>
                    </a:lnTo>
                    <a:lnTo>
                      <a:pt x="510" y="418"/>
                    </a:lnTo>
                    <a:lnTo>
                      <a:pt x="510" y="418"/>
                    </a:lnTo>
                    <a:lnTo>
                      <a:pt x="504" y="428"/>
                    </a:lnTo>
                    <a:lnTo>
                      <a:pt x="498" y="440"/>
                    </a:lnTo>
                    <a:lnTo>
                      <a:pt x="494" y="450"/>
                    </a:lnTo>
                    <a:lnTo>
                      <a:pt x="494" y="454"/>
                    </a:lnTo>
                    <a:lnTo>
                      <a:pt x="494" y="456"/>
                    </a:lnTo>
                    <a:lnTo>
                      <a:pt x="494" y="456"/>
                    </a:lnTo>
                    <a:lnTo>
                      <a:pt x="514" y="476"/>
                    </a:lnTo>
                    <a:lnTo>
                      <a:pt x="526" y="488"/>
                    </a:lnTo>
                    <a:lnTo>
                      <a:pt x="536" y="496"/>
                    </a:lnTo>
                    <a:lnTo>
                      <a:pt x="548" y="504"/>
                    </a:lnTo>
                    <a:lnTo>
                      <a:pt x="562" y="510"/>
                    </a:lnTo>
                    <a:lnTo>
                      <a:pt x="576" y="514"/>
                    </a:lnTo>
                    <a:lnTo>
                      <a:pt x="594" y="514"/>
                    </a:lnTo>
                    <a:lnTo>
                      <a:pt x="594" y="514"/>
                    </a:lnTo>
                    <a:lnTo>
                      <a:pt x="644" y="506"/>
                    </a:lnTo>
                    <a:lnTo>
                      <a:pt x="670" y="500"/>
                    </a:lnTo>
                    <a:lnTo>
                      <a:pt x="694" y="494"/>
                    </a:lnTo>
                    <a:lnTo>
                      <a:pt x="718" y="486"/>
                    </a:lnTo>
                    <a:lnTo>
                      <a:pt x="742" y="474"/>
                    </a:lnTo>
                    <a:lnTo>
                      <a:pt x="766" y="460"/>
                    </a:lnTo>
                    <a:lnTo>
                      <a:pt x="788" y="444"/>
                    </a:lnTo>
                    <a:lnTo>
                      <a:pt x="788" y="444"/>
                    </a:lnTo>
                    <a:lnTo>
                      <a:pt x="792" y="460"/>
                    </a:lnTo>
                    <a:lnTo>
                      <a:pt x="792" y="466"/>
                    </a:lnTo>
                    <a:lnTo>
                      <a:pt x="792" y="466"/>
                    </a:lnTo>
                    <a:lnTo>
                      <a:pt x="734" y="494"/>
                    </a:lnTo>
                    <a:lnTo>
                      <a:pt x="706" y="506"/>
                    </a:lnTo>
                    <a:lnTo>
                      <a:pt x="676" y="518"/>
                    </a:lnTo>
                    <a:lnTo>
                      <a:pt x="646" y="528"/>
                    </a:lnTo>
                    <a:lnTo>
                      <a:pt x="614" y="534"/>
                    </a:lnTo>
                    <a:lnTo>
                      <a:pt x="580" y="538"/>
                    </a:lnTo>
                    <a:lnTo>
                      <a:pt x="564" y="536"/>
                    </a:lnTo>
                    <a:lnTo>
                      <a:pt x="546" y="534"/>
                    </a:lnTo>
                    <a:lnTo>
                      <a:pt x="546" y="534"/>
                    </a:lnTo>
                    <a:lnTo>
                      <a:pt x="558" y="548"/>
                    </a:lnTo>
                    <a:lnTo>
                      <a:pt x="570" y="560"/>
                    </a:lnTo>
                    <a:lnTo>
                      <a:pt x="582" y="566"/>
                    </a:lnTo>
                    <a:lnTo>
                      <a:pt x="596" y="570"/>
                    </a:lnTo>
                    <a:lnTo>
                      <a:pt x="608" y="572"/>
                    </a:lnTo>
                    <a:lnTo>
                      <a:pt x="622" y="570"/>
                    </a:lnTo>
                    <a:lnTo>
                      <a:pt x="634" y="568"/>
                    </a:lnTo>
                    <a:lnTo>
                      <a:pt x="648" y="564"/>
                    </a:lnTo>
                    <a:lnTo>
                      <a:pt x="648" y="564"/>
                    </a:lnTo>
                    <a:lnTo>
                      <a:pt x="672" y="554"/>
                    </a:lnTo>
                    <a:lnTo>
                      <a:pt x="696" y="544"/>
                    </a:lnTo>
                    <a:lnTo>
                      <a:pt x="742" y="520"/>
                    </a:lnTo>
                    <a:lnTo>
                      <a:pt x="742" y="520"/>
                    </a:lnTo>
                    <a:lnTo>
                      <a:pt x="762" y="514"/>
                    </a:lnTo>
                    <a:lnTo>
                      <a:pt x="782" y="510"/>
                    </a:lnTo>
                    <a:lnTo>
                      <a:pt x="782" y="510"/>
                    </a:lnTo>
                    <a:lnTo>
                      <a:pt x="786" y="522"/>
                    </a:lnTo>
                    <a:lnTo>
                      <a:pt x="786" y="522"/>
                    </a:lnTo>
                    <a:lnTo>
                      <a:pt x="698" y="578"/>
                    </a:lnTo>
                    <a:lnTo>
                      <a:pt x="654" y="604"/>
                    </a:lnTo>
                    <a:lnTo>
                      <a:pt x="608" y="630"/>
                    </a:lnTo>
                    <a:lnTo>
                      <a:pt x="608" y="630"/>
                    </a:lnTo>
                    <a:lnTo>
                      <a:pt x="604" y="630"/>
                    </a:lnTo>
                    <a:lnTo>
                      <a:pt x="598" y="630"/>
                    </a:lnTo>
                    <a:lnTo>
                      <a:pt x="582" y="626"/>
                    </a:lnTo>
                    <a:lnTo>
                      <a:pt x="568" y="618"/>
                    </a:lnTo>
                    <a:lnTo>
                      <a:pt x="554" y="608"/>
                    </a:lnTo>
                    <a:lnTo>
                      <a:pt x="554" y="608"/>
                    </a:lnTo>
                    <a:lnTo>
                      <a:pt x="540" y="594"/>
                    </a:lnTo>
                    <a:lnTo>
                      <a:pt x="528" y="578"/>
                    </a:lnTo>
                    <a:lnTo>
                      <a:pt x="504" y="546"/>
                    </a:lnTo>
                    <a:lnTo>
                      <a:pt x="504" y="546"/>
                    </a:lnTo>
                    <a:close/>
                    <a:moveTo>
                      <a:pt x="1078" y="1054"/>
                    </a:moveTo>
                    <a:lnTo>
                      <a:pt x="1078" y="1054"/>
                    </a:lnTo>
                    <a:lnTo>
                      <a:pt x="1084" y="1012"/>
                    </a:lnTo>
                    <a:lnTo>
                      <a:pt x="1086" y="970"/>
                    </a:lnTo>
                    <a:lnTo>
                      <a:pt x="1084" y="930"/>
                    </a:lnTo>
                    <a:lnTo>
                      <a:pt x="1078" y="892"/>
                    </a:lnTo>
                    <a:lnTo>
                      <a:pt x="1068" y="854"/>
                    </a:lnTo>
                    <a:lnTo>
                      <a:pt x="1052" y="818"/>
                    </a:lnTo>
                    <a:lnTo>
                      <a:pt x="1032" y="784"/>
                    </a:lnTo>
                    <a:lnTo>
                      <a:pt x="1008" y="750"/>
                    </a:lnTo>
                    <a:lnTo>
                      <a:pt x="1008" y="750"/>
                    </a:lnTo>
                    <a:lnTo>
                      <a:pt x="1040" y="826"/>
                    </a:lnTo>
                    <a:lnTo>
                      <a:pt x="1056" y="866"/>
                    </a:lnTo>
                    <a:lnTo>
                      <a:pt x="1066" y="904"/>
                    </a:lnTo>
                    <a:lnTo>
                      <a:pt x="1070" y="924"/>
                    </a:lnTo>
                    <a:lnTo>
                      <a:pt x="1072" y="944"/>
                    </a:lnTo>
                    <a:lnTo>
                      <a:pt x="1074" y="966"/>
                    </a:lnTo>
                    <a:lnTo>
                      <a:pt x="1072" y="986"/>
                    </a:lnTo>
                    <a:lnTo>
                      <a:pt x="1070" y="1006"/>
                    </a:lnTo>
                    <a:lnTo>
                      <a:pt x="1064" y="1028"/>
                    </a:lnTo>
                    <a:lnTo>
                      <a:pt x="1056" y="1050"/>
                    </a:lnTo>
                    <a:lnTo>
                      <a:pt x="1046" y="1070"/>
                    </a:lnTo>
                    <a:lnTo>
                      <a:pt x="1046" y="1070"/>
                    </a:lnTo>
                    <a:lnTo>
                      <a:pt x="1108" y="1080"/>
                    </a:lnTo>
                    <a:lnTo>
                      <a:pt x="1108" y="1080"/>
                    </a:lnTo>
                    <a:lnTo>
                      <a:pt x="1078" y="1054"/>
                    </a:lnTo>
                    <a:lnTo>
                      <a:pt x="1078" y="1054"/>
                    </a:lnTo>
                    <a:close/>
                    <a:moveTo>
                      <a:pt x="880" y="490"/>
                    </a:moveTo>
                    <a:lnTo>
                      <a:pt x="880" y="490"/>
                    </a:lnTo>
                    <a:lnTo>
                      <a:pt x="870" y="496"/>
                    </a:lnTo>
                    <a:lnTo>
                      <a:pt x="870" y="496"/>
                    </a:lnTo>
                    <a:lnTo>
                      <a:pt x="888" y="520"/>
                    </a:lnTo>
                    <a:lnTo>
                      <a:pt x="908" y="542"/>
                    </a:lnTo>
                    <a:lnTo>
                      <a:pt x="908" y="542"/>
                    </a:lnTo>
                    <a:lnTo>
                      <a:pt x="912" y="544"/>
                    </a:lnTo>
                    <a:lnTo>
                      <a:pt x="918" y="544"/>
                    </a:lnTo>
                    <a:lnTo>
                      <a:pt x="932" y="542"/>
                    </a:lnTo>
                    <a:lnTo>
                      <a:pt x="932" y="542"/>
                    </a:lnTo>
                    <a:lnTo>
                      <a:pt x="928" y="526"/>
                    </a:lnTo>
                    <a:lnTo>
                      <a:pt x="928" y="520"/>
                    </a:lnTo>
                    <a:lnTo>
                      <a:pt x="924" y="514"/>
                    </a:lnTo>
                    <a:lnTo>
                      <a:pt x="924" y="514"/>
                    </a:lnTo>
                    <a:lnTo>
                      <a:pt x="914" y="508"/>
                    </a:lnTo>
                    <a:lnTo>
                      <a:pt x="902" y="502"/>
                    </a:lnTo>
                    <a:lnTo>
                      <a:pt x="880" y="490"/>
                    </a:lnTo>
                    <a:lnTo>
                      <a:pt x="880" y="490"/>
                    </a:lnTo>
                    <a:close/>
                  </a:path>
                </a:pathLst>
              </a:custGeom>
              <a:solidFill>
                <a:srgbClr val="0070C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706" tIns="146165" rIns="182706" bIns="146165" numCol="1" spcCol="0" rtlCol="0" fromWordArt="0" anchor="t" anchorCtr="0" forceAA="0" compatLnSpc="1">
                <a:prstTxWarp prst="textNoShape">
                  <a:avLst/>
                </a:prstTxWarp>
                <a:noAutofit/>
              </a:bodyPr>
              <a:lstStyle/>
              <a:p>
                <a:pPr marL="0" marR="0" lvl="0" indent="0" algn="ctr" defTabSz="913111" rtl="0" eaLnBrk="1" fontAlgn="base" latinLnBrk="0" hangingPunct="1">
                  <a:lnSpc>
                    <a:spcPct val="90000"/>
                  </a:lnSpc>
                  <a:spcBef>
                    <a:spcPct val="0"/>
                  </a:spcBef>
                  <a:spcAft>
                    <a:spcPct val="0"/>
                  </a:spcAft>
                  <a:buClrTx/>
                  <a:buSzTx/>
                  <a:buFontTx/>
                  <a:buNone/>
                  <a:tabLst/>
                  <a:defRPr/>
                </a:pPr>
                <a:endParaRPr kumimoji="0" lang="en-US" sz="1998" b="0" i="0" u="none" strike="noStrike" kern="1200" cap="none" spc="-50" normalizeH="0" baseline="0" noProof="0">
                  <a:ln>
                    <a:noFill/>
                  </a:ln>
                  <a:gradFill>
                    <a:gsLst>
                      <a:gs pos="1250">
                        <a:srgbClr val="EFEFEF"/>
                      </a:gs>
                      <a:gs pos="10417">
                        <a:srgbClr val="EFEFEF"/>
                      </a:gs>
                    </a:gsLst>
                    <a:lin ang="5400000" scaled="0"/>
                  </a:gradFill>
                  <a:effectLst/>
                  <a:uLnTx/>
                  <a:uFillTx/>
                  <a:latin typeface="Segoe UI Light"/>
                  <a:ea typeface="+mn-ea"/>
                  <a:cs typeface="+mn-cs"/>
                </a:endParaRPr>
              </a:p>
            </p:txBody>
          </p:sp>
        </p:grpSp>
      </p:grpSp>
      <p:grpSp>
        <p:nvGrpSpPr>
          <p:cNvPr id="24" name="Group 23">
            <a:extLst>
              <a:ext uri="{FF2B5EF4-FFF2-40B4-BE49-F238E27FC236}">
                <a16:creationId xmlns:a16="http://schemas.microsoft.com/office/drawing/2014/main" id="{A9908419-1443-BFD0-3AEC-1ED8E7DE3198}"/>
              </a:ext>
            </a:extLst>
          </p:cNvPr>
          <p:cNvGrpSpPr/>
          <p:nvPr/>
        </p:nvGrpSpPr>
        <p:grpSpPr>
          <a:xfrm>
            <a:off x="2475144" y="3223015"/>
            <a:ext cx="1169017" cy="187645"/>
            <a:chOff x="2475144" y="3223015"/>
            <a:chExt cx="1169017" cy="187645"/>
          </a:xfrm>
        </p:grpSpPr>
        <p:sp>
          <p:nvSpPr>
            <p:cNvPr id="712" name="Rectangle 711">
              <a:extLst>
                <a:ext uri="{FF2B5EF4-FFF2-40B4-BE49-F238E27FC236}">
                  <a16:creationId xmlns:a16="http://schemas.microsoft.com/office/drawing/2014/main" id="{39519A7E-3D8E-E422-1448-5495476D3B51}"/>
                </a:ext>
              </a:extLst>
            </p:cNvPr>
            <p:cNvSpPr/>
            <p:nvPr/>
          </p:nvSpPr>
          <p:spPr>
            <a:xfrm>
              <a:off x="2475144" y="3223015"/>
              <a:ext cx="1169017" cy="187645"/>
            </a:xfrm>
            <a:prstGeom prst="rect">
              <a:avLst/>
            </a:prstGeom>
            <a:solidFill>
              <a:schemeClr val="bg1"/>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137160" tIns="9144" rIns="45720" bIns="9144" rtlCol="0" anchor="ctr">
              <a:noAutofit/>
            </a:bodyPr>
            <a:lstStyle/>
            <a:p>
              <a:pPr marL="114300">
                <a:lnSpc>
                  <a:spcPct val="97000"/>
                </a:lnSpc>
              </a:pPr>
              <a:r>
                <a:rPr lang="en-US" sz="800" i="1">
                  <a:solidFill>
                    <a:schemeClr val="tx1"/>
                  </a:solidFill>
                  <a:cs typeface="Segoe UI" panose="020B0502040204020203" pitchFamily="34" charset="0"/>
                </a:rPr>
                <a:t>NGFW</a:t>
              </a:r>
            </a:p>
          </p:txBody>
        </p:sp>
        <p:pic>
          <p:nvPicPr>
            <p:cNvPr id="677" name="Graphic 676">
              <a:extLst>
                <a:ext uri="{FF2B5EF4-FFF2-40B4-BE49-F238E27FC236}">
                  <a16:creationId xmlns:a16="http://schemas.microsoft.com/office/drawing/2014/main" id="{FAFC0CF4-2336-609D-8154-7EF8B647DC26}"/>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3412268" y="3248214"/>
              <a:ext cx="155363" cy="144264"/>
            </a:xfrm>
            <a:prstGeom prst="rect">
              <a:avLst/>
            </a:prstGeom>
          </p:spPr>
        </p:pic>
        <p:sp>
          <p:nvSpPr>
            <p:cNvPr id="719" name="Commitments_EC4D">
              <a:extLst>
                <a:ext uri="{FF2B5EF4-FFF2-40B4-BE49-F238E27FC236}">
                  <a16:creationId xmlns:a16="http://schemas.microsoft.com/office/drawing/2014/main" id="{992E1AF6-2406-45A1-090A-1CE832880DC1}"/>
                </a:ext>
              </a:extLst>
            </p:cNvPr>
            <p:cNvSpPr>
              <a:spLocks noChangeAspect="1" noEditPoints="1"/>
            </p:cNvSpPr>
            <p:nvPr/>
          </p:nvSpPr>
          <p:spPr bwMode="auto">
            <a:xfrm>
              <a:off x="2541886" y="3271543"/>
              <a:ext cx="110871" cy="90284"/>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63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9144" rIns="91440" bIns="914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a:ln>
                  <a:noFill/>
                </a:ln>
                <a:effectLst/>
                <a:uLnTx/>
                <a:uFillTx/>
                <a:ea typeface="+mn-ea"/>
                <a:cs typeface="+mn-cs"/>
              </a:endParaRPr>
            </a:p>
          </p:txBody>
        </p:sp>
      </p:grpSp>
      <p:grpSp>
        <p:nvGrpSpPr>
          <p:cNvPr id="15" name="Group 14">
            <a:extLst>
              <a:ext uri="{FF2B5EF4-FFF2-40B4-BE49-F238E27FC236}">
                <a16:creationId xmlns:a16="http://schemas.microsoft.com/office/drawing/2014/main" id="{4704CD8B-D2AC-9E33-B47F-533B6CC514FB}"/>
              </a:ext>
            </a:extLst>
          </p:cNvPr>
          <p:cNvGrpSpPr/>
          <p:nvPr/>
        </p:nvGrpSpPr>
        <p:grpSpPr>
          <a:xfrm>
            <a:off x="4093028" y="3961512"/>
            <a:ext cx="1057810" cy="196124"/>
            <a:chOff x="4155658" y="3932016"/>
            <a:chExt cx="1057810" cy="196124"/>
          </a:xfrm>
        </p:grpSpPr>
        <p:sp>
          <p:nvSpPr>
            <p:cNvPr id="665" name="Rectangle 664">
              <a:hlinkClick r:id="rId99" tooltip="Azure ExpressRoute lets you create private connections between Azure datacenters and infrastructure on your premises or in a colocation environment. ExpressRoute connections don't go over the public Internet. "/>
              <a:extLst>
                <a:ext uri="{FF2B5EF4-FFF2-40B4-BE49-F238E27FC236}">
                  <a16:creationId xmlns:a16="http://schemas.microsoft.com/office/drawing/2014/main" id="{63AE9F2E-7241-E6BF-133A-85676DB5BE12}"/>
                </a:ext>
              </a:extLst>
            </p:cNvPr>
            <p:cNvSpPr/>
            <p:nvPr/>
          </p:nvSpPr>
          <p:spPr bwMode="auto">
            <a:xfrm>
              <a:off x="4155658" y="3944875"/>
              <a:ext cx="1057810" cy="178119"/>
            </a:xfrm>
            <a:prstGeom prst="rect">
              <a:avLst/>
            </a:prstGeom>
            <a:solidFill>
              <a:srgbClr val="C3E5FF"/>
            </a:solidFill>
            <a:ln w="9525" cap="flat" cmpd="sng" algn="ctr">
              <a:solidFill>
                <a:schemeClr val="bg1"/>
              </a:solidFill>
              <a:prstDash val="solid"/>
              <a:miter lim="800000"/>
              <a:headEnd type="none" w="med" len="med"/>
              <a:tailEnd type="none" w="med" len="med"/>
            </a:ln>
            <a:effectLst>
              <a:outerShdw blurRad="25400" dist="12700" dir="5400000" algn="tl" rotWithShape="0">
                <a:prstClr val="black">
                  <a:alpha val="15000"/>
                </a:prstClr>
              </a:outerShdw>
            </a:effectLst>
          </p:spPr>
          <p:txBody>
            <a:bodyPr lIns="304705" tIns="9144" rIns="0" bIns="9144" anchor="ctr" anchorCtr="0"/>
            <a:lstStyle/>
            <a:p>
              <a:pPr marL="0" marR="0" lvl="0" indent="0" algn="l" defTabSz="89574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effectLst/>
                  <a:uLnTx/>
                  <a:uFillTx/>
                  <a:ea typeface="+mn-ea"/>
                  <a:cs typeface="Segoe UI" panose="020B0502040204020203" pitchFamily="34" charset="0"/>
                </a:rPr>
                <a:t>Express Route</a:t>
              </a:r>
            </a:p>
          </p:txBody>
        </p:sp>
        <p:pic>
          <p:nvPicPr>
            <p:cNvPr id="669" name="Picture 227">
              <a:extLst>
                <a:ext uri="{FF2B5EF4-FFF2-40B4-BE49-F238E27FC236}">
                  <a16:creationId xmlns:a16="http://schemas.microsoft.com/office/drawing/2014/main" id="{11959D21-FD36-3B67-5AF9-C621421B3EB4}"/>
                </a:ext>
              </a:extLst>
            </p:cNvPr>
            <p:cNvPicPr>
              <a:picLocks noChangeAspect="1"/>
            </p:cNvPicPr>
            <p:nvPr/>
          </p:nvPicPr>
          <p:blipFill>
            <a:blip r:embed="rId100">
              <a:extLst>
                <a:ext uri="{28A0092B-C50C-407E-A947-70E740481C1C}">
                  <a14:useLocalDpi xmlns:a14="http://schemas.microsoft.com/office/drawing/2010/main" val="0"/>
                </a:ext>
              </a:extLst>
            </a:blip>
            <a:stretch>
              <a:fillRect/>
            </a:stretch>
          </p:blipFill>
          <p:spPr bwMode="auto">
            <a:xfrm>
              <a:off x="4211753" y="3932016"/>
              <a:ext cx="201028" cy="196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39" name="TextBox 550">
            <a:extLst>
              <a:ext uri="{FF2B5EF4-FFF2-40B4-BE49-F238E27FC236}">
                <a16:creationId xmlns:a16="http://schemas.microsoft.com/office/drawing/2014/main" id="{F9EC0C3E-1E40-8FE7-DC7A-448C2E8D7BC2}"/>
              </a:ext>
            </a:extLst>
          </p:cNvPr>
          <p:cNvSpPr txBox="1"/>
          <p:nvPr/>
        </p:nvSpPr>
        <p:spPr>
          <a:xfrm>
            <a:off x="5063521" y="2874825"/>
            <a:ext cx="124722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Microsoft Azure</a:t>
            </a:r>
          </a:p>
        </p:txBody>
      </p:sp>
      <p:grpSp>
        <p:nvGrpSpPr>
          <p:cNvPr id="199" name="Group 198">
            <a:extLst>
              <a:ext uri="{FF2B5EF4-FFF2-40B4-BE49-F238E27FC236}">
                <a16:creationId xmlns:a16="http://schemas.microsoft.com/office/drawing/2014/main" id="{28C3AC07-08C4-9711-2FE4-991A22170197}"/>
              </a:ext>
            </a:extLst>
          </p:cNvPr>
          <p:cNvGrpSpPr/>
          <p:nvPr/>
        </p:nvGrpSpPr>
        <p:grpSpPr>
          <a:xfrm>
            <a:off x="4947501" y="3164751"/>
            <a:ext cx="1371209" cy="683351"/>
            <a:chOff x="4947501" y="3164751"/>
            <a:chExt cx="1371209" cy="683351"/>
          </a:xfrm>
        </p:grpSpPr>
        <p:sp>
          <p:nvSpPr>
            <p:cNvPr id="100" name="L-Shape 99">
              <a:hlinkClick r:id="rId101" tooltip="Azure Marketplace includes many security appliances from leading vendors among the thousands of certified, open source, and community software applications and developer services— all pre-configured for Microsoft Azure. "/>
              <a:extLst>
                <a:ext uri="{FF2B5EF4-FFF2-40B4-BE49-F238E27FC236}">
                  <a16:creationId xmlns:a16="http://schemas.microsoft.com/office/drawing/2014/main" id="{70D93DA2-7C47-A739-0561-9F5044A10CA5}"/>
                </a:ext>
              </a:extLst>
            </p:cNvPr>
            <p:cNvSpPr/>
            <p:nvPr/>
          </p:nvSpPr>
          <p:spPr bwMode="auto">
            <a:xfrm flipH="1" flipV="1">
              <a:off x="5021982" y="3164751"/>
              <a:ext cx="1221616" cy="683351"/>
            </a:xfrm>
            <a:prstGeom prst="corner">
              <a:avLst>
                <a:gd name="adj1" fmla="val 38559"/>
                <a:gd name="adj2" fmla="val 121668"/>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lstStyle/>
            <a:p>
              <a:pPr algn="ctr"/>
              <a:endParaRPr lang="en-US" sz="1200" b="1">
                <a:solidFill>
                  <a:prstClr val="black"/>
                </a:solidFill>
                <a:latin typeface="Segoe Sans Display Semibold"/>
                <a:cs typeface="Segoe Sans Display" pitchFamily="2" charset="0"/>
              </a:endParaRPr>
            </a:p>
          </p:txBody>
        </p:sp>
        <p:sp>
          <p:nvSpPr>
            <p:cNvPr id="105" name="TextBox 104">
              <a:extLst>
                <a:ext uri="{FF2B5EF4-FFF2-40B4-BE49-F238E27FC236}">
                  <a16:creationId xmlns:a16="http://schemas.microsoft.com/office/drawing/2014/main" id="{610CD5A8-5F32-277E-2B05-6DC187A1CCEB}"/>
                </a:ext>
              </a:extLst>
            </p:cNvPr>
            <p:cNvSpPr txBox="1"/>
            <p:nvPr/>
          </p:nvSpPr>
          <p:spPr>
            <a:xfrm>
              <a:off x="4947501" y="3196090"/>
              <a:ext cx="1371209" cy="192199"/>
            </a:xfrm>
            <a:prstGeom prst="rect">
              <a:avLst/>
            </a:prstGeom>
            <a:noFill/>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Azure Marketplace</a:t>
              </a:r>
              <a:endParaRPr kumimoji="0" lang="en-US" sz="2400" b="0"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endParaRPr>
            </a:p>
          </p:txBody>
        </p:sp>
        <p:grpSp>
          <p:nvGrpSpPr>
            <p:cNvPr id="515" name="Group 514">
              <a:extLst>
                <a:ext uri="{FF2B5EF4-FFF2-40B4-BE49-F238E27FC236}">
                  <a16:creationId xmlns:a16="http://schemas.microsoft.com/office/drawing/2014/main" id="{2683D6D1-183B-0CF9-98C8-C8D9C3DF117D}"/>
                </a:ext>
              </a:extLst>
            </p:cNvPr>
            <p:cNvGrpSpPr/>
            <p:nvPr/>
          </p:nvGrpSpPr>
          <p:grpSpPr>
            <a:xfrm>
              <a:off x="5478090" y="3428019"/>
              <a:ext cx="704463" cy="408092"/>
              <a:chOff x="6109711" y="3090710"/>
              <a:chExt cx="627485" cy="363499"/>
            </a:xfrm>
          </p:grpSpPr>
          <p:pic>
            <p:nvPicPr>
              <p:cNvPr id="516" name="Picture 515">
                <a:extLst>
                  <a:ext uri="{FF2B5EF4-FFF2-40B4-BE49-F238E27FC236}">
                    <a16:creationId xmlns:a16="http://schemas.microsoft.com/office/drawing/2014/main" id="{92E95768-5D73-7220-BBC8-E759E348A065}"/>
                  </a:ext>
                </a:extLst>
              </p:cNvPr>
              <p:cNvPicPr>
                <a:picLocks noChangeAspect="1"/>
              </p:cNvPicPr>
              <p:nvPr/>
            </p:nvPicPr>
            <p:blipFill>
              <a:blip r:embed="rId102">
                <a:extLst>
                  <a:ext uri="{28A0092B-C50C-407E-A947-70E740481C1C}">
                    <a14:useLocalDpi xmlns:a14="http://schemas.microsoft.com/office/drawing/2010/main" val="0"/>
                  </a:ext>
                </a:extLst>
              </a:blip>
              <a:stretch>
                <a:fillRect/>
              </a:stretch>
            </p:blipFill>
            <p:spPr>
              <a:xfrm>
                <a:off x="6110502" y="3310834"/>
                <a:ext cx="143375" cy="143375"/>
              </a:xfrm>
              <a:prstGeom prst="rect">
                <a:avLst/>
              </a:prstGeom>
            </p:spPr>
          </p:pic>
          <p:pic>
            <p:nvPicPr>
              <p:cNvPr id="517" name="Picture 516">
                <a:extLst>
                  <a:ext uri="{FF2B5EF4-FFF2-40B4-BE49-F238E27FC236}">
                    <a16:creationId xmlns:a16="http://schemas.microsoft.com/office/drawing/2014/main" id="{6EF04FC0-9CE4-FFC6-2C11-E240735A1BC2}"/>
                  </a:ext>
                </a:extLst>
              </p:cNvPr>
              <p:cNvPicPr>
                <a:picLocks noChangeAspect="1"/>
              </p:cNvPicPr>
              <p:nvPr/>
            </p:nvPicPr>
            <p:blipFill>
              <a:blip r:embed="rId103">
                <a:extLst>
                  <a:ext uri="{28A0092B-C50C-407E-A947-70E740481C1C}">
                    <a14:useLocalDpi xmlns:a14="http://schemas.microsoft.com/office/drawing/2010/main" val="0"/>
                  </a:ext>
                </a:extLst>
              </a:blip>
              <a:stretch>
                <a:fillRect/>
              </a:stretch>
            </p:blipFill>
            <p:spPr>
              <a:xfrm>
                <a:off x="6335864" y="3281630"/>
                <a:ext cx="140760" cy="140760"/>
              </a:xfrm>
              <a:prstGeom prst="rect">
                <a:avLst/>
              </a:prstGeom>
            </p:spPr>
          </p:pic>
          <p:pic>
            <p:nvPicPr>
              <p:cNvPr id="518" name="Picture 517">
                <a:extLst>
                  <a:ext uri="{FF2B5EF4-FFF2-40B4-BE49-F238E27FC236}">
                    <a16:creationId xmlns:a16="http://schemas.microsoft.com/office/drawing/2014/main" id="{F256A5F7-E74F-9C38-7FDD-3566509F930F}"/>
                  </a:ext>
                </a:extLst>
              </p:cNvPr>
              <p:cNvPicPr>
                <a:picLocks noChangeAspect="1"/>
              </p:cNvPicPr>
              <p:nvPr/>
            </p:nvPicPr>
            <p:blipFill>
              <a:blip r:embed="rId104">
                <a:extLst>
                  <a:ext uri="{28A0092B-C50C-407E-A947-70E740481C1C}">
                    <a14:useLocalDpi xmlns:a14="http://schemas.microsoft.com/office/drawing/2010/main" val="0"/>
                  </a:ext>
                </a:extLst>
              </a:blip>
              <a:stretch>
                <a:fillRect/>
              </a:stretch>
            </p:blipFill>
            <p:spPr>
              <a:xfrm>
                <a:off x="6109711" y="3096167"/>
                <a:ext cx="144712" cy="144712"/>
              </a:xfrm>
              <a:prstGeom prst="rect">
                <a:avLst/>
              </a:prstGeom>
            </p:spPr>
          </p:pic>
          <p:pic>
            <p:nvPicPr>
              <p:cNvPr id="519" name="Picture 518">
                <a:extLst>
                  <a:ext uri="{FF2B5EF4-FFF2-40B4-BE49-F238E27FC236}">
                    <a16:creationId xmlns:a16="http://schemas.microsoft.com/office/drawing/2014/main" id="{F938F5CB-947E-1C24-1682-5E14BFD04490}"/>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6325693" y="3090710"/>
                <a:ext cx="143375" cy="143375"/>
              </a:xfrm>
              <a:prstGeom prst="rect">
                <a:avLst/>
              </a:prstGeom>
            </p:spPr>
          </p:pic>
          <p:grpSp>
            <p:nvGrpSpPr>
              <p:cNvPr id="520" name="Group 519">
                <a:extLst>
                  <a:ext uri="{FF2B5EF4-FFF2-40B4-BE49-F238E27FC236}">
                    <a16:creationId xmlns:a16="http://schemas.microsoft.com/office/drawing/2014/main" id="{A78059C1-2D45-65C9-068A-119E120A6122}"/>
                  </a:ext>
                </a:extLst>
              </p:cNvPr>
              <p:cNvGrpSpPr/>
              <p:nvPr/>
            </p:nvGrpSpPr>
            <p:grpSpPr>
              <a:xfrm>
                <a:off x="6548524" y="3342843"/>
                <a:ext cx="188672" cy="45740"/>
                <a:chOff x="1287209" y="960836"/>
                <a:chExt cx="418504" cy="101463"/>
              </a:xfrm>
              <a:solidFill>
                <a:schemeClr val="tx1">
                  <a:lumMod val="65000"/>
                  <a:lumOff val="35000"/>
                </a:schemeClr>
              </a:solidFill>
            </p:grpSpPr>
            <p:sp>
              <p:nvSpPr>
                <p:cNvPr id="522" name="Oval 521">
                  <a:extLst>
                    <a:ext uri="{FF2B5EF4-FFF2-40B4-BE49-F238E27FC236}">
                      <a16:creationId xmlns:a16="http://schemas.microsoft.com/office/drawing/2014/main" id="{896F8583-1EB8-F543-3AC0-147D7EF1245F}"/>
                    </a:ext>
                  </a:extLst>
                </p:cNvPr>
                <p:cNvSpPr/>
                <p:nvPr/>
              </p:nvSpPr>
              <p:spPr bwMode="auto">
                <a:xfrm>
                  <a:off x="1287209" y="960836"/>
                  <a:ext cx="101414" cy="101414"/>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23" name="Oval 522">
                  <a:extLst>
                    <a:ext uri="{FF2B5EF4-FFF2-40B4-BE49-F238E27FC236}">
                      <a16:creationId xmlns:a16="http://schemas.microsoft.com/office/drawing/2014/main" id="{3C919C67-1395-1CD5-7E3A-68C0C7E57071}"/>
                    </a:ext>
                  </a:extLst>
                </p:cNvPr>
                <p:cNvSpPr/>
                <p:nvPr/>
              </p:nvSpPr>
              <p:spPr bwMode="auto">
                <a:xfrm>
                  <a:off x="1445754" y="960845"/>
                  <a:ext cx="101414" cy="101413"/>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24" name="Oval 523">
                  <a:extLst>
                    <a:ext uri="{FF2B5EF4-FFF2-40B4-BE49-F238E27FC236}">
                      <a16:creationId xmlns:a16="http://schemas.microsoft.com/office/drawing/2014/main" id="{D9EB15CD-268B-957F-A9F8-942D8CE202D5}"/>
                    </a:ext>
                  </a:extLst>
                </p:cNvPr>
                <p:cNvSpPr/>
                <p:nvPr/>
              </p:nvSpPr>
              <p:spPr bwMode="auto">
                <a:xfrm>
                  <a:off x="1604299" y="960883"/>
                  <a:ext cx="101414" cy="101416"/>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pic>
            <p:nvPicPr>
              <p:cNvPr id="521" name="Picture 520">
                <a:extLst>
                  <a:ext uri="{FF2B5EF4-FFF2-40B4-BE49-F238E27FC236}">
                    <a16:creationId xmlns:a16="http://schemas.microsoft.com/office/drawing/2014/main" id="{7E473EB0-D208-7D3E-9C16-C5A688F089F6}"/>
                  </a:ext>
                </a:extLst>
              </p:cNvPr>
              <p:cNvPicPr>
                <a:picLocks noChangeAspect="1"/>
              </p:cNvPicPr>
              <p:nvPr/>
            </p:nvPicPr>
            <p:blipFill>
              <a:blip r:embed="rId106">
                <a:extLst>
                  <a:ext uri="{28A0092B-C50C-407E-A947-70E740481C1C}">
                    <a14:useLocalDpi xmlns:a14="http://schemas.microsoft.com/office/drawing/2010/main" val="0"/>
                  </a:ext>
                </a:extLst>
              </a:blip>
              <a:stretch>
                <a:fillRect/>
              </a:stretch>
            </p:blipFill>
            <p:spPr>
              <a:xfrm>
                <a:off x="6574513" y="3095267"/>
                <a:ext cx="140332" cy="140332"/>
              </a:xfrm>
              <a:prstGeom prst="rect">
                <a:avLst/>
              </a:prstGeom>
            </p:spPr>
          </p:pic>
        </p:grpSp>
      </p:grpSp>
      <p:grpSp>
        <p:nvGrpSpPr>
          <p:cNvPr id="153" name="Group 152">
            <a:extLst>
              <a:ext uri="{FF2B5EF4-FFF2-40B4-BE49-F238E27FC236}">
                <a16:creationId xmlns:a16="http://schemas.microsoft.com/office/drawing/2014/main" id="{73AC1A84-27E9-E5F6-E028-B3161001663D}"/>
              </a:ext>
            </a:extLst>
          </p:cNvPr>
          <p:cNvGrpSpPr/>
          <p:nvPr/>
        </p:nvGrpSpPr>
        <p:grpSpPr>
          <a:xfrm>
            <a:off x="2472457" y="3459980"/>
            <a:ext cx="903500" cy="508752"/>
            <a:chOff x="2144444" y="2979221"/>
            <a:chExt cx="953672" cy="508752"/>
          </a:xfrm>
        </p:grpSpPr>
        <p:sp>
          <p:nvSpPr>
            <p:cNvPr id="679" name="Rectangle 678">
              <a:extLst>
                <a:ext uri="{FF2B5EF4-FFF2-40B4-BE49-F238E27FC236}">
                  <a16:creationId xmlns:a16="http://schemas.microsoft.com/office/drawing/2014/main" id="{C35F52A3-BF66-7582-E36E-2CFE7F035135}"/>
                </a:ext>
              </a:extLst>
            </p:cNvPr>
            <p:cNvSpPr/>
            <p:nvPr/>
          </p:nvSpPr>
          <p:spPr>
            <a:xfrm>
              <a:off x="2144444" y="3350115"/>
              <a:ext cx="935157" cy="137858"/>
            </a:xfrm>
            <a:prstGeom prst="rect">
              <a:avLst/>
            </a:prstGeom>
            <a:solidFill>
              <a:schemeClr val="bg1"/>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137160" tIns="9144" rIns="45720" bIns="9144" rtlCol="0" anchor="ctr">
              <a:noAutofit/>
            </a:bodyPr>
            <a:lstStyle/>
            <a:p>
              <a:pPr marL="114300">
                <a:lnSpc>
                  <a:spcPct val="97000"/>
                </a:lnSpc>
              </a:pPr>
              <a:r>
                <a:rPr lang="en-US" sz="800" i="1">
                  <a:solidFill>
                    <a:schemeClr val="tx1"/>
                  </a:solidFill>
                  <a:cs typeface="Segoe UI" panose="020B0502040204020203" pitchFamily="34" charset="0"/>
                </a:rPr>
                <a:t>VPN &amp; Proxy</a:t>
              </a:r>
            </a:p>
          </p:txBody>
        </p:sp>
        <p:sp>
          <p:nvSpPr>
            <p:cNvPr id="687" name="Rectangle 686">
              <a:extLst>
                <a:ext uri="{FF2B5EF4-FFF2-40B4-BE49-F238E27FC236}">
                  <a16:creationId xmlns:a16="http://schemas.microsoft.com/office/drawing/2014/main" id="{6EC0CB14-CBBC-FEFC-EBE4-470DE239239A}"/>
                </a:ext>
              </a:extLst>
            </p:cNvPr>
            <p:cNvSpPr/>
            <p:nvPr/>
          </p:nvSpPr>
          <p:spPr>
            <a:xfrm>
              <a:off x="2144444" y="2979221"/>
              <a:ext cx="949360" cy="130420"/>
            </a:xfrm>
            <a:prstGeom prst="rect">
              <a:avLst/>
            </a:prstGeom>
            <a:solidFill>
              <a:schemeClr val="bg1"/>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137160" tIns="9144" rIns="45720" bIns="9144" rtlCol="0" anchor="ctr">
              <a:noAutofit/>
            </a:bodyPr>
            <a:lstStyle/>
            <a:p>
              <a:pPr marL="114300">
                <a:lnSpc>
                  <a:spcPct val="97000"/>
                </a:lnSpc>
              </a:pPr>
              <a:r>
                <a:rPr lang="en-US" sz="800" i="1">
                  <a:solidFill>
                    <a:schemeClr val="tx1"/>
                  </a:solidFill>
                  <a:cs typeface="Segoe UI" panose="020B0502040204020203" pitchFamily="34" charset="0"/>
                </a:rPr>
                <a:t>Edge DLP</a:t>
              </a:r>
            </a:p>
          </p:txBody>
        </p:sp>
        <p:sp>
          <p:nvSpPr>
            <p:cNvPr id="695" name="Rectangle 694">
              <a:extLst>
                <a:ext uri="{FF2B5EF4-FFF2-40B4-BE49-F238E27FC236}">
                  <a16:creationId xmlns:a16="http://schemas.microsoft.com/office/drawing/2014/main" id="{58BB39BC-22CA-BF83-C555-4D7FE8106300}"/>
                </a:ext>
              </a:extLst>
            </p:cNvPr>
            <p:cNvSpPr/>
            <p:nvPr/>
          </p:nvSpPr>
          <p:spPr>
            <a:xfrm>
              <a:off x="2144445" y="3165851"/>
              <a:ext cx="953671" cy="130420"/>
            </a:xfrm>
            <a:prstGeom prst="rect">
              <a:avLst/>
            </a:prstGeom>
            <a:solidFill>
              <a:schemeClr val="bg1"/>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137160" tIns="9144" rIns="45720" bIns="9144" rtlCol="0" anchor="ctr">
              <a:noAutofit/>
            </a:bodyPr>
            <a:lstStyle/>
            <a:p>
              <a:pPr marL="114300">
                <a:lnSpc>
                  <a:spcPct val="97000"/>
                </a:lnSpc>
              </a:pPr>
              <a:r>
                <a:rPr lang="en-US" sz="800" i="1">
                  <a:solidFill>
                    <a:schemeClr val="tx1"/>
                  </a:solidFill>
                  <a:cs typeface="Segoe UI" panose="020B0502040204020203" pitchFamily="34" charset="0"/>
                </a:rPr>
                <a:t>IPS/IDS/NDR</a:t>
              </a:r>
            </a:p>
          </p:txBody>
        </p:sp>
        <p:sp>
          <p:nvSpPr>
            <p:cNvPr id="702" name="Commitments_EC4D">
              <a:extLst>
                <a:ext uri="{FF2B5EF4-FFF2-40B4-BE49-F238E27FC236}">
                  <a16:creationId xmlns:a16="http://schemas.microsoft.com/office/drawing/2014/main" id="{0E4301A2-D84E-4796-15CB-F33680789C12}"/>
                </a:ext>
              </a:extLst>
            </p:cNvPr>
            <p:cNvSpPr>
              <a:spLocks noChangeAspect="1" noEditPoints="1"/>
            </p:cNvSpPr>
            <p:nvPr/>
          </p:nvSpPr>
          <p:spPr bwMode="auto">
            <a:xfrm>
              <a:off x="2223657" y="2994105"/>
              <a:ext cx="117028" cy="9480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63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9144" rIns="91440" bIns="914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a:ln>
                  <a:noFill/>
                </a:ln>
                <a:effectLst/>
                <a:uLnTx/>
                <a:uFillTx/>
                <a:ea typeface="+mn-ea"/>
                <a:cs typeface="+mn-cs"/>
              </a:endParaRPr>
            </a:p>
          </p:txBody>
        </p:sp>
        <p:sp>
          <p:nvSpPr>
            <p:cNvPr id="703" name="Commitments_EC4D">
              <a:extLst>
                <a:ext uri="{FF2B5EF4-FFF2-40B4-BE49-F238E27FC236}">
                  <a16:creationId xmlns:a16="http://schemas.microsoft.com/office/drawing/2014/main" id="{C4362EBD-F67C-B9C2-F2C8-013DFB3863D9}"/>
                </a:ext>
              </a:extLst>
            </p:cNvPr>
            <p:cNvSpPr>
              <a:spLocks noChangeAspect="1" noEditPoints="1"/>
            </p:cNvSpPr>
            <p:nvPr/>
          </p:nvSpPr>
          <p:spPr bwMode="auto">
            <a:xfrm>
              <a:off x="2219260" y="3188599"/>
              <a:ext cx="117028" cy="89458"/>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63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9144" rIns="91440" bIns="914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a:ln>
                  <a:noFill/>
                </a:ln>
                <a:effectLst/>
                <a:uLnTx/>
                <a:uFillTx/>
                <a:ea typeface="+mn-ea"/>
                <a:cs typeface="+mn-cs"/>
              </a:endParaRPr>
            </a:p>
          </p:txBody>
        </p:sp>
        <p:sp>
          <p:nvSpPr>
            <p:cNvPr id="704" name="Commitments_EC4D">
              <a:extLst>
                <a:ext uri="{FF2B5EF4-FFF2-40B4-BE49-F238E27FC236}">
                  <a16:creationId xmlns:a16="http://schemas.microsoft.com/office/drawing/2014/main" id="{02F423B3-0C40-8E29-9CAD-C8D511D264EA}"/>
                </a:ext>
              </a:extLst>
            </p:cNvPr>
            <p:cNvSpPr>
              <a:spLocks noChangeAspect="1" noEditPoints="1"/>
            </p:cNvSpPr>
            <p:nvPr/>
          </p:nvSpPr>
          <p:spPr bwMode="auto">
            <a:xfrm>
              <a:off x="2222036" y="3372522"/>
              <a:ext cx="117028" cy="100461"/>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63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9144" rIns="91440" bIns="914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a:ln>
                  <a:noFill/>
                </a:ln>
                <a:effectLst/>
                <a:uLnTx/>
                <a:uFillTx/>
                <a:ea typeface="+mn-ea"/>
                <a:cs typeface="+mn-cs"/>
              </a:endParaRPr>
            </a:p>
          </p:txBody>
        </p:sp>
      </p:grpSp>
      <p:grpSp>
        <p:nvGrpSpPr>
          <p:cNvPr id="120" name="Group 119">
            <a:extLst>
              <a:ext uri="{FF2B5EF4-FFF2-40B4-BE49-F238E27FC236}">
                <a16:creationId xmlns:a16="http://schemas.microsoft.com/office/drawing/2014/main" id="{1E0FDCFD-BBE5-A468-EC13-A3F3D895F491}"/>
              </a:ext>
            </a:extLst>
          </p:cNvPr>
          <p:cNvGrpSpPr/>
          <p:nvPr/>
        </p:nvGrpSpPr>
        <p:grpSpPr>
          <a:xfrm>
            <a:off x="2357272" y="4593403"/>
            <a:ext cx="1017153" cy="175683"/>
            <a:chOff x="2357272" y="4593403"/>
            <a:chExt cx="1017153" cy="175683"/>
          </a:xfrm>
        </p:grpSpPr>
        <p:sp>
          <p:nvSpPr>
            <p:cNvPr id="787" name="Rectangle 786">
              <a:hlinkClick r:id="rId107" tooltip="Microsoft Azure Stack is a hybrid cloud platform that lets you provide Azure services from your datacenter. Security and compliance are areas of major investment for Azure Stack."/>
              <a:extLst>
                <a:ext uri="{FF2B5EF4-FFF2-40B4-BE49-F238E27FC236}">
                  <a16:creationId xmlns:a16="http://schemas.microsoft.com/office/drawing/2014/main" id="{11E43A4C-C5DA-0C52-A9D2-ADF482ECCC23}"/>
                </a:ext>
              </a:extLst>
            </p:cNvPr>
            <p:cNvSpPr/>
            <p:nvPr/>
          </p:nvSpPr>
          <p:spPr>
            <a:xfrm>
              <a:off x="2357272" y="4593403"/>
              <a:ext cx="1017153" cy="175683"/>
            </a:xfrm>
            <a:prstGeom prst="rect">
              <a:avLst/>
            </a:prstGeom>
            <a:solidFill>
              <a:srgbClr val="C3E5FF"/>
            </a:solidFill>
            <a:ln w="9525" cap="flat" cmpd="sng" algn="ctr">
              <a:solidFill>
                <a:schemeClr val="bg1"/>
              </a:solidFill>
              <a:prstDash val="solid"/>
              <a:miter lim="800000"/>
              <a:headEnd type="none" w="med" len="med"/>
              <a:tailEnd type="none" w="med" len="med"/>
            </a:ln>
            <a:effectLst>
              <a:outerShdw blurRad="25400" dist="12700" dir="5400000" algn="tl" rotWithShape="0">
                <a:prstClr val="black">
                  <a:alpha val="15000"/>
                </a:prstClr>
              </a:outerShdw>
            </a:effectLst>
          </p:spPr>
          <p:txBody>
            <a:bodyPr lIns="304705" tIns="9144" rIns="0" bIns="9144" anchor="ctr" anchorCtr="0"/>
            <a:lstStyle/>
            <a:p>
              <a:pPr defTabSz="895740">
                <a:lnSpc>
                  <a:spcPct val="90000"/>
                </a:lnSpc>
              </a:pPr>
              <a:r>
                <a:rPr lang="en-US" sz="800">
                  <a:solidFill>
                    <a:schemeClr val="tx1"/>
                  </a:solidFill>
                  <a:latin typeface="+mj-lt"/>
                  <a:cs typeface="Segoe UI" panose="020B0502040204020203" pitchFamily="34" charset="0"/>
                </a:rPr>
                <a:t>Azure Stack</a:t>
              </a:r>
            </a:p>
          </p:txBody>
        </p:sp>
        <p:pic>
          <p:nvPicPr>
            <p:cNvPr id="150" name="Picture 149">
              <a:extLst>
                <a:ext uri="{FF2B5EF4-FFF2-40B4-BE49-F238E27FC236}">
                  <a16:creationId xmlns:a16="http://schemas.microsoft.com/office/drawing/2014/main" id="{DFAD9447-F0C0-E455-632E-09D8B011C01F}"/>
                </a:ext>
              </a:extLst>
            </p:cNvPr>
            <p:cNvPicPr>
              <a:picLocks noChangeAspect="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92864" y="4625084"/>
              <a:ext cx="150932" cy="112545"/>
            </a:xfrm>
            <a:prstGeom prst="rect">
              <a:avLst/>
            </a:prstGeom>
          </p:spPr>
        </p:pic>
      </p:grpSp>
      <p:grpSp>
        <p:nvGrpSpPr>
          <p:cNvPr id="101" name="Group 100">
            <a:extLst>
              <a:ext uri="{FF2B5EF4-FFF2-40B4-BE49-F238E27FC236}">
                <a16:creationId xmlns:a16="http://schemas.microsoft.com/office/drawing/2014/main" id="{6E13BBC2-2718-D1C0-31BF-899383CCE7E4}"/>
              </a:ext>
            </a:extLst>
          </p:cNvPr>
          <p:cNvGrpSpPr/>
          <p:nvPr/>
        </p:nvGrpSpPr>
        <p:grpSpPr>
          <a:xfrm>
            <a:off x="2089000" y="3832730"/>
            <a:ext cx="1270503" cy="353424"/>
            <a:chOff x="2123430" y="3827037"/>
            <a:chExt cx="1187138" cy="353424"/>
          </a:xfrm>
        </p:grpSpPr>
        <p:sp>
          <p:nvSpPr>
            <p:cNvPr id="582" name="Rectangle 581">
              <a:hlinkClick r:id="rId108" tooltip="Microsoft Entra Private Access &amp; App Proxy are modern secure replacements for VPN for users accessing private apps and resources. Microsoft Entra Private Access is for FQDNs &amp; IPs, App Proxy is for HTTPS and modern authentication protocols. "/>
              <a:extLst>
                <a:ext uri="{FF2B5EF4-FFF2-40B4-BE49-F238E27FC236}">
                  <a16:creationId xmlns:a16="http://schemas.microsoft.com/office/drawing/2014/main" id="{931F5170-6CE5-4970-655D-34BDAE7A7AB1}"/>
                </a:ext>
              </a:extLst>
            </p:cNvPr>
            <p:cNvSpPr/>
            <p:nvPr/>
          </p:nvSpPr>
          <p:spPr>
            <a:xfrm>
              <a:off x="2123430" y="3827037"/>
              <a:ext cx="1187138" cy="353424"/>
            </a:xfrm>
            <a:prstGeom prst="rect">
              <a:avLst/>
            </a:prstGeom>
            <a:solidFill>
              <a:schemeClr val="bg1"/>
            </a:solidFill>
            <a:ln w="19050">
              <a:solidFill>
                <a:srgbClr val="EDAE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45720" rIns="91440" rtlCol="0" anchor="ctr">
              <a:noAutofit/>
            </a:bodyPr>
            <a:lstStyle/>
            <a:p>
              <a:pPr marL="0" marR="0" lvl="0" indent="0" algn="r" defTabSz="914400" rtl="0" eaLnBrk="1" fontAlgn="auto" latinLnBrk="0" hangingPunct="1">
                <a:lnSpc>
                  <a:spcPct val="97000"/>
                </a:lnSpc>
                <a:spcBef>
                  <a:spcPts val="0"/>
                </a:spcBef>
                <a:spcAft>
                  <a:spcPts val="0"/>
                </a:spcAft>
                <a:buClrTx/>
                <a:buSzTx/>
                <a:buFontTx/>
                <a:buNone/>
                <a:tabLst/>
                <a:defRPr/>
              </a:pPr>
              <a:r>
                <a:rPr kumimoji="0" lang="en-US" sz="75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Microsoft Entra Private Access &amp; App Proxy</a:t>
              </a:r>
            </a:p>
            <a:p>
              <a:pPr marL="0" marR="0" lvl="0" indent="0" algn="r" defTabSz="914400" rtl="0" eaLnBrk="1" fontAlgn="auto" latinLnBrk="0" hangingPunct="1">
                <a:lnSpc>
                  <a:spcPct val="97000"/>
                </a:lnSpc>
                <a:spcBef>
                  <a:spcPts val="0"/>
                </a:spcBef>
                <a:spcAft>
                  <a:spcPts val="0"/>
                </a:spcAft>
                <a:buClrTx/>
                <a:buSzTx/>
                <a:buFontTx/>
                <a:buNone/>
                <a:tabLst/>
                <a:defRPr/>
              </a:pPr>
              <a:r>
                <a:rPr kumimoji="0" lang="en-US" sz="600" b="0" i="1" u="none" strike="noStrike" kern="1200" cap="none" spc="0" normalizeH="0" baseline="0" noProof="0">
                  <a:ln>
                    <a:noFill/>
                  </a:ln>
                  <a:solidFill>
                    <a:schemeClr val="tx1"/>
                  </a:solidFill>
                  <a:effectLst/>
                  <a:uLnTx/>
                  <a:uFillTx/>
                  <a:cs typeface="Segoe UI Semibold" panose="020B0702040204020203" pitchFamily="34" charset="0"/>
                </a:rPr>
                <a:t>Beyond User VPN</a:t>
              </a:r>
            </a:p>
          </p:txBody>
        </p:sp>
        <p:pic>
          <p:nvPicPr>
            <p:cNvPr id="113" name="Picture 112">
              <a:extLst>
                <a:ext uri="{FF2B5EF4-FFF2-40B4-BE49-F238E27FC236}">
                  <a16:creationId xmlns:a16="http://schemas.microsoft.com/office/drawing/2014/main" id="{50E43D19-1101-F719-B03A-E16EA5218206}"/>
                </a:ext>
              </a:extLst>
            </p:cNvPr>
            <p:cNvPicPr>
              <a:picLocks noChangeAspect="1"/>
            </p:cNvPicPr>
            <p:nvPr/>
          </p:nvPicPr>
          <p:blipFill>
            <a:blip>
              <a:extLst>
                <a:ext uri="{96DAC541-7B7A-43D3-8B79-37D633B846F1}">
                  <asvg:svgBlip xmlns:asvg="http://schemas.microsoft.com/office/drawing/2016/SVG/main" r:embed="rId109"/>
                </a:ext>
              </a:extLst>
            </a:blip>
            <a:srcRect/>
            <a:stretch/>
          </p:blipFill>
          <p:spPr>
            <a:xfrm>
              <a:off x="2175425" y="3961089"/>
              <a:ext cx="170198" cy="182150"/>
            </a:xfrm>
            <a:prstGeom prst="rect">
              <a:avLst/>
            </a:prstGeom>
          </p:spPr>
        </p:pic>
      </p:grpSp>
      <p:grpSp>
        <p:nvGrpSpPr>
          <p:cNvPr id="136" name="Group 135">
            <a:extLst>
              <a:ext uri="{FF2B5EF4-FFF2-40B4-BE49-F238E27FC236}">
                <a16:creationId xmlns:a16="http://schemas.microsoft.com/office/drawing/2014/main" id="{151356C7-98D2-6528-6238-F27B80757CC1}"/>
              </a:ext>
            </a:extLst>
          </p:cNvPr>
          <p:cNvGrpSpPr/>
          <p:nvPr/>
        </p:nvGrpSpPr>
        <p:grpSpPr>
          <a:xfrm>
            <a:off x="6813731" y="4750846"/>
            <a:ext cx="1332140" cy="153063"/>
            <a:chOff x="6813731" y="4750846"/>
            <a:chExt cx="1332140" cy="153063"/>
          </a:xfrm>
        </p:grpSpPr>
        <p:sp>
          <p:nvSpPr>
            <p:cNvPr id="688" name="Rectangle 687">
              <a:hlinkClick r:id="rId110" tooltip="Azure offers hundreds of services to help organizations meet security and productivity objectives"/>
              <a:extLst>
                <a:ext uri="{FF2B5EF4-FFF2-40B4-BE49-F238E27FC236}">
                  <a16:creationId xmlns:a16="http://schemas.microsoft.com/office/drawing/2014/main" id="{BB7DC93E-7AAA-FEFC-39D6-E8C450749CB2}"/>
                </a:ext>
              </a:extLst>
            </p:cNvPr>
            <p:cNvSpPr/>
            <p:nvPr/>
          </p:nvSpPr>
          <p:spPr>
            <a:xfrm>
              <a:off x="6813731" y="4750846"/>
              <a:ext cx="1332140" cy="153063"/>
            </a:xfrm>
            <a:prstGeom prst="rect">
              <a:avLst/>
            </a:prstGeom>
            <a:solidFill>
              <a:schemeClr val="bg1"/>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0" i="1"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Security &amp; Other Services</a:t>
              </a:r>
            </a:p>
          </p:txBody>
        </p:sp>
        <p:grpSp>
          <p:nvGrpSpPr>
            <p:cNvPr id="102" name="Group 101">
              <a:extLst>
                <a:ext uri="{FF2B5EF4-FFF2-40B4-BE49-F238E27FC236}">
                  <a16:creationId xmlns:a16="http://schemas.microsoft.com/office/drawing/2014/main" id="{40BBE79C-B20E-6EE4-CC1D-D39F90A0B102}"/>
                </a:ext>
              </a:extLst>
            </p:cNvPr>
            <p:cNvGrpSpPr/>
            <p:nvPr/>
          </p:nvGrpSpPr>
          <p:grpSpPr>
            <a:xfrm>
              <a:off x="6885357" y="4817123"/>
              <a:ext cx="105570" cy="25583"/>
              <a:chOff x="6660452" y="3094221"/>
              <a:chExt cx="188672" cy="45719"/>
            </a:xfrm>
          </p:grpSpPr>
          <p:sp>
            <p:nvSpPr>
              <p:cNvPr id="110" name="Oval 109">
                <a:extLst>
                  <a:ext uri="{FF2B5EF4-FFF2-40B4-BE49-F238E27FC236}">
                    <a16:creationId xmlns:a16="http://schemas.microsoft.com/office/drawing/2014/main" id="{AA6FBD55-18C6-5023-D64A-870D9FF34655}"/>
                  </a:ext>
                </a:extLst>
              </p:cNvPr>
              <p:cNvSpPr/>
              <p:nvPr/>
            </p:nvSpPr>
            <p:spPr bwMode="auto">
              <a:xfrm>
                <a:off x="6660452" y="3094221"/>
                <a:ext cx="45720" cy="45719"/>
              </a:xfrm>
              <a:prstGeom prst="ellipse">
                <a:avLst/>
              </a:prstGeom>
              <a:solidFill>
                <a:schemeClr val="tx1">
                  <a:lumMod val="65000"/>
                  <a:lumOff val="35000"/>
                </a:schemeClr>
              </a:solidFill>
              <a:ln w="9525"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sp>
            <p:nvSpPr>
              <p:cNvPr id="111" name="Oval 110">
                <a:extLst>
                  <a:ext uri="{FF2B5EF4-FFF2-40B4-BE49-F238E27FC236}">
                    <a16:creationId xmlns:a16="http://schemas.microsoft.com/office/drawing/2014/main" id="{43E4CC81-E759-8691-14CD-E44FAD07AD60}"/>
                  </a:ext>
                </a:extLst>
              </p:cNvPr>
              <p:cNvSpPr/>
              <p:nvPr/>
            </p:nvSpPr>
            <p:spPr bwMode="auto">
              <a:xfrm>
                <a:off x="6731928" y="3094221"/>
                <a:ext cx="45720" cy="45719"/>
              </a:xfrm>
              <a:prstGeom prst="ellipse">
                <a:avLst/>
              </a:prstGeom>
              <a:solidFill>
                <a:schemeClr val="tx1">
                  <a:lumMod val="65000"/>
                  <a:lumOff val="35000"/>
                </a:schemeClr>
              </a:solidFill>
              <a:ln w="9525"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sp>
            <p:nvSpPr>
              <p:cNvPr id="112" name="Oval 111">
                <a:extLst>
                  <a:ext uri="{FF2B5EF4-FFF2-40B4-BE49-F238E27FC236}">
                    <a16:creationId xmlns:a16="http://schemas.microsoft.com/office/drawing/2014/main" id="{ED212B91-1308-C567-2941-2830DDAA0D2B}"/>
                  </a:ext>
                </a:extLst>
              </p:cNvPr>
              <p:cNvSpPr/>
              <p:nvPr/>
            </p:nvSpPr>
            <p:spPr bwMode="auto">
              <a:xfrm>
                <a:off x="6803404" y="3094221"/>
                <a:ext cx="45720" cy="45719"/>
              </a:xfrm>
              <a:prstGeom prst="ellipse">
                <a:avLst/>
              </a:prstGeom>
              <a:solidFill>
                <a:schemeClr val="tx1">
                  <a:lumMod val="65000"/>
                  <a:lumOff val="35000"/>
                </a:schemeClr>
              </a:solidFill>
              <a:ln w="9525"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Segoe UI"/>
                  <a:ea typeface="Segoe UI" pitchFamily="34" charset="0"/>
                  <a:cs typeface="Segoe UI" pitchFamily="34" charset="0"/>
                </a:endParaRPr>
              </a:p>
            </p:txBody>
          </p:sp>
        </p:grpSp>
      </p:grpSp>
      <p:grpSp>
        <p:nvGrpSpPr>
          <p:cNvPr id="697" name="Group 696">
            <a:extLst>
              <a:ext uri="{FF2B5EF4-FFF2-40B4-BE49-F238E27FC236}">
                <a16:creationId xmlns:a16="http://schemas.microsoft.com/office/drawing/2014/main" id="{22741424-1A9E-21B9-E942-F59465073654}"/>
              </a:ext>
            </a:extLst>
          </p:cNvPr>
          <p:cNvGrpSpPr/>
          <p:nvPr/>
        </p:nvGrpSpPr>
        <p:grpSpPr>
          <a:xfrm>
            <a:off x="8697244" y="3005674"/>
            <a:ext cx="1283140" cy="409387"/>
            <a:chOff x="8686501" y="2842004"/>
            <a:chExt cx="1384866" cy="457176"/>
          </a:xfrm>
        </p:grpSpPr>
        <p:grpSp>
          <p:nvGrpSpPr>
            <p:cNvPr id="698" name="Group 697">
              <a:extLst>
                <a:ext uri="{FF2B5EF4-FFF2-40B4-BE49-F238E27FC236}">
                  <a16:creationId xmlns:a16="http://schemas.microsoft.com/office/drawing/2014/main" id="{1EF75F2B-8883-D0DC-CAED-E173A1F1F383}"/>
                </a:ext>
              </a:extLst>
            </p:cNvPr>
            <p:cNvGrpSpPr/>
            <p:nvPr/>
          </p:nvGrpSpPr>
          <p:grpSpPr>
            <a:xfrm>
              <a:off x="8686501" y="2842004"/>
              <a:ext cx="1384866" cy="457176"/>
              <a:chOff x="4095283" y="4588248"/>
              <a:chExt cx="1460967" cy="482298"/>
            </a:xfrm>
          </p:grpSpPr>
          <p:sp>
            <p:nvSpPr>
              <p:cNvPr id="714" name="TextBox 713">
                <a:extLst>
                  <a:ext uri="{FF2B5EF4-FFF2-40B4-BE49-F238E27FC236}">
                    <a16:creationId xmlns:a16="http://schemas.microsoft.com/office/drawing/2014/main" id="{B99C39C4-83E2-A5B1-C5CC-015E59AEB33A}"/>
                  </a:ext>
                </a:extLst>
              </p:cNvPr>
              <p:cNvSpPr txBox="1"/>
              <p:nvPr/>
            </p:nvSpPr>
            <p:spPr>
              <a:xfrm>
                <a:off x="4362919" y="4588248"/>
                <a:ext cx="769840" cy="482298"/>
              </a:xfrm>
              <a:prstGeom prst="rect">
                <a:avLst/>
              </a:prstGeom>
              <a:noFill/>
            </p:spPr>
            <p:txBody>
              <a:bodyPr wrap="square">
                <a:spAutoFit/>
              </a:bodyPr>
              <a:lstStyle/>
              <a:p>
                <a:pPr marL="169863" marR="0" lvl="0" indent="0" algn="ctr" defTabSz="914400" rtl="0" eaLnBrk="1" fontAlgn="auto" latinLnBrk="0" hangingPunct="1">
                  <a:lnSpc>
                    <a:spcPct val="97000"/>
                  </a:lnSpc>
                  <a:spcBef>
                    <a:spcPts val="0"/>
                  </a:spcBef>
                  <a:spcAft>
                    <a:spcPts val="200"/>
                  </a:spcAft>
                  <a:buClrTx/>
                  <a:buSzTx/>
                  <a:buFontTx/>
                  <a:buNone/>
                  <a:tabLst/>
                  <a:defRPr/>
                </a:pPr>
                <a:r>
                  <a:rPr kumimoji="0" lang="en-US" sz="600" b="0"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Discover</a:t>
                </a:r>
              </a:p>
              <a:p>
                <a:pPr marL="169863" marR="0" lvl="0" indent="0" algn="ctr" defTabSz="914400" rtl="0" eaLnBrk="1" fontAlgn="auto" latinLnBrk="0" hangingPunct="1">
                  <a:lnSpc>
                    <a:spcPct val="97000"/>
                  </a:lnSpc>
                  <a:spcBef>
                    <a:spcPts val="0"/>
                  </a:spcBef>
                  <a:spcAft>
                    <a:spcPts val="200"/>
                  </a:spcAft>
                  <a:buClrTx/>
                  <a:buSzTx/>
                  <a:buFontTx/>
                  <a:buNone/>
                  <a:tabLst/>
                  <a:defRPr/>
                </a:pPr>
                <a:endParaRPr kumimoji="0" lang="en-US" sz="600" b="0"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endParaRPr>
              </a:p>
              <a:p>
                <a:pPr marL="169863" marR="0" lvl="0" indent="0" algn="ctr" defTabSz="914400" rtl="0" eaLnBrk="1" fontAlgn="auto" latinLnBrk="0" hangingPunct="1">
                  <a:lnSpc>
                    <a:spcPct val="97000"/>
                  </a:lnSpc>
                  <a:spcBef>
                    <a:spcPts val="0"/>
                  </a:spcBef>
                  <a:spcAft>
                    <a:spcPts val="200"/>
                  </a:spcAft>
                  <a:buClrTx/>
                  <a:buSzTx/>
                  <a:buFontTx/>
                  <a:buNone/>
                  <a:tabLst/>
                  <a:defRPr/>
                </a:pPr>
                <a:r>
                  <a:rPr kumimoji="0" lang="en-US" sz="600" b="0"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Protect</a:t>
                </a:r>
              </a:p>
            </p:txBody>
          </p:sp>
          <p:sp>
            <p:nvSpPr>
              <p:cNvPr id="716" name="TextBox 715">
                <a:extLst>
                  <a:ext uri="{FF2B5EF4-FFF2-40B4-BE49-F238E27FC236}">
                    <a16:creationId xmlns:a16="http://schemas.microsoft.com/office/drawing/2014/main" id="{84E6AE48-7109-198C-ACB5-6A1637E30693}"/>
                  </a:ext>
                </a:extLst>
              </p:cNvPr>
              <p:cNvSpPr txBox="1"/>
              <p:nvPr/>
            </p:nvSpPr>
            <p:spPr>
              <a:xfrm>
                <a:off x="5038726" y="4723311"/>
                <a:ext cx="517524" cy="2175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latin typeface="Segoe UI Semibold" panose="020B0702040204020203" pitchFamily="34" charset="0"/>
                    <a:cs typeface="Segoe UI Semibold" panose="020B0702040204020203" pitchFamily="34" charset="0"/>
                  </a:rPr>
                  <a:t>Classify</a:t>
                </a:r>
              </a:p>
            </p:txBody>
          </p:sp>
          <p:sp>
            <p:nvSpPr>
              <p:cNvPr id="720" name="TextBox 719">
                <a:extLst>
                  <a:ext uri="{FF2B5EF4-FFF2-40B4-BE49-F238E27FC236}">
                    <a16:creationId xmlns:a16="http://schemas.microsoft.com/office/drawing/2014/main" id="{1311BD2F-5E64-DC95-B6C3-6F109F413C08}"/>
                  </a:ext>
                </a:extLst>
              </p:cNvPr>
              <p:cNvSpPr txBox="1"/>
              <p:nvPr/>
            </p:nvSpPr>
            <p:spPr>
              <a:xfrm>
                <a:off x="4095283" y="4723310"/>
                <a:ext cx="831056" cy="2175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latin typeface="Segoe UI Semibold" panose="020B0702040204020203" pitchFamily="34" charset="0"/>
                    <a:cs typeface="Segoe UI Semibold" panose="020B0702040204020203" pitchFamily="34" charset="0"/>
                  </a:rPr>
                  <a:t>Monitor</a:t>
                </a:r>
              </a:p>
            </p:txBody>
          </p:sp>
        </p:grpSp>
        <p:sp>
          <p:nvSpPr>
            <p:cNvPr id="700" name="Freeform: Shape 699">
              <a:extLst>
                <a:ext uri="{FF2B5EF4-FFF2-40B4-BE49-F238E27FC236}">
                  <a16:creationId xmlns:a16="http://schemas.microsoft.com/office/drawing/2014/main" id="{1E6EEF4D-982E-E0EA-32DD-38EF7BC9CD9B}"/>
                </a:ext>
              </a:extLst>
            </p:cNvPr>
            <p:cNvSpPr/>
            <p:nvPr/>
          </p:nvSpPr>
          <p:spPr bwMode="auto">
            <a:xfrm rot="4500000">
              <a:off x="9628187" y="2889708"/>
              <a:ext cx="119476" cy="159016"/>
            </a:xfrm>
            <a:custGeom>
              <a:avLst/>
              <a:gdLst>
                <a:gd name="connsiteX0" fmla="*/ 0 w 533400"/>
                <a:gd name="connsiteY0" fmla="*/ 425450 h 425450"/>
                <a:gd name="connsiteX1" fmla="*/ 533400 w 533400"/>
                <a:gd name="connsiteY1" fmla="*/ 0 h 425450"/>
                <a:gd name="connsiteX2" fmla="*/ 533400 w 533400"/>
                <a:gd name="connsiteY2" fmla="*/ 9525 h 425450"/>
                <a:gd name="connsiteX0" fmla="*/ 0 w 533400"/>
                <a:gd name="connsiteY0" fmla="*/ 425450 h 425450"/>
                <a:gd name="connsiteX1" fmla="*/ 250825 w 533400"/>
                <a:gd name="connsiteY1" fmla="*/ 219075 h 425450"/>
                <a:gd name="connsiteX2" fmla="*/ 533400 w 533400"/>
                <a:gd name="connsiteY2" fmla="*/ 0 h 425450"/>
                <a:gd name="connsiteX3" fmla="*/ 533400 w 533400"/>
                <a:gd name="connsiteY3" fmla="*/ 9525 h 425450"/>
                <a:gd name="connsiteX0" fmla="*/ 0 w 533400"/>
                <a:gd name="connsiteY0" fmla="*/ 425450 h 425450"/>
                <a:gd name="connsiteX1" fmla="*/ 184150 w 533400"/>
                <a:gd name="connsiteY1" fmla="*/ 165100 h 425450"/>
                <a:gd name="connsiteX2" fmla="*/ 533400 w 533400"/>
                <a:gd name="connsiteY2" fmla="*/ 0 h 425450"/>
                <a:gd name="connsiteX3" fmla="*/ 533400 w 533400"/>
                <a:gd name="connsiteY3" fmla="*/ 9525 h 425450"/>
                <a:gd name="connsiteX0" fmla="*/ 0 w 533400"/>
                <a:gd name="connsiteY0" fmla="*/ 425450 h 425450"/>
                <a:gd name="connsiteX1" fmla="*/ 184150 w 533400"/>
                <a:gd name="connsiteY1" fmla="*/ 165100 h 425450"/>
                <a:gd name="connsiteX2" fmla="*/ 533400 w 533400"/>
                <a:gd name="connsiteY2" fmla="*/ 0 h 425450"/>
                <a:gd name="connsiteX3" fmla="*/ 533400 w 533400"/>
                <a:gd name="connsiteY3" fmla="*/ 9525 h 425450"/>
                <a:gd name="connsiteX0" fmla="*/ 0 w 533400"/>
                <a:gd name="connsiteY0" fmla="*/ 425450 h 425450"/>
                <a:gd name="connsiteX1" fmla="*/ 212806 w 533400"/>
                <a:gd name="connsiteY1" fmla="*/ 176023 h 425450"/>
                <a:gd name="connsiteX2" fmla="*/ 533400 w 533400"/>
                <a:gd name="connsiteY2" fmla="*/ 0 h 425450"/>
                <a:gd name="connsiteX3" fmla="*/ 533400 w 533400"/>
                <a:gd name="connsiteY3" fmla="*/ 9525 h 425450"/>
                <a:gd name="connsiteX0" fmla="*/ 0 w 538178"/>
                <a:gd name="connsiteY0" fmla="*/ 426848 h 426848"/>
                <a:gd name="connsiteX1" fmla="*/ 212806 w 538178"/>
                <a:gd name="connsiteY1" fmla="*/ 177421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207069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207069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188344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188344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3400"/>
                <a:gd name="connsiteY0" fmla="*/ 425450 h 425450"/>
                <a:gd name="connsiteX1" fmla="*/ 187944 w 533400"/>
                <a:gd name="connsiteY1" fmla="*/ 182348 h 425450"/>
                <a:gd name="connsiteX2" fmla="*/ 533400 w 533400"/>
                <a:gd name="connsiteY2" fmla="*/ 0 h 425450"/>
                <a:gd name="connsiteX0" fmla="*/ 0 w 533400"/>
                <a:gd name="connsiteY0" fmla="*/ 425450 h 425450"/>
                <a:gd name="connsiteX1" fmla="*/ 187944 w 533400"/>
                <a:gd name="connsiteY1" fmla="*/ 182348 h 425450"/>
                <a:gd name="connsiteX2" fmla="*/ 533400 w 533400"/>
                <a:gd name="connsiteY2" fmla="*/ 0 h 425450"/>
              </a:gdLst>
              <a:ahLst/>
              <a:cxnLst>
                <a:cxn ang="0">
                  <a:pos x="connsiteX0" y="connsiteY0"/>
                </a:cxn>
                <a:cxn ang="0">
                  <a:pos x="connsiteX1" y="connsiteY1"/>
                </a:cxn>
                <a:cxn ang="0">
                  <a:pos x="connsiteX2" y="connsiteY2"/>
                </a:cxn>
              </a:cxnLst>
              <a:rect l="l" t="t" r="r" b="b"/>
              <a:pathLst>
                <a:path w="533400" h="425450">
                  <a:moveTo>
                    <a:pt x="0" y="425450"/>
                  </a:moveTo>
                  <a:cubicBezTo>
                    <a:pt x="37501" y="337108"/>
                    <a:pt x="76357" y="274099"/>
                    <a:pt x="187944" y="182348"/>
                  </a:cubicBezTo>
                  <a:cubicBezTo>
                    <a:pt x="299531" y="90597"/>
                    <a:pt x="379884" y="58950"/>
                    <a:pt x="533400" y="0"/>
                  </a:cubicBezTo>
                </a:path>
              </a:pathLst>
            </a:custGeom>
            <a:noFill/>
            <a:ln w="9525">
              <a:solidFill>
                <a:srgbClr val="757575"/>
              </a:solidFill>
              <a:headEnd type="none" w="med" len="med"/>
              <a:tailEnd type="arrow" w="sm" len="sm"/>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600">
                <a:latin typeface="Segoe UI Semibold" panose="020B0702040204020203" pitchFamily="34" charset="0"/>
                <a:cs typeface="Segoe UI Semibold" panose="020B0702040204020203" pitchFamily="34" charset="0"/>
              </a:endParaRPr>
            </a:p>
          </p:txBody>
        </p:sp>
        <p:sp>
          <p:nvSpPr>
            <p:cNvPr id="705" name="Freeform: Shape 704">
              <a:extLst>
                <a:ext uri="{FF2B5EF4-FFF2-40B4-BE49-F238E27FC236}">
                  <a16:creationId xmlns:a16="http://schemas.microsoft.com/office/drawing/2014/main" id="{BFDBE17F-8905-BACF-406B-336D835CAD13}"/>
                </a:ext>
              </a:extLst>
            </p:cNvPr>
            <p:cNvSpPr/>
            <p:nvPr/>
          </p:nvSpPr>
          <p:spPr bwMode="auto">
            <a:xfrm rot="4500000" flipH="1" flipV="1">
              <a:off x="9025150" y="3100758"/>
              <a:ext cx="119476" cy="159016"/>
            </a:xfrm>
            <a:custGeom>
              <a:avLst/>
              <a:gdLst>
                <a:gd name="connsiteX0" fmla="*/ 0 w 533400"/>
                <a:gd name="connsiteY0" fmla="*/ 425450 h 425450"/>
                <a:gd name="connsiteX1" fmla="*/ 533400 w 533400"/>
                <a:gd name="connsiteY1" fmla="*/ 0 h 425450"/>
                <a:gd name="connsiteX2" fmla="*/ 533400 w 533400"/>
                <a:gd name="connsiteY2" fmla="*/ 9525 h 425450"/>
                <a:gd name="connsiteX0" fmla="*/ 0 w 533400"/>
                <a:gd name="connsiteY0" fmla="*/ 425450 h 425450"/>
                <a:gd name="connsiteX1" fmla="*/ 250825 w 533400"/>
                <a:gd name="connsiteY1" fmla="*/ 219075 h 425450"/>
                <a:gd name="connsiteX2" fmla="*/ 533400 w 533400"/>
                <a:gd name="connsiteY2" fmla="*/ 0 h 425450"/>
                <a:gd name="connsiteX3" fmla="*/ 533400 w 533400"/>
                <a:gd name="connsiteY3" fmla="*/ 9525 h 425450"/>
                <a:gd name="connsiteX0" fmla="*/ 0 w 533400"/>
                <a:gd name="connsiteY0" fmla="*/ 425450 h 425450"/>
                <a:gd name="connsiteX1" fmla="*/ 184150 w 533400"/>
                <a:gd name="connsiteY1" fmla="*/ 165100 h 425450"/>
                <a:gd name="connsiteX2" fmla="*/ 533400 w 533400"/>
                <a:gd name="connsiteY2" fmla="*/ 0 h 425450"/>
                <a:gd name="connsiteX3" fmla="*/ 533400 w 533400"/>
                <a:gd name="connsiteY3" fmla="*/ 9525 h 425450"/>
                <a:gd name="connsiteX0" fmla="*/ 0 w 533400"/>
                <a:gd name="connsiteY0" fmla="*/ 425450 h 425450"/>
                <a:gd name="connsiteX1" fmla="*/ 184150 w 533400"/>
                <a:gd name="connsiteY1" fmla="*/ 165100 h 425450"/>
                <a:gd name="connsiteX2" fmla="*/ 533400 w 533400"/>
                <a:gd name="connsiteY2" fmla="*/ 0 h 425450"/>
                <a:gd name="connsiteX3" fmla="*/ 533400 w 533400"/>
                <a:gd name="connsiteY3" fmla="*/ 9525 h 425450"/>
                <a:gd name="connsiteX0" fmla="*/ 0 w 533400"/>
                <a:gd name="connsiteY0" fmla="*/ 425450 h 425450"/>
                <a:gd name="connsiteX1" fmla="*/ 212806 w 533400"/>
                <a:gd name="connsiteY1" fmla="*/ 176023 h 425450"/>
                <a:gd name="connsiteX2" fmla="*/ 533400 w 533400"/>
                <a:gd name="connsiteY2" fmla="*/ 0 h 425450"/>
                <a:gd name="connsiteX3" fmla="*/ 533400 w 533400"/>
                <a:gd name="connsiteY3" fmla="*/ 9525 h 425450"/>
                <a:gd name="connsiteX0" fmla="*/ 0 w 538178"/>
                <a:gd name="connsiteY0" fmla="*/ 426848 h 426848"/>
                <a:gd name="connsiteX1" fmla="*/ 212806 w 538178"/>
                <a:gd name="connsiteY1" fmla="*/ 177421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207069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207069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188344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188344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3400"/>
                <a:gd name="connsiteY0" fmla="*/ 425450 h 425450"/>
                <a:gd name="connsiteX1" fmla="*/ 187944 w 533400"/>
                <a:gd name="connsiteY1" fmla="*/ 182348 h 425450"/>
                <a:gd name="connsiteX2" fmla="*/ 533400 w 533400"/>
                <a:gd name="connsiteY2" fmla="*/ 0 h 425450"/>
                <a:gd name="connsiteX0" fmla="*/ 0 w 533400"/>
                <a:gd name="connsiteY0" fmla="*/ 425450 h 425450"/>
                <a:gd name="connsiteX1" fmla="*/ 187944 w 533400"/>
                <a:gd name="connsiteY1" fmla="*/ 182348 h 425450"/>
                <a:gd name="connsiteX2" fmla="*/ 533400 w 533400"/>
                <a:gd name="connsiteY2" fmla="*/ 0 h 425450"/>
              </a:gdLst>
              <a:ahLst/>
              <a:cxnLst>
                <a:cxn ang="0">
                  <a:pos x="connsiteX0" y="connsiteY0"/>
                </a:cxn>
                <a:cxn ang="0">
                  <a:pos x="connsiteX1" y="connsiteY1"/>
                </a:cxn>
                <a:cxn ang="0">
                  <a:pos x="connsiteX2" y="connsiteY2"/>
                </a:cxn>
              </a:cxnLst>
              <a:rect l="l" t="t" r="r" b="b"/>
              <a:pathLst>
                <a:path w="533400" h="425450">
                  <a:moveTo>
                    <a:pt x="0" y="425450"/>
                  </a:moveTo>
                  <a:cubicBezTo>
                    <a:pt x="37501" y="337108"/>
                    <a:pt x="76357" y="274099"/>
                    <a:pt x="187944" y="182348"/>
                  </a:cubicBezTo>
                  <a:cubicBezTo>
                    <a:pt x="299531" y="90597"/>
                    <a:pt x="379884" y="58950"/>
                    <a:pt x="533400" y="0"/>
                  </a:cubicBezTo>
                </a:path>
              </a:pathLst>
            </a:custGeom>
            <a:noFill/>
            <a:ln w="9525">
              <a:solidFill>
                <a:srgbClr val="757575"/>
              </a:solidFill>
              <a:headEnd type="none" w="med" len="med"/>
              <a:tailEnd type="arrow" w="sm" len="sm"/>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600">
                <a:latin typeface="Segoe UI Semibold" panose="020B0702040204020203" pitchFamily="34" charset="0"/>
                <a:cs typeface="Segoe UI Semibold" panose="020B0702040204020203" pitchFamily="34" charset="0"/>
              </a:endParaRPr>
            </a:p>
          </p:txBody>
        </p:sp>
        <p:sp>
          <p:nvSpPr>
            <p:cNvPr id="711" name="Freeform: Shape 710">
              <a:extLst>
                <a:ext uri="{FF2B5EF4-FFF2-40B4-BE49-F238E27FC236}">
                  <a16:creationId xmlns:a16="http://schemas.microsoft.com/office/drawing/2014/main" id="{D0979D37-47BC-2DFB-FEA0-FE4C67C0DB85}"/>
                </a:ext>
              </a:extLst>
            </p:cNvPr>
            <p:cNvSpPr/>
            <p:nvPr/>
          </p:nvSpPr>
          <p:spPr bwMode="auto">
            <a:xfrm rot="1831267">
              <a:off x="9024729" y="2894232"/>
              <a:ext cx="119476" cy="159016"/>
            </a:xfrm>
            <a:custGeom>
              <a:avLst/>
              <a:gdLst>
                <a:gd name="connsiteX0" fmla="*/ 0 w 533400"/>
                <a:gd name="connsiteY0" fmla="*/ 425450 h 425450"/>
                <a:gd name="connsiteX1" fmla="*/ 533400 w 533400"/>
                <a:gd name="connsiteY1" fmla="*/ 0 h 425450"/>
                <a:gd name="connsiteX2" fmla="*/ 533400 w 533400"/>
                <a:gd name="connsiteY2" fmla="*/ 9525 h 425450"/>
                <a:gd name="connsiteX0" fmla="*/ 0 w 533400"/>
                <a:gd name="connsiteY0" fmla="*/ 425450 h 425450"/>
                <a:gd name="connsiteX1" fmla="*/ 250825 w 533400"/>
                <a:gd name="connsiteY1" fmla="*/ 219075 h 425450"/>
                <a:gd name="connsiteX2" fmla="*/ 533400 w 533400"/>
                <a:gd name="connsiteY2" fmla="*/ 0 h 425450"/>
                <a:gd name="connsiteX3" fmla="*/ 533400 w 533400"/>
                <a:gd name="connsiteY3" fmla="*/ 9525 h 425450"/>
                <a:gd name="connsiteX0" fmla="*/ 0 w 533400"/>
                <a:gd name="connsiteY0" fmla="*/ 425450 h 425450"/>
                <a:gd name="connsiteX1" fmla="*/ 184150 w 533400"/>
                <a:gd name="connsiteY1" fmla="*/ 165100 h 425450"/>
                <a:gd name="connsiteX2" fmla="*/ 533400 w 533400"/>
                <a:gd name="connsiteY2" fmla="*/ 0 h 425450"/>
                <a:gd name="connsiteX3" fmla="*/ 533400 w 533400"/>
                <a:gd name="connsiteY3" fmla="*/ 9525 h 425450"/>
                <a:gd name="connsiteX0" fmla="*/ 0 w 533400"/>
                <a:gd name="connsiteY0" fmla="*/ 425450 h 425450"/>
                <a:gd name="connsiteX1" fmla="*/ 184150 w 533400"/>
                <a:gd name="connsiteY1" fmla="*/ 165100 h 425450"/>
                <a:gd name="connsiteX2" fmla="*/ 533400 w 533400"/>
                <a:gd name="connsiteY2" fmla="*/ 0 h 425450"/>
                <a:gd name="connsiteX3" fmla="*/ 533400 w 533400"/>
                <a:gd name="connsiteY3" fmla="*/ 9525 h 425450"/>
                <a:gd name="connsiteX0" fmla="*/ 0 w 533400"/>
                <a:gd name="connsiteY0" fmla="*/ 425450 h 425450"/>
                <a:gd name="connsiteX1" fmla="*/ 212806 w 533400"/>
                <a:gd name="connsiteY1" fmla="*/ 176023 h 425450"/>
                <a:gd name="connsiteX2" fmla="*/ 533400 w 533400"/>
                <a:gd name="connsiteY2" fmla="*/ 0 h 425450"/>
                <a:gd name="connsiteX3" fmla="*/ 533400 w 533400"/>
                <a:gd name="connsiteY3" fmla="*/ 9525 h 425450"/>
                <a:gd name="connsiteX0" fmla="*/ 0 w 538178"/>
                <a:gd name="connsiteY0" fmla="*/ 426848 h 426848"/>
                <a:gd name="connsiteX1" fmla="*/ 212806 w 538178"/>
                <a:gd name="connsiteY1" fmla="*/ 177421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207069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207069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188344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188344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3400"/>
                <a:gd name="connsiteY0" fmla="*/ 425450 h 425450"/>
                <a:gd name="connsiteX1" fmla="*/ 187944 w 533400"/>
                <a:gd name="connsiteY1" fmla="*/ 182348 h 425450"/>
                <a:gd name="connsiteX2" fmla="*/ 533400 w 533400"/>
                <a:gd name="connsiteY2" fmla="*/ 0 h 425450"/>
                <a:gd name="connsiteX0" fmla="*/ 0 w 533400"/>
                <a:gd name="connsiteY0" fmla="*/ 425450 h 425450"/>
                <a:gd name="connsiteX1" fmla="*/ 187944 w 533400"/>
                <a:gd name="connsiteY1" fmla="*/ 182348 h 425450"/>
                <a:gd name="connsiteX2" fmla="*/ 533400 w 533400"/>
                <a:gd name="connsiteY2" fmla="*/ 0 h 425450"/>
              </a:gdLst>
              <a:ahLst/>
              <a:cxnLst>
                <a:cxn ang="0">
                  <a:pos x="connsiteX0" y="connsiteY0"/>
                </a:cxn>
                <a:cxn ang="0">
                  <a:pos x="connsiteX1" y="connsiteY1"/>
                </a:cxn>
                <a:cxn ang="0">
                  <a:pos x="connsiteX2" y="connsiteY2"/>
                </a:cxn>
              </a:cxnLst>
              <a:rect l="l" t="t" r="r" b="b"/>
              <a:pathLst>
                <a:path w="533400" h="425450">
                  <a:moveTo>
                    <a:pt x="0" y="425450"/>
                  </a:moveTo>
                  <a:cubicBezTo>
                    <a:pt x="37501" y="337108"/>
                    <a:pt x="76357" y="274099"/>
                    <a:pt x="187944" y="182348"/>
                  </a:cubicBezTo>
                  <a:cubicBezTo>
                    <a:pt x="299531" y="90597"/>
                    <a:pt x="379884" y="58950"/>
                    <a:pt x="533400" y="0"/>
                  </a:cubicBezTo>
                </a:path>
              </a:pathLst>
            </a:custGeom>
            <a:noFill/>
            <a:ln w="9525">
              <a:solidFill>
                <a:srgbClr val="757575"/>
              </a:solidFill>
              <a:headEnd type="none" w="med" len="med"/>
              <a:tailEnd type="arrow" w="sm" len="sm"/>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600">
                <a:latin typeface="Segoe UI Semibold" panose="020B0702040204020203" pitchFamily="34" charset="0"/>
                <a:cs typeface="Segoe UI Semibold" panose="020B0702040204020203" pitchFamily="34" charset="0"/>
              </a:endParaRPr>
            </a:p>
          </p:txBody>
        </p:sp>
        <p:sp>
          <p:nvSpPr>
            <p:cNvPr id="713" name="Freeform: Shape 712">
              <a:extLst>
                <a:ext uri="{FF2B5EF4-FFF2-40B4-BE49-F238E27FC236}">
                  <a16:creationId xmlns:a16="http://schemas.microsoft.com/office/drawing/2014/main" id="{E214CBC4-6839-86A5-1AFC-A8DED1C8F24F}"/>
                </a:ext>
              </a:extLst>
            </p:cNvPr>
            <p:cNvSpPr/>
            <p:nvPr/>
          </p:nvSpPr>
          <p:spPr bwMode="auto">
            <a:xfrm rot="12907056">
              <a:off x="9628186" y="3097227"/>
              <a:ext cx="119476" cy="159016"/>
            </a:xfrm>
            <a:custGeom>
              <a:avLst/>
              <a:gdLst>
                <a:gd name="connsiteX0" fmla="*/ 0 w 533400"/>
                <a:gd name="connsiteY0" fmla="*/ 425450 h 425450"/>
                <a:gd name="connsiteX1" fmla="*/ 533400 w 533400"/>
                <a:gd name="connsiteY1" fmla="*/ 0 h 425450"/>
                <a:gd name="connsiteX2" fmla="*/ 533400 w 533400"/>
                <a:gd name="connsiteY2" fmla="*/ 9525 h 425450"/>
                <a:gd name="connsiteX0" fmla="*/ 0 w 533400"/>
                <a:gd name="connsiteY0" fmla="*/ 425450 h 425450"/>
                <a:gd name="connsiteX1" fmla="*/ 250825 w 533400"/>
                <a:gd name="connsiteY1" fmla="*/ 219075 h 425450"/>
                <a:gd name="connsiteX2" fmla="*/ 533400 w 533400"/>
                <a:gd name="connsiteY2" fmla="*/ 0 h 425450"/>
                <a:gd name="connsiteX3" fmla="*/ 533400 w 533400"/>
                <a:gd name="connsiteY3" fmla="*/ 9525 h 425450"/>
                <a:gd name="connsiteX0" fmla="*/ 0 w 533400"/>
                <a:gd name="connsiteY0" fmla="*/ 425450 h 425450"/>
                <a:gd name="connsiteX1" fmla="*/ 184150 w 533400"/>
                <a:gd name="connsiteY1" fmla="*/ 165100 h 425450"/>
                <a:gd name="connsiteX2" fmla="*/ 533400 w 533400"/>
                <a:gd name="connsiteY2" fmla="*/ 0 h 425450"/>
                <a:gd name="connsiteX3" fmla="*/ 533400 w 533400"/>
                <a:gd name="connsiteY3" fmla="*/ 9525 h 425450"/>
                <a:gd name="connsiteX0" fmla="*/ 0 w 533400"/>
                <a:gd name="connsiteY0" fmla="*/ 425450 h 425450"/>
                <a:gd name="connsiteX1" fmla="*/ 184150 w 533400"/>
                <a:gd name="connsiteY1" fmla="*/ 165100 h 425450"/>
                <a:gd name="connsiteX2" fmla="*/ 533400 w 533400"/>
                <a:gd name="connsiteY2" fmla="*/ 0 h 425450"/>
                <a:gd name="connsiteX3" fmla="*/ 533400 w 533400"/>
                <a:gd name="connsiteY3" fmla="*/ 9525 h 425450"/>
                <a:gd name="connsiteX0" fmla="*/ 0 w 533400"/>
                <a:gd name="connsiteY0" fmla="*/ 425450 h 425450"/>
                <a:gd name="connsiteX1" fmla="*/ 212806 w 533400"/>
                <a:gd name="connsiteY1" fmla="*/ 176023 h 425450"/>
                <a:gd name="connsiteX2" fmla="*/ 533400 w 533400"/>
                <a:gd name="connsiteY2" fmla="*/ 0 h 425450"/>
                <a:gd name="connsiteX3" fmla="*/ 533400 w 533400"/>
                <a:gd name="connsiteY3" fmla="*/ 9525 h 425450"/>
                <a:gd name="connsiteX0" fmla="*/ 0 w 538178"/>
                <a:gd name="connsiteY0" fmla="*/ 426848 h 426848"/>
                <a:gd name="connsiteX1" fmla="*/ 212806 w 538178"/>
                <a:gd name="connsiteY1" fmla="*/ 177421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207069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207069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188344 h 426848"/>
                <a:gd name="connsiteX2" fmla="*/ 533400 w 538178"/>
                <a:gd name="connsiteY2" fmla="*/ 1398 h 426848"/>
                <a:gd name="connsiteX3" fmla="*/ 538178 w 538178"/>
                <a:gd name="connsiteY3" fmla="*/ 0 h 426848"/>
                <a:gd name="connsiteX0" fmla="*/ 0 w 538178"/>
                <a:gd name="connsiteY0" fmla="*/ 426848 h 426848"/>
                <a:gd name="connsiteX1" fmla="*/ 193701 w 538178"/>
                <a:gd name="connsiteY1" fmla="*/ 188344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8178"/>
                <a:gd name="connsiteY0" fmla="*/ 426848 h 426848"/>
                <a:gd name="connsiteX1" fmla="*/ 187944 w 538178"/>
                <a:gd name="connsiteY1" fmla="*/ 183746 h 426848"/>
                <a:gd name="connsiteX2" fmla="*/ 533400 w 538178"/>
                <a:gd name="connsiteY2" fmla="*/ 1398 h 426848"/>
                <a:gd name="connsiteX3" fmla="*/ 538178 w 538178"/>
                <a:gd name="connsiteY3" fmla="*/ 0 h 426848"/>
                <a:gd name="connsiteX0" fmla="*/ 0 w 533400"/>
                <a:gd name="connsiteY0" fmla="*/ 425450 h 425450"/>
                <a:gd name="connsiteX1" fmla="*/ 187944 w 533400"/>
                <a:gd name="connsiteY1" fmla="*/ 182348 h 425450"/>
                <a:gd name="connsiteX2" fmla="*/ 533400 w 533400"/>
                <a:gd name="connsiteY2" fmla="*/ 0 h 425450"/>
                <a:gd name="connsiteX0" fmla="*/ 0 w 533400"/>
                <a:gd name="connsiteY0" fmla="*/ 425450 h 425450"/>
                <a:gd name="connsiteX1" fmla="*/ 187944 w 533400"/>
                <a:gd name="connsiteY1" fmla="*/ 182348 h 425450"/>
                <a:gd name="connsiteX2" fmla="*/ 533400 w 533400"/>
                <a:gd name="connsiteY2" fmla="*/ 0 h 425450"/>
              </a:gdLst>
              <a:ahLst/>
              <a:cxnLst>
                <a:cxn ang="0">
                  <a:pos x="connsiteX0" y="connsiteY0"/>
                </a:cxn>
                <a:cxn ang="0">
                  <a:pos x="connsiteX1" y="connsiteY1"/>
                </a:cxn>
                <a:cxn ang="0">
                  <a:pos x="connsiteX2" y="connsiteY2"/>
                </a:cxn>
              </a:cxnLst>
              <a:rect l="l" t="t" r="r" b="b"/>
              <a:pathLst>
                <a:path w="533400" h="425450">
                  <a:moveTo>
                    <a:pt x="0" y="425450"/>
                  </a:moveTo>
                  <a:cubicBezTo>
                    <a:pt x="37501" y="337108"/>
                    <a:pt x="76357" y="274099"/>
                    <a:pt x="187944" y="182348"/>
                  </a:cubicBezTo>
                  <a:cubicBezTo>
                    <a:pt x="299531" y="90597"/>
                    <a:pt x="379884" y="58950"/>
                    <a:pt x="533400" y="0"/>
                  </a:cubicBezTo>
                </a:path>
              </a:pathLst>
            </a:custGeom>
            <a:noFill/>
            <a:ln w="9525">
              <a:solidFill>
                <a:srgbClr val="757575"/>
              </a:solidFill>
              <a:headEnd type="none" w="med" len="med"/>
              <a:tailEnd type="arrow" w="sm" len="sm"/>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600">
                <a:latin typeface="Segoe UI Semibold" panose="020B0702040204020203" pitchFamily="34" charset="0"/>
                <a:cs typeface="Segoe UI Semibold" panose="020B0702040204020203" pitchFamily="34" charset="0"/>
              </a:endParaRPr>
            </a:p>
          </p:txBody>
        </p:sp>
      </p:grpSp>
      <p:pic>
        <p:nvPicPr>
          <p:cNvPr id="733" name="Picture 732">
            <a:extLst>
              <a:ext uri="{FF2B5EF4-FFF2-40B4-BE49-F238E27FC236}">
                <a16:creationId xmlns:a16="http://schemas.microsoft.com/office/drawing/2014/main" id="{E26DFB51-F5F0-3513-2434-6D702D5D8C14}"/>
              </a:ext>
            </a:extLst>
          </p:cNvPr>
          <p:cNvPicPr>
            <a:picLocks noChangeAspect="1"/>
          </p:cNvPicPr>
          <p:nvPr/>
        </p:nvPicPr>
        <p:blipFill>
          <a:blip r:embed="rId111">
            <a:extLst>
              <a:ext uri="{28A0092B-C50C-407E-A947-70E740481C1C}">
                <a14:useLocalDpi xmlns:a14="http://schemas.microsoft.com/office/drawing/2010/main" val="0"/>
              </a:ext>
            </a:extLst>
          </a:blip>
          <a:srcRect/>
          <a:stretch/>
        </p:blipFill>
        <p:spPr>
          <a:xfrm>
            <a:off x="8749789" y="2618682"/>
            <a:ext cx="122354" cy="111942"/>
          </a:xfrm>
          <a:prstGeom prst="rect">
            <a:avLst/>
          </a:prstGeom>
        </p:spPr>
      </p:pic>
      <p:sp>
        <p:nvSpPr>
          <p:cNvPr id="738" name="Rectangle 737">
            <a:hlinkClick r:id="rId112" tooltip="Provides a unified view of security posture across company assets and workloads that helps you to proactively manage attack surfaces, protect critical assets, and explore and mitigate exposure risk."/>
            <a:extLst>
              <a:ext uri="{FF2B5EF4-FFF2-40B4-BE49-F238E27FC236}">
                <a16:creationId xmlns:a16="http://schemas.microsoft.com/office/drawing/2014/main" id="{0167CCDA-A679-A704-DF10-5292AEA8CDDA}"/>
              </a:ext>
            </a:extLst>
          </p:cNvPr>
          <p:cNvSpPr/>
          <p:nvPr/>
        </p:nvSpPr>
        <p:spPr bwMode="auto">
          <a:xfrm>
            <a:off x="193454" y="5224782"/>
            <a:ext cx="11710287" cy="191068"/>
          </a:xfrm>
          <a:prstGeom prst="rect">
            <a:avLst/>
          </a:prstGeom>
          <a:solidFill>
            <a:srgbClr val="C3E5FF"/>
          </a:solidFill>
          <a:ln w="9525">
            <a:solidFill>
              <a:schemeClr val="bg1"/>
            </a:solidFill>
            <a:prstDash val="solid"/>
          </a:ln>
          <a:effectLst>
            <a:outerShdw blurRad="25400" dist="12700" dir="54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0" rIns="45720" bIns="0" rtlCol="0" anchor="ctr">
            <a:noAutofit/>
          </a:bodyPr>
          <a:lstStyle/>
          <a:p>
            <a:pPr lvl="0">
              <a:lnSpc>
                <a:spcPct val="97000"/>
              </a:lnSpc>
              <a:defRPr/>
            </a:pPr>
            <a:r>
              <a:rPr lang="en-US" sz="860" b="1">
                <a:solidFill>
                  <a:schemeClr val="tx1"/>
                </a:solidFill>
                <a:latin typeface="+mj-lt"/>
                <a:cs typeface="Segoe UI" panose="020B0502040204020203" pitchFamily="34" charset="0"/>
              </a:rPr>
              <a:t>Microsoft Security Exposure Management </a:t>
            </a:r>
            <a:r>
              <a:rPr lang="en-US" sz="860" b="1">
                <a:solidFill>
                  <a:schemeClr val="tx1"/>
                </a:solidFill>
                <a:latin typeface="Segoe UI" panose="020B0502040204020203" pitchFamily="34" charset="0"/>
                <a:cs typeface="Segoe UI" panose="020B0502040204020203" pitchFamily="34" charset="0"/>
              </a:rPr>
              <a:t>– </a:t>
            </a:r>
            <a:r>
              <a:rPr lang="en-US" sz="860">
                <a:solidFill>
                  <a:schemeClr val="tx1"/>
                </a:solidFill>
                <a:latin typeface="Segoe UI" panose="020B0502040204020203" pitchFamily="34" charset="0"/>
                <a:cs typeface="Segoe UI" panose="020B0502040204020203" pitchFamily="34" charset="0"/>
              </a:rPr>
              <a:t>Provides unified view of security posture + attack surface across organization, enabling you to investigate security insights, identify critical assets, reduce attack surfaces and security risk </a:t>
            </a:r>
            <a:endParaRPr lang="en-US" sz="860">
              <a:solidFill>
                <a:schemeClr val="tx1"/>
              </a:solidFill>
              <a:highlight>
                <a:srgbClr val="FFFF00"/>
              </a:highlight>
              <a:latin typeface="Segoe UI" panose="020B0502040204020203" pitchFamily="34" charset="0"/>
              <a:cs typeface="Segoe UI" panose="020B0502040204020203" pitchFamily="34" charset="0"/>
            </a:endParaRPr>
          </a:p>
        </p:txBody>
      </p:sp>
      <p:cxnSp>
        <p:nvCxnSpPr>
          <p:cNvPr id="561" name="Connector: Elbow 560">
            <a:extLst>
              <a:ext uri="{FF2B5EF4-FFF2-40B4-BE49-F238E27FC236}">
                <a16:creationId xmlns:a16="http://schemas.microsoft.com/office/drawing/2014/main" id="{49AE7839-A199-9436-C133-99AF5CAD87A6}"/>
              </a:ext>
            </a:extLst>
          </p:cNvPr>
          <p:cNvCxnSpPr>
            <a:cxnSpLocks/>
          </p:cNvCxnSpPr>
          <p:nvPr/>
        </p:nvCxnSpPr>
        <p:spPr>
          <a:xfrm>
            <a:off x="8351395" y="2129367"/>
            <a:ext cx="0" cy="2829983"/>
          </a:xfrm>
          <a:prstGeom prst="straightConnector1">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26" name="Group 225">
            <a:extLst>
              <a:ext uri="{FF2B5EF4-FFF2-40B4-BE49-F238E27FC236}">
                <a16:creationId xmlns:a16="http://schemas.microsoft.com/office/drawing/2014/main" id="{E7E593C2-A2C4-23FD-2196-0A630FF6CE25}"/>
              </a:ext>
            </a:extLst>
          </p:cNvPr>
          <p:cNvGrpSpPr/>
          <p:nvPr/>
        </p:nvGrpSpPr>
        <p:grpSpPr>
          <a:xfrm>
            <a:off x="185279" y="2570750"/>
            <a:ext cx="1757251" cy="452225"/>
            <a:chOff x="185279" y="2570750"/>
            <a:chExt cx="1757251" cy="452225"/>
          </a:xfrm>
        </p:grpSpPr>
        <p:sp>
          <p:nvSpPr>
            <p:cNvPr id="689" name="Rectangle 688">
              <a:hlinkClick r:id="rId113" tooltip="Microsoft Endpoint Manager enables you to manage and monitor mobile devices, desktop computers, virtual machines, embedded devices, and servers."/>
              <a:extLst>
                <a:ext uri="{FF2B5EF4-FFF2-40B4-BE49-F238E27FC236}">
                  <a16:creationId xmlns:a16="http://schemas.microsoft.com/office/drawing/2014/main" id="{09B11E83-7C72-335E-47CF-7B1D36094D12}"/>
                </a:ext>
              </a:extLst>
            </p:cNvPr>
            <p:cNvSpPr/>
            <p:nvPr/>
          </p:nvSpPr>
          <p:spPr bwMode="auto">
            <a:xfrm>
              <a:off x="185279" y="2570750"/>
              <a:ext cx="1757251" cy="452225"/>
            </a:xfrm>
            <a:prstGeom prst="rect">
              <a:avLst/>
            </a:prstGeom>
            <a:solidFill>
              <a:srgbClr val="C3E5FF"/>
            </a:solidFill>
            <a:ln w="9525">
              <a:solidFill>
                <a:schemeClr val="bg1"/>
              </a:solidFill>
              <a:prstDash val="solid"/>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0" rtlCol="0" anchor="t">
              <a:noAutofit/>
            </a:bodyPr>
            <a:lstStyle/>
            <a:p>
              <a:pPr marL="0" marR="0" lvl="0" indent="0" algn="ctr" defTabSz="914400" rtl="0" eaLnBrk="1" fontAlgn="auto" latinLnBrk="0" hangingPunct="1">
                <a:lnSpc>
                  <a:spcPct val="97000"/>
                </a:lnSpc>
                <a:spcBef>
                  <a:spcPts val="0"/>
                </a:spcBef>
                <a:spcAft>
                  <a:spcPts val="300"/>
                </a:spcAft>
                <a:buClrTx/>
                <a:buSzTx/>
                <a:buFontTx/>
                <a:buNone/>
                <a:tabLst>
                  <a:tab pos="1028700" algn="l"/>
                </a:tabLst>
                <a:defRPr/>
              </a:pPr>
              <a:r>
                <a:rPr lang="en-US" sz="750" b="1">
                  <a:solidFill>
                    <a:schemeClr val="tx1"/>
                  </a:solidFill>
                  <a:latin typeface="Segoe UI Semibold" panose="020B0702040204020203" pitchFamily="34" charset="0"/>
                  <a:cs typeface="Segoe UI Semibold" panose="020B0702040204020203" pitchFamily="34" charset="0"/>
                </a:rPr>
                <a:t>Unified Endpoint Management (UEM)</a:t>
              </a:r>
            </a:p>
          </p:txBody>
        </p:sp>
        <p:sp>
          <p:nvSpPr>
            <p:cNvPr id="690" name="Rectangle 689">
              <a:hlinkClick r:id="rId114" tooltip="Microsoft Intune is a cloud-based service that focuses on mobile device management (MDM) and mobile application management (MAM). Intune integrates with Azure Active Directory (Azure AD) Conditional Access to provide device security health signals."/>
              <a:extLst>
                <a:ext uri="{FF2B5EF4-FFF2-40B4-BE49-F238E27FC236}">
                  <a16:creationId xmlns:a16="http://schemas.microsoft.com/office/drawing/2014/main" id="{E4B5B099-247B-2FE0-8477-E8BE6B505543}"/>
                </a:ext>
              </a:extLst>
            </p:cNvPr>
            <p:cNvSpPr/>
            <p:nvPr/>
          </p:nvSpPr>
          <p:spPr>
            <a:xfrm>
              <a:off x="296439" y="2768437"/>
              <a:ext cx="398723" cy="187736"/>
            </a:xfrm>
            <a:prstGeom prst="rect">
              <a:avLst/>
            </a:prstGeom>
            <a:solidFill>
              <a:srgbClr val="C3E5F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Segoe UI" panose="020B0502040204020203" pitchFamily="34" charset="0"/>
                </a:rPr>
                <a:t>Intune</a:t>
              </a:r>
            </a:p>
          </p:txBody>
        </p:sp>
        <p:sp>
          <p:nvSpPr>
            <p:cNvPr id="691" name="Rectangle 690">
              <a:hlinkClick r:id="rId115" tooltip="Microsoft Configuration Manager provides security update and other management capabilities for endpoints"/>
              <a:extLst>
                <a:ext uri="{FF2B5EF4-FFF2-40B4-BE49-F238E27FC236}">
                  <a16:creationId xmlns:a16="http://schemas.microsoft.com/office/drawing/2014/main" id="{7A43356C-6C79-FADE-116B-F11222B0A598}"/>
                </a:ext>
              </a:extLst>
            </p:cNvPr>
            <p:cNvSpPr/>
            <p:nvPr/>
          </p:nvSpPr>
          <p:spPr>
            <a:xfrm>
              <a:off x="723557" y="2769674"/>
              <a:ext cx="1143570" cy="187736"/>
            </a:xfrm>
            <a:prstGeom prst="rect">
              <a:avLst/>
            </a:prstGeom>
            <a:solidFill>
              <a:srgbClr val="C3E5F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Segoe UI" panose="020B0502040204020203" pitchFamily="34" charset="0"/>
                </a:rPr>
                <a:t>Configuration Manager</a:t>
              </a:r>
            </a:p>
          </p:txBody>
        </p:sp>
      </p:grpSp>
      <p:sp>
        <p:nvSpPr>
          <p:cNvPr id="415" name="Rectangle 414">
            <a:hlinkClick r:id="rId116" tooltip="Prescriptive guidance on securing privileged access including strategy, models, planning, and implementation guidance to accelerate your application of zero trust principles to protect against these attack techniques. "/>
            <a:extLst>
              <a:ext uri="{FF2B5EF4-FFF2-40B4-BE49-F238E27FC236}">
                <a16:creationId xmlns:a16="http://schemas.microsoft.com/office/drawing/2014/main" id="{B04B9404-3E84-8163-2D02-9F96141CE5E8}"/>
              </a:ext>
            </a:extLst>
          </p:cNvPr>
          <p:cNvSpPr/>
          <p:nvPr/>
        </p:nvSpPr>
        <p:spPr>
          <a:xfrm>
            <a:off x="193455" y="4947225"/>
            <a:ext cx="11710288" cy="210312"/>
          </a:xfrm>
          <a:prstGeom prst="rect">
            <a:avLst/>
          </a:prstGeom>
          <a:solidFill>
            <a:schemeClr val="bg1"/>
          </a:solidFill>
          <a:ln w="19050">
            <a:solidFill>
              <a:srgbClr val="FC8455"/>
            </a:solid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3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Securing Privileged Access </a:t>
            </a:r>
            <a:r>
              <a:rPr kumimoji="0" lang="en-US" sz="83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 </a:t>
            </a:r>
            <a:r>
              <a:rPr kumimoji="0" lang="en-US" sz="830" i="0" u="none" strike="noStrike" kern="1200" cap="none" spc="0" normalizeH="0" baseline="0" noProof="0">
                <a:ln>
                  <a:noFill/>
                </a:ln>
                <a:gradFill>
                  <a:gsLst>
                    <a:gs pos="0">
                      <a:srgbClr val="D41123"/>
                    </a:gs>
                    <a:gs pos="100000">
                      <a:srgbClr val="D41123"/>
                    </a:gs>
                  </a:gsLst>
                  <a:lin ang="5400000" scaled="1"/>
                </a:gradFill>
                <a:effectLst/>
                <a:uLnTx/>
                <a:uFillTx/>
                <a:latin typeface="Segoe UI Semibold" panose="020B0702040204020203" pitchFamily="34" charset="0"/>
                <a:cs typeface="Segoe UI Semibold" panose="020B0702040204020203" pitchFamily="34" charset="0"/>
                <a:hlinkClick r:id="rId117"/>
              </a:rPr>
              <a:t>aka.ms/SPA</a:t>
            </a:r>
            <a:endParaRPr kumimoji="0" lang="en-US" sz="830" i="0" u="none" strike="noStrike" kern="1200" cap="none" spc="0" normalizeH="0" baseline="0" noProof="0">
              <a:ln>
                <a:noFill/>
              </a:ln>
              <a:gradFill>
                <a:gsLst>
                  <a:gs pos="0">
                    <a:srgbClr val="D41123"/>
                  </a:gs>
                  <a:gs pos="100000">
                    <a:srgbClr val="D41123"/>
                  </a:gs>
                </a:gsLst>
                <a:lin ang="5400000" scaled="1"/>
              </a:gradFill>
              <a:effectLst/>
              <a:uLnTx/>
              <a:uFillTx/>
              <a:latin typeface="Segoe UI Semibold" panose="020B0702040204020203" pitchFamily="34" charset="0"/>
              <a:cs typeface="Segoe UI Semibold" panose="020B0702040204020203" pitchFamily="34" charset="0"/>
            </a:endParaRPr>
          </a:p>
        </p:txBody>
      </p:sp>
      <p:grpSp>
        <p:nvGrpSpPr>
          <p:cNvPr id="138" name="Group 137">
            <a:extLst>
              <a:ext uri="{FF2B5EF4-FFF2-40B4-BE49-F238E27FC236}">
                <a16:creationId xmlns:a16="http://schemas.microsoft.com/office/drawing/2014/main" id="{8A2DE114-CC2B-7246-88E0-41E7C68F53F9}"/>
              </a:ext>
            </a:extLst>
          </p:cNvPr>
          <p:cNvGrpSpPr/>
          <p:nvPr/>
        </p:nvGrpSpPr>
        <p:grpSpPr>
          <a:xfrm>
            <a:off x="8545398" y="411357"/>
            <a:ext cx="1459835" cy="970991"/>
            <a:chOff x="8545398" y="411357"/>
            <a:chExt cx="1459835" cy="970991"/>
          </a:xfrm>
        </p:grpSpPr>
        <p:sp>
          <p:nvSpPr>
            <p:cNvPr id="803" name="Rectangle 802">
              <a:hlinkClick r:id="rId118" tooltip="Cloud App Security provides key XDR capabilities for Security Operations for SaaS applications as well as Shadow IT Risk management, Info Protection / DLP, Session Monitoring &amp; Control, and more"/>
              <a:extLst>
                <a:ext uri="{FF2B5EF4-FFF2-40B4-BE49-F238E27FC236}">
                  <a16:creationId xmlns:a16="http://schemas.microsoft.com/office/drawing/2014/main" id="{2792356B-E685-9821-2B62-D0D0AFB07CD8}"/>
                </a:ext>
              </a:extLst>
            </p:cNvPr>
            <p:cNvSpPr/>
            <p:nvPr/>
          </p:nvSpPr>
          <p:spPr>
            <a:xfrm>
              <a:off x="8545398" y="411357"/>
              <a:ext cx="1459835" cy="970991"/>
            </a:xfrm>
            <a:prstGeom prst="rect">
              <a:avLst/>
            </a:prstGeom>
            <a:solidFill>
              <a:schemeClr val="bg1"/>
            </a:solidFill>
            <a:ln w="19050">
              <a:solidFill>
                <a:srgbClr val="070707"/>
              </a:solid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342900" marR="0" lvl="0" algn="l" defTabSz="914400" rtl="0" eaLnBrk="1" fontAlgn="auto" latinLnBrk="0" hangingPunct="1">
                <a:lnSpc>
                  <a:spcPct val="100000"/>
                </a:lnSpc>
                <a:spcBef>
                  <a:spcPts val="0"/>
                </a:spcBef>
                <a:spcAft>
                  <a:spcPts val="600"/>
                </a:spcAft>
                <a:buClrTx/>
                <a:buSzTx/>
                <a:buFontTx/>
                <a:buNone/>
                <a:tabLst/>
                <a:defRPr/>
              </a:pPr>
              <a:r>
                <a:rPr kumimoji="0" lang="en-US" sz="70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Microsoft Defender for Cloud Apps</a:t>
              </a:r>
            </a:p>
            <a:p>
              <a:pPr marL="114300" marR="0" lvl="0" indent="-11430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650" b="0" i="1"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App Discovery &amp; Risk Scoring (Shadow IT)</a:t>
              </a:r>
            </a:p>
            <a:p>
              <a:pPr marL="114300" marR="0" lvl="0" indent="-11430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650" b="0" i="1"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Threat Detection &amp; Response</a:t>
              </a:r>
            </a:p>
            <a:p>
              <a:pPr marL="114300" marR="0" lvl="0" indent="-11430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650" b="0" i="1"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Policy Audit &amp; Enforcement</a:t>
              </a:r>
            </a:p>
            <a:p>
              <a:pPr marL="114300" marR="0" lvl="0" indent="-11430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650" b="0" i="1"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Session monitoring &amp; control</a:t>
              </a:r>
            </a:p>
          </p:txBody>
        </p:sp>
        <p:pic>
          <p:nvPicPr>
            <p:cNvPr id="118" name="Picture 117" descr="Icon&#10;&#10;Description automatically generated with medium confidence">
              <a:extLst>
                <a:ext uri="{FF2B5EF4-FFF2-40B4-BE49-F238E27FC236}">
                  <a16:creationId xmlns:a16="http://schemas.microsoft.com/office/drawing/2014/main" id="{B0785850-7BB7-2A4E-8BF7-623B5CD3B2F5}"/>
                </a:ext>
              </a:extLst>
            </p:cNvPr>
            <p:cNvPicPr>
              <a:picLocks noChangeAspect="1"/>
            </p:cNvPicPr>
            <p:nvPr/>
          </p:nvPicPr>
          <p:blipFill>
            <a:blip r:embed="rId119">
              <a:extLst>
                <a:ext uri="{28A0092B-C50C-407E-A947-70E740481C1C}">
                  <a14:useLocalDpi xmlns:a14="http://schemas.microsoft.com/office/drawing/2010/main" val="0"/>
                </a:ext>
              </a:extLst>
            </a:blip>
            <a:stretch>
              <a:fillRect/>
            </a:stretch>
          </p:blipFill>
          <p:spPr>
            <a:xfrm>
              <a:off x="8654842" y="479641"/>
              <a:ext cx="277462" cy="175019"/>
            </a:xfrm>
            <a:prstGeom prst="rect">
              <a:avLst/>
            </a:prstGeom>
          </p:spPr>
        </p:pic>
      </p:grpSp>
      <p:sp>
        <p:nvSpPr>
          <p:cNvPr id="16" name="Rectangle 15">
            <a:extLst>
              <a:ext uri="{FF2B5EF4-FFF2-40B4-BE49-F238E27FC236}">
                <a16:creationId xmlns:a16="http://schemas.microsoft.com/office/drawing/2014/main" id="{0B06C0D6-79C0-5C96-2489-B2A0AACD41A8}"/>
              </a:ext>
            </a:extLst>
          </p:cNvPr>
          <p:cNvSpPr/>
          <p:nvPr/>
        </p:nvSpPr>
        <p:spPr>
          <a:xfrm>
            <a:off x="10373803" y="4672881"/>
            <a:ext cx="1491540" cy="2308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Active Directory</a:t>
            </a:r>
          </a:p>
        </p:txBody>
      </p:sp>
      <p:pic>
        <p:nvPicPr>
          <p:cNvPr id="34" name="Picture 33">
            <a:extLst>
              <a:ext uri="{FF2B5EF4-FFF2-40B4-BE49-F238E27FC236}">
                <a16:creationId xmlns:a16="http://schemas.microsoft.com/office/drawing/2014/main" id="{4BBFD60F-B6C3-9BDE-E644-481D7B74400C}"/>
              </a:ext>
            </a:extLst>
          </p:cNvPr>
          <p:cNvPicPr>
            <a:picLocks noChangeAspect="1"/>
          </p:cNvPicPr>
          <p:nvPr/>
        </p:nvPicPr>
        <p:blipFill>
          <a:blip r:embed="rId120" cstate="email">
            <a:extLst>
              <a:ext uri="{28A0092B-C50C-407E-A947-70E740481C1C}">
                <a14:useLocalDpi xmlns:a14="http://schemas.microsoft.com/office/drawing/2010/main"/>
              </a:ext>
            </a:extLst>
          </a:blip>
          <a:stretch>
            <a:fillRect/>
          </a:stretch>
        </p:blipFill>
        <p:spPr>
          <a:xfrm>
            <a:off x="10413761" y="4463078"/>
            <a:ext cx="308944" cy="204512"/>
          </a:xfrm>
          <a:prstGeom prst="rect">
            <a:avLst/>
          </a:prstGeom>
        </p:spPr>
      </p:pic>
      <p:sp>
        <p:nvSpPr>
          <p:cNvPr id="596" name="Rectangle 595">
            <a:hlinkClick r:id="rId67" tooltip="Microsoft Defender for Endpoints (formerly Defender ATP) provides Endpoint Detection and Response (EDR), Threat and Vulnerability Management (TVM),  automated incident investigation/remediation, and more for Windows, Linux, iOS, and Android"/>
            <a:extLst>
              <a:ext uri="{FF2B5EF4-FFF2-40B4-BE49-F238E27FC236}">
                <a16:creationId xmlns:a16="http://schemas.microsoft.com/office/drawing/2014/main" id="{467FB239-DB9C-660A-10D6-164D1E4CAEC8}"/>
              </a:ext>
            </a:extLst>
          </p:cNvPr>
          <p:cNvSpPr/>
          <p:nvPr/>
        </p:nvSpPr>
        <p:spPr>
          <a:xfrm>
            <a:off x="796051" y="1048147"/>
            <a:ext cx="600043" cy="903381"/>
          </a:xfrm>
          <a:prstGeom prst="rect">
            <a:avLst/>
          </a:prstGeom>
          <a:solidFill>
            <a:schemeClr val="bg1"/>
          </a:solidFill>
          <a:ln w="14224" cap="flat" cmpd="sng" algn="ctr">
            <a:solidFill>
              <a:srgbClr val="599FFD"/>
            </a:solidFill>
            <a:prstDash val="solid"/>
          </a:ln>
          <a:effectLst/>
        </p:spPr>
        <p:txBody>
          <a:bodyPr lIns="0" tIns="502920" rIns="45720" bIns="0" rtlCol="0" anchor="t" anchorCtr="0">
            <a:noAutofit/>
          </a:bodyPr>
          <a:lstStyle/>
          <a:p>
            <a:pPr marR="0" lvl="0" algn="ctr" fontAlgn="auto">
              <a:lnSpc>
                <a:spcPct val="97000"/>
              </a:lnSpc>
              <a:spcBef>
                <a:spcPts val="0"/>
              </a:spcBef>
              <a:spcAft>
                <a:spcPts val="200"/>
              </a:spcAft>
              <a:buClrTx/>
              <a:buSzTx/>
              <a:buFontTx/>
              <a:buNone/>
              <a:tabLst/>
              <a:defRPr/>
            </a:pPr>
            <a:r>
              <a:rPr lang="en-US" sz="900" b="1" kern="0">
                <a:latin typeface="Segoe UI Semibold" panose="020B0702040204020203" pitchFamily="34" charset="0"/>
                <a:cs typeface="Segoe UI Semibold" panose="020B0702040204020203" pitchFamily="34" charset="0"/>
              </a:rPr>
              <a:t>Endpoint</a:t>
            </a:r>
          </a:p>
          <a:p>
            <a:pPr marL="45720" marR="0" lvl="0" indent="0" algn="ctr" fontAlgn="auto">
              <a:lnSpc>
                <a:spcPct val="97000"/>
              </a:lnSpc>
              <a:spcBef>
                <a:spcPts val="0"/>
              </a:spcBef>
              <a:spcAft>
                <a:spcPts val="0"/>
              </a:spcAft>
              <a:buClrTx/>
              <a:buSzTx/>
              <a:buFontTx/>
              <a:buNone/>
              <a:tabLst/>
              <a:defRPr/>
            </a:pPr>
            <a:r>
              <a:rPr lang="en-US" sz="500" i="1" kern="0">
                <a:latin typeface="Segoe UI" panose="020B0502040204020203" pitchFamily="34" charset="0"/>
                <a:cs typeface="Segoe UI" panose="020B0502040204020203" pitchFamily="34" charset="0"/>
              </a:rPr>
              <a:t>Workstations,  Server/VM, Containers, etc.</a:t>
            </a:r>
          </a:p>
        </p:txBody>
      </p:sp>
      <p:sp>
        <p:nvSpPr>
          <p:cNvPr id="693" name="Rectangle 692">
            <a:hlinkClick r:id="rId121" tooltip="Microsoft Defender for Office 365 (formerly Office 365 ATP) provides XDR capabilities including sandbox detonation, integrated threat intelligence, attack simulation &amp; more across Email, SharePoint Online, OneDrive for Business, Teams, etc. "/>
            <a:extLst>
              <a:ext uri="{FF2B5EF4-FFF2-40B4-BE49-F238E27FC236}">
                <a16:creationId xmlns:a16="http://schemas.microsoft.com/office/drawing/2014/main" id="{4A875034-13A8-5DDB-88AE-C5D933ABC8BD}"/>
              </a:ext>
            </a:extLst>
          </p:cNvPr>
          <p:cNvSpPr/>
          <p:nvPr/>
        </p:nvSpPr>
        <p:spPr>
          <a:xfrm>
            <a:off x="1440476" y="1048147"/>
            <a:ext cx="604569" cy="903381"/>
          </a:xfrm>
          <a:prstGeom prst="rect">
            <a:avLst/>
          </a:prstGeom>
          <a:solidFill>
            <a:schemeClr val="bg1"/>
          </a:solidFill>
          <a:ln w="14224" cap="flat" cmpd="sng" algn="ctr">
            <a:solidFill>
              <a:srgbClr val="FDA700"/>
            </a:solidFill>
            <a:prstDash val="solid"/>
          </a:ln>
          <a:effectLst/>
        </p:spPr>
        <p:txBody>
          <a:bodyPr lIns="0" tIns="502920" rIns="0" bIns="0" rtlCol="0" anchor="t" anchorCtr="0"/>
          <a:lstStyle/>
          <a:p>
            <a:pPr algn="ctr">
              <a:lnSpc>
                <a:spcPct val="97000"/>
              </a:lnSpc>
              <a:spcAft>
                <a:spcPts val="200"/>
              </a:spcAft>
              <a:defRPr/>
            </a:pPr>
            <a:r>
              <a:rPr lang="en-US" sz="900" b="1" kern="0">
                <a:latin typeface="Segoe UI Semibold" panose="020B0702040204020203" pitchFamily="34" charset="0"/>
                <a:cs typeface="Segoe UI Semibold" panose="020B0702040204020203" pitchFamily="34" charset="0"/>
              </a:rPr>
              <a:t>Office 365</a:t>
            </a:r>
          </a:p>
          <a:p>
            <a:pPr marL="45720" algn="ctr">
              <a:lnSpc>
                <a:spcPct val="97000"/>
              </a:lnSpc>
              <a:defRPr/>
            </a:pPr>
            <a:r>
              <a:rPr lang="en-US" sz="500" i="1" kern="0">
                <a:latin typeface="Segoe UI" panose="020B0502040204020203" pitchFamily="34" charset="0"/>
                <a:cs typeface="Segoe UI" panose="020B0502040204020203" pitchFamily="34" charset="0"/>
              </a:rPr>
              <a:t>Email, Teams, </a:t>
            </a:r>
            <a:br>
              <a:rPr lang="en-US" sz="500" i="1" kern="0">
                <a:latin typeface="Segoe UI" panose="020B0502040204020203" pitchFamily="34" charset="0"/>
                <a:cs typeface="Segoe UI" panose="020B0502040204020203" pitchFamily="34" charset="0"/>
              </a:rPr>
            </a:br>
            <a:r>
              <a:rPr lang="en-US" sz="500" i="1" kern="0">
                <a:latin typeface="Segoe UI" panose="020B0502040204020203" pitchFamily="34" charset="0"/>
                <a:cs typeface="Segoe UI" panose="020B0502040204020203" pitchFamily="34" charset="0"/>
              </a:rPr>
              <a:t>and more</a:t>
            </a:r>
          </a:p>
        </p:txBody>
      </p:sp>
      <p:sp>
        <p:nvSpPr>
          <p:cNvPr id="696" name="Rectangle 695">
            <a:hlinkClick r:id="rId71" tooltip="(formerly ASC Standard) provides XDR capabilities to simplify detection, automated investigation and response for Azure resources (Linux and Windows VMs, Networks, Kubernetes/Containers, SQL, Storage, IoT/OT, and more) "/>
            <a:extLst>
              <a:ext uri="{FF2B5EF4-FFF2-40B4-BE49-F238E27FC236}">
                <a16:creationId xmlns:a16="http://schemas.microsoft.com/office/drawing/2014/main" id="{50851DD0-9D6C-C32A-A930-CBB39F071A84}"/>
              </a:ext>
            </a:extLst>
          </p:cNvPr>
          <p:cNvSpPr/>
          <p:nvPr/>
        </p:nvSpPr>
        <p:spPr>
          <a:xfrm>
            <a:off x="251876" y="1048147"/>
            <a:ext cx="499792" cy="903381"/>
          </a:xfrm>
          <a:prstGeom prst="rect">
            <a:avLst/>
          </a:prstGeom>
          <a:solidFill>
            <a:schemeClr val="bg1"/>
          </a:solidFill>
          <a:ln w="14224">
            <a:solidFill>
              <a:srgbClr val="A5E9FF"/>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502920" rIns="45720" bIns="0" rtlCol="0" anchor="t">
            <a:noAutofit/>
          </a:bodyPr>
          <a:lstStyle/>
          <a:p>
            <a:pPr algn="ctr">
              <a:lnSpc>
                <a:spcPct val="97000"/>
              </a:lnSpc>
              <a:spcAft>
                <a:spcPts val="200"/>
              </a:spcAft>
              <a:defRPr/>
            </a:pPr>
            <a:r>
              <a:rPr lang="en-US" sz="900" b="1" kern="0">
                <a:solidFill>
                  <a:schemeClr val="tx1"/>
                </a:solidFill>
                <a:latin typeface="Segoe UI Semibold" panose="020B0702040204020203" pitchFamily="34" charset="0"/>
                <a:cs typeface="Segoe UI Semibold" panose="020B0702040204020203" pitchFamily="34" charset="0"/>
              </a:rPr>
              <a:t>Cloud</a:t>
            </a:r>
          </a:p>
          <a:p>
            <a:pPr algn="ctr">
              <a:lnSpc>
                <a:spcPct val="97000"/>
              </a:lnSpc>
              <a:defRPr/>
            </a:pPr>
            <a:r>
              <a:rPr lang="en-US" sz="500" i="1" kern="0">
                <a:solidFill>
                  <a:schemeClr val="tx1"/>
                </a:solidFill>
                <a:latin typeface="Segoe UI" panose="020B0502040204020203" pitchFamily="34" charset="0"/>
                <a:cs typeface="Segoe UI" panose="020B0502040204020203" pitchFamily="34" charset="0"/>
              </a:rPr>
              <a:t>Azure, AWS, GCP, On Prem &amp; more</a:t>
            </a:r>
          </a:p>
          <a:p>
            <a:pPr marL="45720" marR="0" lvl="0" indent="0" algn="ctr" defTabSz="914400" rtl="0" eaLnBrk="1" fontAlgn="auto" latinLnBrk="0" hangingPunct="1">
              <a:lnSpc>
                <a:spcPct val="97000"/>
              </a:lnSpc>
              <a:spcBef>
                <a:spcPts val="0"/>
              </a:spcBef>
              <a:spcAft>
                <a:spcPts val="0"/>
              </a:spcAft>
              <a:buClrTx/>
              <a:buSzTx/>
              <a:buFontTx/>
              <a:buNone/>
              <a:tabLst/>
              <a:defRPr/>
            </a:pPr>
            <a:endParaRPr kumimoji="0" lang="en-US" sz="900" b="1" i="0" u="none" strike="noStrike" kern="0" cap="none" spc="0" normalizeH="0" baseline="0" noProof="0">
              <a:ln>
                <a:noFill/>
              </a:ln>
              <a:solidFill>
                <a:schemeClr val="tx1"/>
              </a:solidFill>
              <a:effectLst/>
              <a:uLnTx/>
              <a:uFillTx/>
              <a:latin typeface="Segoe Pro Semibold" panose="020B0702040504020203" pitchFamily="34" charset="0"/>
              <a:cs typeface="Segoe UI" panose="020B0502040204020203" pitchFamily="34" charset="0"/>
            </a:endParaRPr>
          </a:p>
        </p:txBody>
      </p:sp>
      <p:sp>
        <p:nvSpPr>
          <p:cNvPr id="737" name="Rectangle 736">
            <a:hlinkClick r:id="rId122" tooltip="Microsoft Defender for Identity (formerly Azure ATP) detects on-premises identity attacks using behavioral analysis (UEBA) + specific detections for Pass the Hash/Ticket/Password, Golden Ticket, Skeleton Key, and others."/>
            <a:extLst>
              <a:ext uri="{FF2B5EF4-FFF2-40B4-BE49-F238E27FC236}">
                <a16:creationId xmlns:a16="http://schemas.microsoft.com/office/drawing/2014/main" id="{6E776EDF-5ACC-E87A-0876-1257E7D2F31E}"/>
              </a:ext>
            </a:extLst>
          </p:cNvPr>
          <p:cNvSpPr/>
          <p:nvPr/>
        </p:nvSpPr>
        <p:spPr>
          <a:xfrm>
            <a:off x="2089427" y="1048147"/>
            <a:ext cx="552610" cy="903381"/>
          </a:xfrm>
          <a:prstGeom prst="rect">
            <a:avLst/>
          </a:prstGeom>
          <a:solidFill>
            <a:schemeClr val="bg1"/>
          </a:solidFill>
          <a:ln w="14224" cap="flat" cmpd="sng" algn="ctr">
            <a:solidFill>
              <a:srgbClr val="EDAEFF"/>
            </a:solidFill>
            <a:prstDash val="solid"/>
          </a:ln>
          <a:effectLst/>
        </p:spPr>
        <p:txBody>
          <a:bodyPr lIns="45720" tIns="502920" rIns="45720" bIns="0" rtlCol="0" anchor="t"/>
          <a:lstStyle/>
          <a:p>
            <a:pPr marR="0" lvl="0" algn="ctr" fontAlgn="auto">
              <a:lnSpc>
                <a:spcPct val="97000"/>
              </a:lnSpc>
              <a:spcBef>
                <a:spcPts val="0"/>
              </a:spcBef>
              <a:spcAft>
                <a:spcPts val="200"/>
              </a:spcAft>
              <a:buClrTx/>
              <a:buSzTx/>
              <a:buFontTx/>
              <a:buNone/>
              <a:tabLst/>
              <a:defRPr/>
            </a:pPr>
            <a:r>
              <a:rPr lang="en-US" sz="900" b="1" kern="0">
                <a:latin typeface="Segoe UI Semibold" panose="020B0702040204020203" pitchFamily="34" charset="0"/>
                <a:cs typeface="Segoe UI Semibold" panose="020B0702040204020203" pitchFamily="34" charset="0"/>
              </a:rPr>
              <a:t>Identity</a:t>
            </a:r>
          </a:p>
          <a:p>
            <a:pPr algn="ctr">
              <a:lnSpc>
                <a:spcPct val="97000"/>
              </a:lnSpc>
              <a:defRPr/>
            </a:pPr>
            <a:r>
              <a:rPr lang="en-US" sz="500" i="1" kern="0">
                <a:latin typeface="Segoe UI" panose="020B0502040204020203" pitchFamily="34" charset="0"/>
                <a:cs typeface="Segoe UI" panose="020B0502040204020203" pitchFamily="34" charset="0"/>
              </a:rPr>
              <a:t>Cloud &amp; </a:t>
            </a:r>
            <a:br>
              <a:rPr lang="en-US" sz="500" i="1" kern="0">
                <a:latin typeface="Segoe UI" panose="020B0502040204020203" pitchFamily="34" charset="0"/>
                <a:cs typeface="Segoe UI" panose="020B0502040204020203" pitchFamily="34" charset="0"/>
              </a:rPr>
            </a:br>
            <a:r>
              <a:rPr lang="en-US" sz="500" i="1" kern="0">
                <a:latin typeface="Segoe UI" panose="020B0502040204020203" pitchFamily="34" charset="0"/>
                <a:cs typeface="Segoe UI" panose="020B0502040204020203" pitchFamily="34" charset="0"/>
              </a:rPr>
              <a:t>On-Premises</a:t>
            </a:r>
          </a:p>
        </p:txBody>
      </p:sp>
      <p:sp>
        <p:nvSpPr>
          <p:cNvPr id="743" name="Rectangle 742">
            <a:hlinkClick r:id="rId118" tooltip="Cloud App Security provides key XDR capabilities for Security Operations for SaaS applications as well as Shadow IT Risk management, Info Protection / DLP, Session Monitoring &amp; Control, and more"/>
            <a:extLst>
              <a:ext uri="{FF2B5EF4-FFF2-40B4-BE49-F238E27FC236}">
                <a16:creationId xmlns:a16="http://schemas.microsoft.com/office/drawing/2014/main" id="{7F2B2AB1-B1CF-9C60-CFAA-D51F046F5B28}"/>
              </a:ext>
            </a:extLst>
          </p:cNvPr>
          <p:cNvSpPr/>
          <p:nvPr/>
        </p:nvSpPr>
        <p:spPr>
          <a:xfrm>
            <a:off x="2686419" y="1048147"/>
            <a:ext cx="369661" cy="903381"/>
          </a:xfrm>
          <a:prstGeom prst="rect">
            <a:avLst/>
          </a:prstGeom>
          <a:solidFill>
            <a:schemeClr val="bg1"/>
          </a:solidFill>
          <a:ln w="14224" cap="flat" cmpd="sng" algn="ctr">
            <a:solidFill>
              <a:srgbClr val="77EAB5"/>
            </a:solidFill>
            <a:prstDash val="solid"/>
          </a:ln>
          <a:effectLst/>
        </p:spPr>
        <p:txBody>
          <a:bodyPr lIns="0" tIns="502920" rIns="0" bIns="0" rtlCol="0" anchor="t"/>
          <a:lstStyle/>
          <a:p>
            <a:pPr marR="0" lvl="0" algn="ctr" fontAlgn="auto">
              <a:lnSpc>
                <a:spcPct val="97000"/>
              </a:lnSpc>
              <a:spcBef>
                <a:spcPts val="0"/>
              </a:spcBef>
              <a:spcAft>
                <a:spcPts val="200"/>
              </a:spcAft>
              <a:buClrTx/>
              <a:buSzTx/>
              <a:buFontTx/>
              <a:buNone/>
              <a:tabLst/>
              <a:defRPr/>
            </a:pPr>
            <a:r>
              <a:rPr lang="en-US" sz="900" b="1" kern="0">
                <a:latin typeface="Segoe UI Semibold" panose="020B0702040204020203" pitchFamily="34" charset="0"/>
                <a:cs typeface="Segoe UI Semibold" panose="020B0702040204020203" pitchFamily="34" charset="0"/>
              </a:rPr>
              <a:t>SaaS</a:t>
            </a:r>
          </a:p>
          <a:p>
            <a:pPr algn="ctr">
              <a:lnSpc>
                <a:spcPct val="97000"/>
              </a:lnSpc>
              <a:defRPr/>
            </a:pPr>
            <a:r>
              <a:rPr lang="nn-NO" sz="500" i="1" kern="0">
                <a:latin typeface="Segoe UI" panose="020B0502040204020203" pitchFamily="34" charset="0"/>
                <a:cs typeface="Segoe UI" panose="020B0502040204020203" pitchFamily="34" charset="0"/>
              </a:rPr>
              <a:t>Cloud Apps</a:t>
            </a:r>
            <a:endParaRPr lang="en-US" sz="500" i="1" kern="0">
              <a:latin typeface="Segoe UI" panose="020B0502040204020203" pitchFamily="34" charset="0"/>
              <a:cs typeface="Segoe UI" panose="020B0502040204020203" pitchFamily="34" charset="0"/>
            </a:endParaRPr>
          </a:p>
          <a:p>
            <a:pPr marL="45720" marR="0" lvl="0" indent="0" algn="ctr" defTabSz="914400" rtl="0" eaLnBrk="1" fontAlgn="auto" latinLnBrk="0" hangingPunct="1">
              <a:lnSpc>
                <a:spcPct val="97000"/>
              </a:lnSpc>
              <a:spcBef>
                <a:spcPts val="0"/>
              </a:spcBef>
              <a:spcAft>
                <a:spcPts val="0"/>
              </a:spcAft>
              <a:buClrTx/>
              <a:buSzTx/>
              <a:buFontTx/>
              <a:buNone/>
              <a:tabLst/>
              <a:defRPr/>
            </a:pPr>
            <a:endParaRPr kumimoji="0" lang="en-US" sz="900" b="1" i="0" u="none" strike="noStrike" kern="0" cap="none" spc="0" normalizeH="0" baseline="0" noProof="0">
              <a:ln>
                <a:noFill/>
              </a:ln>
              <a:effectLst/>
              <a:uLnTx/>
              <a:uFillTx/>
              <a:latin typeface="Segoe Pro Semibold" panose="020B0702040504020203" pitchFamily="34" charset="0"/>
              <a:cs typeface="Segoe UI" panose="020B0502040204020203" pitchFamily="34" charset="0"/>
            </a:endParaRPr>
          </a:p>
        </p:txBody>
      </p:sp>
      <p:sp>
        <p:nvSpPr>
          <p:cNvPr id="745" name="Rectangle 744">
            <a:extLst>
              <a:ext uri="{FF2B5EF4-FFF2-40B4-BE49-F238E27FC236}">
                <a16:creationId xmlns:a16="http://schemas.microsoft.com/office/drawing/2014/main" id="{99E9E82A-B6B5-57E3-68C2-2F93D0980B17}"/>
              </a:ext>
            </a:extLst>
          </p:cNvPr>
          <p:cNvSpPr/>
          <p:nvPr/>
        </p:nvSpPr>
        <p:spPr>
          <a:xfrm>
            <a:off x="4045375" y="1048147"/>
            <a:ext cx="462586" cy="903381"/>
          </a:xfrm>
          <a:prstGeom prst="rect">
            <a:avLst/>
          </a:prstGeom>
          <a:solidFill>
            <a:schemeClr val="bg1"/>
          </a:solidFill>
          <a:ln w="14224">
            <a:solidFill>
              <a:srgbClr val="C3E5F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502920" rIns="0" bIns="0" rtlCol="0" anchor="t">
            <a:noAutofit/>
          </a:bodyPr>
          <a:lstStyle/>
          <a:p>
            <a:pPr marR="0" lvl="0" indent="0" algn="ctr" fontAlgn="auto">
              <a:lnSpc>
                <a:spcPct val="97000"/>
              </a:lnSpc>
              <a:spcBef>
                <a:spcPts val="0"/>
              </a:spcBef>
              <a:spcAft>
                <a:spcPts val="200"/>
              </a:spcAft>
              <a:buClrTx/>
              <a:buSzTx/>
              <a:buFontTx/>
              <a:buNone/>
              <a:tabLst/>
              <a:defRPr/>
            </a:pPr>
            <a:r>
              <a:rPr lang="en-US" sz="900" b="1" kern="0">
                <a:solidFill>
                  <a:schemeClr val="tx1"/>
                </a:solidFill>
                <a:latin typeface="Segoe UI Semibold" panose="020B0702040204020203" pitchFamily="34" charset="0"/>
                <a:cs typeface="Segoe UI Semibold" panose="020B0702040204020203" pitchFamily="34" charset="0"/>
              </a:rPr>
              <a:t>Other </a:t>
            </a:r>
          </a:p>
          <a:p>
            <a:pPr marR="0" lvl="0" algn="ctr" fontAlgn="auto">
              <a:lnSpc>
                <a:spcPct val="97000"/>
              </a:lnSpc>
              <a:spcBef>
                <a:spcPts val="0"/>
              </a:spcBef>
              <a:spcAft>
                <a:spcPts val="0"/>
              </a:spcAft>
              <a:buClrTx/>
              <a:buSzTx/>
              <a:buFontTx/>
              <a:buNone/>
              <a:tabLst/>
              <a:defRPr/>
            </a:pPr>
            <a:r>
              <a:rPr lang="en-US" sz="500" i="1" kern="0">
                <a:solidFill>
                  <a:schemeClr val="tx1"/>
                </a:solidFill>
                <a:latin typeface="Segoe UI" panose="020B0502040204020203" pitchFamily="34" charset="0"/>
                <a:cs typeface="Segoe UI" panose="020B0502040204020203" pitchFamily="34" charset="0"/>
              </a:rPr>
              <a:t>Tools, Logs, </a:t>
            </a:r>
            <a:br>
              <a:rPr lang="en-US" sz="500" i="1" kern="0">
                <a:solidFill>
                  <a:schemeClr val="tx1"/>
                </a:solidFill>
                <a:latin typeface="Segoe UI" panose="020B0502040204020203" pitchFamily="34" charset="0"/>
                <a:cs typeface="Segoe UI" panose="020B0502040204020203" pitchFamily="34" charset="0"/>
              </a:rPr>
            </a:br>
            <a:r>
              <a:rPr lang="en-US" sz="500" i="1" kern="0">
                <a:solidFill>
                  <a:schemeClr val="tx1"/>
                </a:solidFill>
                <a:latin typeface="Segoe UI" panose="020B0502040204020203" pitchFamily="34" charset="0"/>
                <a:cs typeface="Segoe UI" panose="020B0502040204020203" pitchFamily="34" charset="0"/>
              </a:rPr>
              <a:t>&amp; Data</a:t>
            </a:r>
          </a:p>
        </p:txBody>
      </p:sp>
      <p:sp>
        <p:nvSpPr>
          <p:cNvPr id="753" name="Rectangle 752">
            <a:hlinkClick r:id="rId118" tooltip="Cloud App Security provides key XDR capabilities for Security Operations for SaaS applications as well as Shadow IT Risk management, Info Protection / DLP, Session Monitoring &amp; Control, and more"/>
            <a:extLst>
              <a:ext uri="{FF2B5EF4-FFF2-40B4-BE49-F238E27FC236}">
                <a16:creationId xmlns:a16="http://schemas.microsoft.com/office/drawing/2014/main" id="{001309E5-C3CF-E454-C3F4-A9DC376606E9}"/>
              </a:ext>
            </a:extLst>
          </p:cNvPr>
          <p:cNvSpPr/>
          <p:nvPr/>
        </p:nvSpPr>
        <p:spPr>
          <a:xfrm>
            <a:off x="3583292" y="1052435"/>
            <a:ext cx="417700" cy="899094"/>
          </a:xfrm>
          <a:prstGeom prst="rect">
            <a:avLst/>
          </a:prstGeom>
          <a:solidFill>
            <a:schemeClr val="bg1"/>
          </a:solidFill>
          <a:ln w="14224" cap="flat" cmpd="sng" algn="ctr">
            <a:solidFill>
              <a:srgbClr val="C3E5FF"/>
            </a:solidFill>
            <a:prstDash val="solid"/>
          </a:ln>
          <a:effectLst/>
        </p:spPr>
        <p:txBody>
          <a:bodyPr lIns="27432" tIns="502920" rIns="27432" bIns="0" rtlCol="0" anchor="t"/>
          <a:lstStyle/>
          <a:p>
            <a:pPr marR="0" lvl="0" algn="ctr" fontAlgn="auto">
              <a:lnSpc>
                <a:spcPct val="97000"/>
              </a:lnSpc>
              <a:spcBef>
                <a:spcPts val="0"/>
              </a:spcBef>
              <a:spcAft>
                <a:spcPts val="200"/>
              </a:spcAft>
              <a:buClrTx/>
              <a:buSzTx/>
              <a:buFontTx/>
              <a:buNone/>
              <a:tabLst/>
              <a:defRPr/>
            </a:pPr>
            <a:r>
              <a:rPr lang="en-US" sz="900" b="1" kern="0">
                <a:latin typeface="Segoe UI Semibold" panose="020B0702040204020203" pitchFamily="34" charset="0"/>
                <a:cs typeface="Segoe UI Semibold" panose="020B0702040204020203" pitchFamily="34" charset="0"/>
              </a:rPr>
              <a:t>OT/IoT</a:t>
            </a:r>
          </a:p>
          <a:p>
            <a:pPr algn="ctr">
              <a:lnSpc>
                <a:spcPct val="97000"/>
              </a:lnSpc>
              <a:defRPr/>
            </a:pPr>
            <a:r>
              <a:rPr lang="en-US" sz="500" i="1" kern="0">
                <a:latin typeface="Segoe UI" panose="020B0502040204020203" pitchFamily="34" charset="0"/>
                <a:cs typeface="Segoe UI" panose="020B0502040204020203" pitchFamily="34" charset="0"/>
              </a:rPr>
              <a:t>devices</a:t>
            </a:r>
          </a:p>
        </p:txBody>
      </p:sp>
      <p:grpSp>
        <p:nvGrpSpPr>
          <p:cNvPr id="581" name="Group 580">
            <a:extLst>
              <a:ext uri="{FF2B5EF4-FFF2-40B4-BE49-F238E27FC236}">
                <a16:creationId xmlns:a16="http://schemas.microsoft.com/office/drawing/2014/main" id="{14BA8BA0-C7BC-3C62-F7B2-68FD232A5ABB}"/>
              </a:ext>
            </a:extLst>
          </p:cNvPr>
          <p:cNvGrpSpPr/>
          <p:nvPr/>
        </p:nvGrpSpPr>
        <p:grpSpPr>
          <a:xfrm>
            <a:off x="2408926" y="4982558"/>
            <a:ext cx="5143978" cy="139647"/>
            <a:chOff x="6523848" y="4974229"/>
            <a:chExt cx="5143978" cy="139647"/>
          </a:xfrm>
        </p:grpSpPr>
        <p:sp>
          <p:nvSpPr>
            <p:cNvPr id="583" name="Rectangle 582">
              <a:hlinkClick r:id="rId123" tooltip="PAWs are an integral part of a privileged access security strategy designed to enable and protect administrator, developer, and other sensitive user accounts that would cause significant business impact if compromised."/>
              <a:extLst>
                <a:ext uri="{FF2B5EF4-FFF2-40B4-BE49-F238E27FC236}">
                  <a16:creationId xmlns:a16="http://schemas.microsoft.com/office/drawing/2014/main" id="{8F651D18-EEDA-5338-2DF9-981DBFC7FAA9}"/>
                </a:ext>
              </a:extLst>
            </p:cNvPr>
            <p:cNvSpPr/>
            <p:nvPr/>
          </p:nvSpPr>
          <p:spPr>
            <a:xfrm>
              <a:off x="6523848" y="4974229"/>
              <a:ext cx="5143978" cy="139647"/>
            </a:xfrm>
            <a:prstGeom prst="rect">
              <a:avLst/>
            </a:prstGeom>
            <a:solidFill>
              <a:schemeClr val="bg1"/>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r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2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Privileged Access Workstations (PAWs) - </a:t>
              </a:r>
              <a:r>
                <a:rPr kumimoji="0" lang="en-US" sz="72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Secure workstations for administrators, developers, and other sensitive users</a:t>
              </a:r>
            </a:p>
          </p:txBody>
        </p:sp>
        <p:sp>
          <p:nvSpPr>
            <p:cNvPr id="584" name="Laptop_E770">
              <a:extLst>
                <a:ext uri="{FF2B5EF4-FFF2-40B4-BE49-F238E27FC236}">
                  <a16:creationId xmlns:a16="http://schemas.microsoft.com/office/drawing/2014/main" id="{01875FC7-B145-BA39-82C7-902E0B6182FC}"/>
                </a:ext>
              </a:extLst>
            </p:cNvPr>
            <p:cNvSpPr>
              <a:spLocks noChangeAspect="1" noEditPoints="1"/>
            </p:cNvSpPr>
            <p:nvPr/>
          </p:nvSpPr>
          <p:spPr bwMode="auto">
            <a:xfrm>
              <a:off x="6583859" y="5003531"/>
              <a:ext cx="129886" cy="86668"/>
            </a:xfrm>
            <a:custGeom>
              <a:avLst/>
              <a:gdLst>
                <a:gd name="T0" fmla="*/ 3250 w 3750"/>
                <a:gd name="T1" fmla="*/ 1750 h 2500"/>
                <a:gd name="T2" fmla="*/ 500 w 3750"/>
                <a:gd name="T3" fmla="*/ 1750 h 2500"/>
                <a:gd name="T4" fmla="*/ 500 w 3750"/>
                <a:gd name="T5" fmla="*/ 0 h 2500"/>
                <a:gd name="T6" fmla="*/ 3250 w 3750"/>
                <a:gd name="T7" fmla="*/ 0 h 2500"/>
                <a:gd name="T8" fmla="*/ 3250 w 3750"/>
                <a:gd name="T9" fmla="*/ 1750 h 2500"/>
                <a:gd name="T10" fmla="*/ 0 w 3750"/>
                <a:gd name="T11" fmla="*/ 2375 h 2500"/>
                <a:gd name="T12" fmla="*/ 125 w 3750"/>
                <a:gd name="T13" fmla="*/ 2500 h 2500"/>
                <a:gd name="T14" fmla="*/ 3625 w 3750"/>
                <a:gd name="T15" fmla="*/ 2500 h 2500"/>
                <a:gd name="T16" fmla="*/ 3750 w 3750"/>
                <a:gd name="T17" fmla="*/ 2375 h 2500"/>
                <a:gd name="T18" fmla="*/ 3688 w 3750"/>
                <a:gd name="T19" fmla="*/ 2187 h 2500"/>
                <a:gd name="T20" fmla="*/ 3250 w 3750"/>
                <a:gd name="T21" fmla="*/ 1750 h 2500"/>
                <a:gd name="T22" fmla="*/ 500 w 3750"/>
                <a:gd name="T23" fmla="*/ 1750 h 2500"/>
                <a:gd name="T24" fmla="*/ 63 w 3750"/>
                <a:gd name="T25" fmla="*/ 2187 h 2500"/>
                <a:gd name="T26" fmla="*/ 0 w 3750"/>
                <a:gd name="T27" fmla="*/ 2375 h 2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50" h="2500">
                  <a:moveTo>
                    <a:pt x="3250" y="1750"/>
                  </a:moveTo>
                  <a:cubicBezTo>
                    <a:pt x="500" y="1750"/>
                    <a:pt x="500" y="1750"/>
                    <a:pt x="500" y="1750"/>
                  </a:cubicBezTo>
                  <a:cubicBezTo>
                    <a:pt x="500" y="0"/>
                    <a:pt x="500" y="0"/>
                    <a:pt x="500" y="0"/>
                  </a:cubicBezTo>
                  <a:cubicBezTo>
                    <a:pt x="3250" y="0"/>
                    <a:pt x="3250" y="0"/>
                    <a:pt x="3250" y="0"/>
                  </a:cubicBezTo>
                  <a:lnTo>
                    <a:pt x="3250" y="1750"/>
                  </a:lnTo>
                  <a:close/>
                  <a:moveTo>
                    <a:pt x="0" y="2375"/>
                  </a:moveTo>
                  <a:cubicBezTo>
                    <a:pt x="0" y="2444"/>
                    <a:pt x="56" y="2500"/>
                    <a:pt x="125" y="2500"/>
                  </a:cubicBezTo>
                  <a:cubicBezTo>
                    <a:pt x="3625" y="2500"/>
                    <a:pt x="3625" y="2500"/>
                    <a:pt x="3625" y="2500"/>
                  </a:cubicBezTo>
                  <a:cubicBezTo>
                    <a:pt x="3694" y="2500"/>
                    <a:pt x="3750" y="2444"/>
                    <a:pt x="3750" y="2375"/>
                  </a:cubicBezTo>
                  <a:cubicBezTo>
                    <a:pt x="3750" y="2302"/>
                    <a:pt x="3726" y="2235"/>
                    <a:pt x="3688" y="2187"/>
                  </a:cubicBezTo>
                  <a:cubicBezTo>
                    <a:pt x="3250" y="1750"/>
                    <a:pt x="3250" y="1750"/>
                    <a:pt x="3250" y="1750"/>
                  </a:cubicBezTo>
                  <a:cubicBezTo>
                    <a:pt x="500" y="1750"/>
                    <a:pt x="500" y="1750"/>
                    <a:pt x="500" y="1750"/>
                  </a:cubicBezTo>
                  <a:cubicBezTo>
                    <a:pt x="63" y="2187"/>
                    <a:pt x="63" y="2187"/>
                    <a:pt x="63" y="2187"/>
                  </a:cubicBezTo>
                  <a:cubicBezTo>
                    <a:pt x="24" y="2235"/>
                    <a:pt x="0" y="2302"/>
                    <a:pt x="0" y="2375"/>
                  </a:cubicBezTo>
                  <a:close/>
                </a:path>
              </a:pathLst>
            </a:custGeom>
            <a:noFill/>
            <a:ln w="12700" cap="sq">
              <a:solidFill>
                <a:schemeClr val="accent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135" name="Group 134">
            <a:extLst>
              <a:ext uri="{FF2B5EF4-FFF2-40B4-BE49-F238E27FC236}">
                <a16:creationId xmlns:a16="http://schemas.microsoft.com/office/drawing/2014/main" id="{6DE0D63D-1728-46A0-9D11-90DFCA756675}"/>
              </a:ext>
            </a:extLst>
          </p:cNvPr>
          <p:cNvGrpSpPr/>
          <p:nvPr/>
        </p:nvGrpSpPr>
        <p:grpSpPr>
          <a:xfrm>
            <a:off x="10262860" y="1061128"/>
            <a:ext cx="1657122" cy="177976"/>
            <a:chOff x="2123429" y="3916009"/>
            <a:chExt cx="1640379" cy="177976"/>
          </a:xfrm>
        </p:grpSpPr>
        <p:sp>
          <p:nvSpPr>
            <p:cNvPr id="143" name="Rectangle 142">
              <a:hlinkClick r:id="rId124" tooltip="Microsoft Entra Internet Access protects against malicious internet traffic, unsafe or non-compliant content, and other threats."/>
              <a:extLst>
                <a:ext uri="{FF2B5EF4-FFF2-40B4-BE49-F238E27FC236}">
                  <a16:creationId xmlns:a16="http://schemas.microsoft.com/office/drawing/2014/main" id="{C5F5CE46-345B-CBA3-D67F-72E7441DAA97}"/>
                </a:ext>
              </a:extLst>
            </p:cNvPr>
            <p:cNvSpPr/>
            <p:nvPr/>
          </p:nvSpPr>
          <p:spPr>
            <a:xfrm>
              <a:off x="2123429" y="3916009"/>
              <a:ext cx="1640379" cy="177976"/>
            </a:xfrm>
            <a:prstGeom prst="rect">
              <a:avLst/>
            </a:prstGeom>
            <a:solidFill>
              <a:schemeClr val="bg1"/>
            </a:solidFill>
            <a:ln w="19050">
              <a:solidFill>
                <a:srgbClr val="EDAE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45720" rIns="45720" rtlCol="0" anchor="ctr">
              <a:noAutofit/>
            </a:bodyPr>
            <a:lstStyle/>
            <a:p>
              <a:pPr marL="0" marR="0" lvl="0" indent="0" algn="r" defTabSz="914400" rtl="0" eaLnBrk="1" fontAlgn="auto" latinLnBrk="0" hangingPunct="1">
                <a:lnSpc>
                  <a:spcPct val="97000"/>
                </a:lnSpc>
                <a:spcBef>
                  <a:spcPts val="0"/>
                </a:spcBef>
                <a:spcAft>
                  <a:spcPts val="0"/>
                </a:spcAft>
                <a:buClrTx/>
                <a:buSzTx/>
                <a:buFontTx/>
                <a:buNone/>
                <a:tabLst/>
                <a:defRPr/>
              </a:pPr>
              <a:r>
                <a:rPr kumimoji="0" lang="en-US" sz="75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Microsoft Entra Internet Access</a:t>
              </a:r>
              <a:endParaRPr kumimoji="0" lang="en-US" sz="700" b="0" i="1"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endParaRPr>
            </a:p>
          </p:txBody>
        </p:sp>
        <p:pic>
          <p:nvPicPr>
            <p:cNvPr id="145" name="Picture 112">
              <a:extLst>
                <a:ext uri="{FF2B5EF4-FFF2-40B4-BE49-F238E27FC236}">
                  <a16:creationId xmlns:a16="http://schemas.microsoft.com/office/drawing/2014/main" id="{B899659B-D067-53DF-93F8-FEBCB7ECA554}"/>
                </a:ext>
              </a:extLst>
            </p:cNvPr>
            <p:cNvPicPr>
              <a:picLocks noChangeAspect="1"/>
            </p:cNvPicPr>
            <p:nvPr/>
          </p:nvPicPr>
          <p:blipFill>
            <a:blip>
              <a:extLst>
                <a:ext uri="{96DAC541-7B7A-43D3-8B79-37D633B846F1}">
                  <asvg:svgBlip xmlns:asvg="http://schemas.microsoft.com/office/drawing/2016/SVG/main" r:embed="rId125"/>
                </a:ext>
              </a:extLst>
            </a:blip>
            <a:srcRect/>
            <a:stretch/>
          </p:blipFill>
          <p:spPr>
            <a:xfrm>
              <a:off x="2158936" y="3938309"/>
              <a:ext cx="136105" cy="137494"/>
            </a:xfrm>
            <a:prstGeom prst="rect">
              <a:avLst/>
            </a:prstGeom>
          </p:spPr>
        </p:pic>
      </p:grpSp>
      <p:grpSp>
        <p:nvGrpSpPr>
          <p:cNvPr id="220" name="Group 219">
            <a:extLst>
              <a:ext uri="{FF2B5EF4-FFF2-40B4-BE49-F238E27FC236}">
                <a16:creationId xmlns:a16="http://schemas.microsoft.com/office/drawing/2014/main" id="{883A9713-FC29-11FA-553E-AD68C0F92811}"/>
              </a:ext>
            </a:extLst>
          </p:cNvPr>
          <p:cNvGrpSpPr/>
          <p:nvPr/>
        </p:nvGrpSpPr>
        <p:grpSpPr>
          <a:xfrm>
            <a:off x="186802" y="6160516"/>
            <a:ext cx="11735889" cy="306656"/>
            <a:chOff x="186802" y="6160516"/>
            <a:chExt cx="11735889" cy="306656"/>
          </a:xfrm>
        </p:grpSpPr>
        <p:sp>
          <p:nvSpPr>
            <p:cNvPr id="115" name="L-Shape 114">
              <a:extLst>
                <a:ext uri="{FF2B5EF4-FFF2-40B4-BE49-F238E27FC236}">
                  <a16:creationId xmlns:a16="http://schemas.microsoft.com/office/drawing/2014/main" id="{60A7FF8B-C2BD-577B-B4A7-7254E18E4223}"/>
                </a:ext>
              </a:extLst>
            </p:cNvPr>
            <p:cNvSpPr/>
            <p:nvPr/>
          </p:nvSpPr>
          <p:spPr bwMode="auto">
            <a:xfrm flipH="1">
              <a:off x="186802" y="6161795"/>
              <a:ext cx="11735889" cy="303571"/>
            </a:xfrm>
            <a:prstGeom prst="corner">
              <a:avLst>
                <a:gd name="adj1" fmla="val 24931"/>
                <a:gd name="adj2" fmla="val 1172250"/>
              </a:avLst>
            </a:prstGeom>
            <a:solidFill>
              <a:srgbClr val="C3E5FF"/>
            </a:solidFill>
            <a:ln w="9525">
              <a:solidFill>
                <a:schemeClr val="bg1"/>
              </a:solidFill>
            </a:ln>
            <a:effectLst>
              <a:outerShdw blurRad="635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5760" rtlCol="0" anchor="ctr"/>
            <a:lstStyle/>
            <a:p>
              <a:pPr marL="22860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panose="020B0502040204020203" pitchFamily="34" charset="0"/>
                <a:ea typeface="+mn-ea"/>
                <a:cs typeface="Segoe UI" panose="020B0502040204020203" pitchFamily="34" charset="0"/>
              </a:endParaRPr>
            </a:p>
          </p:txBody>
        </p:sp>
        <p:sp>
          <p:nvSpPr>
            <p:cNvPr id="83" name="Rectangle 82">
              <a:hlinkClick r:id="rId126" tooltip="DevSecOps and Application development security that integrates natively in the developer workflow including code scanning, secret scanning, alerting, security policies, and more. "/>
              <a:extLst>
                <a:ext uri="{FF2B5EF4-FFF2-40B4-BE49-F238E27FC236}">
                  <a16:creationId xmlns:a16="http://schemas.microsoft.com/office/drawing/2014/main" id="{571C4356-BBA5-7E76-5BC6-ADD570681F43}"/>
                </a:ext>
              </a:extLst>
            </p:cNvPr>
            <p:cNvSpPr/>
            <p:nvPr/>
          </p:nvSpPr>
          <p:spPr bwMode="auto">
            <a:xfrm>
              <a:off x="8341997" y="6160516"/>
              <a:ext cx="3561746" cy="306656"/>
            </a:xfrm>
            <a:prstGeom prst="rect">
              <a:avLst/>
            </a:prstGeom>
            <a:no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91440" tIns="0" rIns="274320" bIns="0" rtlCol="0" anchor="ctr">
              <a:noAutofit/>
            </a:bodyPr>
            <a:lstStyle/>
            <a:p>
              <a:pPr marL="171450" algn="ctr" defTabSz="932472" fontAlgn="base">
                <a:lnSpc>
                  <a:spcPct val="90000"/>
                </a:lnSpc>
                <a:spcBef>
                  <a:spcPct val="0"/>
                </a:spcBef>
                <a:spcAft>
                  <a:spcPts val="100"/>
                </a:spcAft>
                <a:defRPr/>
              </a:pPr>
              <a:r>
                <a:rPr kumimoji="0" lang="en-US" sz="900" b="1" i="0" u="none" strike="noStrike" kern="1200" cap="none" spc="0" normalizeH="0" baseline="0" noProof="0">
                  <a:ln>
                    <a:noFill/>
                  </a:ln>
                  <a:solidFill>
                    <a:sysClr val="windowText" lastClr="000000"/>
                  </a:solidFill>
                  <a:effectLst/>
                  <a:uLnTx/>
                  <a:uFillTx/>
                  <a:latin typeface="Segoe UI Semibold" panose="020B0702040204020203" pitchFamily="34" charset="0"/>
                  <a:ea typeface="Segoe UI" pitchFamily="34" charset="0"/>
                  <a:cs typeface="Segoe UI Semibold" panose="020B0702040204020203" pitchFamily="34" charset="0"/>
                </a:rPr>
                <a:t>GitHub Advanced Security &amp; </a:t>
              </a:r>
              <a:r>
                <a:rPr lang="en-US" sz="900" b="1">
                  <a:solidFill>
                    <a:sysClr val="windowText" lastClr="000000"/>
                  </a:solidFill>
                  <a:latin typeface="Segoe UI Semibold" panose="020B0702040204020203" pitchFamily="34" charset="0"/>
                  <a:ea typeface="Segoe UI" pitchFamily="34" charset="0"/>
                  <a:cs typeface="Segoe UI Semibold" panose="020B0702040204020203" pitchFamily="34" charset="0"/>
                </a:rPr>
                <a:t>Azure DevOps Security</a:t>
              </a:r>
            </a:p>
            <a:p>
              <a:pPr marL="171450" marR="0" lvl="0" indent="0" algn="ctr" defTabSz="932472" rtl="0" eaLnBrk="1" fontAlgn="base" latinLnBrk="0" hangingPunct="1">
                <a:lnSpc>
                  <a:spcPct val="90000"/>
                </a:lnSpc>
                <a:spcBef>
                  <a:spcPct val="0"/>
                </a:spcBef>
                <a:spcAft>
                  <a:spcPct val="0"/>
                </a:spcAft>
                <a:buClrTx/>
                <a:buSzTx/>
                <a:buFontTx/>
                <a:buNone/>
                <a:tabLst/>
                <a:defRPr/>
              </a:pPr>
              <a:r>
                <a:rPr kumimoji="0" lang="en-US" sz="800" b="0" u="none" strike="noStrike" kern="1200" cap="none" spc="0" normalizeH="0" baseline="0" noProof="0">
                  <a:ln>
                    <a:noFill/>
                  </a:ln>
                  <a:solidFill>
                    <a:sysClr val="windowText" lastClr="000000"/>
                  </a:solidFill>
                  <a:effectLst/>
                  <a:uLnTx/>
                  <a:uFillTx/>
                  <a:ea typeface="Segoe UI" pitchFamily="34" charset="0"/>
                  <a:cs typeface="Segoe UI" pitchFamily="34" charset="0"/>
                </a:rPr>
                <a:t>Secure development and software supply chain</a:t>
              </a:r>
            </a:p>
          </p:txBody>
        </p:sp>
        <p:pic>
          <p:nvPicPr>
            <p:cNvPr id="1026" name="Picture 2" descr="See the source image">
              <a:extLst>
                <a:ext uri="{FF2B5EF4-FFF2-40B4-BE49-F238E27FC236}">
                  <a16:creationId xmlns:a16="http://schemas.microsoft.com/office/drawing/2014/main" id="{98B6E8F5-05E4-77E0-0659-4B217075C83B}"/>
                </a:ext>
              </a:extLst>
            </p:cNvPr>
            <p:cNvPicPr>
              <a:picLocks noChangeAspect="1" noChangeArrowheads="1"/>
            </p:cNvPicPr>
            <p:nvPr/>
          </p:nvPicPr>
          <p:blipFill>
            <a:blip r:embed="rId12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68771" y="6201181"/>
              <a:ext cx="300884" cy="170924"/>
            </a:xfrm>
            <a:prstGeom prst="rect">
              <a:avLst/>
            </a:prstGeom>
            <a:noFill/>
            <a:extLst>
              <a:ext uri="{909E8E84-426E-40DD-AFC4-6F175D3DCCD1}">
                <a14:hiddenFill xmlns:a14="http://schemas.microsoft.com/office/drawing/2010/main">
                  <a:solidFill>
                    <a:srgbClr val="FFFFFF"/>
                  </a:solidFill>
                </a14:hiddenFill>
              </a:ext>
            </a:extLst>
          </p:spPr>
        </p:pic>
        <p:pic>
          <p:nvPicPr>
            <p:cNvPr id="164" name="Picture 163">
              <a:extLst>
                <a:ext uri="{FF2B5EF4-FFF2-40B4-BE49-F238E27FC236}">
                  <a16:creationId xmlns:a16="http://schemas.microsoft.com/office/drawing/2014/main" id="{D7B83938-2DDB-C5B9-F170-9EB77044E184}"/>
                </a:ext>
              </a:extLst>
            </p:cNvPr>
            <p:cNvPicPr>
              <a:picLocks noChangeAspect="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607653" y="6220147"/>
              <a:ext cx="205865" cy="153507"/>
            </a:xfrm>
            <a:prstGeom prst="rect">
              <a:avLst/>
            </a:prstGeom>
          </p:spPr>
        </p:pic>
      </p:grpSp>
      <p:grpSp>
        <p:nvGrpSpPr>
          <p:cNvPr id="475" name="Group 474">
            <a:extLst>
              <a:ext uri="{FF2B5EF4-FFF2-40B4-BE49-F238E27FC236}">
                <a16:creationId xmlns:a16="http://schemas.microsoft.com/office/drawing/2014/main" id="{6C150C25-8823-7E40-5429-4C196F6367C5}"/>
              </a:ext>
            </a:extLst>
          </p:cNvPr>
          <p:cNvGrpSpPr/>
          <p:nvPr/>
        </p:nvGrpSpPr>
        <p:grpSpPr>
          <a:xfrm>
            <a:off x="259376" y="3346790"/>
            <a:ext cx="1653696" cy="261364"/>
            <a:chOff x="206532" y="3347120"/>
            <a:chExt cx="1745001" cy="279557"/>
          </a:xfrm>
        </p:grpSpPr>
        <p:grpSp>
          <p:nvGrpSpPr>
            <p:cNvPr id="433" name="Group 432">
              <a:extLst>
                <a:ext uri="{FF2B5EF4-FFF2-40B4-BE49-F238E27FC236}">
                  <a16:creationId xmlns:a16="http://schemas.microsoft.com/office/drawing/2014/main" id="{F4F7F378-89A4-C50F-593D-6714B0ECF4FB}"/>
                </a:ext>
              </a:extLst>
            </p:cNvPr>
            <p:cNvGrpSpPr/>
            <p:nvPr/>
          </p:nvGrpSpPr>
          <p:grpSpPr>
            <a:xfrm>
              <a:off x="1582909" y="3347120"/>
              <a:ext cx="368624" cy="278260"/>
              <a:chOff x="7156514" y="2459865"/>
              <a:chExt cx="1747624" cy="1319212"/>
            </a:xfrm>
          </p:grpSpPr>
          <p:grpSp>
            <p:nvGrpSpPr>
              <p:cNvPr id="471" name="Group 470">
                <a:extLst>
                  <a:ext uri="{FF2B5EF4-FFF2-40B4-BE49-F238E27FC236}">
                    <a16:creationId xmlns:a16="http://schemas.microsoft.com/office/drawing/2014/main" id="{BB659A0E-FE14-C673-2959-B96CEB2B9531}"/>
                  </a:ext>
                </a:extLst>
              </p:cNvPr>
              <p:cNvGrpSpPr/>
              <p:nvPr/>
            </p:nvGrpSpPr>
            <p:grpSpPr>
              <a:xfrm>
                <a:off x="7156514" y="2459865"/>
                <a:ext cx="1747624" cy="1319212"/>
                <a:chOff x="7987238" y="1610486"/>
                <a:chExt cx="506061" cy="382007"/>
              </a:xfrm>
            </p:grpSpPr>
            <p:sp>
              <p:nvSpPr>
                <p:cNvPr id="473" name="Rectangle 472">
                  <a:extLst>
                    <a:ext uri="{FF2B5EF4-FFF2-40B4-BE49-F238E27FC236}">
                      <a16:creationId xmlns:a16="http://schemas.microsoft.com/office/drawing/2014/main" id="{F1C2CA98-DF4D-48A9-FCA1-5CE827576CD7}"/>
                    </a:ext>
                  </a:extLst>
                </p:cNvPr>
                <p:cNvSpPr/>
                <p:nvPr/>
              </p:nvSpPr>
              <p:spPr bwMode="auto">
                <a:xfrm>
                  <a:off x="7994852" y="1610486"/>
                  <a:ext cx="498447" cy="30271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4" name="monitor">
                  <a:extLst>
                    <a:ext uri="{FF2B5EF4-FFF2-40B4-BE49-F238E27FC236}">
                      <a16:creationId xmlns:a16="http://schemas.microsoft.com/office/drawing/2014/main" id="{63E04BF6-8A95-EEBB-F800-C61E54B77EA3}"/>
                    </a:ext>
                  </a:extLst>
                </p:cNvPr>
                <p:cNvSpPr>
                  <a:spLocks noChangeAspect="1" noEditPoints="1"/>
                </p:cNvSpPr>
                <p:nvPr/>
              </p:nvSpPr>
              <p:spPr bwMode="auto">
                <a:xfrm>
                  <a:off x="7987238" y="1610486"/>
                  <a:ext cx="498447" cy="382007"/>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solidFill>
                  <a:schemeClr val="bg1">
                    <a:lumMod val="95000"/>
                  </a:schemeClr>
                </a:solidFill>
                <a:ln w="14224" cap="sq">
                  <a:solidFill>
                    <a:schemeClr val="bg2">
                      <a:lumMod val="10000"/>
                    </a:schemeClr>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sp>
            <p:nvSpPr>
              <p:cNvPr id="472" name="Freeform 6">
                <a:extLst>
                  <a:ext uri="{FF2B5EF4-FFF2-40B4-BE49-F238E27FC236}">
                    <a16:creationId xmlns:a16="http://schemas.microsoft.com/office/drawing/2014/main" id="{05C94C59-9AAB-B7F8-427F-B2B3A50D395C}"/>
                  </a:ext>
                </a:extLst>
              </p:cNvPr>
              <p:cNvSpPr>
                <a:spLocks noEditPoints="1"/>
              </p:cNvSpPr>
              <p:nvPr/>
            </p:nvSpPr>
            <p:spPr bwMode="auto">
              <a:xfrm>
                <a:off x="7685435" y="2645550"/>
                <a:ext cx="663488" cy="656450"/>
              </a:xfrm>
              <a:custGeom>
                <a:avLst/>
                <a:gdLst>
                  <a:gd name="T0" fmla="*/ 88 w 1374"/>
                  <a:gd name="T1" fmla="*/ 1258 h 1620"/>
                  <a:gd name="T2" fmla="*/ 40 w 1374"/>
                  <a:gd name="T3" fmla="*/ 1324 h 1620"/>
                  <a:gd name="T4" fmla="*/ 42 w 1374"/>
                  <a:gd name="T5" fmla="*/ 1484 h 1620"/>
                  <a:gd name="T6" fmla="*/ 386 w 1374"/>
                  <a:gd name="T7" fmla="*/ 1572 h 1620"/>
                  <a:gd name="T8" fmla="*/ 494 w 1374"/>
                  <a:gd name="T9" fmla="*/ 1488 h 1620"/>
                  <a:gd name="T10" fmla="*/ 266 w 1374"/>
                  <a:gd name="T11" fmla="*/ 1124 h 1620"/>
                  <a:gd name="T12" fmla="*/ 190 w 1374"/>
                  <a:gd name="T13" fmla="*/ 1036 h 1620"/>
                  <a:gd name="T14" fmla="*/ 364 w 1374"/>
                  <a:gd name="T15" fmla="*/ 682 h 1620"/>
                  <a:gd name="T16" fmla="*/ 452 w 1374"/>
                  <a:gd name="T17" fmla="*/ 438 h 1620"/>
                  <a:gd name="T18" fmla="*/ 478 w 1374"/>
                  <a:gd name="T19" fmla="*/ 92 h 1620"/>
                  <a:gd name="T20" fmla="*/ 656 w 1374"/>
                  <a:gd name="T21" fmla="*/ 0 h 1620"/>
                  <a:gd name="T22" fmla="*/ 922 w 1374"/>
                  <a:gd name="T23" fmla="*/ 168 h 1620"/>
                  <a:gd name="T24" fmla="*/ 978 w 1374"/>
                  <a:gd name="T25" fmla="*/ 502 h 1620"/>
                  <a:gd name="T26" fmla="*/ 1140 w 1374"/>
                  <a:gd name="T27" fmla="*/ 750 h 1620"/>
                  <a:gd name="T28" fmla="*/ 1224 w 1374"/>
                  <a:gd name="T29" fmla="*/ 1120 h 1620"/>
                  <a:gd name="T30" fmla="*/ 1078 w 1374"/>
                  <a:gd name="T31" fmla="*/ 1242 h 1620"/>
                  <a:gd name="T32" fmla="*/ 988 w 1374"/>
                  <a:gd name="T33" fmla="*/ 1172 h 1620"/>
                  <a:gd name="T34" fmla="*/ 932 w 1374"/>
                  <a:gd name="T35" fmla="*/ 1222 h 1620"/>
                  <a:gd name="T36" fmla="*/ 952 w 1374"/>
                  <a:gd name="T37" fmla="*/ 1542 h 1620"/>
                  <a:gd name="T38" fmla="*/ 1068 w 1374"/>
                  <a:gd name="T39" fmla="*/ 1560 h 1620"/>
                  <a:gd name="T40" fmla="*/ 1292 w 1374"/>
                  <a:gd name="T41" fmla="*/ 1434 h 1620"/>
                  <a:gd name="T42" fmla="*/ 1236 w 1374"/>
                  <a:gd name="T43" fmla="*/ 1276 h 1620"/>
                  <a:gd name="T44" fmla="*/ 1326 w 1374"/>
                  <a:gd name="T45" fmla="*/ 1330 h 1620"/>
                  <a:gd name="T46" fmla="*/ 1330 w 1374"/>
                  <a:gd name="T47" fmla="*/ 1438 h 1620"/>
                  <a:gd name="T48" fmla="*/ 1048 w 1374"/>
                  <a:gd name="T49" fmla="*/ 1614 h 1620"/>
                  <a:gd name="T50" fmla="*/ 900 w 1374"/>
                  <a:gd name="T51" fmla="*/ 1570 h 1620"/>
                  <a:gd name="T52" fmla="*/ 578 w 1374"/>
                  <a:gd name="T53" fmla="*/ 1546 h 1620"/>
                  <a:gd name="T54" fmla="*/ 356 w 1374"/>
                  <a:gd name="T55" fmla="*/ 1606 h 1620"/>
                  <a:gd name="T56" fmla="*/ 0 w 1374"/>
                  <a:gd name="T57" fmla="*/ 1464 h 1620"/>
                  <a:gd name="T58" fmla="*/ 14 w 1374"/>
                  <a:gd name="T59" fmla="*/ 1256 h 1620"/>
                  <a:gd name="T60" fmla="*/ 166 w 1374"/>
                  <a:gd name="T61" fmla="*/ 1186 h 1620"/>
                  <a:gd name="T62" fmla="*/ 438 w 1374"/>
                  <a:gd name="T63" fmla="*/ 716 h 1620"/>
                  <a:gd name="T64" fmla="*/ 358 w 1374"/>
                  <a:gd name="T65" fmla="*/ 934 h 1620"/>
                  <a:gd name="T66" fmla="*/ 288 w 1374"/>
                  <a:gd name="T67" fmla="*/ 1036 h 1620"/>
                  <a:gd name="T68" fmla="*/ 326 w 1374"/>
                  <a:gd name="T69" fmla="*/ 1124 h 1620"/>
                  <a:gd name="T70" fmla="*/ 520 w 1374"/>
                  <a:gd name="T71" fmla="*/ 1354 h 1620"/>
                  <a:gd name="T72" fmla="*/ 524 w 1374"/>
                  <a:gd name="T73" fmla="*/ 1412 h 1620"/>
                  <a:gd name="T74" fmla="*/ 790 w 1374"/>
                  <a:gd name="T75" fmla="*/ 1418 h 1620"/>
                  <a:gd name="T76" fmla="*/ 892 w 1374"/>
                  <a:gd name="T77" fmla="*/ 1424 h 1620"/>
                  <a:gd name="T78" fmla="*/ 914 w 1374"/>
                  <a:gd name="T79" fmla="*/ 1402 h 1620"/>
                  <a:gd name="T80" fmla="*/ 948 w 1374"/>
                  <a:gd name="T81" fmla="*/ 1130 h 1620"/>
                  <a:gd name="T82" fmla="*/ 976 w 1374"/>
                  <a:gd name="T83" fmla="*/ 930 h 1620"/>
                  <a:gd name="T84" fmla="*/ 842 w 1374"/>
                  <a:gd name="T85" fmla="*/ 588 h 1620"/>
                  <a:gd name="T86" fmla="*/ 820 w 1374"/>
                  <a:gd name="T87" fmla="*/ 438 h 1620"/>
                  <a:gd name="T88" fmla="*/ 700 w 1374"/>
                  <a:gd name="T89" fmla="*/ 370 h 1620"/>
                  <a:gd name="T90" fmla="*/ 744 w 1374"/>
                  <a:gd name="T91" fmla="*/ 288 h 1620"/>
                  <a:gd name="T92" fmla="*/ 802 w 1374"/>
                  <a:gd name="T93" fmla="*/ 390 h 1620"/>
                  <a:gd name="T94" fmla="*/ 786 w 1374"/>
                  <a:gd name="T95" fmla="*/ 246 h 1620"/>
                  <a:gd name="T96" fmla="*/ 674 w 1374"/>
                  <a:gd name="T97" fmla="*/ 302 h 1620"/>
                  <a:gd name="T98" fmla="*/ 538 w 1374"/>
                  <a:gd name="T99" fmla="*/ 246 h 1620"/>
                  <a:gd name="T100" fmla="*/ 494 w 1374"/>
                  <a:gd name="T101" fmla="*/ 368 h 1620"/>
                  <a:gd name="T102" fmla="*/ 508 w 1374"/>
                  <a:gd name="T103" fmla="*/ 344 h 1620"/>
                  <a:gd name="T104" fmla="*/ 558 w 1374"/>
                  <a:gd name="T105" fmla="*/ 304 h 1620"/>
                  <a:gd name="T106" fmla="*/ 510 w 1374"/>
                  <a:gd name="T107" fmla="*/ 418 h 1620"/>
                  <a:gd name="T108" fmla="*/ 576 w 1374"/>
                  <a:gd name="T109" fmla="*/ 514 h 1620"/>
                  <a:gd name="T110" fmla="*/ 792 w 1374"/>
                  <a:gd name="T111" fmla="*/ 466 h 1620"/>
                  <a:gd name="T112" fmla="*/ 570 w 1374"/>
                  <a:gd name="T113" fmla="*/ 560 h 1620"/>
                  <a:gd name="T114" fmla="*/ 762 w 1374"/>
                  <a:gd name="T115" fmla="*/ 514 h 1620"/>
                  <a:gd name="T116" fmla="*/ 568 w 1374"/>
                  <a:gd name="T117" fmla="*/ 618 h 1620"/>
                  <a:gd name="T118" fmla="*/ 1078 w 1374"/>
                  <a:gd name="T119" fmla="*/ 892 h 1620"/>
                  <a:gd name="T120" fmla="*/ 1072 w 1374"/>
                  <a:gd name="T121" fmla="*/ 986 h 1620"/>
                  <a:gd name="T122" fmla="*/ 870 w 1374"/>
                  <a:gd name="T123" fmla="*/ 496 h 1620"/>
                  <a:gd name="T124" fmla="*/ 924 w 1374"/>
                  <a:gd name="T125" fmla="*/ 514 h 1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74" h="1620">
                    <a:moveTo>
                      <a:pt x="174" y="1170"/>
                    </a:moveTo>
                    <a:lnTo>
                      <a:pt x="174" y="1170"/>
                    </a:lnTo>
                    <a:lnTo>
                      <a:pt x="174" y="1188"/>
                    </a:lnTo>
                    <a:lnTo>
                      <a:pt x="172" y="1204"/>
                    </a:lnTo>
                    <a:lnTo>
                      <a:pt x="168" y="1218"/>
                    </a:lnTo>
                    <a:lnTo>
                      <a:pt x="162" y="1230"/>
                    </a:lnTo>
                    <a:lnTo>
                      <a:pt x="154" y="1238"/>
                    </a:lnTo>
                    <a:lnTo>
                      <a:pt x="142" y="1246"/>
                    </a:lnTo>
                    <a:lnTo>
                      <a:pt x="130" y="1252"/>
                    </a:lnTo>
                    <a:lnTo>
                      <a:pt x="114" y="1256"/>
                    </a:lnTo>
                    <a:lnTo>
                      <a:pt x="114" y="1256"/>
                    </a:lnTo>
                    <a:lnTo>
                      <a:pt x="88" y="1258"/>
                    </a:lnTo>
                    <a:lnTo>
                      <a:pt x="64" y="1258"/>
                    </a:lnTo>
                    <a:lnTo>
                      <a:pt x="64" y="1258"/>
                    </a:lnTo>
                    <a:lnTo>
                      <a:pt x="52" y="1260"/>
                    </a:lnTo>
                    <a:lnTo>
                      <a:pt x="42" y="1262"/>
                    </a:lnTo>
                    <a:lnTo>
                      <a:pt x="34" y="1266"/>
                    </a:lnTo>
                    <a:lnTo>
                      <a:pt x="28" y="1272"/>
                    </a:lnTo>
                    <a:lnTo>
                      <a:pt x="26" y="1278"/>
                    </a:lnTo>
                    <a:lnTo>
                      <a:pt x="24" y="1286"/>
                    </a:lnTo>
                    <a:lnTo>
                      <a:pt x="26" y="1294"/>
                    </a:lnTo>
                    <a:lnTo>
                      <a:pt x="30" y="1304"/>
                    </a:lnTo>
                    <a:lnTo>
                      <a:pt x="30" y="1304"/>
                    </a:lnTo>
                    <a:lnTo>
                      <a:pt x="40" y="1324"/>
                    </a:lnTo>
                    <a:lnTo>
                      <a:pt x="46" y="1342"/>
                    </a:lnTo>
                    <a:lnTo>
                      <a:pt x="50" y="1360"/>
                    </a:lnTo>
                    <a:lnTo>
                      <a:pt x="52" y="1378"/>
                    </a:lnTo>
                    <a:lnTo>
                      <a:pt x="52" y="1396"/>
                    </a:lnTo>
                    <a:lnTo>
                      <a:pt x="48" y="1416"/>
                    </a:lnTo>
                    <a:lnTo>
                      <a:pt x="42" y="1434"/>
                    </a:lnTo>
                    <a:lnTo>
                      <a:pt x="32" y="1452"/>
                    </a:lnTo>
                    <a:lnTo>
                      <a:pt x="32" y="1452"/>
                    </a:lnTo>
                    <a:lnTo>
                      <a:pt x="32" y="1456"/>
                    </a:lnTo>
                    <a:lnTo>
                      <a:pt x="32" y="1460"/>
                    </a:lnTo>
                    <a:lnTo>
                      <a:pt x="36" y="1472"/>
                    </a:lnTo>
                    <a:lnTo>
                      <a:pt x="42" y="1484"/>
                    </a:lnTo>
                    <a:lnTo>
                      <a:pt x="50" y="1492"/>
                    </a:lnTo>
                    <a:lnTo>
                      <a:pt x="50" y="1492"/>
                    </a:lnTo>
                    <a:lnTo>
                      <a:pt x="60" y="1498"/>
                    </a:lnTo>
                    <a:lnTo>
                      <a:pt x="72" y="1500"/>
                    </a:lnTo>
                    <a:lnTo>
                      <a:pt x="98" y="1506"/>
                    </a:lnTo>
                    <a:lnTo>
                      <a:pt x="98" y="1506"/>
                    </a:lnTo>
                    <a:lnTo>
                      <a:pt x="216" y="1536"/>
                    </a:lnTo>
                    <a:lnTo>
                      <a:pt x="276" y="1550"/>
                    </a:lnTo>
                    <a:lnTo>
                      <a:pt x="336" y="1564"/>
                    </a:lnTo>
                    <a:lnTo>
                      <a:pt x="336" y="1564"/>
                    </a:lnTo>
                    <a:lnTo>
                      <a:pt x="360" y="1568"/>
                    </a:lnTo>
                    <a:lnTo>
                      <a:pt x="386" y="1572"/>
                    </a:lnTo>
                    <a:lnTo>
                      <a:pt x="412" y="1572"/>
                    </a:lnTo>
                    <a:lnTo>
                      <a:pt x="438" y="1570"/>
                    </a:lnTo>
                    <a:lnTo>
                      <a:pt x="438" y="1570"/>
                    </a:lnTo>
                    <a:lnTo>
                      <a:pt x="452" y="1566"/>
                    </a:lnTo>
                    <a:lnTo>
                      <a:pt x="464" y="1560"/>
                    </a:lnTo>
                    <a:lnTo>
                      <a:pt x="476" y="1552"/>
                    </a:lnTo>
                    <a:lnTo>
                      <a:pt x="484" y="1542"/>
                    </a:lnTo>
                    <a:lnTo>
                      <a:pt x="490" y="1532"/>
                    </a:lnTo>
                    <a:lnTo>
                      <a:pt x="494" y="1518"/>
                    </a:lnTo>
                    <a:lnTo>
                      <a:pt x="494" y="1504"/>
                    </a:lnTo>
                    <a:lnTo>
                      <a:pt x="494" y="1488"/>
                    </a:lnTo>
                    <a:lnTo>
                      <a:pt x="494" y="1488"/>
                    </a:lnTo>
                    <a:lnTo>
                      <a:pt x="490" y="1468"/>
                    </a:lnTo>
                    <a:lnTo>
                      <a:pt x="486" y="1448"/>
                    </a:lnTo>
                    <a:lnTo>
                      <a:pt x="480" y="1430"/>
                    </a:lnTo>
                    <a:lnTo>
                      <a:pt x="472" y="1412"/>
                    </a:lnTo>
                    <a:lnTo>
                      <a:pt x="472" y="1412"/>
                    </a:lnTo>
                    <a:lnTo>
                      <a:pt x="386" y="1284"/>
                    </a:lnTo>
                    <a:lnTo>
                      <a:pt x="344" y="1220"/>
                    </a:lnTo>
                    <a:lnTo>
                      <a:pt x="298" y="1158"/>
                    </a:lnTo>
                    <a:lnTo>
                      <a:pt x="298" y="1158"/>
                    </a:lnTo>
                    <a:lnTo>
                      <a:pt x="290" y="1146"/>
                    </a:lnTo>
                    <a:lnTo>
                      <a:pt x="278" y="1134"/>
                    </a:lnTo>
                    <a:lnTo>
                      <a:pt x="266" y="1124"/>
                    </a:lnTo>
                    <a:lnTo>
                      <a:pt x="254" y="1118"/>
                    </a:lnTo>
                    <a:lnTo>
                      <a:pt x="240" y="1114"/>
                    </a:lnTo>
                    <a:lnTo>
                      <a:pt x="224" y="1112"/>
                    </a:lnTo>
                    <a:lnTo>
                      <a:pt x="208" y="1116"/>
                    </a:lnTo>
                    <a:lnTo>
                      <a:pt x="190" y="1122"/>
                    </a:lnTo>
                    <a:lnTo>
                      <a:pt x="190" y="1122"/>
                    </a:lnTo>
                    <a:lnTo>
                      <a:pt x="186" y="1108"/>
                    </a:lnTo>
                    <a:lnTo>
                      <a:pt x="184" y="1092"/>
                    </a:lnTo>
                    <a:lnTo>
                      <a:pt x="184" y="1078"/>
                    </a:lnTo>
                    <a:lnTo>
                      <a:pt x="184" y="1064"/>
                    </a:lnTo>
                    <a:lnTo>
                      <a:pt x="186" y="1050"/>
                    </a:lnTo>
                    <a:lnTo>
                      <a:pt x="190" y="1036"/>
                    </a:lnTo>
                    <a:lnTo>
                      <a:pt x="200" y="1008"/>
                    </a:lnTo>
                    <a:lnTo>
                      <a:pt x="200" y="1008"/>
                    </a:lnTo>
                    <a:lnTo>
                      <a:pt x="232" y="940"/>
                    </a:lnTo>
                    <a:lnTo>
                      <a:pt x="248" y="906"/>
                    </a:lnTo>
                    <a:lnTo>
                      <a:pt x="262" y="870"/>
                    </a:lnTo>
                    <a:lnTo>
                      <a:pt x="262" y="870"/>
                    </a:lnTo>
                    <a:lnTo>
                      <a:pt x="280" y="820"/>
                    </a:lnTo>
                    <a:lnTo>
                      <a:pt x="304" y="772"/>
                    </a:lnTo>
                    <a:lnTo>
                      <a:pt x="316" y="748"/>
                    </a:lnTo>
                    <a:lnTo>
                      <a:pt x="332" y="726"/>
                    </a:lnTo>
                    <a:lnTo>
                      <a:pt x="348" y="704"/>
                    </a:lnTo>
                    <a:lnTo>
                      <a:pt x="364" y="682"/>
                    </a:lnTo>
                    <a:lnTo>
                      <a:pt x="364" y="682"/>
                    </a:lnTo>
                    <a:lnTo>
                      <a:pt x="378" y="666"/>
                    </a:lnTo>
                    <a:lnTo>
                      <a:pt x="390" y="650"/>
                    </a:lnTo>
                    <a:lnTo>
                      <a:pt x="390" y="650"/>
                    </a:lnTo>
                    <a:lnTo>
                      <a:pt x="406" y="628"/>
                    </a:lnTo>
                    <a:lnTo>
                      <a:pt x="422" y="604"/>
                    </a:lnTo>
                    <a:lnTo>
                      <a:pt x="434" y="578"/>
                    </a:lnTo>
                    <a:lnTo>
                      <a:pt x="444" y="552"/>
                    </a:lnTo>
                    <a:lnTo>
                      <a:pt x="452" y="526"/>
                    </a:lnTo>
                    <a:lnTo>
                      <a:pt x="456" y="498"/>
                    </a:lnTo>
                    <a:lnTo>
                      <a:pt x="456" y="468"/>
                    </a:lnTo>
                    <a:lnTo>
                      <a:pt x="452" y="438"/>
                    </a:lnTo>
                    <a:lnTo>
                      <a:pt x="452" y="438"/>
                    </a:lnTo>
                    <a:lnTo>
                      <a:pt x="448" y="406"/>
                    </a:lnTo>
                    <a:lnTo>
                      <a:pt x="446" y="374"/>
                    </a:lnTo>
                    <a:lnTo>
                      <a:pt x="444" y="310"/>
                    </a:lnTo>
                    <a:lnTo>
                      <a:pt x="446" y="246"/>
                    </a:lnTo>
                    <a:lnTo>
                      <a:pt x="450" y="182"/>
                    </a:lnTo>
                    <a:lnTo>
                      <a:pt x="450" y="182"/>
                    </a:lnTo>
                    <a:lnTo>
                      <a:pt x="452" y="162"/>
                    </a:lnTo>
                    <a:lnTo>
                      <a:pt x="456" y="144"/>
                    </a:lnTo>
                    <a:lnTo>
                      <a:pt x="462" y="124"/>
                    </a:lnTo>
                    <a:lnTo>
                      <a:pt x="470" y="108"/>
                    </a:lnTo>
                    <a:lnTo>
                      <a:pt x="478" y="92"/>
                    </a:lnTo>
                    <a:lnTo>
                      <a:pt x="488" y="76"/>
                    </a:lnTo>
                    <a:lnTo>
                      <a:pt x="500" y="62"/>
                    </a:lnTo>
                    <a:lnTo>
                      <a:pt x="514" y="50"/>
                    </a:lnTo>
                    <a:lnTo>
                      <a:pt x="528" y="40"/>
                    </a:lnTo>
                    <a:lnTo>
                      <a:pt x="544" y="30"/>
                    </a:lnTo>
                    <a:lnTo>
                      <a:pt x="560" y="20"/>
                    </a:lnTo>
                    <a:lnTo>
                      <a:pt x="578" y="14"/>
                    </a:lnTo>
                    <a:lnTo>
                      <a:pt x="596" y="8"/>
                    </a:lnTo>
                    <a:lnTo>
                      <a:pt x="614" y="4"/>
                    </a:lnTo>
                    <a:lnTo>
                      <a:pt x="634" y="2"/>
                    </a:lnTo>
                    <a:lnTo>
                      <a:pt x="656" y="0"/>
                    </a:lnTo>
                    <a:lnTo>
                      <a:pt x="656" y="0"/>
                    </a:lnTo>
                    <a:lnTo>
                      <a:pt x="686" y="2"/>
                    </a:lnTo>
                    <a:lnTo>
                      <a:pt x="718" y="6"/>
                    </a:lnTo>
                    <a:lnTo>
                      <a:pt x="746" y="12"/>
                    </a:lnTo>
                    <a:lnTo>
                      <a:pt x="772" y="20"/>
                    </a:lnTo>
                    <a:lnTo>
                      <a:pt x="798" y="32"/>
                    </a:lnTo>
                    <a:lnTo>
                      <a:pt x="822" y="46"/>
                    </a:lnTo>
                    <a:lnTo>
                      <a:pt x="844" y="60"/>
                    </a:lnTo>
                    <a:lnTo>
                      <a:pt x="864" y="78"/>
                    </a:lnTo>
                    <a:lnTo>
                      <a:pt x="882" y="98"/>
                    </a:lnTo>
                    <a:lnTo>
                      <a:pt x="898" y="120"/>
                    </a:lnTo>
                    <a:lnTo>
                      <a:pt x="910" y="144"/>
                    </a:lnTo>
                    <a:lnTo>
                      <a:pt x="922" y="168"/>
                    </a:lnTo>
                    <a:lnTo>
                      <a:pt x="930" y="196"/>
                    </a:lnTo>
                    <a:lnTo>
                      <a:pt x="938" y="224"/>
                    </a:lnTo>
                    <a:lnTo>
                      <a:pt x="940" y="254"/>
                    </a:lnTo>
                    <a:lnTo>
                      <a:pt x="942" y="286"/>
                    </a:lnTo>
                    <a:lnTo>
                      <a:pt x="942" y="286"/>
                    </a:lnTo>
                    <a:lnTo>
                      <a:pt x="944" y="344"/>
                    </a:lnTo>
                    <a:lnTo>
                      <a:pt x="946" y="370"/>
                    </a:lnTo>
                    <a:lnTo>
                      <a:pt x="950" y="398"/>
                    </a:lnTo>
                    <a:lnTo>
                      <a:pt x="956" y="426"/>
                    </a:lnTo>
                    <a:lnTo>
                      <a:pt x="962" y="452"/>
                    </a:lnTo>
                    <a:lnTo>
                      <a:pt x="968" y="478"/>
                    </a:lnTo>
                    <a:lnTo>
                      <a:pt x="978" y="502"/>
                    </a:lnTo>
                    <a:lnTo>
                      <a:pt x="988" y="528"/>
                    </a:lnTo>
                    <a:lnTo>
                      <a:pt x="998" y="552"/>
                    </a:lnTo>
                    <a:lnTo>
                      <a:pt x="1012" y="576"/>
                    </a:lnTo>
                    <a:lnTo>
                      <a:pt x="1024" y="600"/>
                    </a:lnTo>
                    <a:lnTo>
                      <a:pt x="1040" y="622"/>
                    </a:lnTo>
                    <a:lnTo>
                      <a:pt x="1056" y="646"/>
                    </a:lnTo>
                    <a:lnTo>
                      <a:pt x="1074" y="668"/>
                    </a:lnTo>
                    <a:lnTo>
                      <a:pt x="1094" y="690"/>
                    </a:lnTo>
                    <a:lnTo>
                      <a:pt x="1094" y="690"/>
                    </a:lnTo>
                    <a:lnTo>
                      <a:pt x="1110" y="710"/>
                    </a:lnTo>
                    <a:lnTo>
                      <a:pt x="1126" y="730"/>
                    </a:lnTo>
                    <a:lnTo>
                      <a:pt x="1140" y="750"/>
                    </a:lnTo>
                    <a:lnTo>
                      <a:pt x="1152" y="772"/>
                    </a:lnTo>
                    <a:lnTo>
                      <a:pt x="1176" y="814"/>
                    </a:lnTo>
                    <a:lnTo>
                      <a:pt x="1196" y="860"/>
                    </a:lnTo>
                    <a:lnTo>
                      <a:pt x="1212" y="908"/>
                    </a:lnTo>
                    <a:lnTo>
                      <a:pt x="1224" y="956"/>
                    </a:lnTo>
                    <a:lnTo>
                      <a:pt x="1232" y="1006"/>
                    </a:lnTo>
                    <a:lnTo>
                      <a:pt x="1236" y="1056"/>
                    </a:lnTo>
                    <a:lnTo>
                      <a:pt x="1236" y="1056"/>
                    </a:lnTo>
                    <a:lnTo>
                      <a:pt x="1236" y="1072"/>
                    </a:lnTo>
                    <a:lnTo>
                      <a:pt x="1234" y="1088"/>
                    </a:lnTo>
                    <a:lnTo>
                      <a:pt x="1230" y="1104"/>
                    </a:lnTo>
                    <a:lnTo>
                      <a:pt x="1224" y="1120"/>
                    </a:lnTo>
                    <a:lnTo>
                      <a:pt x="1218" y="1134"/>
                    </a:lnTo>
                    <a:lnTo>
                      <a:pt x="1208" y="1150"/>
                    </a:lnTo>
                    <a:lnTo>
                      <a:pt x="1198" y="1164"/>
                    </a:lnTo>
                    <a:lnTo>
                      <a:pt x="1188" y="1178"/>
                    </a:lnTo>
                    <a:lnTo>
                      <a:pt x="1176" y="1192"/>
                    </a:lnTo>
                    <a:lnTo>
                      <a:pt x="1162" y="1204"/>
                    </a:lnTo>
                    <a:lnTo>
                      <a:pt x="1148" y="1214"/>
                    </a:lnTo>
                    <a:lnTo>
                      <a:pt x="1134" y="1222"/>
                    </a:lnTo>
                    <a:lnTo>
                      <a:pt x="1120" y="1230"/>
                    </a:lnTo>
                    <a:lnTo>
                      <a:pt x="1106" y="1236"/>
                    </a:lnTo>
                    <a:lnTo>
                      <a:pt x="1092" y="1240"/>
                    </a:lnTo>
                    <a:lnTo>
                      <a:pt x="1078" y="1242"/>
                    </a:lnTo>
                    <a:lnTo>
                      <a:pt x="1078" y="1242"/>
                    </a:lnTo>
                    <a:lnTo>
                      <a:pt x="1066" y="1242"/>
                    </a:lnTo>
                    <a:lnTo>
                      <a:pt x="1054" y="1240"/>
                    </a:lnTo>
                    <a:lnTo>
                      <a:pt x="1042" y="1236"/>
                    </a:lnTo>
                    <a:lnTo>
                      <a:pt x="1032" y="1232"/>
                    </a:lnTo>
                    <a:lnTo>
                      <a:pt x="1022" y="1226"/>
                    </a:lnTo>
                    <a:lnTo>
                      <a:pt x="1014" y="1218"/>
                    </a:lnTo>
                    <a:lnTo>
                      <a:pt x="1008" y="1208"/>
                    </a:lnTo>
                    <a:lnTo>
                      <a:pt x="1000" y="1196"/>
                    </a:lnTo>
                    <a:lnTo>
                      <a:pt x="1000" y="1196"/>
                    </a:lnTo>
                    <a:lnTo>
                      <a:pt x="994" y="1184"/>
                    </a:lnTo>
                    <a:lnTo>
                      <a:pt x="988" y="1172"/>
                    </a:lnTo>
                    <a:lnTo>
                      <a:pt x="988" y="1172"/>
                    </a:lnTo>
                    <a:lnTo>
                      <a:pt x="972" y="1158"/>
                    </a:lnTo>
                    <a:lnTo>
                      <a:pt x="964" y="1152"/>
                    </a:lnTo>
                    <a:lnTo>
                      <a:pt x="958" y="1152"/>
                    </a:lnTo>
                    <a:lnTo>
                      <a:pt x="958" y="1152"/>
                    </a:lnTo>
                    <a:lnTo>
                      <a:pt x="950" y="1154"/>
                    </a:lnTo>
                    <a:lnTo>
                      <a:pt x="942" y="1162"/>
                    </a:lnTo>
                    <a:lnTo>
                      <a:pt x="936" y="1170"/>
                    </a:lnTo>
                    <a:lnTo>
                      <a:pt x="934" y="1180"/>
                    </a:lnTo>
                    <a:lnTo>
                      <a:pt x="934" y="1180"/>
                    </a:lnTo>
                    <a:lnTo>
                      <a:pt x="932" y="1200"/>
                    </a:lnTo>
                    <a:lnTo>
                      <a:pt x="932" y="1222"/>
                    </a:lnTo>
                    <a:lnTo>
                      <a:pt x="932" y="1266"/>
                    </a:lnTo>
                    <a:lnTo>
                      <a:pt x="932" y="1266"/>
                    </a:lnTo>
                    <a:lnTo>
                      <a:pt x="940" y="1432"/>
                    </a:lnTo>
                    <a:lnTo>
                      <a:pt x="940" y="1432"/>
                    </a:lnTo>
                    <a:lnTo>
                      <a:pt x="938" y="1456"/>
                    </a:lnTo>
                    <a:lnTo>
                      <a:pt x="936" y="1480"/>
                    </a:lnTo>
                    <a:lnTo>
                      <a:pt x="936" y="1480"/>
                    </a:lnTo>
                    <a:lnTo>
                      <a:pt x="936" y="1494"/>
                    </a:lnTo>
                    <a:lnTo>
                      <a:pt x="938" y="1508"/>
                    </a:lnTo>
                    <a:lnTo>
                      <a:pt x="942" y="1520"/>
                    </a:lnTo>
                    <a:lnTo>
                      <a:pt x="946" y="1532"/>
                    </a:lnTo>
                    <a:lnTo>
                      <a:pt x="952" y="1542"/>
                    </a:lnTo>
                    <a:lnTo>
                      <a:pt x="960" y="1550"/>
                    </a:lnTo>
                    <a:lnTo>
                      <a:pt x="966" y="1558"/>
                    </a:lnTo>
                    <a:lnTo>
                      <a:pt x="976" y="1564"/>
                    </a:lnTo>
                    <a:lnTo>
                      <a:pt x="986" y="1570"/>
                    </a:lnTo>
                    <a:lnTo>
                      <a:pt x="996" y="1572"/>
                    </a:lnTo>
                    <a:lnTo>
                      <a:pt x="1006" y="1574"/>
                    </a:lnTo>
                    <a:lnTo>
                      <a:pt x="1018" y="1574"/>
                    </a:lnTo>
                    <a:lnTo>
                      <a:pt x="1030" y="1574"/>
                    </a:lnTo>
                    <a:lnTo>
                      <a:pt x="1042" y="1570"/>
                    </a:lnTo>
                    <a:lnTo>
                      <a:pt x="1056" y="1566"/>
                    </a:lnTo>
                    <a:lnTo>
                      <a:pt x="1068" y="1560"/>
                    </a:lnTo>
                    <a:lnTo>
                      <a:pt x="1068" y="1560"/>
                    </a:lnTo>
                    <a:lnTo>
                      <a:pt x="1082" y="1552"/>
                    </a:lnTo>
                    <a:lnTo>
                      <a:pt x="1092" y="1544"/>
                    </a:lnTo>
                    <a:lnTo>
                      <a:pt x="1092" y="1544"/>
                    </a:lnTo>
                    <a:lnTo>
                      <a:pt x="1114" y="1526"/>
                    </a:lnTo>
                    <a:lnTo>
                      <a:pt x="1136" y="1510"/>
                    </a:lnTo>
                    <a:lnTo>
                      <a:pt x="1158" y="1496"/>
                    </a:lnTo>
                    <a:lnTo>
                      <a:pt x="1182" y="1482"/>
                    </a:lnTo>
                    <a:lnTo>
                      <a:pt x="1206" y="1470"/>
                    </a:lnTo>
                    <a:lnTo>
                      <a:pt x="1232" y="1458"/>
                    </a:lnTo>
                    <a:lnTo>
                      <a:pt x="1282" y="1438"/>
                    </a:lnTo>
                    <a:lnTo>
                      <a:pt x="1282" y="1438"/>
                    </a:lnTo>
                    <a:lnTo>
                      <a:pt x="1292" y="1434"/>
                    </a:lnTo>
                    <a:lnTo>
                      <a:pt x="1302" y="1428"/>
                    </a:lnTo>
                    <a:lnTo>
                      <a:pt x="1320" y="1416"/>
                    </a:lnTo>
                    <a:lnTo>
                      <a:pt x="1354" y="1386"/>
                    </a:lnTo>
                    <a:lnTo>
                      <a:pt x="1354" y="1386"/>
                    </a:lnTo>
                    <a:lnTo>
                      <a:pt x="1320" y="1360"/>
                    </a:lnTo>
                    <a:lnTo>
                      <a:pt x="1304" y="1348"/>
                    </a:lnTo>
                    <a:lnTo>
                      <a:pt x="1286" y="1336"/>
                    </a:lnTo>
                    <a:lnTo>
                      <a:pt x="1286" y="1336"/>
                    </a:lnTo>
                    <a:lnTo>
                      <a:pt x="1270" y="1326"/>
                    </a:lnTo>
                    <a:lnTo>
                      <a:pt x="1254" y="1312"/>
                    </a:lnTo>
                    <a:lnTo>
                      <a:pt x="1244" y="1296"/>
                    </a:lnTo>
                    <a:lnTo>
                      <a:pt x="1236" y="1276"/>
                    </a:lnTo>
                    <a:lnTo>
                      <a:pt x="1232" y="1256"/>
                    </a:lnTo>
                    <a:lnTo>
                      <a:pt x="1230" y="1232"/>
                    </a:lnTo>
                    <a:lnTo>
                      <a:pt x="1234" y="1208"/>
                    </a:lnTo>
                    <a:lnTo>
                      <a:pt x="1242" y="1182"/>
                    </a:lnTo>
                    <a:lnTo>
                      <a:pt x="1242" y="1182"/>
                    </a:lnTo>
                    <a:lnTo>
                      <a:pt x="1244" y="1210"/>
                    </a:lnTo>
                    <a:lnTo>
                      <a:pt x="1252" y="1236"/>
                    </a:lnTo>
                    <a:lnTo>
                      <a:pt x="1260" y="1260"/>
                    </a:lnTo>
                    <a:lnTo>
                      <a:pt x="1274" y="1280"/>
                    </a:lnTo>
                    <a:lnTo>
                      <a:pt x="1288" y="1298"/>
                    </a:lnTo>
                    <a:lnTo>
                      <a:pt x="1306" y="1316"/>
                    </a:lnTo>
                    <a:lnTo>
                      <a:pt x="1326" y="1330"/>
                    </a:lnTo>
                    <a:lnTo>
                      <a:pt x="1348" y="1344"/>
                    </a:lnTo>
                    <a:lnTo>
                      <a:pt x="1348" y="1344"/>
                    </a:lnTo>
                    <a:lnTo>
                      <a:pt x="1360" y="1352"/>
                    </a:lnTo>
                    <a:lnTo>
                      <a:pt x="1368" y="1360"/>
                    </a:lnTo>
                    <a:lnTo>
                      <a:pt x="1374" y="1370"/>
                    </a:lnTo>
                    <a:lnTo>
                      <a:pt x="1374" y="1382"/>
                    </a:lnTo>
                    <a:lnTo>
                      <a:pt x="1374" y="1392"/>
                    </a:lnTo>
                    <a:lnTo>
                      <a:pt x="1368" y="1404"/>
                    </a:lnTo>
                    <a:lnTo>
                      <a:pt x="1360" y="1414"/>
                    </a:lnTo>
                    <a:lnTo>
                      <a:pt x="1350" y="1424"/>
                    </a:lnTo>
                    <a:lnTo>
                      <a:pt x="1350" y="1424"/>
                    </a:lnTo>
                    <a:lnTo>
                      <a:pt x="1330" y="1438"/>
                    </a:lnTo>
                    <a:lnTo>
                      <a:pt x="1310" y="1450"/>
                    </a:lnTo>
                    <a:lnTo>
                      <a:pt x="1288" y="1462"/>
                    </a:lnTo>
                    <a:lnTo>
                      <a:pt x="1268" y="1474"/>
                    </a:lnTo>
                    <a:lnTo>
                      <a:pt x="1268" y="1474"/>
                    </a:lnTo>
                    <a:lnTo>
                      <a:pt x="1182" y="1528"/>
                    </a:lnTo>
                    <a:lnTo>
                      <a:pt x="1140" y="1558"/>
                    </a:lnTo>
                    <a:lnTo>
                      <a:pt x="1100" y="1588"/>
                    </a:lnTo>
                    <a:lnTo>
                      <a:pt x="1100" y="1588"/>
                    </a:lnTo>
                    <a:lnTo>
                      <a:pt x="1088" y="1596"/>
                    </a:lnTo>
                    <a:lnTo>
                      <a:pt x="1074" y="1602"/>
                    </a:lnTo>
                    <a:lnTo>
                      <a:pt x="1062" y="1608"/>
                    </a:lnTo>
                    <a:lnTo>
                      <a:pt x="1048" y="1614"/>
                    </a:lnTo>
                    <a:lnTo>
                      <a:pt x="1036" y="1616"/>
                    </a:lnTo>
                    <a:lnTo>
                      <a:pt x="1022" y="1618"/>
                    </a:lnTo>
                    <a:lnTo>
                      <a:pt x="1008" y="1620"/>
                    </a:lnTo>
                    <a:lnTo>
                      <a:pt x="996" y="1618"/>
                    </a:lnTo>
                    <a:lnTo>
                      <a:pt x="982" y="1616"/>
                    </a:lnTo>
                    <a:lnTo>
                      <a:pt x="968" y="1614"/>
                    </a:lnTo>
                    <a:lnTo>
                      <a:pt x="956" y="1610"/>
                    </a:lnTo>
                    <a:lnTo>
                      <a:pt x="944" y="1604"/>
                    </a:lnTo>
                    <a:lnTo>
                      <a:pt x="932" y="1598"/>
                    </a:lnTo>
                    <a:lnTo>
                      <a:pt x="920" y="1590"/>
                    </a:lnTo>
                    <a:lnTo>
                      <a:pt x="910" y="1580"/>
                    </a:lnTo>
                    <a:lnTo>
                      <a:pt x="900" y="1570"/>
                    </a:lnTo>
                    <a:lnTo>
                      <a:pt x="900" y="1570"/>
                    </a:lnTo>
                    <a:lnTo>
                      <a:pt x="888" y="1558"/>
                    </a:lnTo>
                    <a:lnTo>
                      <a:pt x="872" y="1548"/>
                    </a:lnTo>
                    <a:lnTo>
                      <a:pt x="854" y="1540"/>
                    </a:lnTo>
                    <a:lnTo>
                      <a:pt x="838" y="1538"/>
                    </a:lnTo>
                    <a:lnTo>
                      <a:pt x="838" y="1538"/>
                    </a:lnTo>
                    <a:lnTo>
                      <a:pt x="780" y="1536"/>
                    </a:lnTo>
                    <a:lnTo>
                      <a:pt x="724" y="1534"/>
                    </a:lnTo>
                    <a:lnTo>
                      <a:pt x="666" y="1536"/>
                    </a:lnTo>
                    <a:lnTo>
                      <a:pt x="610" y="1540"/>
                    </a:lnTo>
                    <a:lnTo>
                      <a:pt x="610" y="1540"/>
                    </a:lnTo>
                    <a:lnTo>
                      <a:pt x="578" y="1546"/>
                    </a:lnTo>
                    <a:lnTo>
                      <a:pt x="546" y="1556"/>
                    </a:lnTo>
                    <a:lnTo>
                      <a:pt x="516" y="1570"/>
                    </a:lnTo>
                    <a:lnTo>
                      <a:pt x="488" y="1584"/>
                    </a:lnTo>
                    <a:lnTo>
                      <a:pt x="488" y="1584"/>
                    </a:lnTo>
                    <a:lnTo>
                      <a:pt x="472" y="1594"/>
                    </a:lnTo>
                    <a:lnTo>
                      <a:pt x="456" y="1602"/>
                    </a:lnTo>
                    <a:lnTo>
                      <a:pt x="440" y="1608"/>
                    </a:lnTo>
                    <a:lnTo>
                      <a:pt x="424" y="1610"/>
                    </a:lnTo>
                    <a:lnTo>
                      <a:pt x="408" y="1612"/>
                    </a:lnTo>
                    <a:lnTo>
                      <a:pt x="392" y="1612"/>
                    </a:lnTo>
                    <a:lnTo>
                      <a:pt x="374" y="1610"/>
                    </a:lnTo>
                    <a:lnTo>
                      <a:pt x="356" y="1606"/>
                    </a:lnTo>
                    <a:lnTo>
                      <a:pt x="356" y="1606"/>
                    </a:lnTo>
                    <a:lnTo>
                      <a:pt x="214" y="1566"/>
                    </a:lnTo>
                    <a:lnTo>
                      <a:pt x="72" y="1530"/>
                    </a:lnTo>
                    <a:lnTo>
                      <a:pt x="72" y="1530"/>
                    </a:lnTo>
                    <a:lnTo>
                      <a:pt x="46" y="1522"/>
                    </a:lnTo>
                    <a:lnTo>
                      <a:pt x="28" y="1514"/>
                    </a:lnTo>
                    <a:lnTo>
                      <a:pt x="14" y="1506"/>
                    </a:lnTo>
                    <a:lnTo>
                      <a:pt x="8" y="1500"/>
                    </a:lnTo>
                    <a:lnTo>
                      <a:pt x="4" y="1494"/>
                    </a:lnTo>
                    <a:lnTo>
                      <a:pt x="2" y="1488"/>
                    </a:lnTo>
                    <a:lnTo>
                      <a:pt x="0" y="1480"/>
                    </a:lnTo>
                    <a:lnTo>
                      <a:pt x="0" y="1464"/>
                    </a:lnTo>
                    <a:lnTo>
                      <a:pt x="4" y="1444"/>
                    </a:lnTo>
                    <a:lnTo>
                      <a:pt x="10" y="1420"/>
                    </a:lnTo>
                    <a:lnTo>
                      <a:pt x="10" y="1420"/>
                    </a:lnTo>
                    <a:lnTo>
                      <a:pt x="16" y="1396"/>
                    </a:lnTo>
                    <a:lnTo>
                      <a:pt x="18" y="1370"/>
                    </a:lnTo>
                    <a:lnTo>
                      <a:pt x="16" y="1344"/>
                    </a:lnTo>
                    <a:lnTo>
                      <a:pt x="12" y="1318"/>
                    </a:lnTo>
                    <a:lnTo>
                      <a:pt x="12" y="1318"/>
                    </a:lnTo>
                    <a:lnTo>
                      <a:pt x="10" y="1298"/>
                    </a:lnTo>
                    <a:lnTo>
                      <a:pt x="8" y="1280"/>
                    </a:lnTo>
                    <a:lnTo>
                      <a:pt x="10" y="1266"/>
                    </a:lnTo>
                    <a:lnTo>
                      <a:pt x="14" y="1256"/>
                    </a:lnTo>
                    <a:lnTo>
                      <a:pt x="22" y="1248"/>
                    </a:lnTo>
                    <a:lnTo>
                      <a:pt x="34" y="1242"/>
                    </a:lnTo>
                    <a:lnTo>
                      <a:pt x="50" y="1240"/>
                    </a:lnTo>
                    <a:lnTo>
                      <a:pt x="72" y="1238"/>
                    </a:lnTo>
                    <a:lnTo>
                      <a:pt x="72" y="1238"/>
                    </a:lnTo>
                    <a:lnTo>
                      <a:pt x="88" y="1236"/>
                    </a:lnTo>
                    <a:lnTo>
                      <a:pt x="104" y="1232"/>
                    </a:lnTo>
                    <a:lnTo>
                      <a:pt x="118" y="1226"/>
                    </a:lnTo>
                    <a:lnTo>
                      <a:pt x="132" y="1220"/>
                    </a:lnTo>
                    <a:lnTo>
                      <a:pt x="144" y="1210"/>
                    </a:lnTo>
                    <a:lnTo>
                      <a:pt x="156" y="1200"/>
                    </a:lnTo>
                    <a:lnTo>
                      <a:pt x="166" y="1186"/>
                    </a:lnTo>
                    <a:lnTo>
                      <a:pt x="174" y="1170"/>
                    </a:lnTo>
                    <a:lnTo>
                      <a:pt x="174" y="1170"/>
                    </a:lnTo>
                    <a:close/>
                    <a:moveTo>
                      <a:pt x="504" y="546"/>
                    </a:moveTo>
                    <a:lnTo>
                      <a:pt x="504" y="546"/>
                    </a:lnTo>
                    <a:lnTo>
                      <a:pt x="488" y="588"/>
                    </a:lnTo>
                    <a:lnTo>
                      <a:pt x="470" y="626"/>
                    </a:lnTo>
                    <a:lnTo>
                      <a:pt x="470" y="626"/>
                    </a:lnTo>
                    <a:lnTo>
                      <a:pt x="456" y="656"/>
                    </a:lnTo>
                    <a:lnTo>
                      <a:pt x="450" y="670"/>
                    </a:lnTo>
                    <a:lnTo>
                      <a:pt x="444" y="686"/>
                    </a:lnTo>
                    <a:lnTo>
                      <a:pt x="440" y="700"/>
                    </a:lnTo>
                    <a:lnTo>
                      <a:pt x="438" y="716"/>
                    </a:lnTo>
                    <a:lnTo>
                      <a:pt x="438" y="734"/>
                    </a:lnTo>
                    <a:lnTo>
                      <a:pt x="442" y="750"/>
                    </a:lnTo>
                    <a:lnTo>
                      <a:pt x="442" y="750"/>
                    </a:lnTo>
                    <a:lnTo>
                      <a:pt x="442" y="756"/>
                    </a:lnTo>
                    <a:lnTo>
                      <a:pt x="442" y="760"/>
                    </a:lnTo>
                    <a:lnTo>
                      <a:pt x="434" y="772"/>
                    </a:lnTo>
                    <a:lnTo>
                      <a:pt x="434" y="772"/>
                    </a:lnTo>
                    <a:lnTo>
                      <a:pt x="414" y="802"/>
                    </a:lnTo>
                    <a:lnTo>
                      <a:pt x="396" y="834"/>
                    </a:lnTo>
                    <a:lnTo>
                      <a:pt x="380" y="866"/>
                    </a:lnTo>
                    <a:lnTo>
                      <a:pt x="368" y="900"/>
                    </a:lnTo>
                    <a:lnTo>
                      <a:pt x="358" y="934"/>
                    </a:lnTo>
                    <a:lnTo>
                      <a:pt x="350" y="970"/>
                    </a:lnTo>
                    <a:lnTo>
                      <a:pt x="346" y="1006"/>
                    </a:lnTo>
                    <a:lnTo>
                      <a:pt x="346" y="1044"/>
                    </a:lnTo>
                    <a:lnTo>
                      <a:pt x="346" y="1044"/>
                    </a:lnTo>
                    <a:lnTo>
                      <a:pt x="346" y="1056"/>
                    </a:lnTo>
                    <a:lnTo>
                      <a:pt x="344" y="1070"/>
                    </a:lnTo>
                    <a:lnTo>
                      <a:pt x="338" y="1104"/>
                    </a:lnTo>
                    <a:lnTo>
                      <a:pt x="338" y="1104"/>
                    </a:lnTo>
                    <a:lnTo>
                      <a:pt x="318" y="1088"/>
                    </a:lnTo>
                    <a:lnTo>
                      <a:pt x="304" y="1072"/>
                    </a:lnTo>
                    <a:lnTo>
                      <a:pt x="296" y="1054"/>
                    </a:lnTo>
                    <a:lnTo>
                      <a:pt x="288" y="1036"/>
                    </a:lnTo>
                    <a:lnTo>
                      <a:pt x="284" y="1018"/>
                    </a:lnTo>
                    <a:lnTo>
                      <a:pt x="282" y="998"/>
                    </a:lnTo>
                    <a:lnTo>
                      <a:pt x="278" y="962"/>
                    </a:lnTo>
                    <a:lnTo>
                      <a:pt x="278" y="962"/>
                    </a:lnTo>
                    <a:lnTo>
                      <a:pt x="274" y="986"/>
                    </a:lnTo>
                    <a:lnTo>
                      <a:pt x="274" y="1008"/>
                    </a:lnTo>
                    <a:lnTo>
                      <a:pt x="274" y="1030"/>
                    </a:lnTo>
                    <a:lnTo>
                      <a:pt x="278" y="1050"/>
                    </a:lnTo>
                    <a:lnTo>
                      <a:pt x="284" y="1070"/>
                    </a:lnTo>
                    <a:lnTo>
                      <a:pt x="294" y="1090"/>
                    </a:lnTo>
                    <a:lnTo>
                      <a:pt x="308" y="1108"/>
                    </a:lnTo>
                    <a:lnTo>
                      <a:pt x="326" y="1124"/>
                    </a:lnTo>
                    <a:lnTo>
                      <a:pt x="326" y="1124"/>
                    </a:lnTo>
                    <a:lnTo>
                      <a:pt x="406" y="1192"/>
                    </a:lnTo>
                    <a:lnTo>
                      <a:pt x="488" y="1260"/>
                    </a:lnTo>
                    <a:lnTo>
                      <a:pt x="488" y="1260"/>
                    </a:lnTo>
                    <a:lnTo>
                      <a:pt x="506" y="1278"/>
                    </a:lnTo>
                    <a:lnTo>
                      <a:pt x="520" y="1294"/>
                    </a:lnTo>
                    <a:lnTo>
                      <a:pt x="528" y="1310"/>
                    </a:lnTo>
                    <a:lnTo>
                      <a:pt x="530" y="1318"/>
                    </a:lnTo>
                    <a:lnTo>
                      <a:pt x="532" y="1324"/>
                    </a:lnTo>
                    <a:lnTo>
                      <a:pt x="530" y="1332"/>
                    </a:lnTo>
                    <a:lnTo>
                      <a:pt x="528" y="1340"/>
                    </a:lnTo>
                    <a:lnTo>
                      <a:pt x="520" y="1354"/>
                    </a:lnTo>
                    <a:lnTo>
                      <a:pt x="506" y="1368"/>
                    </a:lnTo>
                    <a:lnTo>
                      <a:pt x="486" y="1382"/>
                    </a:lnTo>
                    <a:lnTo>
                      <a:pt x="486" y="1382"/>
                    </a:lnTo>
                    <a:lnTo>
                      <a:pt x="546" y="1518"/>
                    </a:lnTo>
                    <a:lnTo>
                      <a:pt x="546" y="1518"/>
                    </a:lnTo>
                    <a:lnTo>
                      <a:pt x="552" y="1504"/>
                    </a:lnTo>
                    <a:lnTo>
                      <a:pt x="554" y="1490"/>
                    </a:lnTo>
                    <a:lnTo>
                      <a:pt x="552" y="1478"/>
                    </a:lnTo>
                    <a:lnTo>
                      <a:pt x="548" y="1464"/>
                    </a:lnTo>
                    <a:lnTo>
                      <a:pt x="534" y="1438"/>
                    </a:lnTo>
                    <a:lnTo>
                      <a:pt x="528" y="1426"/>
                    </a:lnTo>
                    <a:lnTo>
                      <a:pt x="524" y="1412"/>
                    </a:lnTo>
                    <a:lnTo>
                      <a:pt x="524" y="1412"/>
                    </a:lnTo>
                    <a:lnTo>
                      <a:pt x="570" y="1428"/>
                    </a:lnTo>
                    <a:lnTo>
                      <a:pt x="594" y="1434"/>
                    </a:lnTo>
                    <a:lnTo>
                      <a:pt x="618" y="1440"/>
                    </a:lnTo>
                    <a:lnTo>
                      <a:pt x="642" y="1444"/>
                    </a:lnTo>
                    <a:lnTo>
                      <a:pt x="666" y="1446"/>
                    </a:lnTo>
                    <a:lnTo>
                      <a:pt x="692" y="1446"/>
                    </a:lnTo>
                    <a:lnTo>
                      <a:pt x="718" y="1442"/>
                    </a:lnTo>
                    <a:lnTo>
                      <a:pt x="718" y="1442"/>
                    </a:lnTo>
                    <a:lnTo>
                      <a:pt x="744" y="1436"/>
                    </a:lnTo>
                    <a:lnTo>
                      <a:pt x="768" y="1428"/>
                    </a:lnTo>
                    <a:lnTo>
                      <a:pt x="790" y="1418"/>
                    </a:lnTo>
                    <a:lnTo>
                      <a:pt x="812" y="1404"/>
                    </a:lnTo>
                    <a:lnTo>
                      <a:pt x="832" y="1390"/>
                    </a:lnTo>
                    <a:lnTo>
                      <a:pt x="852" y="1372"/>
                    </a:lnTo>
                    <a:lnTo>
                      <a:pt x="870" y="1354"/>
                    </a:lnTo>
                    <a:lnTo>
                      <a:pt x="886" y="1330"/>
                    </a:lnTo>
                    <a:lnTo>
                      <a:pt x="886" y="1330"/>
                    </a:lnTo>
                    <a:lnTo>
                      <a:pt x="892" y="1344"/>
                    </a:lnTo>
                    <a:lnTo>
                      <a:pt x="896" y="1356"/>
                    </a:lnTo>
                    <a:lnTo>
                      <a:pt x="898" y="1368"/>
                    </a:lnTo>
                    <a:lnTo>
                      <a:pt x="898" y="1380"/>
                    </a:lnTo>
                    <a:lnTo>
                      <a:pt x="896" y="1402"/>
                    </a:lnTo>
                    <a:lnTo>
                      <a:pt x="892" y="1424"/>
                    </a:lnTo>
                    <a:lnTo>
                      <a:pt x="886" y="1446"/>
                    </a:lnTo>
                    <a:lnTo>
                      <a:pt x="882" y="1468"/>
                    </a:lnTo>
                    <a:lnTo>
                      <a:pt x="882" y="1480"/>
                    </a:lnTo>
                    <a:lnTo>
                      <a:pt x="882" y="1490"/>
                    </a:lnTo>
                    <a:lnTo>
                      <a:pt x="884" y="1502"/>
                    </a:lnTo>
                    <a:lnTo>
                      <a:pt x="886" y="1512"/>
                    </a:lnTo>
                    <a:lnTo>
                      <a:pt x="886" y="1512"/>
                    </a:lnTo>
                    <a:lnTo>
                      <a:pt x="896" y="1486"/>
                    </a:lnTo>
                    <a:lnTo>
                      <a:pt x="904" y="1458"/>
                    </a:lnTo>
                    <a:lnTo>
                      <a:pt x="910" y="1430"/>
                    </a:lnTo>
                    <a:lnTo>
                      <a:pt x="914" y="1402"/>
                    </a:lnTo>
                    <a:lnTo>
                      <a:pt x="914" y="1402"/>
                    </a:lnTo>
                    <a:lnTo>
                      <a:pt x="912" y="1356"/>
                    </a:lnTo>
                    <a:lnTo>
                      <a:pt x="910" y="1310"/>
                    </a:lnTo>
                    <a:lnTo>
                      <a:pt x="908" y="1266"/>
                    </a:lnTo>
                    <a:lnTo>
                      <a:pt x="908" y="1220"/>
                    </a:lnTo>
                    <a:lnTo>
                      <a:pt x="908" y="1220"/>
                    </a:lnTo>
                    <a:lnTo>
                      <a:pt x="910" y="1200"/>
                    </a:lnTo>
                    <a:lnTo>
                      <a:pt x="912" y="1182"/>
                    </a:lnTo>
                    <a:lnTo>
                      <a:pt x="918" y="1164"/>
                    </a:lnTo>
                    <a:lnTo>
                      <a:pt x="924" y="1156"/>
                    </a:lnTo>
                    <a:lnTo>
                      <a:pt x="928" y="1150"/>
                    </a:lnTo>
                    <a:lnTo>
                      <a:pt x="928" y="1150"/>
                    </a:lnTo>
                    <a:lnTo>
                      <a:pt x="948" y="1130"/>
                    </a:lnTo>
                    <a:lnTo>
                      <a:pt x="970" y="1112"/>
                    </a:lnTo>
                    <a:lnTo>
                      <a:pt x="1006" y="1084"/>
                    </a:lnTo>
                    <a:lnTo>
                      <a:pt x="1006" y="1084"/>
                    </a:lnTo>
                    <a:lnTo>
                      <a:pt x="998" y="1066"/>
                    </a:lnTo>
                    <a:lnTo>
                      <a:pt x="988" y="1048"/>
                    </a:lnTo>
                    <a:lnTo>
                      <a:pt x="982" y="1030"/>
                    </a:lnTo>
                    <a:lnTo>
                      <a:pt x="980" y="1022"/>
                    </a:lnTo>
                    <a:lnTo>
                      <a:pt x="980" y="1014"/>
                    </a:lnTo>
                    <a:lnTo>
                      <a:pt x="980" y="1014"/>
                    </a:lnTo>
                    <a:lnTo>
                      <a:pt x="982" y="986"/>
                    </a:lnTo>
                    <a:lnTo>
                      <a:pt x="980" y="958"/>
                    </a:lnTo>
                    <a:lnTo>
                      <a:pt x="976" y="930"/>
                    </a:lnTo>
                    <a:lnTo>
                      <a:pt x="972" y="904"/>
                    </a:lnTo>
                    <a:lnTo>
                      <a:pt x="966" y="878"/>
                    </a:lnTo>
                    <a:lnTo>
                      <a:pt x="958" y="852"/>
                    </a:lnTo>
                    <a:lnTo>
                      <a:pt x="938" y="800"/>
                    </a:lnTo>
                    <a:lnTo>
                      <a:pt x="916" y="750"/>
                    </a:lnTo>
                    <a:lnTo>
                      <a:pt x="894" y="702"/>
                    </a:lnTo>
                    <a:lnTo>
                      <a:pt x="870" y="652"/>
                    </a:lnTo>
                    <a:lnTo>
                      <a:pt x="850" y="602"/>
                    </a:lnTo>
                    <a:lnTo>
                      <a:pt x="850" y="602"/>
                    </a:lnTo>
                    <a:lnTo>
                      <a:pt x="846" y="594"/>
                    </a:lnTo>
                    <a:lnTo>
                      <a:pt x="842" y="588"/>
                    </a:lnTo>
                    <a:lnTo>
                      <a:pt x="842" y="588"/>
                    </a:lnTo>
                    <a:lnTo>
                      <a:pt x="832" y="574"/>
                    </a:lnTo>
                    <a:lnTo>
                      <a:pt x="822" y="560"/>
                    </a:lnTo>
                    <a:lnTo>
                      <a:pt x="816" y="546"/>
                    </a:lnTo>
                    <a:lnTo>
                      <a:pt x="812" y="530"/>
                    </a:lnTo>
                    <a:lnTo>
                      <a:pt x="810" y="514"/>
                    </a:lnTo>
                    <a:lnTo>
                      <a:pt x="810" y="498"/>
                    </a:lnTo>
                    <a:lnTo>
                      <a:pt x="812" y="482"/>
                    </a:lnTo>
                    <a:lnTo>
                      <a:pt x="816" y="466"/>
                    </a:lnTo>
                    <a:lnTo>
                      <a:pt x="816" y="466"/>
                    </a:lnTo>
                    <a:lnTo>
                      <a:pt x="820" y="456"/>
                    </a:lnTo>
                    <a:lnTo>
                      <a:pt x="820" y="446"/>
                    </a:lnTo>
                    <a:lnTo>
                      <a:pt x="820" y="438"/>
                    </a:lnTo>
                    <a:lnTo>
                      <a:pt x="816" y="432"/>
                    </a:lnTo>
                    <a:lnTo>
                      <a:pt x="812" y="426"/>
                    </a:lnTo>
                    <a:lnTo>
                      <a:pt x="804" y="420"/>
                    </a:lnTo>
                    <a:lnTo>
                      <a:pt x="796" y="416"/>
                    </a:lnTo>
                    <a:lnTo>
                      <a:pt x="786" y="412"/>
                    </a:lnTo>
                    <a:lnTo>
                      <a:pt x="786" y="412"/>
                    </a:lnTo>
                    <a:lnTo>
                      <a:pt x="768" y="406"/>
                    </a:lnTo>
                    <a:lnTo>
                      <a:pt x="750" y="400"/>
                    </a:lnTo>
                    <a:lnTo>
                      <a:pt x="716" y="382"/>
                    </a:lnTo>
                    <a:lnTo>
                      <a:pt x="716" y="382"/>
                    </a:lnTo>
                    <a:lnTo>
                      <a:pt x="708" y="376"/>
                    </a:lnTo>
                    <a:lnTo>
                      <a:pt x="700" y="370"/>
                    </a:lnTo>
                    <a:lnTo>
                      <a:pt x="696" y="362"/>
                    </a:lnTo>
                    <a:lnTo>
                      <a:pt x="696" y="354"/>
                    </a:lnTo>
                    <a:lnTo>
                      <a:pt x="696" y="344"/>
                    </a:lnTo>
                    <a:lnTo>
                      <a:pt x="696" y="336"/>
                    </a:lnTo>
                    <a:lnTo>
                      <a:pt x="702" y="320"/>
                    </a:lnTo>
                    <a:lnTo>
                      <a:pt x="702" y="320"/>
                    </a:lnTo>
                    <a:lnTo>
                      <a:pt x="710" y="308"/>
                    </a:lnTo>
                    <a:lnTo>
                      <a:pt x="720" y="298"/>
                    </a:lnTo>
                    <a:lnTo>
                      <a:pt x="732" y="290"/>
                    </a:lnTo>
                    <a:lnTo>
                      <a:pt x="738" y="288"/>
                    </a:lnTo>
                    <a:lnTo>
                      <a:pt x="744" y="288"/>
                    </a:lnTo>
                    <a:lnTo>
                      <a:pt x="744" y="288"/>
                    </a:lnTo>
                    <a:lnTo>
                      <a:pt x="750" y="290"/>
                    </a:lnTo>
                    <a:lnTo>
                      <a:pt x="756" y="292"/>
                    </a:lnTo>
                    <a:lnTo>
                      <a:pt x="768" y="302"/>
                    </a:lnTo>
                    <a:lnTo>
                      <a:pt x="778" y="312"/>
                    </a:lnTo>
                    <a:lnTo>
                      <a:pt x="786" y="326"/>
                    </a:lnTo>
                    <a:lnTo>
                      <a:pt x="786" y="326"/>
                    </a:lnTo>
                    <a:lnTo>
                      <a:pt x="790" y="340"/>
                    </a:lnTo>
                    <a:lnTo>
                      <a:pt x="790" y="354"/>
                    </a:lnTo>
                    <a:lnTo>
                      <a:pt x="788" y="388"/>
                    </a:lnTo>
                    <a:lnTo>
                      <a:pt x="788" y="388"/>
                    </a:lnTo>
                    <a:lnTo>
                      <a:pt x="796" y="390"/>
                    </a:lnTo>
                    <a:lnTo>
                      <a:pt x="802" y="390"/>
                    </a:lnTo>
                    <a:lnTo>
                      <a:pt x="808" y="388"/>
                    </a:lnTo>
                    <a:lnTo>
                      <a:pt x="814" y="386"/>
                    </a:lnTo>
                    <a:lnTo>
                      <a:pt x="818" y="382"/>
                    </a:lnTo>
                    <a:lnTo>
                      <a:pt x="820" y="376"/>
                    </a:lnTo>
                    <a:lnTo>
                      <a:pt x="824" y="362"/>
                    </a:lnTo>
                    <a:lnTo>
                      <a:pt x="824" y="362"/>
                    </a:lnTo>
                    <a:lnTo>
                      <a:pt x="824" y="338"/>
                    </a:lnTo>
                    <a:lnTo>
                      <a:pt x="822" y="316"/>
                    </a:lnTo>
                    <a:lnTo>
                      <a:pt x="818" y="294"/>
                    </a:lnTo>
                    <a:lnTo>
                      <a:pt x="810" y="276"/>
                    </a:lnTo>
                    <a:lnTo>
                      <a:pt x="798" y="260"/>
                    </a:lnTo>
                    <a:lnTo>
                      <a:pt x="786" y="246"/>
                    </a:lnTo>
                    <a:lnTo>
                      <a:pt x="770" y="238"/>
                    </a:lnTo>
                    <a:lnTo>
                      <a:pt x="762" y="236"/>
                    </a:lnTo>
                    <a:lnTo>
                      <a:pt x="754" y="234"/>
                    </a:lnTo>
                    <a:lnTo>
                      <a:pt x="754" y="234"/>
                    </a:lnTo>
                    <a:lnTo>
                      <a:pt x="738" y="234"/>
                    </a:lnTo>
                    <a:lnTo>
                      <a:pt x="722" y="236"/>
                    </a:lnTo>
                    <a:lnTo>
                      <a:pt x="708" y="240"/>
                    </a:lnTo>
                    <a:lnTo>
                      <a:pt x="702" y="244"/>
                    </a:lnTo>
                    <a:lnTo>
                      <a:pt x="700" y="248"/>
                    </a:lnTo>
                    <a:lnTo>
                      <a:pt x="700" y="248"/>
                    </a:lnTo>
                    <a:lnTo>
                      <a:pt x="686" y="274"/>
                    </a:lnTo>
                    <a:lnTo>
                      <a:pt x="674" y="302"/>
                    </a:lnTo>
                    <a:lnTo>
                      <a:pt x="652" y="358"/>
                    </a:lnTo>
                    <a:lnTo>
                      <a:pt x="652" y="358"/>
                    </a:lnTo>
                    <a:lnTo>
                      <a:pt x="602" y="354"/>
                    </a:lnTo>
                    <a:lnTo>
                      <a:pt x="602" y="354"/>
                    </a:lnTo>
                    <a:lnTo>
                      <a:pt x="592" y="310"/>
                    </a:lnTo>
                    <a:lnTo>
                      <a:pt x="586" y="290"/>
                    </a:lnTo>
                    <a:lnTo>
                      <a:pt x="578" y="272"/>
                    </a:lnTo>
                    <a:lnTo>
                      <a:pt x="578" y="272"/>
                    </a:lnTo>
                    <a:lnTo>
                      <a:pt x="574" y="266"/>
                    </a:lnTo>
                    <a:lnTo>
                      <a:pt x="568" y="260"/>
                    </a:lnTo>
                    <a:lnTo>
                      <a:pt x="552" y="252"/>
                    </a:lnTo>
                    <a:lnTo>
                      <a:pt x="538" y="246"/>
                    </a:lnTo>
                    <a:lnTo>
                      <a:pt x="532" y="244"/>
                    </a:lnTo>
                    <a:lnTo>
                      <a:pt x="530" y="244"/>
                    </a:lnTo>
                    <a:lnTo>
                      <a:pt x="530" y="244"/>
                    </a:lnTo>
                    <a:lnTo>
                      <a:pt x="518" y="260"/>
                    </a:lnTo>
                    <a:lnTo>
                      <a:pt x="506" y="278"/>
                    </a:lnTo>
                    <a:lnTo>
                      <a:pt x="496" y="296"/>
                    </a:lnTo>
                    <a:lnTo>
                      <a:pt x="492" y="314"/>
                    </a:lnTo>
                    <a:lnTo>
                      <a:pt x="492" y="314"/>
                    </a:lnTo>
                    <a:lnTo>
                      <a:pt x="488" y="336"/>
                    </a:lnTo>
                    <a:lnTo>
                      <a:pt x="488" y="346"/>
                    </a:lnTo>
                    <a:lnTo>
                      <a:pt x="490" y="356"/>
                    </a:lnTo>
                    <a:lnTo>
                      <a:pt x="494" y="368"/>
                    </a:lnTo>
                    <a:lnTo>
                      <a:pt x="500" y="376"/>
                    </a:lnTo>
                    <a:lnTo>
                      <a:pt x="508" y="384"/>
                    </a:lnTo>
                    <a:lnTo>
                      <a:pt x="520" y="392"/>
                    </a:lnTo>
                    <a:lnTo>
                      <a:pt x="520" y="392"/>
                    </a:lnTo>
                    <a:lnTo>
                      <a:pt x="522" y="390"/>
                    </a:lnTo>
                    <a:lnTo>
                      <a:pt x="528" y="386"/>
                    </a:lnTo>
                    <a:lnTo>
                      <a:pt x="528" y="386"/>
                    </a:lnTo>
                    <a:lnTo>
                      <a:pt x="516" y="372"/>
                    </a:lnTo>
                    <a:lnTo>
                      <a:pt x="512" y="366"/>
                    </a:lnTo>
                    <a:lnTo>
                      <a:pt x="510" y="358"/>
                    </a:lnTo>
                    <a:lnTo>
                      <a:pt x="510" y="358"/>
                    </a:lnTo>
                    <a:lnTo>
                      <a:pt x="508" y="344"/>
                    </a:lnTo>
                    <a:lnTo>
                      <a:pt x="510" y="328"/>
                    </a:lnTo>
                    <a:lnTo>
                      <a:pt x="512" y="314"/>
                    </a:lnTo>
                    <a:lnTo>
                      <a:pt x="516" y="298"/>
                    </a:lnTo>
                    <a:lnTo>
                      <a:pt x="516" y="298"/>
                    </a:lnTo>
                    <a:lnTo>
                      <a:pt x="518" y="296"/>
                    </a:lnTo>
                    <a:lnTo>
                      <a:pt x="522" y="294"/>
                    </a:lnTo>
                    <a:lnTo>
                      <a:pt x="532" y="292"/>
                    </a:lnTo>
                    <a:lnTo>
                      <a:pt x="542" y="290"/>
                    </a:lnTo>
                    <a:lnTo>
                      <a:pt x="546" y="290"/>
                    </a:lnTo>
                    <a:lnTo>
                      <a:pt x="550" y="292"/>
                    </a:lnTo>
                    <a:lnTo>
                      <a:pt x="550" y="292"/>
                    </a:lnTo>
                    <a:lnTo>
                      <a:pt x="558" y="304"/>
                    </a:lnTo>
                    <a:lnTo>
                      <a:pt x="564" y="318"/>
                    </a:lnTo>
                    <a:lnTo>
                      <a:pt x="570" y="332"/>
                    </a:lnTo>
                    <a:lnTo>
                      <a:pt x="574" y="346"/>
                    </a:lnTo>
                    <a:lnTo>
                      <a:pt x="574" y="346"/>
                    </a:lnTo>
                    <a:lnTo>
                      <a:pt x="574" y="354"/>
                    </a:lnTo>
                    <a:lnTo>
                      <a:pt x="570" y="360"/>
                    </a:lnTo>
                    <a:lnTo>
                      <a:pt x="560" y="374"/>
                    </a:lnTo>
                    <a:lnTo>
                      <a:pt x="560" y="374"/>
                    </a:lnTo>
                    <a:lnTo>
                      <a:pt x="534" y="396"/>
                    </a:lnTo>
                    <a:lnTo>
                      <a:pt x="522" y="406"/>
                    </a:lnTo>
                    <a:lnTo>
                      <a:pt x="510" y="418"/>
                    </a:lnTo>
                    <a:lnTo>
                      <a:pt x="510" y="418"/>
                    </a:lnTo>
                    <a:lnTo>
                      <a:pt x="504" y="428"/>
                    </a:lnTo>
                    <a:lnTo>
                      <a:pt x="498" y="440"/>
                    </a:lnTo>
                    <a:lnTo>
                      <a:pt x="494" y="450"/>
                    </a:lnTo>
                    <a:lnTo>
                      <a:pt x="494" y="454"/>
                    </a:lnTo>
                    <a:lnTo>
                      <a:pt x="494" y="456"/>
                    </a:lnTo>
                    <a:lnTo>
                      <a:pt x="494" y="456"/>
                    </a:lnTo>
                    <a:lnTo>
                      <a:pt x="514" y="476"/>
                    </a:lnTo>
                    <a:lnTo>
                      <a:pt x="526" y="488"/>
                    </a:lnTo>
                    <a:lnTo>
                      <a:pt x="536" y="496"/>
                    </a:lnTo>
                    <a:lnTo>
                      <a:pt x="548" y="504"/>
                    </a:lnTo>
                    <a:lnTo>
                      <a:pt x="562" y="510"/>
                    </a:lnTo>
                    <a:lnTo>
                      <a:pt x="576" y="514"/>
                    </a:lnTo>
                    <a:lnTo>
                      <a:pt x="594" y="514"/>
                    </a:lnTo>
                    <a:lnTo>
                      <a:pt x="594" y="514"/>
                    </a:lnTo>
                    <a:lnTo>
                      <a:pt x="644" y="506"/>
                    </a:lnTo>
                    <a:lnTo>
                      <a:pt x="670" y="500"/>
                    </a:lnTo>
                    <a:lnTo>
                      <a:pt x="694" y="494"/>
                    </a:lnTo>
                    <a:lnTo>
                      <a:pt x="718" y="486"/>
                    </a:lnTo>
                    <a:lnTo>
                      <a:pt x="742" y="474"/>
                    </a:lnTo>
                    <a:lnTo>
                      <a:pt x="766" y="460"/>
                    </a:lnTo>
                    <a:lnTo>
                      <a:pt x="788" y="444"/>
                    </a:lnTo>
                    <a:lnTo>
                      <a:pt x="788" y="444"/>
                    </a:lnTo>
                    <a:lnTo>
                      <a:pt x="792" y="460"/>
                    </a:lnTo>
                    <a:lnTo>
                      <a:pt x="792" y="466"/>
                    </a:lnTo>
                    <a:lnTo>
                      <a:pt x="792" y="466"/>
                    </a:lnTo>
                    <a:lnTo>
                      <a:pt x="734" y="494"/>
                    </a:lnTo>
                    <a:lnTo>
                      <a:pt x="706" y="506"/>
                    </a:lnTo>
                    <a:lnTo>
                      <a:pt x="676" y="518"/>
                    </a:lnTo>
                    <a:lnTo>
                      <a:pt x="646" y="528"/>
                    </a:lnTo>
                    <a:lnTo>
                      <a:pt x="614" y="534"/>
                    </a:lnTo>
                    <a:lnTo>
                      <a:pt x="580" y="538"/>
                    </a:lnTo>
                    <a:lnTo>
                      <a:pt x="564" y="536"/>
                    </a:lnTo>
                    <a:lnTo>
                      <a:pt x="546" y="534"/>
                    </a:lnTo>
                    <a:lnTo>
                      <a:pt x="546" y="534"/>
                    </a:lnTo>
                    <a:lnTo>
                      <a:pt x="558" y="548"/>
                    </a:lnTo>
                    <a:lnTo>
                      <a:pt x="570" y="560"/>
                    </a:lnTo>
                    <a:lnTo>
                      <a:pt x="582" y="566"/>
                    </a:lnTo>
                    <a:lnTo>
                      <a:pt x="596" y="570"/>
                    </a:lnTo>
                    <a:lnTo>
                      <a:pt x="608" y="572"/>
                    </a:lnTo>
                    <a:lnTo>
                      <a:pt x="622" y="570"/>
                    </a:lnTo>
                    <a:lnTo>
                      <a:pt x="634" y="568"/>
                    </a:lnTo>
                    <a:lnTo>
                      <a:pt x="648" y="564"/>
                    </a:lnTo>
                    <a:lnTo>
                      <a:pt x="648" y="564"/>
                    </a:lnTo>
                    <a:lnTo>
                      <a:pt x="672" y="554"/>
                    </a:lnTo>
                    <a:lnTo>
                      <a:pt x="696" y="544"/>
                    </a:lnTo>
                    <a:lnTo>
                      <a:pt x="742" y="520"/>
                    </a:lnTo>
                    <a:lnTo>
                      <a:pt x="742" y="520"/>
                    </a:lnTo>
                    <a:lnTo>
                      <a:pt x="762" y="514"/>
                    </a:lnTo>
                    <a:lnTo>
                      <a:pt x="782" y="510"/>
                    </a:lnTo>
                    <a:lnTo>
                      <a:pt x="782" y="510"/>
                    </a:lnTo>
                    <a:lnTo>
                      <a:pt x="786" y="522"/>
                    </a:lnTo>
                    <a:lnTo>
                      <a:pt x="786" y="522"/>
                    </a:lnTo>
                    <a:lnTo>
                      <a:pt x="698" y="578"/>
                    </a:lnTo>
                    <a:lnTo>
                      <a:pt x="654" y="604"/>
                    </a:lnTo>
                    <a:lnTo>
                      <a:pt x="608" y="630"/>
                    </a:lnTo>
                    <a:lnTo>
                      <a:pt x="608" y="630"/>
                    </a:lnTo>
                    <a:lnTo>
                      <a:pt x="604" y="630"/>
                    </a:lnTo>
                    <a:lnTo>
                      <a:pt x="598" y="630"/>
                    </a:lnTo>
                    <a:lnTo>
                      <a:pt x="582" y="626"/>
                    </a:lnTo>
                    <a:lnTo>
                      <a:pt x="568" y="618"/>
                    </a:lnTo>
                    <a:lnTo>
                      <a:pt x="554" y="608"/>
                    </a:lnTo>
                    <a:lnTo>
                      <a:pt x="554" y="608"/>
                    </a:lnTo>
                    <a:lnTo>
                      <a:pt x="540" y="594"/>
                    </a:lnTo>
                    <a:lnTo>
                      <a:pt x="528" y="578"/>
                    </a:lnTo>
                    <a:lnTo>
                      <a:pt x="504" y="546"/>
                    </a:lnTo>
                    <a:lnTo>
                      <a:pt x="504" y="546"/>
                    </a:lnTo>
                    <a:close/>
                    <a:moveTo>
                      <a:pt x="1078" y="1054"/>
                    </a:moveTo>
                    <a:lnTo>
                      <a:pt x="1078" y="1054"/>
                    </a:lnTo>
                    <a:lnTo>
                      <a:pt x="1084" y="1012"/>
                    </a:lnTo>
                    <a:lnTo>
                      <a:pt x="1086" y="970"/>
                    </a:lnTo>
                    <a:lnTo>
                      <a:pt x="1084" y="930"/>
                    </a:lnTo>
                    <a:lnTo>
                      <a:pt x="1078" y="892"/>
                    </a:lnTo>
                    <a:lnTo>
                      <a:pt x="1068" y="854"/>
                    </a:lnTo>
                    <a:lnTo>
                      <a:pt x="1052" y="818"/>
                    </a:lnTo>
                    <a:lnTo>
                      <a:pt x="1032" y="784"/>
                    </a:lnTo>
                    <a:lnTo>
                      <a:pt x="1008" y="750"/>
                    </a:lnTo>
                    <a:lnTo>
                      <a:pt x="1008" y="750"/>
                    </a:lnTo>
                    <a:lnTo>
                      <a:pt x="1040" y="826"/>
                    </a:lnTo>
                    <a:lnTo>
                      <a:pt x="1056" y="866"/>
                    </a:lnTo>
                    <a:lnTo>
                      <a:pt x="1066" y="904"/>
                    </a:lnTo>
                    <a:lnTo>
                      <a:pt x="1070" y="924"/>
                    </a:lnTo>
                    <a:lnTo>
                      <a:pt x="1072" y="944"/>
                    </a:lnTo>
                    <a:lnTo>
                      <a:pt x="1074" y="966"/>
                    </a:lnTo>
                    <a:lnTo>
                      <a:pt x="1072" y="986"/>
                    </a:lnTo>
                    <a:lnTo>
                      <a:pt x="1070" y="1006"/>
                    </a:lnTo>
                    <a:lnTo>
                      <a:pt x="1064" y="1028"/>
                    </a:lnTo>
                    <a:lnTo>
                      <a:pt x="1056" y="1050"/>
                    </a:lnTo>
                    <a:lnTo>
                      <a:pt x="1046" y="1070"/>
                    </a:lnTo>
                    <a:lnTo>
                      <a:pt x="1046" y="1070"/>
                    </a:lnTo>
                    <a:lnTo>
                      <a:pt x="1108" y="1080"/>
                    </a:lnTo>
                    <a:lnTo>
                      <a:pt x="1108" y="1080"/>
                    </a:lnTo>
                    <a:lnTo>
                      <a:pt x="1078" y="1054"/>
                    </a:lnTo>
                    <a:lnTo>
                      <a:pt x="1078" y="1054"/>
                    </a:lnTo>
                    <a:close/>
                    <a:moveTo>
                      <a:pt x="880" y="490"/>
                    </a:moveTo>
                    <a:lnTo>
                      <a:pt x="880" y="490"/>
                    </a:lnTo>
                    <a:lnTo>
                      <a:pt x="870" y="496"/>
                    </a:lnTo>
                    <a:lnTo>
                      <a:pt x="870" y="496"/>
                    </a:lnTo>
                    <a:lnTo>
                      <a:pt x="888" y="520"/>
                    </a:lnTo>
                    <a:lnTo>
                      <a:pt x="908" y="542"/>
                    </a:lnTo>
                    <a:lnTo>
                      <a:pt x="908" y="542"/>
                    </a:lnTo>
                    <a:lnTo>
                      <a:pt x="912" y="544"/>
                    </a:lnTo>
                    <a:lnTo>
                      <a:pt x="918" y="544"/>
                    </a:lnTo>
                    <a:lnTo>
                      <a:pt x="932" y="542"/>
                    </a:lnTo>
                    <a:lnTo>
                      <a:pt x="932" y="542"/>
                    </a:lnTo>
                    <a:lnTo>
                      <a:pt x="928" y="526"/>
                    </a:lnTo>
                    <a:lnTo>
                      <a:pt x="928" y="520"/>
                    </a:lnTo>
                    <a:lnTo>
                      <a:pt x="924" y="514"/>
                    </a:lnTo>
                    <a:lnTo>
                      <a:pt x="924" y="514"/>
                    </a:lnTo>
                    <a:lnTo>
                      <a:pt x="914" y="508"/>
                    </a:lnTo>
                    <a:lnTo>
                      <a:pt x="902" y="502"/>
                    </a:lnTo>
                    <a:lnTo>
                      <a:pt x="880" y="490"/>
                    </a:lnTo>
                    <a:lnTo>
                      <a:pt x="880" y="490"/>
                    </a:lnTo>
                    <a:close/>
                  </a:path>
                </a:pathLst>
              </a:custGeom>
              <a:solidFill>
                <a:schemeClr val="bg2">
                  <a:lumMod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706" tIns="146165" rIns="182706" bIns="146165" numCol="1" spcCol="0" rtlCol="0" fromWordArt="0" anchor="t" anchorCtr="0" forceAA="0" compatLnSpc="1">
                <a:prstTxWarp prst="textNoShape">
                  <a:avLst/>
                </a:prstTxWarp>
                <a:noAutofit/>
              </a:bodyPr>
              <a:lstStyle/>
              <a:p>
                <a:pPr marL="0" marR="0" lvl="0" indent="0" algn="ctr" defTabSz="913111" rtl="0" eaLnBrk="1" fontAlgn="base" latinLnBrk="0" hangingPunct="1">
                  <a:lnSpc>
                    <a:spcPct val="90000"/>
                  </a:lnSpc>
                  <a:spcBef>
                    <a:spcPct val="0"/>
                  </a:spcBef>
                  <a:spcAft>
                    <a:spcPct val="0"/>
                  </a:spcAft>
                  <a:buClrTx/>
                  <a:buSzTx/>
                  <a:buFontTx/>
                  <a:buNone/>
                  <a:tabLst/>
                  <a:defRPr/>
                </a:pPr>
                <a:endParaRPr kumimoji="0" lang="en-US" sz="1998" b="0" i="0" u="none" strike="noStrike" kern="1200" cap="none" spc="-50" normalizeH="0" baseline="0" noProof="0">
                  <a:ln>
                    <a:noFill/>
                  </a:ln>
                  <a:gradFill>
                    <a:gsLst>
                      <a:gs pos="1250">
                        <a:srgbClr val="EFEFEF"/>
                      </a:gs>
                      <a:gs pos="10417">
                        <a:srgbClr val="EFEFEF"/>
                      </a:gs>
                    </a:gsLst>
                    <a:lin ang="5400000" scaled="0"/>
                  </a:gradFill>
                  <a:effectLst/>
                  <a:uLnTx/>
                  <a:uFillTx/>
                  <a:latin typeface="Segoe UI Light"/>
                  <a:ea typeface="+mn-ea"/>
                  <a:cs typeface="+mn-cs"/>
                </a:endParaRPr>
              </a:p>
            </p:txBody>
          </p:sp>
        </p:grpSp>
        <p:grpSp>
          <p:nvGrpSpPr>
            <p:cNvPr id="434" name="Group 433">
              <a:extLst>
                <a:ext uri="{FF2B5EF4-FFF2-40B4-BE49-F238E27FC236}">
                  <a16:creationId xmlns:a16="http://schemas.microsoft.com/office/drawing/2014/main" id="{34050F8A-B4ED-0AC4-C5F2-3E0F206C96C4}"/>
                </a:ext>
              </a:extLst>
            </p:cNvPr>
            <p:cNvGrpSpPr/>
            <p:nvPr/>
          </p:nvGrpSpPr>
          <p:grpSpPr>
            <a:xfrm>
              <a:off x="1130422" y="3348417"/>
              <a:ext cx="368624" cy="278260"/>
              <a:chOff x="7987238" y="1610486"/>
              <a:chExt cx="506061" cy="382007"/>
            </a:xfrm>
          </p:grpSpPr>
          <p:sp>
            <p:nvSpPr>
              <p:cNvPr id="464" name="Rectangle 463">
                <a:extLst>
                  <a:ext uri="{FF2B5EF4-FFF2-40B4-BE49-F238E27FC236}">
                    <a16:creationId xmlns:a16="http://schemas.microsoft.com/office/drawing/2014/main" id="{6395C433-936C-5264-CD60-38C278BC7624}"/>
                  </a:ext>
                </a:extLst>
              </p:cNvPr>
              <p:cNvSpPr/>
              <p:nvPr/>
            </p:nvSpPr>
            <p:spPr bwMode="auto">
              <a:xfrm>
                <a:off x="7994852" y="1610486"/>
                <a:ext cx="498447" cy="302717"/>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465" name="Group 464">
                <a:extLst>
                  <a:ext uri="{FF2B5EF4-FFF2-40B4-BE49-F238E27FC236}">
                    <a16:creationId xmlns:a16="http://schemas.microsoft.com/office/drawing/2014/main" id="{C6CF7D41-ADB9-FFAD-DB5D-4CF814CC83E4}"/>
                  </a:ext>
                </a:extLst>
              </p:cNvPr>
              <p:cNvGrpSpPr/>
              <p:nvPr/>
            </p:nvGrpSpPr>
            <p:grpSpPr>
              <a:xfrm>
                <a:off x="7987238" y="1610486"/>
                <a:ext cx="498447" cy="382007"/>
                <a:chOff x="9563138" y="2462727"/>
                <a:chExt cx="516394" cy="395761"/>
              </a:xfrm>
            </p:grpSpPr>
            <p:sp>
              <p:nvSpPr>
                <p:cNvPr id="466" name="monitor">
                  <a:extLst>
                    <a:ext uri="{FF2B5EF4-FFF2-40B4-BE49-F238E27FC236}">
                      <a16:creationId xmlns:a16="http://schemas.microsoft.com/office/drawing/2014/main" id="{18454BFF-12B8-D072-DDA5-E701A71F0C59}"/>
                    </a:ext>
                  </a:extLst>
                </p:cNvPr>
                <p:cNvSpPr>
                  <a:spLocks noChangeAspect="1" noEditPoints="1"/>
                </p:cNvSpPr>
                <p:nvPr/>
              </p:nvSpPr>
              <p:spPr bwMode="auto">
                <a:xfrm>
                  <a:off x="9563138" y="2462727"/>
                  <a:ext cx="516394" cy="395761"/>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4224" cap="sq">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nvGrpSpPr>
                <p:cNvPr id="467" name="Group 466">
                  <a:extLst>
                    <a:ext uri="{FF2B5EF4-FFF2-40B4-BE49-F238E27FC236}">
                      <a16:creationId xmlns:a16="http://schemas.microsoft.com/office/drawing/2014/main" id="{3025A233-5D4F-9D51-6C1E-1619488A5981}"/>
                    </a:ext>
                  </a:extLst>
                </p:cNvPr>
                <p:cNvGrpSpPr/>
                <p:nvPr/>
              </p:nvGrpSpPr>
              <p:grpSpPr>
                <a:xfrm>
                  <a:off x="9746672" y="2545410"/>
                  <a:ext cx="107950" cy="134938"/>
                  <a:chOff x="9444088" y="2885171"/>
                  <a:chExt cx="107950" cy="134938"/>
                </a:xfrm>
                <a:solidFill>
                  <a:schemeClr val="tx1"/>
                </a:solidFill>
              </p:grpSpPr>
              <p:sp>
                <p:nvSpPr>
                  <p:cNvPr id="468" name="Freeform 26">
                    <a:extLst>
                      <a:ext uri="{FF2B5EF4-FFF2-40B4-BE49-F238E27FC236}">
                        <a16:creationId xmlns:a16="http://schemas.microsoft.com/office/drawing/2014/main" id="{11702E79-0A3C-7F77-BB68-338167285381}"/>
                      </a:ext>
                    </a:extLst>
                  </p:cNvPr>
                  <p:cNvSpPr>
                    <a:spLocks/>
                  </p:cNvSpPr>
                  <p:nvPr/>
                </p:nvSpPr>
                <p:spPr bwMode="auto">
                  <a:xfrm>
                    <a:off x="9496476" y="2885171"/>
                    <a:ext cx="30163" cy="31750"/>
                  </a:xfrm>
                  <a:custGeom>
                    <a:avLst/>
                    <a:gdLst>
                      <a:gd name="T0" fmla="*/ 179 w 188"/>
                      <a:gd name="T1" fmla="*/ 0 h 196"/>
                      <a:gd name="T2" fmla="*/ 45 w 188"/>
                      <a:gd name="T3" fmla="*/ 72 h 196"/>
                      <a:gd name="T4" fmla="*/ 12 w 188"/>
                      <a:gd name="T5" fmla="*/ 195 h 196"/>
                      <a:gd name="T6" fmla="*/ 141 w 188"/>
                      <a:gd name="T7" fmla="*/ 128 h 196"/>
                      <a:gd name="T8" fmla="*/ 179 w 188"/>
                      <a:gd name="T9" fmla="*/ 0 h 196"/>
                    </a:gdLst>
                    <a:ahLst/>
                    <a:cxnLst>
                      <a:cxn ang="0">
                        <a:pos x="T0" y="T1"/>
                      </a:cxn>
                      <a:cxn ang="0">
                        <a:pos x="T2" y="T3"/>
                      </a:cxn>
                      <a:cxn ang="0">
                        <a:pos x="T4" y="T5"/>
                      </a:cxn>
                      <a:cxn ang="0">
                        <a:pos x="T6" y="T7"/>
                      </a:cxn>
                      <a:cxn ang="0">
                        <a:pos x="T8" y="T9"/>
                      </a:cxn>
                    </a:cxnLst>
                    <a:rect l="0" t="0" r="r" b="b"/>
                    <a:pathLst>
                      <a:path w="188" h="196">
                        <a:moveTo>
                          <a:pt x="179" y="0"/>
                        </a:moveTo>
                        <a:cubicBezTo>
                          <a:pt x="179" y="0"/>
                          <a:pt x="90" y="8"/>
                          <a:pt x="45" y="72"/>
                        </a:cubicBezTo>
                        <a:cubicBezTo>
                          <a:pt x="0" y="136"/>
                          <a:pt x="12" y="195"/>
                          <a:pt x="12" y="195"/>
                        </a:cubicBezTo>
                        <a:cubicBezTo>
                          <a:pt x="12" y="195"/>
                          <a:pt x="90" y="196"/>
                          <a:pt x="141" y="128"/>
                        </a:cubicBezTo>
                        <a:cubicBezTo>
                          <a:pt x="188" y="66"/>
                          <a:pt x="179" y="0"/>
                          <a:pt x="179"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69" name="Freeform 27">
                    <a:extLst>
                      <a:ext uri="{FF2B5EF4-FFF2-40B4-BE49-F238E27FC236}">
                        <a16:creationId xmlns:a16="http://schemas.microsoft.com/office/drawing/2014/main" id="{B8DAB412-A676-B982-4454-CD2847D838A0}"/>
                      </a:ext>
                    </a:extLst>
                  </p:cNvPr>
                  <p:cNvSpPr>
                    <a:spLocks/>
                  </p:cNvSpPr>
                  <p:nvPr/>
                </p:nvSpPr>
                <p:spPr bwMode="auto">
                  <a:xfrm>
                    <a:off x="9444088" y="2916921"/>
                    <a:ext cx="107950" cy="103188"/>
                  </a:xfrm>
                  <a:custGeom>
                    <a:avLst/>
                    <a:gdLst>
                      <a:gd name="T0" fmla="*/ 662 w 682"/>
                      <a:gd name="T1" fmla="*/ 87 h 643"/>
                      <a:gd name="T2" fmla="*/ 499 w 682"/>
                      <a:gd name="T3" fmla="*/ 2 h 643"/>
                      <a:gd name="T4" fmla="*/ 424 w 682"/>
                      <a:gd name="T5" fmla="*/ 16 h 643"/>
                      <a:gd name="T6" fmla="*/ 345 w 682"/>
                      <a:gd name="T7" fmla="*/ 41 h 643"/>
                      <a:gd name="T8" fmla="*/ 286 w 682"/>
                      <a:gd name="T9" fmla="*/ 22 h 643"/>
                      <a:gd name="T10" fmla="*/ 201 w 682"/>
                      <a:gd name="T11" fmla="*/ 4 h 643"/>
                      <a:gd name="T12" fmla="*/ 82 w 682"/>
                      <a:gd name="T13" fmla="*/ 53 h 643"/>
                      <a:gd name="T14" fmla="*/ 0 w 682"/>
                      <a:gd name="T15" fmla="*/ 261 h 643"/>
                      <a:gd name="T16" fmla="*/ 58 w 682"/>
                      <a:gd name="T17" fmla="*/ 484 h 643"/>
                      <a:gd name="T18" fmla="*/ 143 w 682"/>
                      <a:gd name="T19" fmla="*/ 603 h 643"/>
                      <a:gd name="T20" fmla="*/ 209 w 682"/>
                      <a:gd name="T21" fmla="*/ 639 h 643"/>
                      <a:gd name="T22" fmla="*/ 258 w 682"/>
                      <a:gd name="T23" fmla="*/ 634 h 643"/>
                      <a:gd name="T24" fmla="*/ 321 w 682"/>
                      <a:gd name="T25" fmla="*/ 609 h 643"/>
                      <a:gd name="T26" fmla="*/ 406 w 682"/>
                      <a:gd name="T27" fmla="*/ 612 h 643"/>
                      <a:gd name="T28" fmla="*/ 492 w 682"/>
                      <a:gd name="T29" fmla="*/ 640 h 643"/>
                      <a:gd name="T30" fmla="*/ 609 w 682"/>
                      <a:gd name="T31" fmla="*/ 560 h 643"/>
                      <a:gd name="T32" fmla="*/ 671 w 682"/>
                      <a:gd name="T33" fmla="*/ 452 h 643"/>
                      <a:gd name="T34" fmla="*/ 682 w 682"/>
                      <a:gd name="T35" fmla="*/ 414 h 643"/>
                      <a:gd name="T36" fmla="*/ 631 w 682"/>
                      <a:gd name="T37" fmla="*/ 382 h 643"/>
                      <a:gd name="T38" fmla="*/ 572 w 682"/>
                      <a:gd name="T39" fmla="*/ 274 h 643"/>
                      <a:gd name="T40" fmla="*/ 599 w 682"/>
                      <a:gd name="T41" fmla="*/ 147 h 643"/>
                      <a:gd name="T42" fmla="*/ 662 w 682"/>
                      <a:gd name="T43" fmla="*/ 87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2" h="643">
                        <a:moveTo>
                          <a:pt x="662" y="87"/>
                        </a:moveTo>
                        <a:cubicBezTo>
                          <a:pt x="662" y="87"/>
                          <a:pt x="614" y="2"/>
                          <a:pt x="499" y="2"/>
                        </a:cubicBezTo>
                        <a:cubicBezTo>
                          <a:pt x="499" y="2"/>
                          <a:pt x="469" y="0"/>
                          <a:pt x="424" y="16"/>
                        </a:cubicBezTo>
                        <a:cubicBezTo>
                          <a:pt x="379" y="32"/>
                          <a:pt x="367" y="41"/>
                          <a:pt x="345" y="41"/>
                        </a:cubicBezTo>
                        <a:cubicBezTo>
                          <a:pt x="345" y="41"/>
                          <a:pt x="315" y="36"/>
                          <a:pt x="286" y="22"/>
                        </a:cubicBezTo>
                        <a:cubicBezTo>
                          <a:pt x="257" y="9"/>
                          <a:pt x="226" y="4"/>
                          <a:pt x="201" y="4"/>
                        </a:cubicBezTo>
                        <a:cubicBezTo>
                          <a:pt x="176" y="4"/>
                          <a:pt x="121" y="20"/>
                          <a:pt x="82" y="53"/>
                        </a:cubicBezTo>
                        <a:cubicBezTo>
                          <a:pt x="41" y="88"/>
                          <a:pt x="0" y="152"/>
                          <a:pt x="0" y="261"/>
                        </a:cubicBezTo>
                        <a:cubicBezTo>
                          <a:pt x="0" y="370"/>
                          <a:pt x="55" y="479"/>
                          <a:pt x="58" y="484"/>
                        </a:cubicBezTo>
                        <a:cubicBezTo>
                          <a:pt x="60" y="488"/>
                          <a:pt x="120" y="584"/>
                          <a:pt x="143" y="603"/>
                        </a:cubicBezTo>
                        <a:cubicBezTo>
                          <a:pt x="167" y="623"/>
                          <a:pt x="185" y="638"/>
                          <a:pt x="209" y="639"/>
                        </a:cubicBezTo>
                        <a:cubicBezTo>
                          <a:pt x="232" y="640"/>
                          <a:pt x="245" y="638"/>
                          <a:pt x="258" y="634"/>
                        </a:cubicBezTo>
                        <a:cubicBezTo>
                          <a:pt x="270" y="629"/>
                          <a:pt x="305" y="611"/>
                          <a:pt x="321" y="609"/>
                        </a:cubicBezTo>
                        <a:cubicBezTo>
                          <a:pt x="337" y="608"/>
                          <a:pt x="362" y="598"/>
                          <a:pt x="406" y="612"/>
                        </a:cubicBezTo>
                        <a:cubicBezTo>
                          <a:pt x="450" y="626"/>
                          <a:pt x="464" y="643"/>
                          <a:pt x="492" y="640"/>
                        </a:cubicBezTo>
                        <a:cubicBezTo>
                          <a:pt x="520" y="636"/>
                          <a:pt x="557" y="635"/>
                          <a:pt x="609" y="560"/>
                        </a:cubicBezTo>
                        <a:cubicBezTo>
                          <a:pt x="626" y="536"/>
                          <a:pt x="669" y="463"/>
                          <a:pt x="671" y="452"/>
                        </a:cubicBezTo>
                        <a:cubicBezTo>
                          <a:pt x="673" y="441"/>
                          <a:pt x="682" y="427"/>
                          <a:pt x="682" y="414"/>
                        </a:cubicBezTo>
                        <a:cubicBezTo>
                          <a:pt x="682" y="414"/>
                          <a:pt x="642" y="394"/>
                          <a:pt x="631" y="382"/>
                        </a:cubicBezTo>
                        <a:cubicBezTo>
                          <a:pt x="615" y="364"/>
                          <a:pt x="584" y="338"/>
                          <a:pt x="572" y="274"/>
                        </a:cubicBezTo>
                        <a:cubicBezTo>
                          <a:pt x="561" y="211"/>
                          <a:pt x="592" y="155"/>
                          <a:pt x="599" y="147"/>
                        </a:cubicBezTo>
                        <a:cubicBezTo>
                          <a:pt x="606" y="139"/>
                          <a:pt x="641" y="96"/>
                          <a:pt x="662" y="8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grpSp>
          </p:grpSp>
        </p:grpSp>
        <p:grpSp>
          <p:nvGrpSpPr>
            <p:cNvPr id="435" name="Group 434">
              <a:extLst>
                <a:ext uri="{FF2B5EF4-FFF2-40B4-BE49-F238E27FC236}">
                  <a16:creationId xmlns:a16="http://schemas.microsoft.com/office/drawing/2014/main" id="{00F47847-9913-BF6D-FBA3-F1964112F2EB}"/>
                </a:ext>
              </a:extLst>
            </p:cNvPr>
            <p:cNvGrpSpPr/>
            <p:nvPr/>
          </p:nvGrpSpPr>
          <p:grpSpPr>
            <a:xfrm>
              <a:off x="683484" y="3348417"/>
              <a:ext cx="363077" cy="278260"/>
              <a:chOff x="7398246" y="1610486"/>
              <a:chExt cx="498447" cy="382007"/>
            </a:xfrm>
          </p:grpSpPr>
          <p:sp>
            <p:nvSpPr>
              <p:cNvPr id="456" name="monitor">
                <a:extLst>
                  <a:ext uri="{FF2B5EF4-FFF2-40B4-BE49-F238E27FC236}">
                    <a16:creationId xmlns:a16="http://schemas.microsoft.com/office/drawing/2014/main" id="{ECDA684F-65AB-E238-6C5B-3FBF361478D6}"/>
                  </a:ext>
                </a:extLst>
              </p:cNvPr>
              <p:cNvSpPr>
                <a:spLocks noChangeAspect="1" noEditPoints="1"/>
              </p:cNvSpPr>
              <p:nvPr/>
            </p:nvSpPr>
            <p:spPr bwMode="auto">
              <a:xfrm>
                <a:off x="7398246" y="1610486"/>
                <a:ext cx="498447" cy="382007"/>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4224"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457" name="Rectangle 456">
                <a:extLst>
                  <a:ext uri="{FF2B5EF4-FFF2-40B4-BE49-F238E27FC236}">
                    <a16:creationId xmlns:a16="http://schemas.microsoft.com/office/drawing/2014/main" id="{900417BA-F9A5-65B2-82A0-8E483A131538}"/>
                  </a:ext>
                </a:extLst>
              </p:cNvPr>
              <p:cNvSpPr/>
              <p:nvPr/>
            </p:nvSpPr>
            <p:spPr bwMode="auto">
              <a:xfrm>
                <a:off x="7398246" y="1610486"/>
                <a:ext cx="498447" cy="30271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459" name="Group 11">
                <a:extLst>
                  <a:ext uri="{FF2B5EF4-FFF2-40B4-BE49-F238E27FC236}">
                    <a16:creationId xmlns:a16="http://schemas.microsoft.com/office/drawing/2014/main" id="{77C60624-51B6-419B-BCB9-D282F4C9184E}"/>
                  </a:ext>
                </a:extLst>
              </p:cNvPr>
              <p:cNvGrpSpPr>
                <a:grpSpLocks noChangeAspect="1"/>
              </p:cNvGrpSpPr>
              <p:nvPr/>
            </p:nvGrpSpPr>
            <p:grpSpPr bwMode="auto">
              <a:xfrm>
                <a:off x="7581678" y="1714920"/>
                <a:ext cx="111860" cy="111860"/>
                <a:chOff x="5664" y="1835"/>
                <a:chExt cx="73" cy="73"/>
              </a:xfrm>
              <a:solidFill>
                <a:schemeClr val="bg1"/>
              </a:solidFill>
            </p:grpSpPr>
            <p:sp>
              <p:nvSpPr>
                <p:cNvPr id="460" name="Freeform 12">
                  <a:extLst>
                    <a:ext uri="{FF2B5EF4-FFF2-40B4-BE49-F238E27FC236}">
                      <a16:creationId xmlns:a16="http://schemas.microsoft.com/office/drawing/2014/main" id="{B8D54F9E-A025-7770-2E61-065BACECBDB6}"/>
                    </a:ext>
                  </a:extLst>
                </p:cNvPr>
                <p:cNvSpPr>
                  <a:spLocks/>
                </p:cNvSpPr>
                <p:nvPr/>
              </p:nvSpPr>
              <p:spPr bwMode="auto">
                <a:xfrm>
                  <a:off x="5696" y="1835"/>
                  <a:ext cx="41" cy="35"/>
                </a:xfrm>
                <a:custGeom>
                  <a:avLst/>
                  <a:gdLst>
                    <a:gd name="T0" fmla="*/ 41 w 41"/>
                    <a:gd name="T1" fmla="*/ 35 h 35"/>
                    <a:gd name="T2" fmla="*/ 41 w 41"/>
                    <a:gd name="T3" fmla="*/ 0 h 35"/>
                    <a:gd name="T4" fmla="*/ 0 w 41"/>
                    <a:gd name="T5" fmla="*/ 6 h 35"/>
                    <a:gd name="T6" fmla="*/ 0 w 41"/>
                    <a:gd name="T7" fmla="*/ 35 h 35"/>
                    <a:gd name="T8" fmla="*/ 41 w 41"/>
                    <a:gd name="T9" fmla="*/ 35 h 35"/>
                  </a:gdLst>
                  <a:ahLst/>
                  <a:cxnLst>
                    <a:cxn ang="0">
                      <a:pos x="T0" y="T1"/>
                    </a:cxn>
                    <a:cxn ang="0">
                      <a:pos x="T2" y="T3"/>
                    </a:cxn>
                    <a:cxn ang="0">
                      <a:pos x="T4" y="T5"/>
                    </a:cxn>
                    <a:cxn ang="0">
                      <a:pos x="T6" y="T7"/>
                    </a:cxn>
                    <a:cxn ang="0">
                      <a:pos x="T8" y="T9"/>
                    </a:cxn>
                  </a:cxnLst>
                  <a:rect l="0" t="0" r="r" b="b"/>
                  <a:pathLst>
                    <a:path w="41" h="35">
                      <a:moveTo>
                        <a:pt x="41" y="35"/>
                      </a:moveTo>
                      <a:lnTo>
                        <a:pt x="41" y="0"/>
                      </a:lnTo>
                      <a:lnTo>
                        <a:pt x="0" y="6"/>
                      </a:lnTo>
                      <a:lnTo>
                        <a:pt x="0" y="35"/>
                      </a:lnTo>
                      <a:lnTo>
                        <a:pt x="4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61" name="Freeform 13">
                  <a:extLst>
                    <a:ext uri="{FF2B5EF4-FFF2-40B4-BE49-F238E27FC236}">
                      <a16:creationId xmlns:a16="http://schemas.microsoft.com/office/drawing/2014/main" id="{86954CB4-5000-705E-F878-083FB321CDD3}"/>
                    </a:ext>
                  </a:extLst>
                </p:cNvPr>
                <p:cNvSpPr>
                  <a:spLocks/>
                </p:cNvSpPr>
                <p:nvPr/>
              </p:nvSpPr>
              <p:spPr bwMode="auto">
                <a:xfrm>
                  <a:off x="5664" y="1841"/>
                  <a:ext cx="30" cy="29"/>
                </a:xfrm>
                <a:custGeom>
                  <a:avLst/>
                  <a:gdLst>
                    <a:gd name="T0" fmla="*/ 30 w 30"/>
                    <a:gd name="T1" fmla="*/ 0 h 29"/>
                    <a:gd name="T2" fmla="*/ 0 w 30"/>
                    <a:gd name="T3" fmla="*/ 5 h 29"/>
                    <a:gd name="T4" fmla="*/ 0 w 30"/>
                    <a:gd name="T5" fmla="*/ 29 h 29"/>
                    <a:gd name="T6" fmla="*/ 30 w 30"/>
                    <a:gd name="T7" fmla="*/ 29 h 29"/>
                    <a:gd name="T8" fmla="*/ 30 w 30"/>
                    <a:gd name="T9" fmla="*/ 0 h 29"/>
                  </a:gdLst>
                  <a:ahLst/>
                  <a:cxnLst>
                    <a:cxn ang="0">
                      <a:pos x="T0" y="T1"/>
                    </a:cxn>
                    <a:cxn ang="0">
                      <a:pos x="T2" y="T3"/>
                    </a:cxn>
                    <a:cxn ang="0">
                      <a:pos x="T4" y="T5"/>
                    </a:cxn>
                    <a:cxn ang="0">
                      <a:pos x="T6" y="T7"/>
                    </a:cxn>
                    <a:cxn ang="0">
                      <a:pos x="T8" y="T9"/>
                    </a:cxn>
                  </a:cxnLst>
                  <a:rect l="0" t="0" r="r" b="b"/>
                  <a:pathLst>
                    <a:path w="30" h="29">
                      <a:moveTo>
                        <a:pt x="30" y="0"/>
                      </a:moveTo>
                      <a:lnTo>
                        <a:pt x="0" y="5"/>
                      </a:lnTo>
                      <a:lnTo>
                        <a:pt x="0" y="29"/>
                      </a:lnTo>
                      <a:lnTo>
                        <a:pt x="30" y="29"/>
                      </a:lnTo>
                      <a:lnTo>
                        <a:pt x="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62" name="Freeform 14">
                  <a:extLst>
                    <a:ext uri="{FF2B5EF4-FFF2-40B4-BE49-F238E27FC236}">
                      <a16:creationId xmlns:a16="http://schemas.microsoft.com/office/drawing/2014/main" id="{0579FBAF-FFE9-1040-607A-4515114BFA5C}"/>
                    </a:ext>
                  </a:extLst>
                </p:cNvPr>
                <p:cNvSpPr>
                  <a:spLocks/>
                </p:cNvSpPr>
                <p:nvPr/>
              </p:nvSpPr>
              <p:spPr bwMode="auto">
                <a:xfrm>
                  <a:off x="5664" y="1873"/>
                  <a:ext cx="30" cy="29"/>
                </a:xfrm>
                <a:custGeom>
                  <a:avLst/>
                  <a:gdLst>
                    <a:gd name="T0" fmla="*/ 0 w 30"/>
                    <a:gd name="T1" fmla="*/ 0 h 29"/>
                    <a:gd name="T2" fmla="*/ 0 w 30"/>
                    <a:gd name="T3" fmla="*/ 24 h 29"/>
                    <a:gd name="T4" fmla="*/ 30 w 30"/>
                    <a:gd name="T5" fmla="*/ 29 h 29"/>
                    <a:gd name="T6" fmla="*/ 30 w 30"/>
                    <a:gd name="T7" fmla="*/ 0 h 29"/>
                    <a:gd name="T8" fmla="*/ 0 w 30"/>
                    <a:gd name="T9" fmla="*/ 0 h 29"/>
                  </a:gdLst>
                  <a:ahLst/>
                  <a:cxnLst>
                    <a:cxn ang="0">
                      <a:pos x="T0" y="T1"/>
                    </a:cxn>
                    <a:cxn ang="0">
                      <a:pos x="T2" y="T3"/>
                    </a:cxn>
                    <a:cxn ang="0">
                      <a:pos x="T4" y="T5"/>
                    </a:cxn>
                    <a:cxn ang="0">
                      <a:pos x="T6" y="T7"/>
                    </a:cxn>
                    <a:cxn ang="0">
                      <a:pos x="T8" y="T9"/>
                    </a:cxn>
                  </a:cxnLst>
                  <a:rect l="0" t="0" r="r" b="b"/>
                  <a:pathLst>
                    <a:path w="30" h="29">
                      <a:moveTo>
                        <a:pt x="0" y="0"/>
                      </a:moveTo>
                      <a:lnTo>
                        <a:pt x="0" y="24"/>
                      </a:lnTo>
                      <a:lnTo>
                        <a:pt x="30" y="29"/>
                      </a:lnTo>
                      <a:lnTo>
                        <a:pt x="3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63" name="Freeform 15">
                  <a:extLst>
                    <a:ext uri="{FF2B5EF4-FFF2-40B4-BE49-F238E27FC236}">
                      <a16:creationId xmlns:a16="http://schemas.microsoft.com/office/drawing/2014/main" id="{DB4719A2-0E5A-AC48-910E-86EED12A612F}"/>
                    </a:ext>
                  </a:extLst>
                </p:cNvPr>
                <p:cNvSpPr>
                  <a:spLocks/>
                </p:cNvSpPr>
                <p:nvPr/>
              </p:nvSpPr>
              <p:spPr bwMode="auto">
                <a:xfrm>
                  <a:off x="5696" y="1873"/>
                  <a:ext cx="41" cy="35"/>
                </a:xfrm>
                <a:custGeom>
                  <a:avLst/>
                  <a:gdLst>
                    <a:gd name="T0" fmla="*/ 0 w 41"/>
                    <a:gd name="T1" fmla="*/ 29 h 35"/>
                    <a:gd name="T2" fmla="*/ 41 w 41"/>
                    <a:gd name="T3" fmla="*/ 35 h 35"/>
                    <a:gd name="T4" fmla="*/ 41 w 41"/>
                    <a:gd name="T5" fmla="*/ 0 h 35"/>
                    <a:gd name="T6" fmla="*/ 0 w 41"/>
                    <a:gd name="T7" fmla="*/ 0 h 35"/>
                    <a:gd name="T8" fmla="*/ 0 w 41"/>
                    <a:gd name="T9" fmla="*/ 29 h 35"/>
                  </a:gdLst>
                  <a:ahLst/>
                  <a:cxnLst>
                    <a:cxn ang="0">
                      <a:pos x="T0" y="T1"/>
                    </a:cxn>
                    <a:cxn ang="0">
                      <a:pos x="T2" y="T3"/>
                    </a:cxn>
                    <a:cxn ang="0">
                      <a:pos x="T4" y="T5"/>
                    </a:cxn>
                    <a:cxn ang="0">
                      <a:pos x="T6" y="T7"/>
                    </a:cxn>
                    <a:cxn ang="0">
                      <a:pos x="T8" y="T9"/>
                    </a:cxn>
                  </a:cxnLst>
                  <a:rect l="0" t="0" r="r" b="b"/>
                  <a:pathLst>
                    <a:path w="41" h="35">
                      <a:moveTo>
                        <a:pt x="0" y="29"/>
                      </a:moveTo>
                      <a:lnTo>
                        <a:pt x="41" y="35"/>
                      </a:lnTo>
                      <a:lnTo>
                        <a:pt x="41" y="0"/>
                      </a:lnTo>
                      <a:lnTo>
                        <a:pt x="0" y="0"/>
                      </a:lnTo>
                      <a:lnTo>
                        <a:pt x="0"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436" name="Group 435">
              <a:extLst>
                <a:ext uri="{FF2B5EF4-FFF2-40B4-BE49-F238E27FC236}">
                  <a16:creationId xmlns:a16="http://schemas.microsoft.com/office/drawing/2014/main" id="{2FCFC3C5-A70C-A9B3-7694-2FDC508F8FF4}"/>
                </a:ext>
              </a:extLst>
            </p:cNvPr>
            <p:cNvGrpSpPr/>
            <p:nvPr/>
          </p:nvGrpSpPr>
          <p:grpSpPr>
            <a:xfrm>
              <a:off x="444718" y="3348417"/>
              <a:ext cx="154905" cy="257165"/>
              <a:chOff x="7084723" y="1610486"/>
              <a:chExt cx="212660" cy="353049"/>
            </a:xfrm>
          </p:grpSpPr>
          <p:sp>
            <p:nvSpPr>
              <p:cNvPr id="450" name="Rectangle 449">
                <a:extLst>
                  <a:ext uri="{FF2B5EF4-FFF2-40B4-BE49-F238E27FC236}">
                    <a16:creationId xmlns:a16="http://schemas.microsoft.com/office/drawing/2014/main" id="{70A36555-F202-18F5-E2AC-5A1FB652B995}"/>
                  </a:ext>
                </a:extLst>
              </p:cNvPr>
              <p:cNvSpPr/>
              <p:nvPr/>
            </p:nvSpPr>
            <p:spPr bwMode="auto">
              <a:xfrm>
                <a:off x="7085519" y="1610486"/>
                <a:ext cx="211864" cy="353049"/>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451" name="Group 450">
                <a:extLst>
                  <a:ext uri="{FF2B5EF4-FFF2-40B4-BE49-F238E27FC236}">
                    <a16:creationId xmlns:a16="http://schemas.microsoft.com/office/drawing/2014/main" id="{CC9689AE-DAC7-ECEA-FAB7-7BFC47A817A7}"/>
                  </a:ext>
                </a:extLst>
              </p:cNvPr>
              <p:cNvGrpSpPr/>
              <p:nvPr/>
            </p:nvGrpSpPr>
            <p:grpSpPr>
              <a:xfrm>
                <a:off x="7138556" y="1706457"/>
                <a:ext cx="104198" cy="130248"/>
                <a:chOff x="9444088" y="2885171"/>
                <a:chExt cx="107950" cy="134938"/>
              </a:xfrm>
              <a:solidFill>
                <a:schemeClr val="bg1"/>
              </a:solidFill>
            </p:grpSpPr>
            <p:sp>
              <p:nvSpPr>
                <p:cNvPr id="454" name="Freeform 26">
                  <a:extLst>
                    <a:ext uri="{FF2B5EF4-FFF2-40B4-BE49-F238E27FC236}">
                      <a16:creationId xmlns:a16="http://schemas.microsoft.com/office/drawing/2014/main" id="{4D7BA90E-DC36-D0D7-F4B5-B6F3ADEFB3AD}"/>
                    </a:ext>
                  </a:extLst>
                </p:cNvPr>
                <p:cNvSpPr>
                  <a:spLocks/>
                </p:cNvSpPr>
                <p:nvPr/>
              </p:nvSpPr>
              <p:spPr bwMode="auto">
                <a:xfrm>
                  <a:off x="9496476" y="2885171"/>
                  <a:ext cx="30163" cy="31750"/>
                </a:xfrm>
                <a:custGeom>
                  <a:avLst/>
                  <a:gdLst>
                    <a:gd name="T0" fmla="*/ 179 w 188"/>
                    <a:gd name="T1" fmla="*/ 0 h 196"/>
                    <a:gd name="T2" fmla="*/ 45 w 188"/>
                    <a:gd name="T3" fmla="*/ 72 h 196"/>
                    <a:gd name="T4" fmla="*/ 12 w 188"/>
                    <a:gd name="T5" fmla="*/ 195 h 196"/>
                    <a:gd name="T6" fmla="*/ 141 w 188"/>
                    <a:gd name="T7" fmla="*/ 128 h 196"/>
                    <a:gd name="T8" fmla="*/ 179 w 188"/>
                    <a:gd name="T9" fmla="*/ 0 h 196"/>
                  </a:gdLst>
                  <a:ahLst/>
                  <a:cxnLst>
                    <a:cxn ang="0">
                      <a:pos x="T0" y="T1"/>
                    </a:cxn>
                    <a:cxn ang="0">
                      <a:pos x="T2" y="T3"/>
                    </a:cxn>
                    <a:cxn ang="0">
                      <a:pos x="T4" y="T5"/>
                    </a:cxn>
                    <a:cxn ang="0">
                      <a:pos x="T6" y="T7"/>
                    </a:cxn>
                    <a:cxn ang="0">
                      <a:pos x="T8" y="T9"/>
                    </a:cxn>
                  </a:cxnLst>
                  <a:rect l="0" t="0" r="r" b="b"/>
                  <a:pathLst>
                    <a:path w="188" h="196">
                      <a:moveTo>
                        <a:pt x="179" y="0"/>
                      </a:moveTo>
                      <a:cubicBezTo>
                        <a:pt x="179" y="0"/>
                        <a:pt x="90" y="8"/>
                        <a:pt x="45" y="72"/>
                      </a:cubicBezTo>
                      <a:cubicBezTo>
                        <a:pt x="0" y="136"/>
                        <a:pt x="12" y="195"/>
                        <a:pt x="12" y="195"/>
                      </a:cubicBezTo>
                      <a:cubicBezTo>
                        <a:pt x="12" y="195"/>
                        <a:pt x="90" y="196"/>
                        <a:pt x="141" y="128"/>
                      </a:cubicBezTo>
                      <a:cubicBezTo>
                        <a:pt x="188" y="66"/>
                        <a:pt x="179" y="0"/>
                        <a:pt x="17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55" name="Freeform 27">
                  <a:extLst>
                    <a:ext uri="{FF2B5EF4-FFF2-40B4-BE49-F238E27FC236}">
                      <a16:creationId xmlns:a16="http://schemas.microsoft.com/office/drawing/2014/main" id="{336561FC-B534-1B88-DEDB-33B4F893EB0A}"/>
                    </a:ext>
                  </a:extLst>
                </p:cNvPr>
                <p:cNvSpPr>
                  <a:spLocks/>
                </p:cNvSpPr>
                <p:nvPr/>
              </p:nvSpPr>
              <p:spPr bwMode="auto">
                <a:xfrm>
                  <a:off x="9444088" y="2916921"/>
                  <a:ext cx="107950" cy="103188"/>
                </a:xfrm>
                <a:custGeom>
                  <a:avLst/>
                  <a:gdLst>
                    <a:gd name="T0" fmla="*/ 662 w 682"/>
                    <a:gd name="T1" fmla="*/ 87 h 643"/>
                    <a:gd name="T2" fmla="*/ 499 w 682"/>
                    <a:gd name="T3" fmla="*/ 2 h 643"/>
                    <a:gd name="T4" fmla="*/ 424 w 682"/>
                    <a:gd name="T5" fmla="*/ 16 h 643"/>
                    <a:gd name="T6" fmla="*/ 345 w 682"/>
                    <a:gd name="T7" fmla="*/ 41 h 643"/>
                    <a:gd name="T8" fmla="*/ 286 w 682"/>
                    <a:gd name="T9" fmla="*/ 22 h 643"/>
                    <a:gd name="T10" fmla="*/ 201 w 682"/>
                    <a:gd name="T11" fmla="*/ 4 h 643"/>
                    <a:gd name="T12" fmla="*/ 82 w 682"/>
                    <a:gd name="T13" fmla="*/ 53 h 643"/>
                    <a:gd name="T14" fmla="*/ 0 w 682"/>
                    <a:gd name="T15" fmla="*/ 261 h 643"/>
                    <a:gd name="T16" fmla="*/ 58 w 682"/>
                    <a:gd name="T17" fmla="*/ 484 h 643"/>
                    <a:gd name="T18" fmla="*/ 143 w 682"/>
                    <a:gd name="T19" fmla="*/ 603 h 643"/>
                    <a:gd name="T20" fmla="*/ 209 w 682"/>
                    <a:gd name="T21" fmla="*/ 639 h 643"/>
                    <a:gd name="T22" fmla="*/ 258 w 682"/>
                    <a:gd name="T23" fmla="*/ 634 h 643"/>
                    <a:gd name="T24" fmla="*/ 321 w 682"/>
                    <a:gd name="T25" fmla="*/ 609 h 643"/>
                    <a:gd name="T26" fmla="*/ 406 w 682"/>
                    <a:gd name="T27" fmla="*/ 612 h 643"/>
                    <a:gd name="T28" fmla="*/ 492 w 682"/>
                    <a:gd name="T29" fmla="*/ 640 h 643"/>
                    <a:gd name="T30" fmla="*/ 609 w 682"/>
                    <a:gd name="T31" fmla="*/ 560 h 643"/>
                    <a:gd name="T32" fmla="*/ 671 w 682"/>
                    <a:gd name="T33" fmla="*/ 452 h 643"/>
                    <a:gd name="T34" fmla="*/ 682 w 682"/>
                    <a:gd name="T35" fmla="*/ 414 h 643"/>
                    <a:gd name="T36" fmla="*/ 631 w 682"/>
                    <a:gd name="T37" fmla="*/ 382 h 643"/>
                    <a:gd name="T38" fmla="*/ 572 w 682"/>
                    <a:gd name="T39" fmla="*/ 274 h 643"/>
                    <a:gd name="T40" fmla="*/ 599 w 682"/>
                    <a:gd name="T41" fmla="*/ 147 h 643"/>
                    <a:gd name="T42" fmla="*/ 662 w 682"/>
                    <a:gd name="T43" fmla="*/ 87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2" h="643">
                      <a:moveTo>
                        <a:pt x="662" y="87"/>
                      </a:moveTo>
                      <a:cubicBezTo>
                        <a:pt x="662" y="87"/>
                        <a:pt x="614" y="2"/>
                        <a:pt x="499" y="2"/>
                      </a:cubicBezTo>
                      <a:cubicBezTo>
                        <a:pt x="499" y="2"/>
                        <a:pt x="469" y="0"/>
                        <a:pt x="424" y="16"/>
                      </a:cubicBezTo>
                      <a:cubicBezTo>
                        <a:pt x="379" y="32"/>
                        <a:pt x="367" y="41"/>
                        <a:pt x="345" y="41"/>
                      </a:cubicBezTo>
                      <a:cubicBezTo>
                        <a:pt x="345" y="41"/>
                        <a:pt x="315" y="36"/>
                        <a:pt x="286" y="22"/>
                      </a:cubicBezTo>
                      <a:cubicBezTo>
                        <a:pt x="257" y="9"/>
                        <a:pt x="226" y="4"/>
                        <a:pt x="201" y="4"/>
                      </a:cubicBezTo>
                      <a:cubicBezTo>
                        <a:pt x="176" y="4"/>
                        <a:pt x="121" y="20"/>
                        <a:pt x="82" y="53"/>
                      </a:cubicBezTo>
                      <a:cubicBezTo>
                        <a:pt x="41" y="88"/>
                        <a:pt x="0" y="152"/>
                        <a:pt x="0" y="261"/>
                      </a:cubicBezTo>
                      <a:cubicBezTo>
                        <a:pt x="0" y="370"/>
                        <a:pt x="55" y="479"/>
                        <a:pt x="58" y="484"/>
                      </a:cubicBezTo>
                      <a:cubicBezTo>
                        <a:pt x="60" y="488"/>
                        <a:pt x="120" y="584"/>
                        <a:pt x="143" y="603"/>
                      </a:cubicBezTo>
                      <a:cubicBezTo>
                        <a:pt x="167" y="623"/>
                        <a:pt x="185" y="638"/>
                        <a:pt x="209" y="639"/>
                      </a:cubicBezTo>
                      <a:cubicBezTo>
                        <a:pt x="232" y="640"/>
                        <a:pt x="245" y="638"/>
                        <a:pt x="258" y="634"/>
                      </a:cubicBezTo>
                      <a:cubicBezTo>
                        <a:pt x="270" y="629"/>
                        <a:pt x="305" y="611"/>
                        <a:pt x="321" y="609"/>
                      </a:cubicBezTo>
                      <a:cubicBezTo>
                        <a:pt x="337" y="608"/>
                        <a:pt x="362" y="598"/>
                        <a:pt x="406" y="612"/>
                      </a:cubicBezTo>
                      <a:cubicBezTo>
                        <a:pt x="450" y="626"/>
                        <a:pt x="464" y="643"/>
                        <a:pt x="492" y="640"/>
                      </a:cubicBezTo>
                      <a:cubicBezTo>
                        <a:pt x="520" y="636"/>
                        <a:pt x="557" y="635"/>
                        <a:pt x="609" y="560"/>
                      </a:cubicBezTo>
                      <a:cubicBezTo>
                        <a:pt x="626" y="536"/>
                        <a:pt x="669" y="463"/>
                        <a:pt x="671" y="452"/>
                      </a:cubicBezTo>
                      <a:cubicBezTo>
                        <a:pt x="673" y="441"/>
                        <a:pt x="682" y="427"/>
                        <a:pt x="682" y="414"/>
                      </a:cubicBezTo>
                      <a:cubicBezTo>
                        <a:pt x="682" y="414"/>
                        <a:pt x="642" y="394"/>
                        <a:pt x="631" y="382"/>
                      </a:cubicBezTo>
                      <a:cubicBezTo>
                        <a:pt x="615" y="364"/>
                        <a:pt x="584" y="338"/>
                        <a:pt x="572" y="274"/>
                      </a:cubicBezTo>
                      <a:cubicBezTo>
                        <a:pt x="561" y="211"/>
                        <a:pt x="592" y="155"/>
                        <a:pt x="599" y="147"/>
                      </a:cubicBezTo>
                      <a:cubicBezTo>
                        <a:pt x="606" y="139"/>
                        <a:pt x="641" y="96"/>
                        <a:pt x="662"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grpSp>
          <p:sp>
            <p:nvSpPr>
              <p:cNvPr id="452" name="CellPhone_E8EA">
                <a:extLst>
                  <a:ext uri="{FF2B5EF4-FFF2-40B4-BE49-F238E27FC236}">
                    <a16:creationId xmlns:a16="http://schemas.microsoft.com/office/drawing/2014/main" id="{82CF3EBD-8FF9-1A8E-DE1F-294D0AF54866}"/>
                  </a:ext>
                </a:extLst>
              </p:cNvPr>
              <p:cNvSpPr>
                <a:spLocks noChangeAspect="1" noEditPoints="1"/>
              </p:cNvSpPr>
              <p:nvPr/>
            </p:nvSpPr>
            <p:spPr bwMode="auto">
              <a:xfrm>
                <a:off x="7084723" y="1610486"/>
                <a:ext cx="211864" cy="353049"/>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4224" cap="sq">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cxnSp>
            <p:nvCxnSpPr>
              <p:cNvPr id="453" name="Straight Connector 452">
                <a:extLst>
                  <a:ext uri="{FF2B5EF4-FFF2-40B4-BE49-F238E27FC236}">
                    <a16:creationId xmlns:a16="http://schemas.microsoft.com/office/drawing/2014/main" id="{56E802F2-D2DA-8A1D-5783-766297CE17C6}"/>
                  </a:ext>
                </a:extLst>
              </p:cNvPr>
              <p:cNvCxnSpPr>
                <a:cxnSpLocks/>
              </p:cNvCxnSpPr>
              <p:nvPr/>
            </p:nvCxnSpPr>
            <p:spPr>
              <a:xfrm>
                <a:off x="7165583" y="1916461"/>
                <a:ext cx="47081" cy="0"/>
              </a:xfrm>
              <a:prstGeom prst="line">
                <a:avLst/>
              </a:prstGeom>
              <a:ln>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37" name="Group 436">
              <a:extLst>
                <a:ext uri="{FF2B5EF4-FFF2-40B4-BE49-F238E27FC236}">
                  <a16:creationId xmlns:a16="http://schemas.microsoft.com/office/drawing/2014/main" id="{E826FA67-3C27-EAD3-9F86-74BE5916A8C6}"/>
                </a:ext>
              </a:extLst>
            </p:cNvPr>
            <p:cNvGrpSpPr/>
            <p:nvPr/>
          </p:nvGrpSpPr>
          <p:grpSpPr>
            <a:xfrm>
              <a:off x="206532" y="3348790"/>
              <a:ext cx="154325" cy="257165"/>
              <a:chOff x="6490922" y="1610486"/>
              <a:chExt cx="211865" cy="353049"/>
            </a:xfrm>
          </p:grpSpPr>
          <p:sp>
            <p:nvSpPr>
              <p:cNvPr id="438" name="Rectangle 437">
                <a:extLst>
                  <a:ext uri="{FF2B5EF4-FFF2-40B4-BE49-F238E27FC236}">
                    <a16:creationId xmlns:a16="http://schemas.microsoft.com/office/drawing/2014/main" id="{4C7BA507-EF4C-3A45-2D95-36115163F9CC}"/>
                  </a:ext>
                </a:extLst>
              </p:cNvPr>
              <p:cNvSpPr/>
              <p:nvPr/>
            </p:nvSpPr>
            <p:spPr bwMode="auto">
              <a:xfrm>
                <a:off x="6490922" y="1610486"/>
                <a:ext cx="211864" cy="353049"/>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439" name="Group 30">
                <a:extLst>
                  <a:ext uri="{FF2B5EF4-FFF2-40B4-BE49-F238E27FC236}">
                    <a16:creationId xmlns:a16="http://schemas.microsoft.com/office/drawing/2014/main" id="{29761906-EC8E-D2F6-5591-64CEFDC1A192}"/>
                  </a:ext>
                </a:extLst>
              </p:cNvPr>
              <p:cNvGrpSpPr>
                <a:grpSpLocks noChangeAspect="1"/>
              </p:cNvGrpSpPr>
              <p:nvPr/>
            </p:nvGrpSpPr>
            <p:grpSpPr bwMode="auto">
              <a:xfrm>
                <a:off x="6545792" y="1729376"/>
                <a:ext cx="111361" cy="115269"/>
                <a:chOff x="5049" y="1841"/>
                <a:chExt cx="57" cy="59"/>
              </a:xfrm>
              <a:solidFill>
                <a:schemeClr val="bg1"/>
              </a:solidFill>
            </p:grpSpPr>
            <p:sp>
              <p:nvSpPr>
                <p:cNvPr id="442" name="Freeform 31">
                  <a:extLst>
                    <a:ext uri="{FF2B5EF4-FFF2-40B4-BE49-F238E27FC236}">
                      <a16:creationId xmlns:a16="http://schemas.microsoft.com/office/drawing/2014/main" id="{F61D2AEE-7BA7-FC3A-8388-CFC4D9DCD84A}"/>
                    </a:ext>
                  </a:extLst>
                </p:cNvPr>
                <p:cNvSpPr>
                  <a:spLocks/>
                </p:cNvSpPr>
                <p:nvPr/>
              </p:nvSpPr>
              <p:spPr bwMode="auto">
                <a:xfrm>
                  <a:off x="5049" y="1859"/>
                  <a:ext cx="9" cy="23"/>
                </a:xfrm>
                <a:custGeom>
                  <a:avLst/>
                  <a:gdLst>
                    <a:gd name="T0" fmla="*/ 70 w 81"/>
                    <a:gd name="T1" fmla="*/ 0 h 212"/>
                    <a:gd name="T2" fmla="*/ 11 w 81"/>
                    <a:gd name="T3" fmla="*/ 0 h 212"/>
                    <a:gd name="T4" fmla="*/ 0 w 81"/>
                    <a:gd name="T5" fmla="*/ 11 h 212"/>
                    <a:gd name="T6" fmla="*/ 0 w 81"/>
                    <a:gd name="T7" fmla="*/ 201 h 212"/>
                    <a:gd name="T8" fmla="*/ 11 w 81"/>
                    <a:gd name="T9" fmla="*/ 212 h 212"/>
                    <a:gd name="T10" fmla="*/ 70 w 81"/>
                    <a:gd name="T11" fmla="*/ 212 h 212"/>
                    <a:gd name="T12" fmla="*/ 81 w 81"/>
                    <a:gd name="T13" fmla="*/ 201 h 212"/>
                    <a:gd name="T14" fmla="*/ 81 w 81"/>
                    <a:gd name="T15" fmla="*/ 11 h 212"/>
                    <a:gd name="T16" fmla="*/ 70 w 81"/>
                    <a:gd name="T1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212">
                      <a:moveTo>
                        <a:pt x="70" y="0"/>
                      </a:moveTo>
                      <a:cubicBezTo>
                        <a:pt x="11" y="0"/>
                        <a:pt x="11" y="0"/>
                        <a:pt x="11" y="0"/>
                      </a:cubicBezTo>
                      <a:cubicBezTo>
                        <a:pt x="5" y="0"/>
                        <a:pt x="0" y="5"/>
                        <a:pt x="0" y="11"/>
                      </a:cubicBezTo>
                      <a:cubicBezTo>
                        <a:pt x="0" y="201"/>
                        <a:pt x="0" y="201"/>
                        <a:pt x="0" y="201"/>
                      </a:cubicBezTo>
                      <a:cubicBezTo>
                        <a:pt x="0" y="207"/>
                        <a:pt x="5" y="212"/>
                        <a:pt x="11" y="212"/>
                      </a:cubicBezTo>
                      <a:cubicBezTo>
                        <a:pt x="70" y="212"/>
                        <a:pt x="70" y="212"/>
                        <a:pt x="70" y="212"/>
                      </a:cubicBezTo>
                      <a:cubicBezTo>
                        <a:pt x="76" y="212"/>
                        <a:pt x="81" y="207"/>
                        <a:pt x="81" y="201"/>
                      </a:cubicBezTo>
                      <a:cubicBezTo>
                        <a:pt x="81" y="11"/>
                        <a:pt x="81" y="11"/>
                        <a:pt x="81" y="11"/>
                      </a:cubicBezTo>
                      <a:cubicBezTo>
                        <a:pt x="81" y="5"/>
                        <a:pt x="76" y="0"/>
                        <a:pt x="7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43" name="Freeform 32">
                  <a:extLst>
                    <a:ext uri="{FF2B5EF4-FFF2-40B4-BE49-F238E27FC236}">
                      <a16:creationId xmlns:a16="http://schemas.microsoft.com/office/drawing/2014/main" id="{BEF07894-7DC0-20D5-DCB4-FD1A41007EC8}"/>
                    </a:ext>
                  </a:extLst>
                </p:cNvPr>
                <p:cNvSpPr>
                  <a:spLocks/>
                </p:cNvSpPr>
                <p:nvPr/>
              </p:nvSpPr>
              <p:spPr bwMode="auto">
                <a:xfrm>
                  <a:off x="5097" y="1859"/>
                  <a:ext cx="9" cy="23"/>
                </a:xfrm>
                <a:custGeom>
                  <a:avLst/>
                  <a:gdLst>
                    <a:gd name="T0" fmla="*/ 71 w 82"/>
                    <a:gd name="T1" fmla="*/ 0 h 212"/>
                    <a:gd name="T2" fmla="*/ 11 w 82"/>
                    <a:gd name="T3" fmla="*/ 0 h 212"/>
                    <a:gd name="T4" fmla="*/ 0 w 82"/>
                    <a:gd name="T5" fmla="*/ 11 h 212"/>
                    <a:gd name="T6" fmla="*/ 0 w 82"/>
                    <a:gd name="T7" fmla="*/ 201 h 212"/>
                    <a:gd name="T8" fmla="*/ 11 w 82"/>
                    <a:gd name="T9" fmla="*/ 212 h 212"/>
                    <a:gd name="T10" fmla="*/ 71 w 82"/>
                    <a:gd name="T11" fmla="*/ 212 h 212"/>
                    <a:gd name="T12" fmla="*/ 82 w 82"/>
                    <a:gd name="T13" fmla="*/ 201 h 212"/>
                    <a:gd name="T14" fmla="*/ 82 w 82"/>
                    <a:gd name="T15" fmla="*/ 11 h 212"/>
                    <a:gd name="T16" fmla="*/ 71 w 82"/>
                    <a:gd name="T1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212">
                      <a:moveTo>
                        <a:pt x="71" y="0"/>
                      </a:moveTo>
                      <a:cubicBezTo>
                        <a:pt x="11" y="0"/>
                        <a:pt x="11" y="0"/>
                        <a:pt x="11" y="0"/>
                      </a:cubicBezTo>
                      <a:cubicBezTo>
                        <a:pt x="5" y="0"/>
                        <a:pt x="0" y="5"/>
                        <a:pt x="0" y="11"/>
                      </a:cubicBezTo>
                      <a:cubicBezTo>
                        <a:pt x="0" y="201"/>
                        <a:pt x="0" y="201"/>
                        <a:pt x="0" y="201"/>
                      </a:cubicBezTo>
                      <a:cubicBezTo>
                        <a:pt x="0" y="207"/>
                        <a:pt x="5" y="212"/>
                        <a:pt x="11" y="212"/>
                      </a:cubicBezTo>
                      <a:cubicBezTo>
                        <a:pt x="71" y="212"/>
                        <a:pt x="71" y="212"/>
                        <a:pt x="71" y="212"/>
                      </a:cubicBezTo>
                      <a:cubicBezTo>
                        <a:pt x="77" y="212"/>
                        <a:pt x="82" y="207"/>
                        <a:pt x="82" y="201"/>
                      </a:cubicBezTo>
                      <a:cubicBezTo>
                        <a:pt x="82" y="11"/>
                        <a:pt x="82" y="11"/>
                        <a:pt x="82" y="11"/>
                      </a:cubicBezTo>
                      <a:cubicBezTo>
                        <a:pt x="82" y="5"/>
                        <a:pt x="77" y="0"/>
                        <a:pt x="7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44" name="Freeform 33">
                  <a:extLst>
                    <a:ext uri="{FF2B5EF4-FFF2-40B4-BE49-F238E27FC236}">
                      <a16:creationId xmlns:a16="http://schemas.microsoft.com/office/drawing/2014/main" id="{081EA021-E19E-433E-E2BB-69C73A31CB54}"/>
                    </a:ext>
                  </a:extLst>
                </p:cNvPr>
                <p:cNvSpPr>
                  <a:spLocks/>
                </p:cNvSpPr>
                <p:nvPr/>
              </p:nvSpPr>
              <p:spPr bwMode="auto">
                <a:xfrm>
                  <a:off x="5066" y="1877"/>
                  <a:ext cx="9" cy="23"/>
                </a:xfrm>
                <a:custGeom>
                  <a:avLst/>
                  <a:gdLst>
                    <a:gd name="T0" fmla="*/ 70 w 81"/>
                    <a:gd name="T1" fmla="*/ 0 h 211"/>
                    <a:gd name="T2" fmla="*/ 11 w 81"/>
                    <a:gd name="T3" fmla="*/ 0 h 211"/>
                    <a:gd name="T4" fmla="*/ 0 w 81"/>
                    <a:gd name="T5" fmla="*/ 11 h 211"/>
                    <a:gd name="T6" fmla="*/ 0 w 81"/>
                    <a:gd name="T7" fmla="*/ 200 h 211"/>
                    <a:gd name="T8" fmla="*/ 11 w 81"/>
                    <a:gd name="T9" fmla="*/ 211 h 211"/>
                    <a:gd name="T10" fmla="*/ 70 w 81"/>
                    <a:gd name="T11" fmla="*/ 211 h 211"/>
                    <a:gd name="T12" fmla="*/ 81 w 81"/>
                    <a:gd name="T13" fmla="*/ 200 h 211"/>
                    <a:gd name="T14" fmla="*/ 81 w 81"/>
                    <a:gd name="T15" fmla="*/ 11 h 211"/>
                    <a:gd name="T16" fmla="*/ 70 w 81"/>
                    <a:gd name="T1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211">
                      <a:moveTo>
                        <a:pt x="70" y="0"/>
                      </a:moveTo>
                      <a:cubicBezTo>
                        <a:pt x="11" y="0"/>
                        <a:pt x="11" y="0"/>
                        <a:pt x="11" y="0"/>
                      </a:cubicBezTo>
                      <a:cubicBezTo>
                        <a:pt x="5" y="0"/>
                        <a:pt x="0" y="4"/>
                        <a:pt x="0" y="11"/>
                      </a:cubicBezTo>
                      <a:cubicBezTo>
                        <a:pt x="0" y="200"/>
                        <a:pt x="0" y="200"/>
                        <a:pt x="0" y="200"/>
                      </a:cubicBezTo>
                      <a:cubicBezTo>
                        <a:pt x="0" y="206"/>
                        <a:pt x="5" y="211"/>
                        <a:pt x="11" y="211"/>
                      </a:cubicBezTo>
                      <a:cubicBezTo>
                        <a:pt x="70" y="211"/>
                        <a:pt x="70" y="211"/>
                        <a:pt x="70" y="211"/>
                      </a:cubicBezTo>
                      <a:cubicBezTo>
                        <a:pt x="76" y="211"/>
                        <a:pt x="81" y="206"/>
                        <a:pt x="81" y="200"/>
                      </a:cubicBezTo>
                      <a:cubicBezTo>
                        <a:pt x="81" y="11"/>
                        <a:pt x="81" y="11"/>
                        <a:pt x="81" y="11"/>
                      </a:cubicBezTo>
                      <a:cubicBezTo>
                        <a:pt x="81" y="4"/>
                        <a:pt x="76" y="0"/>
                        <a:pt x="7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45" name="Freeform 34">
                  <a:extLst>
                    <a:ext uri="{FF2B5EF4-FFF2-40B4-BE49-F238E27FC236}">
                      <a16:creationId xmlns:a16="http://schemas.microsoft.com/office/drawing/2014/main" id="{1832AB3E-96D4-2F81-E8CF-A774C704E14E}"/>
                    </a:ext>
                  </a:extLst>
                </p:cNvPr>
                <p:cNvSpPr>
                  <a:spLocks/>
                </p:cNvSpPr>
                <p:nvPr/>
              </p:nvSpPr>
              <p:spPr bwMode="auto">
                <a:xfrm>
                  <a:off x="5079" y="1877"/>
                  <a:ext cx="10" cy="23"/>
                </a:xfrm>
                <a:custGeom>
                  <a:avLst/>
                  <a:gdLst>
                    <a:gd name="T0" fmla="*/ 71 w 82"/>
                    <a:gd name="T1" fmla="*/ 0 h 211"/>
                    <a:gd name="T2" fmla="*/ 11 w 82"/>
                    <a:gd name="T3" fmla="*/ 0 h 211"/>
                    <a:gd name="T4" fmla="*/ 0 w 82"/>
                    <a:gd name="T5" fmla="*/ 11 h 211"/>
                    <a:gd name="T6" fmla="*/ 0 w 82"/>
                    <a:gd name="T7" fmla="*/ 200 h 211"/>
                    <a:gd name="T8" fmla="*/ 11 w 82"/>
                    <a:gd name="T9" fmla="*/ 211 h 211"/>
                    <a:gd name="T10" fmla="*/ 71 w 82"/>
                    <a:gd name="T11" fmla="*/ 211 h 211"/>
                    <a:gd name="T12" fmla="*/ 82 w 82"/>
                    <a:gd name="T13" fmla="*/ 200 h 211"/>
                    <a:gd name="T14" fmla="*/ 82 w 82"/>
                    <a:gd name="T15" fmla="*/ 11 h 211"/>
                    <a:gd name="T16" fmla="*/ 71 w 82"/>
                    <a:gd name="T1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211">
                      <a:moveTo>
                        <a:pt x="71" y="0"/>
                      </a:moveTo>
                      <a:cubicBezTo>
                        <a:pt x="11" y="0"/>
                        <a:pt x="11" y="0"/>
                        <a:pt x="11" y="0"/>
                      </a:cubicBezTo>
                      <a:cubicBezTo>
                        <a:pt x="5" y="0"/>
                        <a:pt x="0" y="4"/>
                        <a:pt x="0" y="11"/>
                      </a:cubicBezTo>
                      <a:cubicBezTo>
                        <a:pt x="0" y="200"/>
                        <a:pt x="0" y="200"/>
                        <a:pt x="0" y="200"/>
                      </a:cubicBezTo>
                      <a:cubicBezTo>
                        <a:pt x="0" y="206"/>
                        <a:pt x="5" y="211"/>
                        <a:pt x="11" y="211"/>
                      </a:cubicBezTo>
                      <a:cubicBezTo>
                        <a:pt x="71" y="211"/>
                        <a:pt x="71" y="211"/>
                        <a:pt x="71" y="211"/>
                      </a:cubicBezTo>
                      <a:cubicBezTo>
                        <a:pt x="77" y="211"/>
                        <a:pt x="82" y="206"/>
                        <a:pt x="82" y="200"/>
                      </a:cubicBezTo>
                      <a:cubicBezTo>
                        <a:pt x="82" y="11"/>
                        <a:pt x="82" y="11"/>
                        <a:pt x="82" y="11"/>
                      </a:cubicBezTo>
                      <a:cubicBezTo>
                        <a:pt x="82" y="4"/>
                        <a:pt x="77" y="0"/>
                        <a:pt x="7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46" name="Freeform 35">
                  <a:extLst>
                    <a:ext uri="{FF2B5EF4-FFF2-40B4-BE49-F238E27FC236}">
                      <a16:creationId xmlns:a16="http://schemas.microsoft.com/office/drawing/2014/main" id="{73DE19A8-FA0A-9610-424F-5824B35A374C}"/>
                    </a:ext>
                  </a:extLst>
                </p:cNvPr>
                <p:cNvSpPr>
                  <a:spLocks/>
                </p:cNvSpPr>
                <p:nvPr/>
              </p:nvSpPr>
              <p:spPr bwMode="auto">
                <a:xfrm>
                  <a:off x="5060" y="1859"/>
                  <a:ext cx="35" cy="28"/>
                </a:xfrm>
                <a:custGeom>
                  <a:avLst/>
                  <a:gdLst>
                    <a:gd name="T0" fmla="*/ 304 w 304"/>
                    <a:gd name="T1" fmla="*/ 0 h 264"/>
                    <a:gd name="T2" fmla="*/ 304 w 304"/>
                    <a:gd name="T3" fmla="*/ 221 h 264"/>
                    <a:gd name="T4" fmla="*/ 261 w 304"/>
                    <a:gd name="T5" fmla="*/ 264 h 264"/>
                    <a:gd name="T6" fmla="*/ 43 w 304"/>
                    <a:gd name="T7" fmla="*/ 264 h 264"/>
                    <a:gd name="T8" fmla="*/ 0 w 304"/>
                    <a:gd name="T9" fmla="*/ 221 h 264"/>
                    <a:gd name="T10" fmla="*/ 0 w 304"/>
                    <a:gd name="T11" fmla="*/ 0 h 264"/>
                    <a:gd name="T12" fmla="*/ 304 w 304"/>
                    <a:gd name="T13" fmla="*/ 0 h 264"/>
                  </a:gdLst>
                  <a:ahLst/>
                  <a:cxnLst>
                    <a:cxn ang="0">
                      <a:pos x="T0" y="T1"/>
                    </a:cxn>
                    <a:cxn ang="0">
                      <a:pos x="T2" y="T3"/>
                    </a:cxn>
                    <a:cxn ang="0">
                      <a:pos x="T4" y="T5"/>
                    </a:cxn>
                    <a:cxn ang="0">
                      <a:pos x="T6" y="T7"/>
                    </a:cxn>
                    <a:cxn ang="0">
                      <a:pos x="T8" y="T9"/>
                    </a:cxn>
                    <a:cxn ang="0">
                      <a:pos x="T10" y="T11"/>
                    </a:cxn>
                    <a:cxn ang="0">
                      <a:pos x="T12" y="T13"/>
                    </a:cxn>
                  </a:cxnLst>
                  <a:rect l="0" t="0" r="r" b="b"/>
                  <a:pathLst>
                    <a:path w="304" h="264">
                      <a:moveTo>
                        <a:pt x="304" y="0"/>
                      </a:moveTo>
                      <a:cubicBezTo>
                        <a:pt x="304" y="221"/>
                        <a:pt x="304" y="221"/>
                        <a:pt x="304" y="221"/>
                      </a:cubicBezTo>
                      <a:cubicBezTo>
                        <a:pt x="304" y="244"/>
                        <a:pt x="285" y="264"/>
                        <a:pt x="261" y="264"/>
                      </a:cubicBezTo>
                      <a:cubicBezTo>
                        <a:pt x="43" y="264"/>
                        <a:pt x="43" y="264"/>
                        <a:pt x="43" y="264"/>
                      </a:cubicBezTo>
                      <a:cubicBezTo>
                        <a:pt x="20" y="264"/>
                        <a:pt x="0" y="244"/>
                        <a:pt x="0" y="221"/>
                      </a:cubicBezTo>
                      <a:cubicBezTo>
                        <a:pt x="0" y="0"/>
                        <a:pt x="0" y="0"/>
                        <a:pt x="0" y="0"/>
                      </a:cubicBezTo>
                      <a:lnTo>
                        <a:pt x="30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47" name="Freeform 36">
                  <a:extLst>
                    <a:ext uri="{FF2B5EF4-FFF2-40B4-BE49-F238E27FC236}">
                      <a16:creationId xmlns:a16="http://schemas.microsoft.com/office/drawing/2014/main" id="{85556AC0-8E12-D12F-3AB6-62E422E142E2}"/>
                    </a:ext>
                  </a:extLst>
                </p:cNvPr>
                <p:cNvSpPr>
                  <a:spLocks noEditPoints="1"/>
                </p:cNvSpPr>
                <p:nvPr/>
              </p:nvSpPr>
              <p:spPr bwMode="auto">
                <a:xfrm>
                  <a:off x="5060" y="1845"/>
                  <a:ext cx="35" cy="13"/>
                </a:xfrm>
                <a:custGeom>
                  <a:avLst/>
                  <a:gdLst>
                    <a:gd name="T0" fmla="*/ 152 w 304"/>
                    <a:gd name="T1" fmla="*/ 0 h 118"/>
                    <a:gd name="T2" fmla="*/ 0 w 304"/>
                    <a:gd name="T3" fmla="*/ 118 h 118"/>
                    <a:gd name="T4" fmla="*/ 304 w 304"/>
                    <a:gd name="T5" fmla="*/ 118 h 118"/>
                    <a:gd name="T6" fmla="*/ 152 w 304"/>
                    <a:gd name="T7" fmla="*/ 0 h 118"/>
                    <a:gd name="T8" fmla="*/ 90 w 304"/>
                    <a:gd name="T9" fmla="*/ 79 h 118"/>
                    <a:gd name="T10" fmla="*/ 72 w 304"/>
                    <a:gd name="T11" fmla="*/ 61 h 118"/>
                    <a:gd name="T12" fmla="*/ 90 w 304"/>
                    <a:gd name="T13" fmla="*/ 43 h 118"/>
                    <a:gd name="T14" fmla="*/ 108 w 304"/>
                    <a:gd name="T15" fmla="*/ 61 h 118"/>
                    <a:gd name="T16" fmla="*/ 90 w 304"/>
                    <a:gd name="T17" fmla="*/ 79 h 118"/>
                    <a:gd name="T18" fmla="*/ 214 w 304"/>
                    <a:gd name="T19" fmla="*/ 79 h 118"/>
                    <a:gd name="T20" fmla="*/ 196 w 304"/>
                    <a:gd name="T21" fmla="*/ 61 h 118"/>
                    <a:gd name="T22" fmla="*/ 214 w 304"/>
                    <a:gd name="T23" fmla="*/ 43 h 118"/>
                    <a:gd name="T24" fmla="*/ 233 w 304"/>
                    <a:gd name="T25" fmla="*/ 61 h 118"/>
                    <a:gd name="T26" fmla="*/ 214 w 304"/>
                    <a:gd name="T27" fmla="*/ 7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4" h="118">
                      <a:moveTo>
                        <a:pt x="152" y="0"/>
                      </a:moveTo>
                      <a:cubicBezTo>
                        <a:pt x="68" y="0"/>
                        <a:pt x="0" y="53"/>
                        <a:pt x="0" y="118"/>
                      </a:cubicBezTo>
                      <a:cubicBezTo>
                        <a:pt x="304" y="118"/>
                        <a:pt x="304" y="118"/>
                        <a:pt x="304" y="118"/>
                      </a:cubicBezTo>
                      <a:cubicBezTo>
                        <a:pt x="304" y="53"/>
                        <a:pt x="236" y="0"/>
                        <a:pt x="152" y="0"/>
                      </a:cubicBezTo>
                      <a:close/>
                      <a:moveTo>
                        <a:pt x="90" y="79"/>
                      </a:moveTo>
                      <a:cubicBezTo>
                        <a:pt x="80" y="79"/>
                        <a:pt x="72" y="71"/>
                        <a:pt x="72" y="61"/>
                      </a:cubicBezTo>
                      <a:cubicBezTo>
                        <a:pt x="72" y="51"/>
                        <a:pt x="80" y="43"/>
                        <a:pt x="90" y="43"/>
                      </a:cubicBezTo>
                      <a:cubicBezTo>
                        <a:pt x="100" y="43"/>
                        <a:pt x="108" y="51"/>
                        <a:pt x="108" y="61"/>
                      </a:cubicBezTo>
                      <a:cubicBezTo>
                        <a:pt x="108" y="71"/>
                        <a:pt x="100" y="79"/>
                        <a:pt x="90" y="79"/>
                      </a:cubicBezTo>
                      <a:close/>
                      <a:moveTo>
                        <a:pt x="214" y="79"/>
                      </a:moveTo>
                      <a:cubicBezTo>
                        <a:pt x="204" y="79"/>
                        <a:pt x="196" y="71"/>
                        <a:pt x="196" y="61"/>
                      </a:cubicBezTo>
                      <a:cubicBezTo>
                        <a:pt x="196" y="51"/>
                        <a:pt x="204" y="43"/>
                        <a:pt x="214" y="43"/>
                      </a:cubicBezTo>
                      <a:cubicBezTo>
                        <a:pt x="224" y="43"/>
                        <a:pt x="233" y="51"/>
                        <a:pt x="233" y="61"/>
                      </a:cubicBezTo>
                      <a:cubicBezTo>
                        <a:pt x="233" y="71"/>
                        <a:pt x="224" y="79"/>
                        <a:pt x="214"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48" name="Freeform 37">
                  <a:extLst>
                    <a:ext uri="{FF2B5EF4-FFF2-40B4-BE49-F238E27FC236}">
                      <a16:creationId xmlns:a16="http://schemas.microsoft.com/office/drawing/2014/main" id="{1331A201-3E73-9B4D-69BE-C8739C687387}"/>
                    </a:ext>
                  </a:extLst>
                </p:cNvPr>
                <p:cNvSpPr>
                  <a:spLocks/>
                </p:cNvSpPr>
                <p:nvPr/>
              </p:nvSpPr>
              <p:spPr bwMode="auto">
                <a:xfrm>
                  <a:off x="5064" y="1841"/>
                  <a:ext cx="10" cy="10"/>
                </a:xfrm>
                <a:custGeom>
                  <a:avLst/>
                  <a:gdLst>
                    <a:gd name="T0" fmla="*/ 79 w 85"/>
                    <a:gd name="T1" fmla="*/ 71 h 101"/>
                    <a:gd name="T2" fmla="*/ 40 w 85"/>
                    <a:gd name="T3" fmla="*/ 12 h 101"/>
                    <a:gd name="T4" fmla="*/ 12 w 85"/>
                    <a:gd name="T5" fmla="*/ 7 h 101"/>
                    <a:gd name="T6" fmla="*/ 6 w 85"/>
                    <a:gd name="T7" fmla="*/ 35 h 101"/>
                    <a:gd name="T8" fmla="*/ 42 w 85"/>
                    <a:gd name="T9" fmla="*/ 89 h 101"/>
                    <a:gd name="T10" fmla="*/ 53 w 85"/>
                    <a:gd name="T11" fmla="*/ 85 h 101"/>
                    <a:gd name="T12" fmla="*/ 71 w 85"/>
                    <a:gd name="T13" fmla="*/ 101 h 101"/>
                    <a:gd name="T14" fmla="*/ 73 w 85"/>
                    <a:gd name="T15" fmla="*/ 100 h 101"/>
                    <a:gd name="T16" fmla="*/ 79 w 85"/>
                    <a:gd name="T17" fmla="*/ 7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101">
                      <a:moveTo>
                        <a:pt x="79" y="71"/>
                      </a:moveTo>
                      <a:cubicBezTo>
                        <a:pt x="40" y="12"/>
                        <a:pt x="40" y="12"/>
                        <a:pt x="40" y="12"/>
                      </a:cubicBezTo>
                      <a:cubicBezTo>
                        <a:pt x="34" y="3"/>
                        <a:pt x="21" y="0"/>
                        <a:pt x="12" y="7"/>
                      </a:cubicBezTo>
                      <a:cubicBezTo>
                        <a:pt x="3" y="13"/>
                        <a:pt x="0" y="25"/>
                        <a:pt x="6" y="35"/>
                      </a:cubicBezTo>
                      <a:cubicBezTo>
                        <a:pt x="42" y="89"/>
                        <a:pt x="42" y="89"/>
                        <a:pt x="42" y="89"/>
                      </a:cubicBezTo>
                      <a:cubicBezTo>
                        <a:pt x="45" y="86"/>
                        <a:pt x="49" y="85"/>
                        <a:pt x="53" y="85"/>
                      </a:cubicBezTo>
                      <a:cubicBezTo>
                        <a:pt x="63" y="85"/>
                        <a:pt x="70" y="92"/>
                        <a:pt x="71" y="101"/>
                      </a:cubicBezTo>
                      <a:cubicBezTo>
                        <a:pt x="72" y="100"/>
                        <a:pt x="73" y="100"/>
                        <a:pt x="73" y="100"/>
                      </a:cubicBezTo>
                      <a:cubicBezTo>
                        <a:pt x="82" y="93"/>
                        <a:pt x="85" y="81"/>
                        <a:pt x="79"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449" name="Freeform 38">
                  <a:extLst>
                    <a:ext uri="{FF2B5EF4-FFF2-40B4-BE49-F238E27FC236}">
                      <a16:creationId xmlns:a16="http://schemas.microsoft.com/office/drawing/2014/main" id="{70946D43-F4CF-B3BF-0EBF-6EC66287B4EA}"/>
                    </a:ext>
                  </a:extLst>
                </p:cNvPr>
                <p:cNvSpPr>
                  <a:spLocks/>
                </p:cNvSpPr>
                <p:nvPr/>
              </p:nvSpPr>
              <p:spPr bwMode="auto">
                <a:xfrm>
                  <a:off x="5081" y="1841"/>
                  <a:ext cx="10" cy="10"/>
                </a:xfrm>
                <a:custGeom>
                  <a:avLst/>
                  <a:gdLst>
                    <a:gd name="T0" fmla="*/ 73 w 85"/>
                    <a:gd name="T1" fmla="*/ 7 h 101"/>
                    <a:gd name="T2" fmla="*/ 44 w 85"/>
                    <a:gd name="T3" fmla="*/ 12 h 101"/>
                    <a:gd name="T4" fmla="*/ 6 w 85"/>
                    <a:gd name="T5" fmla="*/ 71 h 101"/>
                    <a:gd name="T6" fmla="*/ 12 w 85"/>
                    <a:gd name="T7" fmla="*/ 100 h 101"/>
                    <a:gd name="T8" fmla="*/ 13 w 85"/>
                    <a:gd name="T9" fmla="*/ 101 h 101"/>
                    <a:gd name="T10" fmla="*/ 31 w 85"/>
                    <a:gd name="T11" fmla="*/ 85 h 101"/>
                    <a:gd name="T12" fmla="*/ 43 w 85"/>
                    <a:gd name="T13" fmla="*/ 89 h 101"/>
                    <a:gd name="T14" fmla="*/ 78 w 85"/>
                    <a:gd name="T15" fmla="*/ 35 h 101"/>
                    <a:gd name="T16" fmla="*/ 73 w 85"/>
                    <a:gd name="T17" fmla="*/ 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101">
                      <a:moveTo>
                        <a:pt x="73" y="7"/>
                      </a:moveTo>
                      <a:cubicBezTo>
                        <a:pt x="63" y="0"/>
                        <a:pt x="51" y="3"/>
                        <a:pt x="44" y="12"/>
                      </a:cubicBezTo>
                      <a:cubicBezTo>
                        <a:pt x="6" y="71"/>
                        <a:pt x="6" y="71"/>
                        <a:pt x="6" y="71"/>
                      </a:cubicBezTo>
                      <a:cubicBezTo>
                        <a:pt x="0" y="81"/>
                        <a:pt x="2" y="93"/>
                        <a:pt x="12" y="100"/>
                      </a:cubicBezTo>
                      <a:cubicBezTo>
                        <a:pt x="12" y="100"/>
                        <a:pt x="13" y="100"/>
                        <a:pt x="13" y="101"/>
                      </a:cubicBezTo>
                      <a:cubicBezTo>
                        <a:pt x="15" y="92"/>
                        <a:pt x="22" y="85"/>
                        <a:pt x="31" y="85"/>
                      </a:cubicBezTo>
                      <a:cubicBezTo>
                        <a:pt x="36" y="85"/>
                        <a:pt x="40" y="86"/>
                        <a:pt x="43" y="89"/>
                      </a:cubicBezTo>
                      <a:cubicBezTo>
                        <a:pt x="78" y="35"/>
                        <a:pt x="78" y="35"/>
                        <a:pt x="78" y="35"/>
                      </a:cubicBezTo>
                      <a:cubicBezTo>
                        <a:pt x="85" y="25"/>
                        <a:pt x="82" y="13"/>
                        <a:pt x="7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grpSp>
          <p:sp>
            <p:nvSpPr>
              <p:cNvPr id="440" name="CellPhone_E8EA">
                <a:extLst>
                  <a:ext uri="{FF2B5EF4-FFF2-40B4-BE49-F238E27FC236}">
                    <a16:creationId xmlns:a16="http://schemas.microsoft.com/office/drawing/2014/main" id="{2EEFF1FE-B643-A102-75DD-DA0AAB64D48E}"/>
                  </a:ext>
                </a:extLst>
              </p:cNvPr>
              <p:cNvSpPr>
                <a:spLocks noChangeAspect="1" noEditPoints="1"/>
              </p:cNvSpPr>
              <p:nvPr/>
            </p:nvSpPr>
            <p:spPr bwMode="auto">
              <a:xfrm>
                <a:off x="6490923" y="1610486"/>
                <a:ext cx="211864" cy="353049"/>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4224" cap="sq">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cxnSp>
            <p:nvCxnSpPr>
              <p:cNvPr id="441" name="Straight Connector 440">
                <a:extLst>
                  <a:ext uri="{FF2B5EF4-FFF2-40B4-BE49-F238E27FC236}">
                    <a16:creationId xmlns:a16="http://schemas.microsoft.com/office/drawing/2014/main" id="{0BD67DBA-57E1-6B92-9F10-4DE946391738}"/>
                  </a:ext>
                </a:extLst>
              </p:cNvPr>
              <p:cNvCxnSpPr>
                <a:cxnSpLocks/>
              </p:cNvCxnSpPr>
              <p:nvPr/>
            </p:nvCxnSpPr>
            <p:spPr>
              <a:xfrm>
                <a:off x="6573314" y="1916461"/>
                <a:ext cx="47081" cy="0"/>
              </a:xfrm>
              <a:prstGeom prst="line">
                <a:avLst/>
              </a:prstGeom>
              <a:ln>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sp>
        <p:nvSpPr>
          <p:cNvPr id="48" name="Rectangle 47">
            <a:hlinkClick r:id="rId122" tooltip="Microsoft Defender for Identity (formerly Azure ATP) detects on-premises identity attacks using behavioral analysis (UEBA) + specific detections for Pass the Hash/Ticket/Password, Golden Ticket, Skeleton Key, and others."/>
            <a:extLst>
              <a:ext uri="{FF2B5EF4-FFF2-40B4-BE49-F238E27FC236}">
                <a16:creationId xmlns:a16="http://schemas.microsoft.com/office/drawing/2014/main" id="{3C034AAA-CACD-AE8D-01EA-C87313A26466}"/>
              </a:ext>
            </a:extLst>
          </p:cNvPr>
          <p:cNvSpPr/>
          <p:nvPr/>
        </p:nvSpPr>
        <p:spPr>
          <a:xfrm>
            <a:off x="3100462" y="1048147"/>
            <a:ext cx="438448" cy="903381"/>
          </a:xfrm>
          <a:prstGeom prst="rect">
            <a:avLst/>
          </a:prstGeom>
          <a:solidFill>
            <a:schemeClr val="bg1"/>
          </a:solidFill>
          <a:ln w="14224" cap="flat" cmpd="sng" algn="ctr">
            <a:solidFill>
              <a:srgbClr val="BEFFC3"/>
            </a:solidFill>
            <a:prstDash val="solid"/>
          </a:ln>
          <a:effectLst/>
        </p:spPr>
        <p:txBody>
          <a:bodyPr lIns="45720" tIns="502920" rIns="45720" bIns="0" rtlCol="0" anchor="t"/>
          <a:lstStyle/>
          <a:p>
            <a:pPr marR="0" lvl="0" algn="ctr" fontAlgn="auto">
              <a:lnSpc>
                <a:spcPct val="97000"/>
              </a:lnSpc>
              <a:spcBef>
                <a:spcPts val="0"/>
              </a:spcBef>
              <a:spcAft>
                <a:spcPts val="200"/>
              </a:spcAft>
              <a:buClrTx/>
              <a:buSzTx/>
              <a:buFontTx/>
              <a:buNone/>
              <a:tabLst/>
              <a:defRPr/>
            </a:pPr>
            <a:r>
              <a:rPr lang="en-US" sz="900" b="1" kern="0">
                <a:latin typeface="Segoe UI Semibold" panose="020B0702040204020203" pitchFamily="34" charset="0"/>
                <a:cs typeface="Segoe UI Semibold" panose="020B0702040204020203" pitchFamily="34" charset="0"/>
              </a:rPr>
              <a:t>Data</a:t>
            </a:r>
          </a:p>
          <a:p>
            <a:pPr algn="ctr">
              <a:lnSpc>
                <a:spcPct val="97000"/>
              </a:lnSpc>
              <a:defRPr/>
            </a:pPr>
            <a:r>
              <a:rPr lang="en-US" sz="500" i="1" kern="0">
                <a:latin typeface="Segoe UI" panose="020B0502040204020203" pitchFamily="34" charset="0"/>
                <a:cs typeface="Segoe UI" panose="020B0502040204020203" pitchFamily="34" charset="0"/>
              </a:rPr>
              <a:t>SQL, DLP,  &amp; more</a:t>
            </a:r>
          </a:p>
        </p:txBody>
      </p:sp>
      <p:grpSp>
        <p:nvGrpSpPr>
          <p:cNvPr id="221" name="Group 220">
            <a:extLst>
              <a:ext uri="{FF2B5EF4-FFF2-40B4-BE49-F238E27FC236}">
                <a16:creationId xmlns:a16="http://schemas.microsoft.com/office/drawing/2014/main" id="{F16E1472-E305-7F19-645E-5802C363C16E}"/>
              </a:ext>
            </a:extLst>
          </p:cNvPr>
          <p:cNvGrpSpPr/>
          <p:nvPr/>
        </p:nvGrpSpPr>
        <p:grpSpPr>
          <a:xfrm>
            <a:off x="2724135" y="394478"/>
            <a:ext cx="1780533" cy="311785"/>
            <a:chOff x="2724135" y="394478"/>
            <a:chExt cx="1780533" cy="311785"/>
          </a:xfrm>
        </p:grpSpPr>
        <p:sp>
          <p:nvSpPr>
            <p:cNvPr id="176" name="Rectangle 175">
              <a:hlinkClick r:id="rId128" tooltip="The Microsoft Intelligent Security Association (MISA) is an ecosystem of independent software vendors and managed security service providers that have integrated their solutions to better defend against a world of increasing threats."/>
              <a:extLst>
                <a:ext uri="{FF2B5EF4-FFF2-40B4-BE49-F238E27FC236}">
                  <a16:creationId xmlns:a16="http://schemas.microsoft.com/office/drawing/2014/main" id="{85F67E8E-ADC2-50C2-8758-38C90F53991F}"/>
                </a:ext>
              </a:extLst>
            </p:cNvPr>
            <p:cNvSpPr/>
            <p:nvPr/>
          </p:nvSpPr>
          <p:spPr>
            <a:xfrm>
              <a:off x="2724135" y="394478"/>
              <a:ext cx="1780533" cy="311785"/>
            </a:xfrm>
            <a:prstGeom prst="rect">
              <a:avLst/>
            </a:prstGeom>
            <a:solidFill>
              <a:srgbClr val="BEFFC3"/>
            </a:solidFill>
            <a:ln w="9525">
              <a:solidFill>
                <a:schemeClr val="bg1"/>
              </a:solidFill>
              <a:prstDash val="solid"/>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73152" rIns="45720" bIns="73152"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Managed Security Operations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a:ln>
                    <a:noFill/>
                  </a:ln>
                  <a:solidFill>
                    <a:schemeClr val="tx1"/>
                  </a:solidFill>
                  <a:effectLst/>
                  <a:uLnTx/>
                  <a:uFillTx/>
                  <a:latin typeface="Segoe UI Semibold"/>
                  <a:ea typeface="+mn-ea"/>
                  <a:cs typeface="Segoe UI" panose="020B0502040204020203" pitchFamily="34" charset="0"/>
                </a:rPr>
                <a:t>Using Microsoft Security</a:t>
              </a:r>
            </a:p>
          </p:txBody>
        </p:sp>
        <p:sp>
          <p:nvSpPr>
            <p:cNvPr id="188" name="Commitments_EC4D">
              <a:extLst>
                <a:ext uri="{FF2B5EF4-FFF2-40B4-BE49-F238E27FC236}">
                  <a16:creationId xmlns:a16="http://schemas.microsoft.com/office/drawing/2014/main" id="{BEAE43E1-4E2E-B5FF-8B26-AAEF08C6C754}"/>
                </a:ext>
              </a:extLst>
            </p:cNvPr>
            <p:cNvSpPr>
              <a:spLocks noChangeAspect="1" noEditPoints="1"/>
            </p:cNvSpPr>
            <p:nvPr/>
          </p:nvSpPr>
          <p:spPr bwMode="auto">
            <a:xfrm>
              <a:off x="2786816" y="463056"/>
              <a:ext cx="171080" cy="160991"/>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952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9144" rIns="91440" bIns="914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223" name="Group 222">
            <a:extLst>
              <a:ext uri="{FF2B5EF4-FFF2-40B4-BE49-F238E27FC236}">
                <a16:creationId xmlns:a16="http://schemas.microsoft.com/office/drawing/2014/main" id="{863DFF30-E1A8-2608-4D92-FFE6C6B64F82}"/>
              </a:ext>
            </a:extLst>
          </p:cNvPr>
          <p:cNvGrpSpPr/>
          <p:nvPr/>
        </p:nvGrpSpPr>
        <p:grpSpPr>
          <a:xfrm>
            <a:off x="256360" y="394478"/>
            <a:ext cx="2443036" cy="311785"/>
            <a:chOff x="256360" y="394478"/>
            <a:chExt cx="2443036" cy="311785"/>
          </a:xfrm>
        </p:grpSpPr>
        <p:sp>
          <p:nvSpPr>
            <p:cNvPr id="211" name="Rectangle 210">
              <a:extLst>
                <a:ext uri="{FF2B5EF4-FFF2-40B4-BE49-F238E27FC236}">
                  <a16:creationId xmlns:a16="http://schemas.microsoft.com/office/drawing/2014/main" id="{C7AFFC25-C9E5-6BFE-C2D5-1B2F3907038E}"/>
                </a:ext>
              </a:extLst>
            </p:cNvPr>
            <p:cNvSpPr/>
            <p:nvPr/>
          </p:nvSpPr>
          <p:spPr>
            <a:xfrm>
              <a:off x="256360" y="394478"/>
              <a:ext cx="2443036" cy="311785"/>
            </a:xfrm>
            <a:prstGeom prst="rect">
              <a:avLst/>
            </a:prstGeom>
            <a:solidFill>
              <a:srgbClr val="BEFFC3"/>
            </a:solidFill>
            <a:ln w="9525" cap="flat" cmpd="sng" algn="ctr">
              <a:solidFill>
                <a:schemeClr val="bg1"/>
              </a:solidFill>
              <a:prstDash val="solid"/>
            </a:ln>
            <a:effectLst>
              <a:outerShdw blurRad="25400" dist="12700" dir="5400000" algn="tl" rotWithShape="0">
                <a:prstClr val="black">
                  <a:alpha val="15000"/>
                </a:prstClr>
              </a:outerShdw>
            </a:effectLst>
          </p:spPr>
          <p:txBody>
            <a:bodyPr lIns="274320" tIns="18288" rIns="45720" rtlCol="0" anchor="t"/>
            <a:lstStyle/>
            <a:p>
              <a:pPr marR="0" lvl="0" algn="ctr" defTabSz="914400" rtl="0" eaLnBrk="1" fontAlgn="auto" latinLnBrk="0" hangingPunct="1">
                <a:lnSpc>
                  <a:spcPct val="97000"/>
                </a:lnSpc>
                <a:spcBef>
                  <a:spcPts val="0"/>
                </a:spcBef>
                <a:spcAft>
                  <a:spcPts val="0"/>
                </a:spcAft>
                <a:buClrTx/>
                <a:buSzTx/>
                <a:buFontTx/>
                <a:buNone/>
                <a:tabLst/>
                <a:defRPr/>
              </a:pPr>
              <a:r>
                <a:rPr lang="en-US" sz="900">
                  <a:solidFill>
                    <a:sysClr val="windowText" lastClr="000000"/>
                  </a:solidFill>
                  <a:latin typeface="Segoe UI Semibold" panose="020B0702040204020203" pitchFamily="34" charset="0"/>
                  <a:cs typeface="Segoe UI Semibold" panose="020B0702040204020203" pitchFamily="34" charset="0"/>
                </a:rPr>
                <a:t>Microsoft Security Experts</a:t>
              </a:r>
            </a:p>
          </p:txBody>
        </p:sp>
        <p:sp>
          <p:nvSpPr>
            <p:cNvPr id="214" name="Rectangle 213">
              <a:hlinkClick r:id="rId129" tooltip="Provides assistance with incident response, recovery, and hunting (onsite and remotely). The incident response is effectively &quot;on retainer&quot; for customers with Premier/Unified Support."/>
              <a:extLst>
                <a:ext uri="{FF2B5EF4-FFF2-40B4-BE49-F238E27FC236}">
                  <a16:creationId xmlns:a16="http://schemas.microsoft.com/office/drawing/2014/main" id="{DB858067-4C9C-733E-EB24-AA4B027C901F}"/>
                </a:ext>
              </a:extLst>
            </p:cNvPr>
            <p:cNvSpPr/>
            <p:nvPr/>
          </p:nvSpPr>
          <p:spPr>
            <a:xfrm>
              <a:off x="454841" y="560467"/>
              <a:ext cx="2187196" cy="134652"/>
            </a:xfrm>
            <a:prstGeom prst="rect">
              <a:avLst/>
            </a:prstGeom>
            <a:noFill/>
            <a:ln w="14224" cap="flat" cmpd="sng" algn="ctr">
              <a:noFill/>
              <a:prstDash val="solid"/>
            </a:ln>
            <a:effectLst/>
          </p:spPr>
          <p:txBody>
            <a:bodyPr lIns="45720" rIns="0" rtlCol="0" anchor="ctr"/>
            <a:lstStyle/>
            <a:p>
              <a:pPr algn="ctr">
                <a:lnSpc>
                  <a:spcPct val="97000"/>
                </a:lnSpc>
              </a:pPr>
              <a:r>
                <a:rPr kumimoji="0" lang="en-US" sz="650" b="0" i="1" u="none" strike="noStrike" kern="0" cap="none" spc="0" normalizeH="0" baseline="0" noProof="0">
                  <a:ln>
                    <a:noFill/>
                  </a:ln>
                  <a:effectLst/>
                  <a:uLnTx/>
                  <a:uFillTx/>
                  <a:latin typeface="Segoe UI Semibold" panose="020B0702040204020203" pitchFamily="34" charset="0"/>
                  <a:cs typeface="Segoe UI Semibold" panose="020B0702040204020203" pitchFamily="34" charset="0"/>
                </a:rPr>
                <a:t>Defender Experts</a:t>
              </a:r>
              <a:r>
                <a:rPr lang="en-US" sz="650" i="1" kern="0">
                  <a:latin typeface="Segoe UI Semibold" panose="020B0702040204020203" pitchFamily="34" charset="0"/>
                  <a:cs typeface="Segoe UI Semibold" panose="020B0702040204020203" pitchFamily="34" charset="0"/>
                </a:rPr>
                <a:t> | Detection and Response Team (DART)</a:t>
              </a:r>
            </a:p>
          </p:txBody>
        </p:sp>
        <p:sp>
          <p:nvSpPr>
            <p:cNvPr id="215" name="people_4" title="Icon of a person">
              <a:extLst>
                <a:ext uri="{FF2B5EF4-FFF2-40B4-BE49-F238E27FC236}">
                  <a16:creationId xmlns:a16="http://schemas.microsoft.com/office/drawing/2014/main" id="{480A0104-41A9-B306-326E-090915A0C3CA}"/>
                </a:ext>
              </a:extLst>
            </p:cNvPr>
            <p:cNvSpPr>
              <a:spLocks noChangeAspect="1" noEditPoints="1"/>
            </p:cNvSpPr>
            <p:nvPr/>
          </p:nvSpPr>
          <p:spPr bwMode="auto">
            <a:xfrm>
              <a:off x="303074" y="470990"/>
              <a:ext cx="151767" cy="158760"/>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952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grpSp>
      <p:sp>
        <p:nvSpPr>
          <p:cNvPr id="64" name="Rectangle 63">
            <a:hlinkClick r:id="rId130" tooltip="Windows Local Administrator Password Solution (LAPS) mitigates lateral traversal attacks by setting and managing random passwords for local administrator accounts on Windows computers"/>
            <a:extLst>
              <a:ext uri="{FF2B5EF4-FFF2-40B4-BE49-F238E27FC236}">
                <a16:creationId xmlns:a16="http://schemas.microsoft.com/office/drawing/2014/main" id="{B10D9E25-5653-4B86-4871-A42DC5DC1DB9}"/>
              </a:ext>
            </a:extLst>
          </p:cNvPr>
          <p:cNvSpPr/>
          <p:nvPr/>
        </p:nvSpPr>
        <p:spPr>
          <a:xfrm>
            <a:off x="247327" y="5695176"/>
            <a:ext cx="695648" cy="321501"/>
          </a:xfrm>
          <a:prstGeom prst="rect">
            <a:avLst/>
          </a:prstGeom>
          <a:solidFill>
            <a:schemeClr val="bg1"/>
          </a:solidFill>
          <a:ln w="19050" cap="flat" cmpd="sng" algn="ctr">
            <a:solidFill>
              <a:srgbClr val="FC8455"/>
            </a:solidFill>
            <a:prstDash val="solid"/>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0" u="none" strike="noStrike" kern="0" cap="none" spc="0" normalizeH="0" baseline="0" noProof="0">
                <a:ln>
                  <a:noFill/>
                </a:ln>
                <a:effectLst/>
                <a:uLnTx/>
                <a:uFillTx/>
                <a:latin typeface="Segoe UI"/>
                <a:ea typeface="+mn-ea"/>
                <a:cs typeface="Segoe UI" panose="020B0502040204020203" pitchFamily="34" charset="0"/>
              </a:rPr>
              <a:t>Windows LAPS</a:t>
            </a:r>
          </a:p>
          <a:p>
            <a:pPr marL="0" marR="0" lvl="0" indent="0" algn="ctr" defTabSz="914400" eaLnBrk="1" fontAlgn="auto" latinLnBrk="0" hangingPunct="1">
              <a:lnSpc>
                <a:spcPct val="100000"/>
              </a:lnSpc>
              <a:spcBef>
                <a:spcPts val="100"/>
              </a:spcBef>
              <a:spcAft>
                <a:spcPts val="0"/>
              </a:spcAft>
              <a:buClrTx/>
              <a:buSzTx/>
              <a:buFontTx/>
              <a:buNone/>
              <a:tabLst/>
              <a:defRPr/>
            </a:pPr>
            <a:r>
              <a:rPr kumimoji="0" lang="en-US" sz="500" b="0" i="1" u="none" strike="noStrike" kern="0" cap="none" spc="0" normalizeH="0" baseline="0" noProof="0">
                <a:ln>
                  <a:noFill/>
                </a:ln>
                <a:effectLst/>
                <a:uLnTx/>
                <a:uFillTx/>
                <a:latin typeface="Segoe UI" panose="020B0502040204020203" pitchFamily="34" charset="0"/>
                <a:cs typeface="Segoe UI" panose="020B0502040204020203" pitchFamily="34" charset="0"/>
              </a:rPr>
              <a:t>Protect Local Admin Account Credentials</a:t>
            </a:r>
          </a:p>
        </p:txBody>
      </p:sp>
      <p:grpSp>
        <p:nvGrpSpPr>
          <p:cNvPr id="65" name="Group 64">
            <a:extLst>
              <a:ext uri="{FF2B5EF4-FFF2-40B4-BE49-F238E27FC236}">
                <a16:creationId xmlns:a16="http://schemas.microsoft.com/office/drawing/2014/main" id="{93683512-AAB2-7FBB-D4FD-71369EA7265E}"/>
              </a:ext>
            </a:extLst>
          </p:cNvPr>
          <p:cNvGrpSpPr/>
          <p:nvPr/>
        </p:nvGrpSpPr>
        <p:grpSpPr>
          <a:xfrm>
            <a:off x="125942" y="2862305"/>
            <a:ext cx="170497" cy="2993622"/>
            <a:chOff x="125942" y="2862305"/>
            <a:chExt cx="170497" cy="2993622"/>
          </a:xfrm>
        </p:grpSpPr>
        <p:cxnSp>
          <p:nvCxnSpPr>
            <p:cNvPr id="67" name="Connector: Elbow 66">
              <a:extLst>
                <a:ext uri="{FF2B5EF4-FFF2-40B4-BE49-F238E27FC236}">
                  <a16:creationId xmlns:a16="http://schemas.microsoft.com/office/drawing/2014/main" id="{CFF7908F-65DD-EC7D-F1CB-D928EB33BE82}"/>
                </a:ext>
              </a:extLst>
            </p:cNvPr>
            <p:cNvCxnSpPr>
              <a:cxnSpLocks/>
              <a:endCxn id="64" idx="1"/>
            </p:cNvCxnSpPr>
            <p:nvPr/>
          </p:nvCxnSpPr>
          <p:spPr>
            <a:xfrm rot="10800000" flipV="1">
              <a:off x="247327" y="2862305"/>
              <a:ext cx="49112" cy="2993622"/>
            </a:xfrm>
            <a:prstGeom prst="bentConnector3">
              <a:avLst>
                <a:gd name="adj1" fmla="val 344227"/>
              </a:avLst>
            </a:prstGeom>
            <a:solidFill>
              <a:srgbClr val="FEF4F4"/>
            </a:solidFill>
            <a:ln w="19050" cap="flat" cmpd="sng" algn="ctr">
              <a:solidFill>
                <a:srgbClr val="FC8455"/>
              </a:solidFill>
              <a:prstDash val="solid"/>
            </a:ln>
            <a:effectLst/>
          </p:spPr>
        </p:cxnSp>
        <p:cxnSp>
          <p:nvCxnSpPr>
            <p:cNvPr id="69" name="Straight Connector 68">
              <a:extLst>
                <a:ext uri="{FF2B5EF4-FFF2-40B4-BE49-F238E27FC236}">
                  <a16:creationId xmlns:a16="http://schemas.microsoft.com/office/drawing/2014/main" id="{F3B1498C-1A55-C7EE-1409-034DA74D5385}"/>
                </a:ext>
              </a:extLst>
            </p:cNvPr>
            <p:cNvCxnSpPr>
              <a:cxnSpLocks/>
              <a:stCxn id="415" idx="1"/>
            </p:cNvCxnSpPr>
            <p:nvPr/>
          </p:nvCxnSpPr>
          <p:spPr>
            <a:xfrm flipH="1">
              <a:off x="125942" y="5052381"/>
              <a:ext cx="67513" cy="0"/>
            </a:xfrm>
            <a:prstGeom prst="line">
              <a:avLst/>
            </a:prstGeom>
            <a:solidFill>
              <a:srgbClr val="FEF4F4"/>
            </a:solidFill>
            <a:ln w="19050" cap="flat" cmpd="sng" algn="ctr">
              <a:solidFill>
                <a:srgbClr val="FC8455"/>
              </a:solidFill>
              <a:prstDash val="solid"/>
            </a:ln>
            <a:effectLst/>
          </p:spPr>
        </p:cxnSp>
      </p:grpSp>
      <p:grpSp>
        <p:nvGrpSpPr>
          <p:cNvPr id="200" name="Group 199">
            <a:extLst>
              <a:ext uri="{FF2B5EF4-FFF2-40B4-BE49-F238E27FC236}">
                <a16:creationId xmlns:a16="http://schemas.microsoft.com/office/drawing/2014/main" id="{E9893119-FC08-7000-8D60-01D231559B1D}"/>
              </a:ext>
            </a:extLst>
          </p:cNvPr>
          <p:cNvGrpSpPr/>
          <p:nvPr/>
        </p:nvGrpSpPr>
        <p:grpSpPr>
          <a:xfrm>
            <a:off x="10547144" y="2433110"/>
            <a:ext cx="1334265" cy="2221214"/>
            <a:chOff x="10547144" y="2433110"/>
            <a:chExt cx="1334265" cy="2221214"/>
          </a:xfrm>
        </p:grpSpPr>
        <p:grpSp>
          <p:nvGrpSpPr>
            <p:cNvPr id="20" name="Group 19">
              <a:extLst>
                <a:ext uri="{FF2B5EF4-FFF2-40B4-BE49-F238E27FC236}">
                  <a16:creationId xmlns:a16="http://schemas.microsoft.com/office/drawing/2014/main" id="{302FBD36-2E4C-CD11-67E7-A26CE0C5EBE7}"/>
                </a:ext>
              </a:extLst>
            </p:cNvPr>
            <p:cNvGrpSpPr/>
            <p:nvPr/>
          </p:nvGrpSpPr>
          <p:grpSpPr>
            <a:xfrm>
              <a:off x="10648282" y="4457475"/>
              <a:ext cx="1175080" cy="196849"/>
              <a:chOff x="10648282" y="4457475"/>
              <a:chExt cx="1175080" cy="196849"/>
            </a:xfrm>
          </p:grpSpPr>
          <p:sp>
            <p:nvSpPr>
              <p:cNvPr id="417" name="Rectangle 416">
                <a:hlinkClick r:id="rId131" tooltip="Defender for Identity  is a cloud-based security solution that leverages your on-premises Active Directory signals to identify, detect, and investigate advanced threats, compromised identities, and malicious insider actions directed at your organization."/>
                <a:extLst>
                  <a:ext uri="{FF2B5EF4-FFF2-40B4-BE49-F238E27FC236}">
                    <a16:creationId xmlns:a16="http://schemas.microsoft.com/office/drawing/2014/main" id="{468A6415-86A7-8D15-4481-EBE8904FC88F}"/>
                  </a:ext>
                </a:extLst>
              </p:cNvPr>
              <p:cNvSpPr/>
              <p:nvPr/>
            </p:nvSpPr>
            <p:spPr>
              <a:xfrm>
                <a:off x="10774685" y="4457475"/>
                <a:ext cx="1048677" cy="196849"/>
              </a:xfrm>
              <a:prstGeom prst="rect">
                <a:avLst/>
              </a:prstGeom>
              <a:noFill/>
              <a:ln w="14224">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rIns="91440" rtlCol="0" anchor="ctr">
                <a:spAutoFit/>
              </a:bodyPr>
              <a:lstStyle/>
              <a:p>
                <a:pPr marL="0" marR="0" lvl="0" indent="0" algn="r" defTabSz="914400" rtl="0" eaLnBrk="1" fontAlgn="auto" latinLnBrk="0" hangingPunct="1">
                  <a:lnSpc>
                    <a:spcPct val="97000"/>
                  </a:lnSpc>
                  <a:spcBef>
                    <a:spcPts val="0"/>
                  </a:spcBef>
                  <a:spcAft>
                    <a:spcPts val="0"/>
                  </a:spcAft>
                  <a:buClrTx/>
                  <a:buSzTx/>
                  <a:buFontTx/>
                  <a:buNone/>
                  <a:tabLst/>
                  <a:defRPr/>
                </a:pPr>
                <a:r>
                  <a:rPr kumimoji="0" lang="en-US" sz="70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Defender for Identity</a:t>
                </a:r>
              </a:p>
            </p:txBody>
          </p:sp>
          <p:cxnSp>
            <p:nvCxnSpPr>
              <p:cNvPr id="418" name="Straight Connector 417">
                <a:extLst>
                  <a:ext uri="{FF2B5EF4-FFF2-40B4-BE49-F238E27FC236}">
                    <a16:creationId xmlns:a16="http://schemas.microsoft.com/office/drawing/2014/main" id="{E4618D13-F896-5AD6-615C-C2AA25309C6C}"/>
                  </a:ext>
                </a:extLst>
              </p:cNvPr>
              <p:cNvCxnSpPr>
                <a:cxnSpLocks/>
              </p:cNvCxnSpPr>
              <p:nvPr/>
            </p:nvCxnSpPr>
            <p:spPr>
              <a:xfrm flipH="1">
                <a:off x="10648282" y="4536214"/>
                <a:ext cx="135776" cy="0"/>
              </a:xfrm>
              <a:prstGeom prst="line">
                <a:avLst/>
              </a:prstGeom>
              <a:ln w="19050">
                <a:solidFill>
                  <a:schemeClr val="tx1"/>
                </a:solidFill>
                <a:prstDash val="solid"/>
                <a:headEnd type="none"/>
                <a:tailEnd type="triangle" w="sm" len="med"/>
              </a:ln>
            </p:spPr>
            <p:style>
              <a:lnRef idx="1">
                <a:schemeClr val="accent1"/>
              </a:lnRef>
              <a:fillRef idx="0">
                <a:schemeClr val="accent1"/>
              </a:fillRef>
              <a:effectRef idx="0">
                <a:schemeClr val="accent1"/>
              </a:effectRef>
              <a:fontRef idx="minor">
                <a:schemeClr val="tx1"/>
              </a:fontRef>
            </p:style>
          </p:cxnSp>
        </p:grpSp>
        <p:sp>
          <p:nvSpPr>
            <p:cNvPr id="402" name="Rectangle 401">
              <a:hlinkClick r:id="rId132" tooltip="Azure AD Privileged Identity Management allows you to manage, control, and monitor privileged access using approval workflows. This includes access to resources in Azure AD, Azure Resources (Preview), and other Microsoft Online Services like Office 365"/>
              <a:extLst>
                <a:ext uri="{FF2B5EF4-FFF2-40B4-BE49-F238E27FC236}">
                  <a16:creationId xmlns:a16="http://schemas.microsoft.com/office/drawing/2014/main" id="{6A0AE616-CC0B-BE81-8960-FA7F4B4B4408}"/>
                </a:ext>
              </a:extLst>
            </p:cNvPr>
            <p:cNvSpPr/>
            <p:nvPr/>
          </p:nvSpPr>
          <p:spPr>
            <a:xfrm>
              <a:off x="10599960" y="3975844"/>
              <a:ext cx="1244432" cy="198851"/>
            </a:xfrm>
            <a:prstGeom prst="rect">
              <a:avLst/>
            </a:prstGeom>
            <a:solidFill>
              <a:srgbClr val="FFFFFF"/>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Microsoft Entra PIM</a:t>
              </a:r>
            </a:p>
          </p:txBody>
        </p:sp>
        <p:sp>
          <p:nvSpPr>
            <p:cNvPr id="403" name="Freeform 113">
              <a:extLst>
                <a:ext uri="{FF2B5EF4-FFF2-40B4-BE49-F238E27FC236}">
                  <a16:creationId xmlns:a16="http://schemas.microsoft.com/office/drawing/2014/main" id="{FC17B2AD-547E-FF53-6B6F-1D59200691A7}"/>
                </a:ext>
              </a:extLst>
            </p:cNvPr>
            <p:cNvSpPr>
              <a:spLocks noChangeAspect="1" noEditPoints="1"/>
            </p:cNvSpPr>
            <p:nvPr/>
          </p:nvSpPr>
          <p:spPr bwMode="black">
            <a:xfrm>
              <a:off x="10655410" y="4030373"/>
              <a:ext cx="101207" cy="100027"/>
            </a:xfrm>
            <a:custGeom>
              <a:avLst/>
              <a:gdLst>
                <a:gd name="T0" fmla="*/ 47 w 66"/>
                <a:gd name="T1" fmla="*/ 37 h 66"/>
                <a:gd name="T2" fmla="*/ 51 w 66"/>
                <a:gd name="T3" fmla="*/ 33 h 66"/>
                <a:gd name="T4" fmla="*/ 47 w 66"/>
                <a:gd name="T5" fmla="*/ 29 h 66"/>
                <a:gd name="T6" fmla="*/ 37 w 66"/>
                <a:gd name="T7" fmla="*/ 29 h 66"/>
                <a:gd name="T8" fmla="*/ 37 w 66"/>
                <a:gd name="T9" fmla="*/ 16 h 66"/>
                <a:gd name="T10" fmla="*/ 33 w 66"/>
                <a:gd name="T11" fmla="*/ 13 h 66"/>
                <a:gd name="T12" fmla="*/ 29 w 66"/>
                <a:gd name="T13" fmla="*/ 16 h 66"/>
                <a:gd name="T14" fmla="*/ 29 w 66"/>
                <a:gd name="T15" fmla="*/ 33 h 66"/>
                <a:gd name="T16" fmla="*/ 33 w 66"/>
                <a:gd name="T17" fmla="*/ 37 h 66"/>
                <a:gd name="T18" fmla="*/ 47 w 66"/>
                <a:gd name="T19" fmla="*/ 37 h 66"/>
                <a:gd name="T20" fmla="*/ 33 w 66"/>
                <a:gd name="T21" fmla="*/ 8 h 66"/>
                <a:gd name="T22" fmla="*/ 58 w 66"/>
                <a:gd name="T23" fmla="*/ 33 h 66"/>
                <a:gd name="T24" fmla="*/ 33 w 66"/>
                <a:gd name="T25" fmla="*/ 58 h 66"/>
                <a:gd name="T26" fmla="*/ 8 w 66"/>
                <a:gd name="T27" fmla="*/ 33 h 66"/>
                <a:gd name="T28" fmla="*/ 33 w 66"/>
                <a:gd name="T29" fmla="*/ 8 h 66"/>
                <a:gd name="T30" fmla="*/ 33 w 66"/>
                <a:gd name="T31" fmla="*/ 66 h 66"/>
                <a:gd name="T32" fmla="*/ 66 w 66"/>
                <a:gd name="T33" fmla="*/ 33 h 66"/>
                <a:gd name="T34" fmla="*/ 33 w 66"/>
                <a:gd name="T35" fmla="*/ 0 h 66"/>
                <a:gd name="T36" fmla="*/ 0 w 66"/>
                <a:gd name="T37" fmla="*/ 33 h 66"/>
                <a:gd name="T38" fmla="*/ 33 w 66"/>
                <a:gd name="T3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66">
                  <a:moveTo>
                    <a:pt x="47" y="37"/>
                  </a:moveTo>
                  <a:cubicBezTo>
                    <a:pt x="49" y="37"/>
                    <a:pt x="51" y="35"/>
                    <a:pt x="51" y="33"/>
                  </a:cubicBezTo>
                  <a:cubicBezTo>
                    <a:pt x="51" y="31"/>
                    <a:pt x="49" y="29"/>
                    <a:pt x="47" y="29"/>
                  </a:cubicBezTo>
                  <a:cubicBezTo>
                    <a:pt x="37" y="29"/>
                    <a:pt x="37" y="29"/>
                    <a:pt x="37" y="29"/>
                  </a:cubicBezTo>
                  <a:cubicBezTo>
                    <a:pt x="37" y="16"/>
                    <a:pt x="37" y="16"/>
                    <a:pt x="37" y="16"/>
                  </a:cubicBezTo>
                  <a:cubicBezTo>
                    <a:pt x="37" y="14"/>
                    <a:pt x="35" y="13"/>
                    <a:pt x="33" y="13"/>
                  </a:cubicBezTo>
                  <a:cubicBezTo>
                    <a:pt x="31" y="13"/>
                    <a:pt x="29" y="14"/>
                    <a:pt x="29" y="16"/>
                  </a:cubicBezTo>
                  <a:cubicBezTo>
                    <a:pt x="29" y="33"/>
                    <a:pt x="29" y="33"/>
                    <a:pt x="29" y="33"/>
                  </a:cubicBezTo>
                  <a:cubicBezTo>
                    <a:pt x="29" y="35"/>
                    <a:pt x="31" y="37"/>
                    <a:pt x="33" y="37"/>
                  </a:cubicBezTo>
                  <a:lnTo>
                    <a:pt x="47" y="37"/>
                  </a:lnTo>
                  <a:close/>
                  <a:moveTo>
                    <a:pt x="33" y="8"/>
                  </a:moveTo>
                  <a:cubicBezTo>
                    <a:pt x="47" y="8"/>
                    <a:pt x="58" y="19"/>
                    <a:pt x="58" y="33"/>
                  </a:cubicBezTo>
                  <a:cubicBezTo>
                    <a:pt x="58" y="47"/>
                    <a:pt x="47" y="58"/>
                    <a:pt x="33" y="58"/>
                  </a:cubicBezTo>
                  <a:cubicBezTo>
                    <a:pt x="19" y="58"/>
                    <a:pt x="8" y="47"/>
                    <a:pt x="8" y="33"/>
                  </a:cubicBezTo>
                  <a:cubicBezTo>
                    <a:pt x="8" y="19"/>
                    <a:pt x="19" y="8"/>
                    <a:pt x="33" y="8"/>
                  </a:cubicBezTo>
                  <a:moveTo>
                    <a:pt x="33" y="66"/>
                  </a:moveTo>
                  <a:cubicBezTo>
                    <a:pt x="51" y="66"/>
                    <a:pt x="66" y="51"/>
                    <a:pt x="66" y="33"/>
                  </a:cubicBezTo>
                  <a:cubicBezTo>
                    <a:pt x="66" y="15"/>
                    <a:pt x="51" y="0"/>
                    <a:pt x="33" y="0"/>
                  </a:cubicBezTo>
                  <a:cubicBezTo>
                    <a:pt x="15" y="0"/>
                    <a:pt x="0" y="15"/>
                    <a:pt x="0" y="33"/>
                  </a:cubicBezTo>
                  <a:cubicBezTo>
                    <a:pt x="0" y="51"/>
                    <a:pt x="15" y="66"/>
                    <a:pt x="33" y="66"/>
                  </a:cubicBezTo>
                </a:path>
              </a:pathLst>
            </a:custGeom>
            <a:solidFill>
              <a:schemeClr val="tx1"/>
            </a:solidFill>
            <a:ln w="3175">
              <a:noFill/>
            </a:ln>
          </p:spPr>
          <p:txBody>
            <a:bodyPr vert="horz" wrap="square" lIns="121888" tIns="60944" rIns="121888" bIns="60944" numCol="1" anchor="t" anchorCtr="0" compatLnSpc="1">
              <a:prstTxWarp prst="textNoShape">
                <a:avLst/>
              </a:prstTxWarp>
            </a:bodyPr>
            <a:lstStyle/>
            <a:p>
              <a:pPr marL="0" marR="0" lvl="0" indent="0" algn="l" defTabSz="609448"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06" name="Rectangle 405">
              <a:hlinkClick r:id="rId133" tooltip="Azure Active Directory Identity Protection provides you with a consolidated view into risk events and potential vulnerabilities affecting your organization’s identities."/>
              <a:extLst>
                <a:ext uri="{FF2B5EF4-FFF2-40B4-BE49-F238E27FC236}">
                  <a16:creationId xmlns:a16="http://schemas.microsoft.com/office/drawing/2014/main" id="{46A59F7A-D7B1-DF7E-C1B3-5E74B97E3F5F}"/>
                </a:ext>
              </a:extLst>
            </p:cNvPr>
            <p:cNvSpPr/>
            <p:nvPr/>
          </p:nvSpPr>
          <p:spPr>
            <a:xfrm>
              <a:off x="10548964" y="3225812"/>
              <a:ext cx="1293608" cy="557870"/>
            </a:xfrm>
            <a:prstGeom prst="rect">
              <a:avLst/>
            </a:prstGeom>
            <a:solidFill>
              <a:srgbClr val="FFFFFF"/>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lumMod val="75000"/>
                      </a:srgbClr>
                    </a:gs>
                    <a:gs pos="100000">
                      <a:srgbClr val="505050">
                        <a:lumMod val="75000"/>
                      </a:srgbClr>
                    </a:gs>
                  </a:gsLst>
                  <a:lin ang="5400000" scaled="1"/>
                </a:gradFill>
                <a:effectLst/>
                <a:uLnTx/>
                <a:uFillTx/>
                <a:latin typeface="Segoe UI" panose="020B0502040204020203" pitchFamily="34" charset="0"/>
                <a:ea typeface="+mn-ea"/>
                <a:cs typeface="Segoe UI" panose="020B0502040204020203" pitchFamily="34" charset="0"/>
              </a:endParaRPr>
            </a:p>
          </p:txBody>
        </p:sp>
        <p:sp>
          <p:nvSpPr>
            <p:cNvPr id="485" name="Rectangle 484">
              <a:hlinkClick r:id="rId134" tooltip="Enables secure interaction with users outside of your organization including Business to Business and Business (B2B) to Customer/Citizen (B2C) scenarios"/>
              <a:extLst>
                <a:ext uri="{FF2B5EF4-FFF2-40B4-BE49-F238E27FC236}">
                  <a16:creationId xmlns:a16="http://schemas.microsoft.com/office/drawing/2014/main" id="{21E8C2CA-E98B-25A6-9560-9E8ECAC56F25}"/>
                </a:ext>
              </a:extLst>
            </p:cNvPr>
            <p:cNvSpPr/>
            <p:nvPr/>
          </p:nvSpPr>
          <p:spPr>
            <a:xfrm>
              <a:off x="10548964" y="4174695"/>
              <a:ext cx="1295428" cy="198851"/>
            </a:xfrm>
            <a:prstGeom prst="rect">
              <a:avLst/>
            </a:prstGeom>
            <a:solidFill>
              <a:srgbClr val="EAEAEA"/>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External Identities</a:t>
              </a:r>
            </a:p>
          </p:txBody>
        </p:sp>
        <p:sp>
          <p:nvSpPr>
            <p:cNvPr id="17" name="Rectangle 16">
              <a:hlinkClick r:id="rId133" tooltip="Azure Active Directory Identity Protection provides you with a consolidated view into risk events and potential vulnerabilities affecting your organization’s identities."/>
              <a:extLst>
                <a:ext uri="{FF2B5EF4-FFF2-40B4-BE49-F238E27FC236}">
                  <a16:creationId xmlns:a16="http://schemas.microsoft.com/office/drawing/2014/main" id="{3B5A192F-09F9-AD81-BC43-04A68795FFAF}"/>
                </a:ext>
              </a:extLst>
            </p:cNvPr>
            <p:cNvSpPr/>
            <p:nvPr/>
          </p:nvSpPr>
          <p:spPr>
            <a:xfrm>
              <a:off x="10707826" y="3198438"/>
              <a:ext cx="1173583" cy="51039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Segoe UI" panose="020B0502040204020203" pitchFamily="34" charset="0"/>
                  <a:cs typeface="Segoe UI" panose="020B0502040204020203" pitchFamily="34" charset="0"/>
                </a:rPr>
                <a:t>Entra ID Protection</a:t>
              </a:r>
            </a:p>
            <a:p>
              <a:pPr marL="57150" marR="0" lvl="0" indent="0" algn="l" defTabSz="914400" rtl="0" eaLnBrk="1" fontAlgn="auto" latinLnBrk="0" hangingPunct="1">
                <a:lnSpc>
                  <a:spcPct val="100000"/>
                </a:lnSpc>
                <a:spcBef>
                  <a:spcPts val="200"/>
                </a:spcBef>
                <a:spcAft>
                  <a:spcPts val="100"/>
                </a:spcAft>
                <a:buClrTx/>
                <a:buSzTx/>
                <a:buFontTx/>
                <a:buNone/>
                <a:tabLst/>
                <a:defRPr/>
              </a:pPr>
              <a:r>
                <a:rPr kumimoji="0" lang="en-US" sz="700" b="0" i="0" u="none" strike="noStrike" kern="1200" cap="none" spc="0" normalizeH="0" baseline="0" noProof="0">
                  <a:ln>
                    <a:noFill/>
                  </a:ln>
                  <a:effectLst/>
                  <a:uLnTx/>
                  <a:uFillTx/>
                  <a:latin typeface="Segoe UI" panose="020B0502040204020203" pitchFamily="34" charset="0"/>
                  <a:cs typeface="Segoe UI" panose="020B0502040204020203" pitchFamily="34" charset="0"/>
                </a:rPr>
                <a:t>Leaked cred protection</a:t>
              </a:r>
            </a:p>
            <a:p>
              <a:pPr marL="57150" marR="0" lvl="0" indent="0" algn="l" defTabSz="914400" rtl="0" eaLnBrk="1" fontAlgn="auto" latinLnBrk="0" hangingPunct="1">
                <a:lnSpc>
                  <a:spcPct val="100000"/>
                </a:lnSpc>
                <a:spcBef>
                  <a:spcPts val="200"/>
                </a:spcBef>
                <a:spcAft>
                  <a:spcPts val="100"/>
                </a:spcAft>
                <a:buClrTx/>
                <a:buSzTx/>
                <a:buFontTx/>
                <a:buNone/>
                <a:tabLst/>
                <a:defRPr/>
              </a:pPr>
              <a:r>
                <a:rPr kumimoji="0" lang="en-US" sz="700" b="0" i="0" u="none" strike="noStrike" kern="1200" cap="none" spc="0" normalizeH="0" baseline="0" noProof="0">
                  <a:ln>
                    <a:noFill/>
                  </a:ln>
                  <a:effectLst/>
                  <a:uLnTx/>
                  <a:uFillTx/>
                  <a:latin typeface="Segoe UI" panose="020B0502040204020203" pitchFamily="34" charset="0"/>
                  <a:cs typeface="Segoe UI" panose="020B0502040204020203" pitchFamily="34" charset="0"/>
                </a:rPr>
                <a:t>Behavioral Analytics</a:t>
              </a:r>
              <a:endParaRPr kumimoji="0" lang="en-US" sz="1400" b="0" i="0" u="none" strike="noStrike" kern="1200" cap="none" spc="0" normalizeH="0" baseline="0" noProof="0">
                <a:ln>
                  <a:noFill/>
                </a:ln>
                <a:effectLst/>
                <a:uLnTx/>
                <a:uFillTx/>
                <a:latin typeface="Segoe UI" panose="020B0502040204020203" pitchFamily="34" charset="0"/>
                <a:cs typeface="Segoe UI" panose="020B0502040204020203" pitchFamily="34" charset="0"/>
              </a:endParaRPr>
            </a:p>
          </p:txBody>
        </p:sp>
        <p:grpSp>
          <p:nvGrpSpPr>
            <p:cNvPr id="627" name="Group 626">
              <a:extLst>
                <a:ext uri="{FF2B5EF4-FFF2-40B4-BE49-F238E27FC236}">
                  <a16:creationId xmlns:a16="http://schemas.microsoft.com/office/drawing/2014/main" id="{E962A8C5-46A4-7C79-D776-A9BBF00731F0}"/>
                </a:ext>
              </a:extLst>
            </p:cNvPr>
            <p:cNvGrpSpPr/>
            <p:nvPr/>
          </p:nvGrpSpPr>
          <p:grpSpPr>
            <a:xfrm flipV="1">
              <a:off x="10861166" y="3698908"/>
              <a:ext cx="126960" cy="30766"/>
              <a:chOff x="6648232" y="3041841"/>
              <a:chExt cx="188672" cy="45719"/>
            </a:xfrm>
          </p:grpSpPr>
          <p:sp>
            <p:nvSpPr>
              <p:cNvPr id="637" name="Oval 636">
                <a:extLst>
                  <a:ext uri="{FF2B5EF4-FFF2-40B4-BE49-F238E27FC236}">
                    <a16:creationId xmlns:a16="http://schemas.microsoft.com/office/drawing/2014/main" id="{CFFE9013-F8CC-2CAB-34DB-C580952BB93E}"/>
                  </a:ext>
                </a:extLst>
              </p:cNvPr>
              <p:cNvSpPr/>
              <p:nvPr/>
            </p:nvSpPr>
            <p:spPr bwMode="auto">
              <a:xfrm>
                <a:off x="6648232" y="3041841"/>
                <a:ext cx="45720" cy="45719"/>
              </a:xfrm>
              <a:prstGeom prst="ellipse">
                <a:avLst/>
              </a:prstGeom>
              <a:solidFill>
                <a:schemeClr val="tx1">
                  <a:lumMod val="65000"/>
                  <a:lumOff val="3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38" name="Oval 637">
                <a:extLst>
                  <a:ext uri="{FF2B5EF4-FFF2-40B4-BE49-F238E27FC236}">
                    <a16:creationId xmlns:a16="http://schemas.microsoft.com/office/drawing/2014/main" id="{6914837E-C5F2-8BC6-DBB9-40B61D659229}"/>
                  </a:ext>
                </a:extLst>
              </p:cNvPr>
              <p:cNvSpPr/>
              <p:nvPr/>
            </p:nvSpPr>
            <p:spPr bwMode="auto">
              <a:xfrm>
                <a:off x="6719708" y="3041841"/>
                <a:ext cx="45720" cy="45719"/>
              </a:xfrm>
              <a:prstGeom prst="ellipse">
                <a:avLst/>
              </a:prstGeom>
              <a:solidFill>
                <a:schemeClr val="tx1">
                  <a:lumMod val="65000"/>
                  <a:lumOff val="3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39" name="Oval 638">
                <a:extLst>
                  <a:ext uri="{FF2B5EF4-FFF2-40B4-BE49-F238E27FC236}">
                    <a16:creationId xmlns:a16="http://schemas.microsoft.com/office/drawing/2014/main" id="{84B63CF5-4C79-AC8A-776C-B4B0D074AF8A}"/>
                  </a:ext>
                </a:extLst>
              </p:cNvPr>
              <p:cNvSpPr/>
              <p:nvPr/>
            </p:nvSpPr>
            <p:spPr bwMode="auto">
              <a:xfrm>
                <a:off x="6791184" y="3041841"/>
                <a:ext cx="45720" cy="45719"/>
              </a:xfrm>
              <a:prstGeom prst="ellipse">
                <a:avLst/>
              </a:prstGeom>
              <a:solidFill>
                <a:schemeClr val="tx1">
                  <a:lumMod val="65000"/>
                  <a:lumOff val="3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04" name="Rectangle 403">
              <a:hlinkClick r:id="rId135" tooltip="Azure MFA helps safeguard access to data and applications while meeting user demand for a simple sign-in process. It delivers strong authentication via a range of verification methods, including phone call, text message, or mobile app verification."/>
              <a:extLst>
                <a:ext uri="{FF2B5EF4-FFF2-40B4-BE49-F238E27FC236}">
                  <a16:creationId xmlns:a16="http://schemas.microsoft.com/office/drawing/2014/main" id="{4FA5169B-80E6-C978-71EF-FA6C58AC8293}"/>
                </a:ext>
              </a:extLst>
            </p:cNvPr>
            <p:cNvSpPr/>
            <p:nvPr/>
          </p:nvSpPr>
          <p:spPr>
            <a:xfrm>
              <a:off x="10548964" y="2433110"/>
              <a:ext cx="1295428" cy="801424"/>
            </a:xfrm>
            <a:prstGeom prst="rect">
              <a:avLst/>
            </a:prstGeom>
            <a:solidFill>
              <a:srgbClr val="EAEAEA"/>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18288" r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err="1">
                  <a:ln>
                    <a:noFill/>
                  </a:ln>
                  <a:solidFill>
                    <a:schemeClr val="tx1"/>
                  </a:solidFill>
                  <a:effectLst/>
                  <a:uLnTx/>
                  <a:uFillTx/>
                  <a:latin typeface="Segoe UI" panose="020B0502040204020203" pitchFamily="34" charset="0"/>
                  <a:cs typeface="Segoe UI" panose="020B0502040204020203" pitchFamily="34" charset="0"/>
                </a:rPr>
                <a:t>Passwordless</a:t>
              </a:r>
              <a:r>
                <a:rPr kumimoji="0" lang="en-US" sz="9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 &amp; MFA</a:t>
              </a:r>
              <a:endParaRPr kumimoji="0" lang="en-US" sz="7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endParaRPr>
            </a:p>
          </p:txBody>
        </p:sp>
        <p:pic>
          <p:nvPicPr>
            <p:cNvPr id="405" name="Picture 404">
              <a:extLst>
                <a:ext uri="{FF2B5EF4-FFF2-40B4-BE49-F238E27FC236}">
                  <a16:creationId xmlns:a16="http://schemas.microsoft.com/office/drawing/2014/main" id="{FC1AC030-B066-7AAC-2C86-FF7CC3AB4D9B}"/>
                </a:ext>
              </a:extLst>
            </p:cNvPr>
            <p:cNvPicPr>
              <a:picLocks noChangeAspect="1"/>
            </p:cNvPicPr>
            <p:nvPr/>
          </p:nvPicPr>
          <p:blipFill rotWithShape="1">
            <a:blip r:embed="rId136">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10750387" y="2601288"/>
              <a:ext cx="118558" cy="110976"/>
            </a:xfrm>
            <a:prstGeom prst="rect">
              <a:avLst/>
            </a:prstGeom>
          </p:spPr>
        </p:pic>
        <p:sp>
          <p:nvSpPr>
            <p:cNvPr id="398" name="Rectangle 397">
              <a:hlinkClick r:id="rId137" tooltip="Passkeys (FIDO2) provide a seamless way for workers to authenticate without entering a username or password, resulting in improved productivity and security."/>
              <a:extLst>
                <a:ext uri="{FF2B5EF4-FFF2-40B4-BE49-F238E27FC236}">
                  <a16:creationId xmlns:a16="http://schemas.microsoft.com/office/drawing/2014/main" id="{C03F50EF-90CB-3A56-9477-BD964A980CF7}"/>
                </a:ext>
              </a:extLst>
            </p:cNvPr>
            <p:cNvSpPr/>
            <p:nvPr/>
          </p:nvSpPr>
          <p:spPr>
            <a:xfrm>
              <a:off x="10707826" y="2904539"/>
              <a:ext cx="1046398" cy="147494"/>
            </a:xfrm>
            <a:prstGeom prst="rect">
              <a:avLst/>
            </a:prstGeom>
            <a:noFill/>
            <a:ln w="14224">
              <a:noFill/>
            </a:ln>
          </p:spPr>
          <p:style>
            <a:lnRef idx="2">
              <a:schemeClr val="accent1">
                <a:shade val="50000"/>
              </a:schemeClr>
            </a:lnRef>
            <a:fillRef idx="1">
              <a:schemeClr val="accent1"/>
            </a:fillRef>
            <a:effectRef idx="0">
              <a:schemeClr val="accent1"/>
            </a:effectRef>
            <a:fontRef idx="minor">
              <a:schemeClr val="lt1"/>
            </a:fontRef>
          </p:style>
          <p:txBody>
            <a:bodyPr lIns="182880" tIns="0" rIns="0" bIns="0" rtlCol="0" anchor="ctr"/>
            <a:lstStyle/>
            <a:p>
              <a:pPr marL="0" marR="0" lvl="0" indent="57150" algn="l" defTabSz="914400" rtl="0" eaLnBrk="1" fontAlgn="auto" latinLnBrk="0" hangingPunct="1">
                <a:lnSpc>
                  <a:spcPct val="100000"/>
                </a:lnSpc>
                <a:spcBef>
                  <a:spcPts val="200"/>
                </a:spcBef>
                <a:spcAft>
                  <a:spcPts val="100"/>
                </a:spcAft>
                <a:buClrTx/>
                <a:buSzTx/>
                <a:buFontTx/>
                <a:buNone/>
                <a:tabLst/>
                <a:defRPr/>
              </a:pPr>
              <a:r>
                <a:rPr kumimoji="0" lang="en-US" sz="7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Passkeys</a:t>
              </a:r>
            </a:p>
          </p:txBody>
        </p:sp>
        <p:pic>
          <p:nvPicPr>
            <p:cNvPr id="399" name="Picture 195" descr="Multi-Factor Authentication.png">
              <a:extLst>
                <a:ext uri="{FF2B5EF4-FFF2-40B4-BE49-F238E27FC236}">
                  <a16:creationId xmlns:a16="http://schemas.microsoft.com/office/drawing/2014/main" id="{F87A644D-34BB-CB1D-FDC7-810B68894826}"/>
                </a:ext>
              </a:extLst>
            </p:cNvPr>
            <p:cNvPicPr>
              <a:picLocks noChangeAspect="1"/>
            </p:cNvPicPr>
            <p:nvPr/>
          </p:nvPicPr>
          <p:blipFill>
            <a:blip r:embed="rId138">
              <a:extLst>
                <a:ext uri="{28A0092B-C50C-407E-A947-70E740481C1C}">
                  <a14:useLocalDpi xmlns:a14="http://schemas.microsoft.com/office/drawing/2010/main" val="0"/>
                </a:ext>
              </a:extLst>
            </a:blip>
            <a:srcRect/>
            <a:stretch>
              <a:fillRect/>
            </a:stretch>
          </p:blipFill>
          <p:spPr bwMode="auto">
            <a:xfrm>
              <a:off x="10762734" y="2921975"/>
              <a:ext cx="126290" cy="112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Rectangle 90">
              <a:hlinkClick r:id="rId139" tooltip="Windows Hello for Business enables you to replace passwords with easy to use but strong multifactor authentication. Windows Hello uses a public and private key pair secured by the TPM, unlocked using a gesture like fingerprint, facial recognition or PIN. "/>
              <a:extLst>
                <a:ext uri="{FF2B5EF4-FFF2-40B4-BE49-F238E27FC236}">
                  <a16:creationId xmlns:a16="http://schemas.microsoft.com/office/drawing/2014/main" id="{656E7BA7-48F0-877C-617A-665C94EAAF33}"/>
                </a:ext>
              </a:extLst>
            </p:cNvPr>
            <p:cNvSpPr/>
            <p:nvPr/>
          </p:nvSpPr>
          <p:spPr>
            <a:xfrm>
              <a:off x="10707827" y="2583029"/>
              <a:ext cx="1046398" cy="147494"/>
            </a:xfrm>
            <a:prstGeom prst="rect">
              <a:avLst/>
            </a:prstGeom>
            <a:noFill/>
            <a:ln w="14224">
              <a:noFill/>
            </a:ln>
          </p:spPr>
          <p:style>
            <a:lnRef idx="2">
              <a:schemeClr val="accent1">
                <a:shade val="50000"/>
              </a:schemeClr>
            </a:lnRef>
            <a:fillRef idx="1">
              <a:schemeClr val="accent1"/>
            </a:fillRef>
            <a:effectRef idx="0">
              <a:schemeClr val="accent1"/>
            </a:effectRef>
            <a:fontRef idx="minor">
              <a:schemeClr val="lt1"/>
            </a:fontRef>
          </p:style>
          <p:txBody>
            <a:bodyPr lIns="182880" tIns="0" rIns="0" bIns="0" rtlCol="0" anchor="ctr"/>
            <a:lstStyle/>
            <a:p>
              <a:pPr marL="0" marR="0" lvl="0" indent="57150" algn="l" defTabSz="914400" rtl="0" eaLnBrk="1" fontAlgn="auto" latinLnBrk="0" hangingPunct="1">
                <a:lnSpc>
                  <a:spcPct val="100000"/>
                </a:lnSpc>
                <a:spcBef>
                  <a:spcPts val="200"/>
                </a:spcBef>
                <a:spcAft>
                  <a:spcPts val="100"/>
                </a:spcAft>
                <a:buClrTx/>
                <a:buSzTx/>
                <a:buFontTx/>
                <a:buNone/>
                <a:tabLst/>
                <a:defRPr/>
              </a:pPr>
              <a:r>
                <a:rPr kumimoji="0" lang="en-US" sz="7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Hello for Business</a:t>
              </a:r>
            </a:p>
          </p:txBody>
        </p:sp>
        <p:sp>
          <p:nvSpPr>
            <p:cNvPr id="109" name="Rectangle 108">
              <a:hlinkClick r:id="rId140" tooltip="Azure AD ID Governance allows you to balance your organization's need for security and employee productivity with the right processes and visibility. You get capabilities to ensure that the right people have the right access to the right resources."/>
              <a:extLst>
                <a:ext uri="{FF2B5EF4-FFF2-40B4-BE49-F238E27FC236}">
                  <a16:creationId xmlns:a16="http://schemas.microsoft.com/office/drawing/2014/main" id="{168E5482-1E0C-B655-C6F8-D0E6BDF2FEAB}"/>
                </a:ext>
              </a:extLst>
            </p:cNvPr>
            <p:cNvSpPr/>
            <p:nvPr/>
          </p:nvSpPr>
          <p:spPr>
            <a:xfrm>
              <a:off x="10547144" y="3781104"/>
              <a:ext cx="1295428" cy="198851"/>
            </a:xfrm>
            <a:prstGeom prst="rect">
              <a:avLst/>
            </a:prstGeom>
            <a:solidFill>
              <a:srgbClr val="EAEAEA"/>
            </a:solidFill>
            <a:ln w="14224">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2860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ID Governance</a:t>
              </a:r>
            </a:p>
          </p:txBody>
        </p:sp>
        <p:pic>
          <p:nvPicPr>
            <p:cNvPr id="140" name="Graphic 139">
              <a:extLst>
                <a:ext uri="{FF2B5EF4-FFF2-40B4-BE49-F238E27FC236}">
                  <a16:creationId xmlns:a16="http://schemas.microsoft.com/office/drawing/2014/main" id="{4BF67612-E711-398B-BB0E-D2A6678407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Lst>
            </a:blip>
            <a:srcRect/>
            <a:stretch/>
          </p:blipFill>
          <p:spPr>
            <a:xfrm>
              <a:off x="10588177" y="3254738"/>
              <a:ext cx="164018" cy="164018"/>
            </a:xfrm>
            <a:prstGeom prst="rect">
              <a:avLst/>
            </a:prstGeom>
          </p:spPr>
        </p:pic>
        <p:pic>
          <p:nvPicPr>
            <p:cNvPr id="142" name="Graphic 141">
              <a:extLst>
                <a:ext uri="{FF2B5EF4-FFF2-40B4-BE49-F238E27FC236}">
                  <a16:creationId xmlns:a16="http://schemas.microsoft.com/office/drawing/2014/main" id="{A76CF017-5143-7F3D-C809-12EDD2EC9E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Lst>
            </a:blip>
            <a:srcRect/>
            <a:stretch/>
          </p:blipFill>
          <p:spPr>
            <a:xfrm>
              <a:off x="10576623" y="4186131"/>
              <a:ext cx="164018" cy="164018"/>
            </a:xfrm>
            <a:prstGeom prst="rect">
              <a:avLst/>
            </a:prstGeom>
          </p:spPr>
        </p:pic>
        <p:pic>
          <p:nvPicPr>
            <p:cNvPr id="144" name="Graphic 143">
              <a:extLst>
                <a:ext uri="{FF2B5EF4-FFF2-40B4-BE49-F238E27FC236}">
                  <a16:creationId xmlns:a16="http://schemas.microsoft.com/office/drawing/2014/main" id="{698AC982-C898-8900-7BA5-B6B365C874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1"/>
                </a:ext>
              </a:extLst>
            </a:blip>
            <a:srcRect/>
            <a:stretch/>
          </p:blipFill>
          <p:spPr>
            <a:xfrm>
              <a:off x="10572572" y="3804167"/>
              <a:ext cx="164018" cy="164018"/>
            </a:xfrm>
            <a:prstGeom prst="rect">
              <a:avLst/>
            </a:prstGeom>
          </p:spPr>
        </p:pic>
        <p:sp>
          <p:nvSpPr>
            <p:cNvPr id="185" name="Rectangle 184">
              <a:hlinkClick r:id="rId142" tooltip="Allows you to sign in to web-based applications with your Azure AD account using a FIDO2 security key."/>
              <a:extLst>
                <a:ext uri="{FF2B5EF4-FFF2-40B4-BE49-F238E27FC236}">
                  <a16:creationId xmlns:a16="http://schemas.microsoft.com/office/drawing/2014/main" id="{3CD6751D-6650-CC13-D044-ED8100766201}"/>
                </a:ext>
              </a:extLst>
            </p:cNvPr>
            <p:cNvSpPr/>
            <p:nvPr/>
          </p:nvSpPr>
          <p:spPr>
            <a:xfrm>
              <a:off x="10705046" y="3065293"/>
              <a:ext cx="1046398" cy="147494"/>
            </a:xfrm>
            <a:prstGeom prst="rect">
              <a:avLst/>
            </a:prstGeom>
            <a:noFill/>
            <a:ln w="14224">
              <a:noFill/>
            </a:ln>
          </p:spPr>
          <p:style>
            <a:lnRef idx="2">
              <a:schemeClr val="accent1">
                <a:shade val="50000"/>
              </a:schemeClr>
            </a:lnRef>
            <a:fillRef idx="1">
              <a:schemeClr val="accent1"/>
            </a:fillRef>
            <a:effectRef idx="0">
              <a:schemeClr val="accent1"/>
            </a:effectRef>
            <a:fontRef idx="minor">
              <a:schemeClr val="lt1"/>
            </a:fontRef>
          </p:style>
          <p:txBody>
            <a:bodyPr lIns="182880" tIns="0" rIns="0" bIns="0" rtlCol="0" anchor="ctr"/>
            <a:lstStyle/>
            <a:p>
              <a:pPr marL="0" marR="0" lvl="0" indent="57150" algn="l" defTabSz="914400" rtl="0" eaLnBrk="1" fontAlgn="auto" latinLnBrk="0" hangingPunct="1">
                <a:lnSpc>
                  <a:spcPct val="100000"/>
                </a:lnSpc>
                <a:spcBef>
                  <a:spcPts val="200"/>
                </a:spcBef>
                <a:spcAft>
                  <a:spcPts val="100"/>
                </a:spcAft>
                <a:buClrTx/>
                <a:buSzTx/>
                <a:buFontTx/>
                <a:buNone/>
                <a:tabLst/>
                <a:defRPr/>
              </a:pPr>
              <a:r>
                <a:rPr kumimoji="0" lang="en-US" sz="7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rPr>
                <a:t>FIDO2 Keys</a:t>
              </a:r>
            </a:p>
          </p:txBody>
        </p:sp>
        <p:pic>
          <p:nvPicPr>
            <p:cNvPr id="186" name="Picture 2" descr="See the source image">
              <a:extLst>
                <a:ext uri="{FF2B5EF4-FFF2-40B4-BE49-F238E27FC236}">
                  <a16:creationId xmlns:a16="http://schemas.microsoft.com/office/drawing/2014/main" id="{ED0D05B2-0B97-762F-D20A-B7019E6BFC6C}"/>
                </a:ext>
              </a:extLst>
            </p:cNvPr>
            <p:cNvPicPr>
              <a:picLocks noChangeAspect="1" noChangeArrowheads="1"/>
            </p:cNvPicPr>
            <p:nvPr/>
          </p:nvPicPr>
          <p:blipFill>
            <a:blip r:embed="rId143">
              <a:extLst>
                <a:ext uri="{28A0092B-C50C-407E-A947-70E740481C1C}">
                  <a14:useLocalDpi xmlns:a14="http://schemas.microsoft.com/office/drawing/2010/main" val="0"/>
                </a:ext>
              </a:extLst>
            </a:blip>
            <a:srcRect/>
            <a:stretch>
              <a:fillRect/>
            </a:stretch>
          </p:blipFill>
          <p:spPr bwMode="auto">
            <a:xfrm>
              <a:off x="10722943" y="3085904"/>
              <a:ext cx="167348" cy="102983"/>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75">
              <a:hlinkClick r:id="rId144" tooltip="Microsoft’s Microsoft Entra Verified ID (Microsoft Entra VC) service enables you to trust proofs of user identity without expanding your trust boundary."/>
              <a:extLst>
                <a:ext uri="{FF2B5EF4-FFF2-40B4-BE49-F238E27FC236}">
                  <a16:creationId xmlns:a16="http://schemas.microsoft.com/office/drawing/2014/main" id="{E52FA042-B642-932F-460F-F806213F0057}"/>
                </a:ext>
              </a:extLst>
            </p:cNvPr>
            <p:cNvSpPr/>
            <p:nvPr/>
          </p:nvSpPr>
          <p:spPr>
            <a:xfrm>
              <a:off x="10707827" y="2743784"/>
              <a:ext cx="1046398" cy="147494"/>
            </a:xfrm>
            <a:prstGeom prst="rect">
              <a:avLst/>
            </a:prstGeom>
            <a:noFill/>
            <a:ln w="14224">
              <a:noFill/>
            </a:ln>
          </p:spPr>
          <p:style>
            <a:lnRef idx="2">
              <a:schemeClr val="accent1">
                <a:shade val="50000"/>
              </a:schemeClr>
            </a:lnRef>
            <a:fillRef idx="1">
              <a:schemeClr val="accent1"/>
            </a:fillRef>
            <a:effectRef idx="0">
              <a:schemeClr val="accent1"/>
            </a:effectRef>
            <a:fontRef idx="minor">
              <a:schemeClr val="lt1"/>
            </a:fontRef>
          </p:style>
          <p:txBody>
            <a:bodyPr lIns="182880" tIns="0" rIns="0" bIns="0" rtlCol="0" anchor="ctr"/>
            <a:lstStyle/>
            <a:p>
              <a:pPr marL="0" marR="0" lvl="0" indent="57150" algn="l" defTabSz="914400" rtl="0" eaLnBrk="1" fontAlgn="auto" latinLnBrk="0" hangingPunct="1">
                <a:lnSpc>
                  <a:spcPct val="100000"/>
                </a:lnSpc>
                <a:spcBef>
                  <a:spcPts val="200"/>
                </a:spcBef>
                <a:spcAft>
                  <a:spcPts val="100"/>
                </a:spcAft>
                <a:buClrTx/>
                <a:buSzTx/>
                <a:buFontTx/>
                <a:buNone/>
                <a:tabLst/>
                <a:defRPr/>
              </a:pPr>
              <a:r>
                <a:rPr lang="en-US" sz="700">
                  <a:solidFill>
                    <a:schemeClr val="tx1"/>
                  </a:solidFill>
                  <a:latin typeface="Segoe UI" panose="020B0502040204020203" pitchFamily="34" charset="0"/>
                  <a:cs typeface="Segoe UI" panose="020B0502040204020203" pitchFamily="34" charset="0"/>
                </a:rPr>
                <a:t>Verified Identity</a:t>
              </a:r>
              <a:endParaRPr kumimoji="0" lang="en-US" sz="700" b="0" i="0" u="none" strike="noStrike" kern="1200" cap="none" spc="0" normalizeH="0" baseline="0" noProof="0">
                <a:ln>
                  <a:noFill/>
                </a:ln>
                <a:solidFill>
                  <a:schemeClr val="tx1"/>
                </a:solidFill>
                <a:effectLst/>
                <a:uLnTx/>
                <a:uFillTx/>
                <a:latin typeface="Segoe UI" panose="020B0502040204020203" pitchFamily="34" charset="0"/>
                <a:cs typeface="Segoe UI" panose="020B0502040204020203" pitchFamily="34" charset="0"/>
              </a:endParaRPr>
            </a:p>
          </p:txBody>
        </p:sp>
        <p:grpSp>
          <p:nvGrpSpPr>
            <p:cNvPr id="167" name="Group 166">
              <a:extLst>
                <a:ext uri="{FF2B5EF4-FFF2-40B4-BE49-F238E27FC236}">
                  <a16:creationId xmlns:a16="http://schemas.microsoft.com/office/drawing/2014/main" id="{FC378258-D9CB-1105-22DB-23E65F654E9C}"/>
                </a:ext>
              </a:extLst>
            </p:cNvPr>
            <p:cNvGrpSpPr/>
            <p:nvPr/>
          </p:nvGrpSpPr>
          <p:grpSpPr>
            <a:xfrm>
              <a:off x="10722943" y="2725040"/>
              <a:ext cx="174625" cy="160211"/>
              <a:chOff x="5638800" y="2971800"/>
              <a:chExt cx="996667" cy="914400"/>
            </a:xfrm>
          </p:grpSpPr>
          <p:pic>
            <p:nvPicPr>
              <p:cNvPr id="182" name="Graphic 181" descr="Employee badge outline">
                <a:extLst>
                  <a:ext uri="{FF2B5EF4-FFF2-40B4-BE49-F238E27FC236}">
                    <a16:creationId xmlns:a16="http://schemas.microsoft.com/office/drawing/2014/main" id="{67A20D6F-E204-8B25-3075-FE00A5C75171}"/>
                  </a:ext>
                </a:extLst>
              </p:cNvPr>
              <p:cNvPicPr>
                <a:picLocks noChangeAspect="1"/>
              </p:cNvPicPr>
              <p:nvPr/>
            </p:nvPicPr>
            <p:blipFill>
              <a:blip>
                <a:extLst>
                  <a:ext uri="{96DAC541-7B7A-43D3-8B79-37D633B846F1}">
                    <asvg:svgBlip xmlns:asvg="http://schemas.microsoft.com/office/drawing/2016/SVG/main" r:embed="rId145"/>
                  </a:ext>
                </a:extLst>
              </a:blip>
              <a:stretch>
                <a:fillRect/>
              </a:stretch>
            </p:blipFill>
            <p:spPr>
              <a:xfrm>
                <a:off x="5638800" y="2971800"/>
                <a:ext cx="914400" cy="914400"/>
              </a:xfrm>
              <a:prstGeom prst="rect">
                <a:avLst/>
              </a:prstGeom>
            </p:spPr>
          </p:pic>
          <p:sp>
            <p:nvSpPr>
              <p:cNvPr id="183" name="Oval 182">
                <a:extLst>
                  <a:ext uri="{FF2B5EF4-FFF2-40B4-BE49-F238E27FC236}">
                    <a16:creationId xmlns:a16="http://schemas.microsoft.com/office/drawing/2014/main" id="{6A84BC53-0491-8047-5817-ADFBE0D3C97D}"/>
                  </a:ext>
                </a:extLst>
              </p:cNvPr>
              <p:cNvSpPr/>
              <p:nvPr/>
            </p:nvSpPr>
            <p:spPr bwMode="auto">
              <a:xfrm>
                <a:off x="6309642" y="3198425"/>
                <a:ext cx="289700" cy="2897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84" name="Freeform: Shape 183">
                <a:extLst>
                  <a:ext uri="{FF2B5EF4-FFF2-40B4-BE49-F238E27FC236}">
                    <a16:creationId xmlns:a16="http://schemas.microsoft.com/office/drawing/2014/main" id="{BF411EC7-58D7-691C-C94C-90EA6EF84076}"/>
                  </a:ext>
                </a:extLst>
              </p:cNvPr>
              <p:cNvSpPr/>
              <p:nvPr/>
            </p:nvSpPr>
            <p:spPr>
              <a:xfrm>
                <a:off x="6273517" y="3162300"/>
                <a:ext cx="361950" cy="361950"/>
              </a:xfrm>
              <a:custGeom>
                <a:avLst/>
                <a:gdLst>
                  <a:gd name="connsiteX0" fmla="*/ 180975 w 361950"/>
                  <a:gd name="connsiteY0" fmla="*/ 0 h 361950"/>
                  <a:gd name="connsiteX1" fmla="*/ 0 w 361950"/>
                  <a:gd name="connsiteY1" fmla="*/ 180975 h 361950"/>
                  <a:gd name="connsiteX2" fmla="*/ 180975 w 361950"/>
                  <a:gd name="connsiteY2" fmla="*/ 361950 h 361950"/>
                  <a:gd name="connsiteX3" fmla="*/ 361950 w 361950"/>
                  <a:gd name="connsiteY3" fmla="*/ 180975 h 361950"/>
                  <a:gd name="connsiteX4" fmla="*/ 181127 w 361950"/>
                  <a:gd name="connsiteY4" fmla="*/ 0 h 361950"/>
                  <a:gd name="connsiteX5" fmla="*/ 180975 w 361950"/>
                  <a:gd name="connsiteY5" fmla="*/ 0 h 361950"/>
                  <a:gd name="connsiteX6" fmla="*/ 224790 w 361950"/>
                  <a:gd name="connsiteY6" fmla="*/ 189614 h 361950"/>
                  <a:gd name="connsiteX7" fmla="*/ 145209 w 361950"/>
                  <a:gd name="connsiteY7" fmla="*/ 269281 h 361950"/>
                  <a:gd name="connsiteX8" fmla="*/ 77019 w 361950"/>
                  <a:gd name="connsiteY8" fmla="*/ 201082 h 361950"/>
                  <a:gd name="connsiteX9" fmla="*/ 99803 w 361950"/>
                  <a:gd name="connsiteY9" fmla="*/ 178298 h 361950"/>
                  <a:gd name="connsiteX10" fmla="*/ 145209 w 361950"/>
                  <a:gd name="connsiteY10" fmla="*/ 223714 h 361950"/>
                  <a:gd name="connsiteX11" fmla="*/ 210931 w 361950"/>
                  <a:gd name="connsiteY11" fmla="*/ 157105 h 361950"/>
                  <a:gd name="connsiteX12" fmla="*/ 267348 w 361950"/>
                  <a:gd name="connsiteY12" fmla="*/ 101394 h 361950"/>
                  <a:gd name="connsiteX13" fmla="*/ 269405 w 361950"/>
                  <a:gd name="connsiteY13" fmla="*/ 99489 h 361950"/>
                  <a:gd name="connsiteX14" fmla="*/ 271310 w 361950"/>
                  <a:gd name="connsiteY14" fmla="*/ 97431 h 361950"/>
                  <a:gd name="connsiteX15" fmla="*/ 294418 w 361950"/>
                  <a:gd name="connsiteY15" fmla="*/ 120215 h 361950"/>
                  <a:gd name="connsiteX16" fmla="*/ 224790 w 361950"/>
                  <a:gd name="connsiteY16" fmla="*/ 18961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1950" h="361950">
                    <a:moveTo>
                      <a:pt x="180975" y="0"/>
                    </a:moveTo>
                    <a:cubicBezTo>
                      <a:pt x="81025" y="0"/>
                      <a:pt x="0" y="81025"/>
                      <a:pt x="0" y="180975"/>
                    </a:cubicBezTo>
                    <a:cubicBezTo>
                      <a:pt x="0" y="280925"/>
                      <a:pt x="81025" y="361950"/>
                      <a:pt x="180975" y="361950"/>
                    </a:cubicBezTo>
                    <a:cubicBezTo>
                      <a:pt x="280925" y="361950"/>
                      <a:pt x="361950" y="280925"/>
                      <a:pt x="361950" y="180975"/>
                    </a:cubicBezTo>
                    <a:cubicBezTo>
                      <a:pt x="361992" y="81067"/>
                      <a:pt x="281035" y="42"/>
                      <a:pt x="181127" y="0"/>
                    </a:cubicBezTo>
                    <a:cubicBezTo>
                      <a:pt x="181077" y="0"/>
                      <a:pt x="181025" y="0"/>
                      <a:pt x="180975" y="0"/>
                    </a:cubicBezTo>
                    <a:close/>
                    <a:moveTo>
                      <a:pt x="224790" y="189614"/>
                    </a:moveTo>
                    <a:cubicBezTo>
                      <a:pt x="198425" y="215935"/>
                      <a:pt x="171898" y="242490"/>
                      <a:pt x="145209" y="269281"/>
                    </a:cubicBezTo>
                    <a:cubicBezTo>
                      <a:pt x="122527" y="246497"/>
                      <a:pt x="99796" y="223764"/>
                      <a:pt x="77019" y="201082"/>
                    </a:cubicBezTo>
                    <a:lnTo>
                      <a:pt x="99803" y="178298"/>
                    </a:lnTo>
                    <a:lnTo>
                      <a:pt x="145209" y="223714"/>
                    </a:lnTo>
                    <a:cubicBezTo>
                      <a:pt x="167249" y="201349"/>
                      <a:pt x="189157" y="179146"/>
                      <a:pt x="210931" y="157105"/>
                    </a:cubicBezTo>
                    <a:cubicBezTo>
                      <a:pt x="232705" y="135055"/>
                      <a:pt x="244773" y="123225"/>
                      <a:pt x="267348" y="101394"/>
                    </a:cubicBezTo>
                    <a:cubicBezTo>
                      <a:pt x="267986" y="100755"/>
                      <a:pt x="268662" y="100127"/>
                      <a:pt x="269405" y="99489"/>
                    </a:cubicBezTo>
                    <a:cubicBezTo>
                      <a:pt x="270119" y="98880"/>
                      <a:pt x="270758" y="98189"/>
                      <a:pt x="271310" y="97431"/>
                    </a:cubicBezTo>
                    <a:lnTo>
                      <a:pt x="294418" y="120215"/>
                    </a:lnTo>
                    <a:cubicBezTo>
                      <a:pt x="267653" y="146904"/>
                      <a:pt x="251193" y="163297"/>
                      <a:pt x="224790" y="189614"/>
                    </a:cubicBezTo>
                    <a:close/>
                  </a:path>
                </a:pathLst>
              </a:custGeom>
              <a:solidFill>
                <a:srgbClr val="00B050"/>
              </a:solidFill>
              <a:ln w="9525" cap="flat">
                <a:noFill/>
                <a:prstDash val="solid"/>
                <a:miter/>
              </a:ln>
            </p:spPr>
            <p:txBody>
              <a:bodyPr rtlCol="0" anchor="ctr"/>
              <a:lstStyle/>
              <a:p>
                <a:endParaRPr lang="en-US"/>
              </a:p>
            </p:txBody>
          </p:sp>
        </p:grpSp>
      </p:grpSp>
      <p:grpSp>
        <p:nvGrpSpPr>
          <p:cNvPr id="82" name="Group 81">
            <a:extLst>
              <a:ext uri="{FF2B5EF4-FFF2-40B4-BE49-F238E27FC236}">
                <a16:creationId xmlns:a16="http://schemas.microsoft.com/office/drawing/2014/main" id="{8304F864-E4B3-CD5E-3FD8-101C7E6F5DBC}"/>
              </a:ext>
            </a:extLst>
          </p:cNvPr>
          <p:cNvGrpSpPr/>
          <p:nvPr/>
        </p:nvGrpSpPr>
        <p:grpSpPr>
          <a:xfrm>
            <a:off x="269108" y="6556102"/>
            <a:ext cx="2048287" cy="200929"/>
            <a:chOff x="267254" y="6528791"/>
            <a:chExt cx="2048287" cy="200929"/>
          </a:xfrm>
        </p:grpSpPr>
        <p:sp>
          <p:nvSpPr>
            <p:cNvPr id="158" name="Rectangle 157">
              <a:hlinkClick r:id="rId146" tooltip="Microsoft Security Copilot uses generative AI to help with incident response, threat hunting, intelligence gathering, posture management, and more. "/>
              <a:extLst>
                <a:ext uri="{FF2B5EF4-FFF2-40B4-BE49-F238E27FC236}">
                  <a16:creationId xmlns:a16="http://schemas.microsoft.com/office/drawing/2014/main" id="{5C3E1EFD-8636-5C9F-8578-1CF9D16F1BE4}"/>
                </a:ext>
              </a:extLst>
            </p:cNvPr>
            <p:cNvSpPr/>
            <p:nvPr/>
          </p:nvSpPr>
          <p:spPr>
            <a:xfrm>
              <a:off x="267254" y="6528791"/>
              <a:ext cx="2048287" cy="200929"/>
            </a:xfrm>
            <a:prstGeom prst="rect">
              <a:avLst/>
            </a:prstGeom>
            <a:solidFill>
              <a:schemeClr val="bg1"/>
            </a:solidFill>
            <a:ln w="14224">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91440" rIns="45720" rtlCol="0" anchor="ctr">
              <a:noAutofit/>
            </a:bodyPr>
            <a:lstStyle/>
            <a:p>
              <a:pPr marL="171450">
                <a:lnSpc>
                  <a:spcPct val="97000"/>
                </a:lnSpc>
              </a:pPr>
              <a:r>
                <a:rPr lang="en-US" sz="900" b="1">
                  <a:solidFill>
                    <a:schemeClr val="tx1"/>
                  </a:solidFill>
                  <a:latin typeface="Segoe UI Semibold" panose="020B0702040204020203" pitchFamily="34" charset="0"/>
                  <a:cs typeface="Segoe UI Semibold" panose="020B0702040204020203" pitchFamily="34" charset="0"/>
                </a:rPr>
                <a:t>Microsoft Security Copilot</a:t>
              </a:r>
            </a:p>
          </p:txBody>
        </p:sp>
        <p:pic>
          <p:nvPicPr>
            <p:cNvPr id="81" name="Picture 80" descr="A black and purple logo&#10;&#10;AI-generated content may be incorrect.">
              <a:extLst>
                <a:ext uri="{FF2B5EF4-FFF2-40B4-BE49-F238E27FC236}">
                  <a16:creationId xmlns:a16="http://schemas.microsoft.com/office/drawing/2014/main" id="{BC9F33B8-26D6-D5A2-671D-823EAEAD9955}"/>
                </a:ext>
              </a:extLst>
            </p:cNvPr>
            <p:cNvPicPr>
              <a:picLocks noChangeAspect="1"/>
            </p:cNvPicPr>
            <p:nvPr/>
          </p:nvPicPr>
          <p:blipFill>
            <a:blip r:embed="rId147">
              <a:extLst>
                <a:ext uri="{28A0092B-C50C-407E-A947-70E740481C1C}">
                  <a14:useLocalDpi xmlns:a14="http://schemas.microsoft.com/office/drawing/2010/main" val="0"/>
                </a:ext>
              </a:extLst>
            </a:blip>
            <a:srcRect/>
            <a:stretch/>
          </p:blipFill>
          <p:spPr>
            <a:xfrm>
              <a:off x="270290" y="6537865"/>
              <a:ext cx="194318" cy="181128"/>
            </a:xfrm>
            <a:prstGeom prst="rect">
              <a:avLst/>
            </a:prstGeom>
          </p:spPr>
        </p:pic>
      </p:grpSp>
      <p:grpSp>
        <p:nvGrpSpPr>
          <p:cNvPr id="94" name="Group 93">
            <a:extLst>
              <a:ext uri="{FF2B5EF4-FFF2-40B4-BE49-F238E27FC236}">
                <a16:creationId xmlns:a16="http://schemas.microsoft.com/office/drawing/2014/main" id="{57AC7027-50B5-BF16-64B6-4ADA7877AACD}"/>
              </a:ext>
            </a:extLst>
          </p:cNvPr>
          <p:cNvGrpSpPr/>
          <p:nvPr/>
        </p:nvGrpSpPr>
        <p:grpSpPr>
          <a:xfrm>
            <a:off x="7615438" y="4981825"/>
            <a:ext cx="1834768" cy="141112"/>
            <a:chOff x="2479888" y="3244888"/>
            <a:chExt cx="1799029" cy="141112"/>
          </a:xfrm>
        </p:grpSpPr>
        <p:sp>
          <p:nvSpPr>
            <p:cNvPr id="155" name="Rectangle 154">
              <a:extLst>
                <a:ext uri="{FF2B5EF4-FFF2-40B4-BE49-F238E27FC236}">
                  <a16:creationId xmlns:a16="http://schemas.microsoft.com/office/drawing/2014/main" id="{1DA3AAF0-4635-AFFF-DC0E-F0B8F50AD425}"/>
                </a:ext>
              </a:extLst>
            </p:cNvPr>
            <p:cNvSpPr/>
            <p:nvPr/>
          </p:nvSpPr>
          <p:spPr>
            <a:xfrm>
              <a:off x="2479888" y="3244888"/>
              <a:ext cx="1799029" cy="141112"/>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r"/>
              <a:r>
                <a:rPr lang="en-US" sz="700" b="1">
                  <a:solidFill>
                    <a:prstClr val="black"/>
                  </a:solidFill>
                  <a:latin typeface="Segoe UI Semibold" panose="020B0702040204020203" pitchFamily="34" charset="0"/>
                  <a:cs typeface="Segoe UI Semibold" panose="020B0702040204020203" pitchFamily="34" charset="0"/>
                </a:rPr>
                <a:t>Privileged Access Management (PAM)</a:t>
              </a:r>
            </a:p>
          </p:txBody>
        </p:sp>
        <p:sp>
          <p:nvSpPr>
            <p:cNvPr id="166" name="Commitments_EC4D">
              <a:extLst>
                <a:ext uri="{FF2B5EF4-FFF2-40B4-BE49-F238E27FC236}">
                  <a16:creationId xmlns:a16="http://schemas.microsoft.com/office/drawing/2014/main" id="{9D15BD82-C435-86B6-E59F-A54CABD30871}"/>
                </a:ext>
              </a:extLst>
            </p:cNvPr>
            <p:cNvSpPr>
              <a:spLocks noChangeAspect="1" noEditPoints="1"/>
            </p:cNvSpPr>
            <p:nvPr/>
          </p:nvSpPr>
          <p:spPr bwMode="auto">
            <a:xfrm>
              <a:off x="2511607" y="3267723"/>
              <a:ext cx="120630" cy="9823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63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9144" rIns="91440" bIns="914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216" name="Group 215">
            <a:extLst>
              <a:ext uri="{FF2B5EF4-FFF2-40B4-BE49-F238E27FC236}">
                <a16:creationId xmlns:a16="http://schemas.microsoft.com/office/drawing/2014/main" id="{2678AD62-02D9-223B-FFEF-8D593479BCB3}"/>
              </a:ext>
            </a:extLst>
          </p:cNvPr>
          <p:cNvGrpSpPr/>
          <p:nvPr/>
        </p:nvGrpSpPr>
        <p:grpSpPr>
          <a:xfrm>
            <a:off x="9500415" y="4981825"/>
            <a:ext cx="2341835" cy="141112"/>
            <a:chOff x="2456763" y="3244888"/>
            <a:chExt cx="2341835" cy="141112"/>
          </a:xfrm>
        </p:grpSpPr>
        <p:sp>
          <p:nvSpPr>
            <p:cNvPr id="217" name="Rectangle 216">
              <a:extLst>
                <a:ext uri="{FF2B5EF4-FFF2-40B4-BE49-F238E27FC236}">
                  <a16:creationId xmlns:a16="http://schemas.microsoft.com/office/drawing/2014/main" id="{DF312BEF-AFE2-9C33-F383-80D01786B2C1}"/>
                </a:ext>
              </a:extLst>
            </p:cNvPr>
            <p:cNvSpPr/>
            <p:nvPr/>
          </p:nvSpPr>
          <p:spPr>
            <a:xfrm>
              <a:off x="2456763" y="3244888"/>
              <a:ext cx="2341835" cy="141112"/>
            </a:xfrm>
            <a:prstGeom prst="rect">
              <a:avLst/>
            </a:prstGeom>
            <a:solidFill>
              <a:srgbClr val="FFFFFF"/>
            </a:solidFill>
            <a:ln w="6350">
              <a:solidFill>
                <a:srgbClr val="B1B3B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r"/>
              <a:r>
                <a:rPr lang="en-US" sz="650" b="1">
                  <a:solidFill>
                    <a:prstClr val="black"/>
                  </a:solidFill>
                  <a:latin typeface="Segoe UI Semibold" panose="020B0702040204020203" pitchFamily="34" charset="0"/>
                  <a:cs typeface="Segoe UI Semibold" panose="020B0702040204020203" pitchFamily="34" charset="0"/>
                </a:rPr>
                <a:t>Cloud Infrastructure Entitlement Management (CIEM)</a:t>
              </a:r>
            </a:p>
          </p:txBody>
        </p:sp>
        <p:sp>
          <p:nvSpPr>
            <p:cNvPr id="218" name="Commitments_EC4D">
              <a:extLst>
                <a:ext uri="{FF2B5EF4-FFF2-40B4-BE49-F238E27FC236}">
                  <a16:creationId xmlns:a16="http://schemas.microsoft.com/office/drawing/2014/main" id="{C7EE4E20-F640-042A-9631-0C020AC6DE2A}"/>
                </a:ext>
              </a:extLst>
            </p:cNvPr>
            <p:cNvSpPr>
              <a:spLocks noChangeAspect="1" noEditPoints="1"/>
            </p:cNvSpPr>
            <p:nvPr/>
          </p:nvSpPr>
          <p:spPr bwMode="auto">
            <a:xfrm>
              <a:off x="2511607" y="3267723"/>
              <a:ext cx="120630" cy="9823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63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9144" rIns="91440" bIns="914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162" name="Group 161">
            <a:extLst>
              <a:ext uri="{FF2B5EF4-FFF2-40B4-BE49-F238E27FC236}">
                <a16:creationId xmlns:a16="http://schemas.microsoft.com/office/drawing/2014/main" id="{39929A73-F192-7E84-370E-F57EFCE36342}"/>
              </a:ext>
            </a:extLst>
          </p:cNvPr>
          <p:cNvGrpSpPr/>
          <p:nvPr/>
        </p:nvGrpSpPr>
        <p:grpSpPr>
          <a:xfrm>
            <a:off x="6796006" y="6251724"/>
            <a:ext cx="884673" cy="161642"/>
            <a:chOff x="5560227" y="6246542"/>
            <a:chExt cx="1045725" cy="191068"/>
          </a:xfrm>
        </p:grpSpPr>
        <p:sp>
          <p:nvSpPr>
            <p:cNvPr id="7" name="TextBox 6">
              <a:extLst>
                <a:ext uri="{FF2B5EF4-FFF2-40B4-BE49-F238E27FC236}">
                  <a16:creationId xmlns:a16="http://schemas.microsoft.com/office/drawing/2014/main" id="{AF6DEBB9-9E51-38BF-9A0F-F26670BF0AA6}"/>
                </a:ext>
              </a:extLst>
            </p:cNvPr>
            <p:cNvSpPr txBox="1"/>
            <p:nvPr/>
          </p:nvSpPr>
          <p:spPr>
            <a:xfrm>
              <a:off x="5560227" y="6246542"/>
              <a:ext cx="1045725" cy="191068"/>
            </a:xfrm>
            <a:prstGeom prst="rect">
              <a:avLst/>
            </a:prstGeom>
            <a:solidFill>
              <a:srgbClr val="BEFFC3"/>
            </a:solidFill>
            <a:ln w="9525">
              <a:solidFill>
                <a:schemeClr val="bg1"/>
              </a:solidFill>
              <a:prstDash val="solid"/>
            </a:ln>
            <a:effectLst>
              <a:outerShdw blurRad="25400" dist="127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2880" rIns="45720" rtlCol="0" anchor="ctr">
              <a:noAutofit/>
            </a:bodyPr>
            <a:lstStyle>
              <a:defPPr>
                <a:defRPr lang="en-US"/>
              </a:defPPr>
              <a:lvl1pPr marR="0" lvl="0" indent="0" algn="ctr" fontAlgn="auto">
                <a:lnSpc>
                  <a:spcPct val="97000"/>
                </a:lnSpc>
                <a:spcBef>
                  <a:spcPts val="0"/>
                </a:spcBef>
                <a:spcAft>
                  <a:spcPts val="0"/>
                </a:spcAft>
                <a:buClrTx/>
                <a:buSzTx/>
                <a:buFontTx/>
                <a:buNone/>
                <a:tabLst/>
                <a:defRPr kumimoji="0" sz="720" b="1" i="0" u="none" strike="noStrike" cap="none" spc="0" normalizeH="0" baseline="0">
                  <a:ln>
                    <a:noFill/>
                  </a:ln>
                  <a:gradFill>
                    <a:gsLst>
                      <a:gs pos="0">
                        <a:srgbClr val="505050">
                          <a:lumMod val="75000"/>
                        </a:srgbClr>
                      </a:gs>
                      <a:gs pos="100000">
                        <a:srgbClr val="505050">
                          <a:lumMod val="75000"/>
                        </a:srgbClr>
                      </a:gs>
                    </a:gsLst>
                    <a:lin ang="5400000" scaled="1"/>
                  </a:gradFill>
                  <a:effectLst/>
                  <a:uLnTx/>
                  <a:uFillTx/>
                  <a:latin typeface="Segoe UI" panose="020B0502040204020203" pitchFamily="34" charset="0"/>
                  <a:cs typeface="Segoe UI"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600">
                  <a:latin typeface="Segoe UI Semibold" panose="020B0702040204020203" pitchFamily="34" charset="0"/>
                  <a:cs typeface="Segoe UI Semibold" panose="020B0702040204020203" pitchFamily="34" charset="0"/>
                </a:rPr>
                <a:t>Defender for APIs</a:t>
              </a:r>
              <a:endParaRPr lang="en-US" sz="600" b="0" i="1">
                <a:latin typeface="Segoe UI Semibold" panose="020B0702040204020203" pitchFamily="34" charset="0"/>
                <a:cs typeface="Segoe UI Semibold" panose="020B0702040204020203" pitchFamily="34" charset="0"/>
              </a:endParaRPr>
            </a:p>
          </p:txBody>
        </p:sp>
        <p:grpSp>
          <p:nvGrpSpPr>
            <p:cNvPr id="21" name="Group 20">
              <a:extLst>
                <a:ext uri="{FF2B5EF4-FFF2-40B4-BE49-F238E27FC236}">
                  <a16:creationId xmlns:a16="http://schemas.microsoft.com/office/drawing/2014/main" id="{771DA2D3-82EE-A868-A3B7-2CEB50702BC9}"/>
                </a:ext>
              </a:extLst>
            </p:cNvPr>
            <p:cNvGrpSpPr/>
            <p:nvPr/>
          </p:nvGrpSpPr>
          <p:grpSpPr>
            <a:xfrm>
              <a:off x="5597976" y="6277507"/>
              <a:ext cx="130735" cy="130735"/>
              <a:chOff x="9473320" y="2375073"/>
              <a:chExt cx="1915959" cy="1915955"/>
            </a:xfrm>
          </p:grpSpPr>
          <p:grpSp>
            <p:nvGrpSpPr>
              <p:cNvPr id="29" name="Group 28">
                <a:extLst>
                  <a:ext uri="{FF2B5EF4-FFF2-40B4-BE49-F238E27FC236}">
                    <a16:creationId xmlns:a16="http://schemas.microsoft.com/office/drawing/2014/main" id="{C5B36E1C-4AC0-0574-2399-4780644E09CE}"/>
                  </a:ext>
                </a:extLst>
              </p:cNvPr>
              <p:cNvGrpSpPr/>
              <p:nvPr/>
            </p:nvGrpSpPr>
            <p:grpSpPr>
              <a:xfrm>
                <a:off x="9473320" y="2375073"/>
                <a:ext cx="1915959" cy="1915955"/>
                <a:chOff x="-1180530" y="2922823"/>
                <a:chExt cx="2397909" cy="2397907"/>
              </a:xfrm>
            </p:grpSpPr>
            <p:sp>
              <p:nvSpPr>
                <p:cNvPr id="157" name="Arc 156">
                  <a:extLst>
                    <a:ext uri="{FF2B5EF4-FFF2-40B4-BE49-F238E27FC236}">
                      <a16:creationId xmlns:a16="http://schemas.microsoft.com/office/drawing/2014/main" id="{566B5D3C-6336-F2CD-1D5D-8CB72FEF9FF2}"/>
                    </a:ext>
                  </a:extLst>
                </p:cNvPr>
                <p:cNvSpPr/>
                <p:nvPr/>
              </p:nvSpPr>
              <p:spPr>
                <a:xfrm rot="10800000">
                  <a:off x="-1180529" y="2922824"/>
                  <a:ext cx="2397908" cy="2397906"/>
                </a:xfrm>
                <a:prstGeom prst="arc">
                  <a:avLst>
                    <a:gd name="adj1" fmla="val 153468"/>
                    <a:gd name="adj2" fmla="val 5327528"/>
                  </a:avLst>
                </a:prstGeom>
                <a:solidFill>
                  <a:srgbClr val="0078D4">
                    <a:lumMod val="75000"/>
                  </a:srgbClr>
                </a:solidFill>
                <a:ln w="53975" cap="flat" cmpd="sng" algn="ctr">
                  <a:noFill/>
                  <a:prstDash val="solid"/>
                  <a:headEnd type="none" w="med" len="med"/>
                  <a:tailEnd type="arrow"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1A1A1A"/>
                    </a:solidFill>
                    <a:effectLst/>
                    <a:uLnTx/>
                    <a:uFillTx/>
                    <a:latin typeface="Segoe UI"/>
                    <a:ea typeface="+mn-ea"/>
                    <a:cs typeface="+mn-cs"/>
                  </a:endParaRPr>
                </a:p>
              </p:txBody>
            </p:sp>
            <p:sp>
              <p:nvSpPr>
                <p:cNvPr id="159" name="Arc 158">
                  <a:extLst>
                    <a:ext uri="{FF2B5EF4-FFF2-40B4-BE49-F238E27FC236}">
                      <a16:creationId xmlns:a16="http://schemas.microsoft.com/office/drawing/2014/main" id="{932AD0CB-6BE4-4222-54AA-3D0E9BE82AD9}"/>
                    </a:ext>
                  </a:extLst>
                </p:cNvPr>
                <p:cNvSpPr/>
                <p:nvPr/>
              </p:nvSpPr>
              <p:spPr>
                <a:xfrm rot="10800000">
                  <a:off x="-1180529" y="2922824"/>
                  <a:ext cx="2397908" cy="2397906"/>
                </a:xfrm>
                <a:prstGeom prst="arc">
                  <a:avLst>
                    <a:gd name="adj1" fmla="val 16290144"/>
                    <a:gd name="adj2" fmla="val 517"/>
                  </a:avLst>
                </a:prstGeom>
                <a:solidFill>
                  <a:srgbClr val="0078D4">
                    <a:lumMod val="75000"/>
                  </a:srgbClr>
                </a:solidFill>
                <a:ln w="53975" cap="flat" cmpd="sng" algn="ctr">
                  <a:noFill/>
                  <a:prstDash val="solid"/>
                  <a:headEnd type="none" w="med" len="med"/>
                  <a:tailEnd type="arrow"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1A1A1A"/>
                    </a:solidFill>
                    <a:effectLst/>
                    <a:uLnTx/>
                    <a:uFillTx/>
                    <a:latin typeface="Segoe UI"/>
                    <a:ea typeface="+mn-ea"/>
                    <a:cs typeface="+mn-cs"/>
                  </a:endParaRPr>
                </a:p>
              </p:txBody>
            </p:sp>
            <p:sp>
              <p:nvSpPr>
                <p:cNvPr id="160" name="Arc 159">
                  <a:extLst>
                    <a:ext uri="{FF2B5EF4-FFF2-40B4-BE49-F238E27FC236}">
                      <a16:creationId xmlns:a16="http://schemas.microsoft.com/office/drawing/2014/main" id="{074EBA76-34DD-2084-A259-1530984E54AE}"/>
                    </a:ext>
                  </a:extLst>
                </p:cNvPr>
                <p:cNvSpPr/>
                <p:nvPr/>
              </p:nvSpPr>
              <p:spPr>
                <a:xfrm>
                  <a:off x="-1180530" y="2922824"/>
                  <a:ext cx="2397908" cy="2397906"/>
                </a:xfrm>
                <a:prstGeom prst="arc">
                  <a:avLst>
                    <a:gd name="adj1" fmla="val 94612"/>
                    <a:gd name="adj2" fmla="val 5295947"/>
                  </a:avLst>
                </a:prstGeom>
                <a:solidFill>
                  <a:srgbClr val="0078D4"/>
                </a:solidFill>
                <a:ln w="53975" cap="flat" cmpd="sng" algn="ctr">
                  <a:noFill/>
                  <a:prstDash val="solid"/>
                  <a:headEnd type="none" w="med" len="med"/>
                  <a:tailEnd type="arrow"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1A1A1A"/>
                    </a:solidFill>
                    <a:effectLst/>
                    <a:uLnTx/>
                    <a:uFillTx/>
                    <a:latin typeface="Segoe UI"/>
                    <a:ea typeface="+mn-ea"/>
                    <a:cs typeface="+mn-cs"/>
                  </a:endParaRPr>
                </a:p>
              </p:txBody>
            </p:sp>
            <p:sp>
              <p:nvSpPr>
                <p:cNvPr id="161" name="Arc 160">
                  <a:extLst>
                    <a:ext uri="{FF2B5EF4-FFF2-40B4-BE49-F238E27FC236}">
                      <a16:creationId xmlns:a16="http://schemas.microsoft.com/office/drawing/2014/main" id="{C32BDB50-0718-6FE4-7DD1-484E6AE1D156}"/>
                    </a:ext>
                  </a:extLst>
                </p:cNvPr>
                <p:cNvSpPr/>
                <p:nvPr/>
              </p:nvSpPr>
              <p:spPr>
                <a:xfrm>
                  <a:off x="-1180530" y="2922823"/>
                  <a:ext cx="2397908" cy="2397906"/>
                </a:xfrm>
                <a:prstGeom prst="arc">
                  <a:avLst>
                    <a:gd name="adj1" fmla="val 16316543"/>
                    <a:gd name="adj2" fmla="val 21543372"/>
                  </a:avLst>
                </a:prstGeom>
                <a:solidFill>
                  <a:srgbClr val="0078D4"/>
                </a:solidFill>
                <a:ln w="53975" cap="flat" cmpd="sng" algn="ctr">
                  <a:noFill/>
                  <a:prstDash val="solid"/>
                  <a:headEnd type="none" w="med" len="med"/>
                  <a:tailEnd type="arrow"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1A1A1A"/>
                    </a:solidFill>
                    <a:effectLst/>
                    <a:uLnTx/>
                    <a:uFillTx/>
                    <a:latin typeface="Segoe UI"/>
                    <a:ea typeface="+mn-ea"/>
                    <a:cs typeface="+mn-cs"/>
                  </a:endParaRPr>
                </a:p>
              </p:txBody>
            </p:sp>
          </p:grpSp>
          <p:grpSp>
            <p:nvGrpSpPr>
              <p:cNvPr id="86" name="Group 85">
                <a:extLst>
                  <a:ext uri="{FF2B5EF4-FFF2-40B4-BE49-F238E27FC236}">
                    <a16:creationId xmlns:a16="http://schemas.microsoft.com/office/drawing/2014/main" id="{48528171-D901-D856-F338-FAF97FA0D467}"/>
                  </a:ext>
                </a:extLst>
              </p:cNvPr>
              <p:cNvGrpSpPr/>
              <p:nvPr/>
            </p:nvGrpSpPr>
            <p:grpSpPr>
              <a:xfrm>
                <a:off x="9730909" y="2632664"/>
                <a:ext cx="1400774" cy="1400774"/>
                <a:chOff x="-3375459" y="2941983"/>
                <a:chExt cx="1634612" cy="1634612"/>
              </a:xfrm>
            </p:grpSpPr>
            <p:sp>
              <p:nvSpPr>
                <p:cNvPr id="90" name="Oval 89">
                  <a:extLst>
                    <a:ext uri="{FF2B5EF4-FFF2-40B4-BE49-F238E27FC236}">
                      <a16:creationId xmlns:a16="http://schemas.microsoft.com/office/drawing/2014/main" id="{5AC1DE7A-02AE-D759-7C40-7FB44C9C691A}"/>
                    </a:ext>
                  </a:extLst>
                </p:cNvPr>
                <p:cNvSpPr/>
                <p:nvPr/>
              </p:nvSpPr>
              <p:spPr bwMode="auto">
                <a:xfrm>
                  <a:off x="-3375459" y="2941983"/>
                  <a:ext cx="1634612" cy="1634612"/>
                </a:xfrm>
                <a:prstGeom prst="ellipse">
                  <a:avLst/>
                </a:prstGeom>
                <a:solidFill>
                  <a:srgbClr val="FFFFFF"/>
                </a:solidFill>
                <a:ln w="10795" cap="flat" cmpd="sng" algn="ctr">
                  <a:noFill/>
                  <a:prstDash val="solid"/>
                </a:ln>
                <a:effectLst>
                  <a:outerShdw blurRad="190500" dist="38100" dir="2700000" algn="ctr" rotWithShape="0">
                    <a:prstClr val="black">
                      <a:alpha val="30000"/>
                    </a:prstClr>
                  </a:outerShdw>
                </a:effectLst>
              </p:spPr>
              <p:txBody>
                <a:bodyPr vert="horz" wrap="square" lIns="228600" tIns="274320" rIns="228600" bIns="274320" rtlCol="0">
                  <a:noAutofit/>
                </a:bodyPr>
                <a:lstStyle/>
                <a:p>
                  <a:pPr marL="0" marR="0" lvl="0" indent="0" algn="ctr" defTabSz="914400" eaLnBrk="1" fontAlgn="base" latinLnBrk="0" hangingPunct="1">
                    <a:lnSpc>
                      <a:spcPct val="100000"/>
                    </a:lnSpc>
                    <a:spcBef>
                      <a:spcPts val="0"/>
                    </a:spcBef>
                    <a:spcAft>
                      <a:spcPts val="1600"/>
                    </a:spcAft>
                    <a:buClrTx/>
                    <a:buSzTx/>
                    <a:buFontTx/>
                    <a:buNone/>
                    <a:tabLst/>
                    <a:defRPr/>
                  </a:pPr>
                  <a:endParaRPr kumimoji="0" lang="en-US" sz="2400" b="1" i="0" u="none" strike="noStrike" kern="0" cap="all" spc="0" normalizeH="0" baseline="0" noProof="0">
                    <a:ln>
                      <a:noFill/>
                    </a:ln>
                    <a:gradFill>
                      <a:gsLst>
                        <a:gs pos="1250">
                          <a:srgbClr val="107C10"/>
                        </a:gs>
                        <a:gs pos="100000">
                          <a:srgbClr val="107C10"/>
                        </a:gs>
                      </a:gsLst>
                      <a:lin ang="5400000" scaled="0"/>
                    </a:gradFill>
                    <a:effectLst/>
                    <a:uLnTx/>
                    <a:uFillTx/>
                    <a:latin typeface="Segoe UI"/>
                    <a:ea typeface="+mn-ea"/>
                    <a:cs typeface="Segoe UI" panose="020B0502040204020203" pitchFamily="34" charset="0"/>
                  </a:endParaRPr>
                </a:p>
              </p:txBody>
            </p:sp>
            <p:pic>
              <p:nvPicPr>
                <p:cNvPr id="93" name="Picture 92">
                  <a:extLst>
                    <a:ext uri="{FF2B5EF4-FFF2-40B4-BE49-F238E27FC236}">
                      <a16:creationId xmlns:a16="http://schemas.microsoft.com/office/drawing/2014/main" id="{D551CC15-0253-4F19-66AF-2A4E04A342CE}"/>
                    </a:ext>
                  </a:extLst>
                </p:cNvPr>
                <p:cNvPicPr>
                  <a:picLocks noChangeAspect="1"/>
                </p:cNvPicPr>
                <p:nvPr/>
              </p:nvPicPr>
              <p:blipFill>
                <a:blip r:embed="rId148"/>
                <a:stretch>
                  <a:fillRect/>
                </a:stretch>
              </p:blipFill>
              <p:spPr>
                <a:xfrm>
                  <a:off x="-3222980" y="3197431"/>
                  <a:ext cx="1037683" cy="1037695"/>
                </a:xfrm>
                <a:prstGeom prst="rect">
                  <a:avLst/>
                </a:prstGeom>
              </p:spPr>
            </p:pic>
            <p:grpSp>
              <p:nvGrpSpPr>
                <p:cNvPr id="114" name="Group 113">
                  <a:extLst>
                    <a:ext uri="{FF2B5EF4-FFF2-40B4-BE49-F238E27FC236}">
                      <a16:creationId xmlns:a16="http://schemas.microsoft.com/office/drawing/2014/main" id="{C117AC11-6142-FBB2-B73A-B2805F60DF34}"/>
                    </a:ext>
                  </a:extLst>
                </p:cNvPr>
                <p:cNvGrpSpPr/>
                <p:nvPr/>
              </p:nvGrpSpPr>
              <p:grpSpPr>
                <a:xfrm rot="2299755">
                  <a:off x="-2416424" y="3447664"/>
                  <a:ext cx="283053" cy="283049"/>
                  <a:chOff x="7532385" y="4078788"/>
                  <a:chExt cx="468337" cy="468333"/>
                </a:xfrm>
              </p:grpSpPr>
              <p:sp>
                <p:nvSpPr>
                  <p:cNvPr id="131" name="Freeform 1120">
                    <a:extLst>
                      <a:ext uri="{FF2B5EF4-FFF2-40B4-BE49-F238E27FC236}">
                        <a16:creationId xmlns:a16="http://schemas.microsoft.com/office/drawing/2014/main" id="{A8F3FBB4-C72B-E3B6-8A89-82EAA2623295}"/>
                      </a:ext>
                    </a:extLst>
                  </p:cNvPr>
                  <p:cNvSpPr>
                    <a:spLocks/>
                  </p:cNvSpPr>
                  <p:nvPr/>
                </p:nvSpPr>
                <p:spPr bwMode="auto">
                  <a:xfrm>
                    <a:off x="7741034" y="4326108"/>
                    <a:ext cx="68411" cy="221013"/>
                  </a:xfrm>
                  <a:custGeom>
                    <a:avLst/>
                    <a:gdLst>
                      <a:gd name="T0" fmla="*/ 16 w 16"/>
                      <a:gd name="T1" fmla="*/ 0 h 52"/>
                      <a:gd name="T2" fmla="*/ 16 w 16"/>
                      <a:gd name="T3" fmla="*/ 44 h 52"/>
                      <a:gd name="T4" fmla="*/ 15 w 16"/>
                      <a:gd name="T5" fmla="*/ 47 h 52"/>
                      <a:gd name="T6" fmla="*/ 13 w 16"/>
                      <a:gd name="T7" fmla="*/ 50 h 52"/>
                      <a:gd name="T8" fmla="*/ 11 w 16"/>
                      <a:gd name="T9" fmla="*/ 51 h 52"/>
                      <a:gd name="T10" fmla="*/ 8 w 16"/>
                      <a:gd name="T11" fmla="*/ 52 h 52"/>
                      <a:gd name="T12" fmla="*/ 5 w 16"/>
                      <a:gd name="T13" fmla="*/ 51 h 52"/>
                      <a:gd name="T14" fmla="*/ 2 w 16"/>
                      <a:gd name="T15" fmla="*/ 50 h 52"/>
                      <a:gd name="T16" fmla="*/ 0 w 16"/>
                      <a:gd name="T17" fmla="*/ 47 h 52"/>
                      <a:gd name="T18" fmla="*/ 0 w 16"/>
                      <a:gd name="T19" fmla="*/ 44 h 52"/>
                      <a:gd name="T20" fmla="*/ 0 w 16"/>
                      <a:gd name="T21" fmla="*/ 0 h 52"/>
                      <a:gd name="T22" fmla="*/ 16 w 16"/>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52">
                        <a:moveTo>
                          <a:pt x="16" y="0"/>
                        </a:moveTo>
                        <a:cubicBezTo>
                          <a:pt x="16" y="44"/>
                          <a:pt x="16" y="44"/>
                          <a:pt x="16" y="44"/>
                        </a:cubicBezTo>
                        <a:cubicBezTo>
                          <a:pt x="16" y="45"/>
                          <a:pt x="16" y="46"/>
                          <a:pt x="15" y="47"/>
                        </a:cubicBezTo>
                        <a:cubicBezTo>
                          <a:pt x="15" y="48"/>
                          <a:pt x="14" y="49"/>
                          <a:pt x="13" y="50"/>
                        </a:cubicBezTo>
                        <a:cubicBezTo>
                          <a:pt x="13" y="50"/>
                          <a:pt x="12" y="51"/>
                          <a:pt x="11" y="51"/>
                        </a:cubicBezTo>
                        <a:cubicBezTo>
                          <a:pt x="10" y="52"/>
                          <a:pt x="9" y="52"/>
                          <a:pt x="8" y="52"/>
                        </a:cubicBezTo>
                        <a:cubicBezTo>
                          <a:pt x="7" y="52"/>
                          <a:pt x="6" y="52"/>
                          <a:pt x="5" y="51"/>
                        </a:cubicBezTo>
                        <a:cubicBezTo>
                          <a:pt x="4" y="51"/>
                          <a:pt x="3" y="50"/>
                          <a:pt x="2" y="50"/>
                        </a:cubicBezTo>
                        <a:cubicBezTo>
                          <a:pt x="1" y="49"/>
                          <a:pt x="1" y="48"/>
                          <a:pt x="0" y="47"/>
                        </a:cubicBezTo>
                        <a:cubicBezTo>
                          <a:pt x="0" y="46"/>
                          <a:pt x="0" y="45"/>
                          <a:pt x="0" y="44"/>
                        </a:cubicBezTo>
                        <a:cubicBezTo>
                          <a:pt x="0" y="0"/>
                          <a:pt x="0" y="0"/>
                          <a:pt x="0" y="0"/>
                        </a:cubicBezTo>
                        <a:lnTo>
                          <a:pt x="16" y="0"/>
                        </a:lnTo>
                        <a:close/>
                      </a:path>
                    </a:pathLst>
                  </a:custGeom>
                  <a:solidFill>
                    <a:srgbClr val="2F2F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3C3C41"/>
                      </a:solidFill>
                      <a:effectLst/>
                      <a:uLnTx/>
                      <a:uFillTx/>
                    </a:endParaRPr>
                  </a:p>
                </p:txBody>
              </p:sp>
              <p:sp>
                <p:nvSpPr>
                  <p:cNvPr id="146" name="Freeform 1121">
                    <a:extLst>
                      <a:ext uri="{FF2B5EF4-FFF2-40B4-BE49-F238E27FC236}">
                        <a16:creationId xmlns:a16="http://schemas.microsoft.com/office/drawing/2014/main" id="{5B17D5DA-28BF-32A1-2135-A31606E7A59B}"/>
                      </a:ext>
                    </a:extLst>
                  </p:cNvPr>
                  <p:cNvSpPr>
                    <a:spLocks/>
                  </p:cNvSpPr>
                  <p:nvPr/>
                </p:nvSpPr>
                <p:spPr bwMode="auto">
                  <a:xfrm>
                    <a:off x="7741035" y="4078788"/>
                    <a:ext cx="68411" cy="247325"/>
                  </a:xfrm>
                  <a:custGeom>
                    <a:avLst/>
                    <a:gdLst>
                      <a:gd name="T0" fmla="*/ 13 w 13"/>
                      <a:gd name="T1" fmla="*/ 0 h 47"/>
                      <a:gd name="T2" fmla="*/ 0 w 13"/>
                      <a:gd name="T3" fmla="*/ 0 h 47"/>
                      <a:gd name="T4" fmla="*/ 0 w 13"/>
                      <a:gd name="T5" fmla="*/ 12 h 47"/>
                      <a:gd name="T6" fmla="*/ 4 w 13"/>
                      <a:gd name="T7" fmla="*/ 15 h 47"/>
                      <a:gd name="T8" fmla="*/ 4 w 13"/>
                      <a:gd name="T9" fmla="*/ 47 h 47"/>
                      <a:gd name="T10" fmla="*/ 10 w 13"/>
                      <a:gd name="T11" fmla="*/ 47 h 47"/>
                      <a:gd name="T12" fmla="*/ 10 w 13"/>
                      <a:gd name="T13" fmla="*/ 15 h 47"/>
                      <a:gd name="T14" fmla="*/ 13 w 13"/>
                      <a:gd name="T15" fmla="*/ 12 h 47"/>
                      <a:gd name="T16" fmla="*/ 13 w 13"/>
                      <a:gd name="T17"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47">
                        <a:moveTo>
                          <a:pt x="13" y="0"/>
                        </a:moveTo>
                        <a:lnTo>
                          <a:pt x="0" y="0"/>
                        </a:lnTo>
                        <a:lnTo>
                          <a:pt x="0" y="12"/>
                        </a:lnTo>
                        <a:lnTo>
                          <a:pt x="4" y="15"/>
                        </a:lnTo>
                        <a:lnTo>
                          <a:pt x="4" y="47"/>
                        </a:lnTo>
                        <a:lnTo>
                          <a:pt x="10" y="47"/>
                        </a:lnTo>
                        <a:lnTo>
                          <a:pt x="10" y="15"/>
                        </a:lnTo>
                        <a:lnTo>
                          <a:pt x="13" y="12"/>
                        </a:lnTo>
                        <a:lnTo>
                          <a:pt x="13" y="0"/>
                        </a:lnTo>
                        <a:close/>
                      </a:path>
                    </a:pathLst>
                  </a:custGeom>
                  <a:solidFill>
                    <a:srgbClr val="3C3C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3C3C41"/>
                      </a:solidFill>
                      <a:effectLst/>
                      <a:uLnTx/>
                      <a:uFillTx/>
                    </a:endParaRPr>
                  </a:p>
                </p:txBody>
              </p:sp>
              <p:sp>
                <p:nvSpPr>
                  <p:cNvPr id="147" name="Rectangle 1122">
                    <a:extLst>
                      <a:ext uri="{FF2B5EF4-FFF2-40B4-BE49-F238E27FC236}">
                        <a16:creationId xmlns:a16="http://schemas.microsoft.com/office/drawing/2014/main" id="{21D710B1-8B3A-FC58-7503-212ECC79B424}"/>
                      </a:ext>
                    </a:extLst>
                  </p:cNvPr>
                  <p:cNvSpPr>
                    <a:spLocks noChangeArrowheads="1"/>
                  </p:cNvSpPr>
                  <p:nvPr/>
                </p:nvSpPr>
                <p:spPr bwMode="auto">
                  <a:xfrm>
                    <a:off x="7741034" y="4362942"/>
                    <a:ext cx="68411" cy="31573"/>
                  </a:xfrm>
                  <a:prstGeom prst="rect">
                    <a:avLst/>
                  </a:prstGeom>
                  <a:solidFill>
                    <a:srgbClr val="3C3C4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9728" tIns="54864" rIns="109728" bIns="5486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3C3C41"/>
                      </a:solidFill>
                      <a:effectLst/>
                      <a:uLnTx/>
                      <a:uFillTx/>
                    </a:endParaRPr>
                  </a:p>
                </p:txBody>
              </p:sp>
              <p:sp>
                <p:nvSpPr>
                  <p:cNvPr id="151" name="Freeform 1123">
                    <a:extLst>
                      <a:ext uri="{FF2B5EF4-FFF2-40B4-BE49-F238E27FC236}">
                        <a16:creationId xmlns:a16="http://schemas.microsoft.com/office/drawing/2014/main" id="{1AA0C3AE-A191-9DC2-048F-76F4598DB386}"/>
                      </a:ext>
                    </a:extLst>
                  </p:cNvPr>
                  <p:cNvSpPr>
                    <a:spLocks noEditPoints="1"/>
                  </p:cNvSpPr>
                  <p:nvPr/>
                </p:nvSpPr>
                <p:spPr bwMode="auto">
                  <a:xfrm rot="16643472">
                    <a:off x="7690252" y="4067783"/>
                    <a:ext cx="152604" cy="468337"/>
                  </a:xfrm>
                  <a:custGeom>
                    <a:avLst/>
                    <a:gdLst>
                      <a:gd name="T0" fmla="*/ 34 w 36"/>
                      <a:gd name="T1" fmla="*/ 9 h 112"/>
                      <a:gd name="T2" fmla="*/ 30 w 36"/>
                      <a:gd name="T3" fmla="*/ 3 h 112"/>
                      <a:gd name="T4" fmla="*/ 26 w 36"/>
                      <a:gd name="T5" fmla="*/ 0 h 112"/>
                      <a:gd name="T6" fmla="*/ 26 w 36"/>
                      <a:gd name="T7" fmla="*/ 20 h 112"/>
                      <a:gd name="T8" fmla="*/ 10 w 36"/>
                      <a:gd name="T9" fmla="*/ 20 h 112"/>
                      <a:gd name="T10" fmla="*/ 10 w 36"/>
                      <a:gd name="T11" fmla="*/ 0 h 112"/>
                      <a:gd name="T12" fmla="*/ 5 w 36"/>
                      <a:gd name="T13" fmla="*/ 3 h 112"/>
                      <a:gd name="T14" fmla="*/ 1 w 36"/>
                      <a:gd name="T15" fmla="*/ 9 h 112"/>
                      <a:gd name="T16" fmla="*/ 0 w 36"/>
                      <a:gd name="T17" fmla="*/ 16 h 112"/>
                      <a:gd name="T18" fmla="*/ 1 w 36"/>
                      <a:gd name="T19" fmla="*/ 22 h 112"/>
                      <a:gd name="T20" fmla="*/ 5 w 36"/>
                      <a:gd name="T21" fmla="*/ 28 h 112"/>
                      <a:gd name="T22" fmla="*/ 7 w 36"/>
                      <a:gd name="T23" fmla="*/ 30 h 112"/>
                      <a:gd name="T24" fmla="*/ 10 w 36"/>
                      <a:gd name="T25" fmla="*/ 32 h 112"/>
                      <a:gd name="T26" fmla="*/ 10 w 36"/>
                      <a:gd name="T27" fmla="*/ 104 h 112"/>
                      <a:gd name="T28" fmla="*/ 10 w 36"/>
                      <a:gd name="T29" fmla="*/ 107 h 112"/>
                      <a:gd name="T30" fmla="*/ 12 w 36"/>
                      <a:gd name="T31" fmla="*/ 110 h 112"/>
                      <a:gd name="T32" fmla="*/ 15 w 36"/>
                      <a:gd name="T33" fmla="*/ 112 h 112"/>
                      <a:gd name="T34" fmla="*/ 18 w 36"/>
                      <a:gd name="T35" fmla="*/ 112 h 112"/>
                      <a:gd name="T36" fmla="*/ 21 w 36"/>
                      <a:gd name="T37" fmla="*/ 112 h 112"/>
                      <a:gd name="T38" fmla="*/ 24 w 36"/>
                      <a:gd name="T39" fmla="*/ 110 h 112"/>
                      <a:gd name="T40" fmla="*/ 25 w 36"/>
                      <a:gd name="T41" fmla="*/ 107 h 112"/>
                      <a:gd name="T42" fmla="*/ 26 w 36"/>
                      <a:gd name="T43" fmla="*/ 104 h 112"/>
                      <a:gd name="T44" fmla="*/ 26 w 36"/>
                      <a:gd name="T45" fmla="*/ 32 h 112"/>
                      <a:gd name="T46" fmla="*/ 28 w 36"/>
                      <a:gd name="T47" fmla="*/ 30 h 112"/>
                      <a:gd name="T48" fmla="*/ 30 w 36"/>
                      <a:gd name="T49" fmla="*/ 28 h 112"/>
                      <a:gd name="T50" fmla="*/ 34 w 36"/>
                      <a:gd name="T51" fmla="*/ 23 h 112"/>
                      <a:gd name="T52" fmla="*/ 36 w 36"/>
                      <a:gd name="T53" fmla="*/ 16 h 112"/>
                      <a:gd name="T54" fmla="*/ 34 w 36"/>
                      <a:gd name="T55" fmla="*/ 9 h 112"/>
                      <a:gd name="T56" fmla="*/ 18 w 36"/>
                      <a:gd name="T57" fmla="*/ 108 h 112"/>
                      <a:gd name="T58" fmla="*/ 14 w 36"/>
                      <a:gd name="T59" fmla="*/ 104 h 112"/>
                      <a:gd name="T60" fmla="*/ 18 w 36"/>
                      <a:gd name="T61" fmla="*/ 100 h 112"/>
                      <a:gd name="T62" fmla="*/ 22 w 36"/>
                      <a:gd name="T63" fmla="*/ 104 h 112"/>
                      <a:gd name="T64" fmla="*/ 18 w 36"/>
                      <a:gd name="T65"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112">
                        <a:moveTo>
                          <a:pt x="34" y="9"/>
                        </a:moveTo>
                        <a:cubicBezTo>
                          <a:pt x="33" y="7"/>
                          <a:pt x="32" y="5"/>
                          <a:pt x="30" y="3"/>
                        </a:cubicBezTo>
                        <a:cubicBezTo>
                          <a:pt x="29" y="2"/>
                          <a:pt x="28" y="1"/>
                          <a:pt x="26" y="0"/>
                        </a:cubicBezTo>
                        <a:cubicBezTo>
                          <a:pt x="26" y="20"/>
                          <a:pt x="26" y="20"/>
                          <a:pt x="26" y="20"/>
                        </a:cubicBezTo>
                        <a:cubicBezTo>
                          <a:pt x="10" y="20"/>
                          <a:pt x="10" y="20"/>
                          <a:pt x="10" y="20"/>
                        </a:cubicBezTo>
                        <a:cubicBezTo>
                          <a:pt x="10" y="0"/>
                          <a:pt x="10" y="0"/>
                          <a:pt x="10" y="0"/>
                        </a:cubicBezTo>
                        <a:cubicBezTo>
                          <a:pt x="8" y="1"/>
                          <a:pt x="7" y="2"/>
                          <a:pt x="5" y="3"/>
                        </a:cubicBezTo>
                        <a:cubicBezTo>
                          <a:pt x="4" y="5"/>
                          <a:pt x="2" y="7"/>
                          <a:pt x="1" y="9"/>
                        </a:cubicBezTo>
                        <a:cubicBezTo>
                          <a:pt x="1" y="11"/>
                          <a:pt x="0" y="14"/>
                          <a:pt x="0" y="16"/>
                        </a:cubicBezTo>
                        <a:cubicBezTo>
                          <a:pt x="0" y="18"/>
                          <a:pt x="1" y="20"/>
                          <a:pt x="1" y="22"/>
                        </a:cubicBezTo>
                        <a:cubicBezTo>
                          <a:pt x="2" y="25"/>
                          <a:pt x="4" y="27"/>
                          <a:pt x="5" y="28"/>
                        </a:cubicBezTo>
                        <a:cubicBezTo>
                          <a:pt x="6" y="29"/>
                          <a:pt x="7" y="30"/>
                          <a:pt x="7" y="30"/>
                        </a:cubicBezTo>
                        <a:cubicBezTo>
                          <a:pt x="8" y="31"/>
                          <a:pt x="9" y="31"/>
                          <a:pt x="10" y="32"/>
                        </a:cubicBezTo>
                        <a:cubicBezTo>
                          <a:pt x="10" y="104"/>
                          <a:pt x="10" y="104"/>
                          <a:pt x="10" y="104"/>
                        </a:cubicBezTo>
                        <a:cubicBezTo>
                          <a:pt x="10" y="105"/>
                          <a:pt x="10" y="106"/>
                          <a:pt x="10" y="107"/>
                        </a:cubicBezTo>
                        <a:cubicBezTo>
                          <a:pt x="11" y="108"/>
                          <a:pt x="11" y="109"/>
                          <a:pt x="12" y="110"/>
                        </a:cubicBezTo>
                        <a:cubicBezTo>
                          <a:pt x="13" y="111"/>
                          <a:pt x="14" y="111"/>
                          <a:pt x="15" y="112"/>
                        </a:cubicBezTo>
                        <a:cubicBezTo>
                          <a:pt x="16" y="112"/>
                          <a:pt x="17" y="112"/>
                          <a:pt x="18" y="112"/>
                        </a:cubicBezTo>
                        <a:cubicBezTo>
                          <a:pt x="19" y="112"/>
                          <a:pt x="20" y="112"/>
                          <a:pt x="21" y="112"/>
                        </a:cubicBezTo>
                        <a:cubicBezTo>
                          <a:pt x="22" y="111"/>
                          <a:pt x="23" y="111"/>
                          <a:pt x="24" y="110"/>
                        </a:cubicBezTo>
                        <a:cubicBezTo>
                          <a:pt x="24" y="109"/>
                          <a:pt x="25" y="108"/>
                          <a:pt x="25" y="107"/>
                        </a:cubicBezTo>
                        <a:cubicBezTo>
                          <a:pt x="26" y="106"/>
                          <a:pt x="26" y="105"/>
                          <a:pt x="26" y="104"/>
                        </a:cubicBezTo>
                        <a:cubicBezTo>
                          <a:pt x="26" y="32"/>
                          <a:pt x="26" y="32"/>
                          <a:pt x="26" y="32"/>
                        </a:cubicBezTo>
                        <a:cubicBezTo>
                          <a:pt x="27" y="31"/>
                          <a:pt x="28" y="31"/>
                          <a:pt x="28" y="30"/>
                        </a:cubicBezTo>
                        <a:cubicBezTo>
                          <a:pt x="29" y="30"/>
                          <a:pt x="30" y="29"/>
                          <a:pt x="30" y="28"/>
                        </a:cubicBezTo>
                        <a:cubicBezTo>
                          <a:pt x="32" y="27"/>
                          <a:pt x="33" y="25"/>
                          <a:pt x="34" y="23"/>
                        </a:cubicBezTo>
                        <a:cubicBezTo>
                          <a:pt x="35" y="20"/>
                          <a:pt x="36" y="18"/>
                          <a:pt x="36" y="16"/>
                        </a:cubicBezTo>
                        <a:cubicBezTo>
                          <a:pt x="36" y="14"/>
                          <a:pt x="35" y="11"/>
                          <a:pt x="34" y="9"/>
                        </a:cubicBezTo>
                        <a:close/>
                        <a:moveTo>
                          <a:pt x="18" y="108"/>
                        </a:moveTo>
                        <a:cubicBezTo>
                          <a:pt x="16" y="108"/>
                          <a:pt x="14" y="106"/>
                          <a:pt x="14" y="104"/>
                        </a:cubicBezTo>
                        <a:cubicBezTo>
                          <a:pt x="14" y="102"/>
                          <a:pt x="16" y="100"/>
                          <a:pt x="18" y="100"/>
                        </a:cubicBezTo>
                        <a:cubicBezTo>
                          <a:pt x="20" y="100"/>
                          <a:pt x="22" y="102"/>
                          <a:pt x="22" y="104"/>
                        </a:cubicBezTo>
                        <a:cubicBezTo>
                          <a:pt x="22" y="106"/>
                          <a:pt x="20" y="108"/>
                          <a:pt x="18" y="108"/>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3C3C41"/>
                      </a:solidFill>
                      <a:effectLst/>
                      <a:uLnTx/>
                      <a:uFillTx/>
                    </a:endParaRPr>
                  </a:p>
                </p:txBody>
              </p:sp>
            </p:grpSp>
          </p:grpSp>
        </p:grpSp>
      </p:grpSp>
      <p:grpSp>
        <p:nvGrpSpPr>
          <p:cNvPr id="60" name="Group 59">
            <a:extLst>
              <a:ext uri="{FF2B5EF4-FFF2-40B4-BE49-F238E27FC236}">
                <a16:creationId xmlns:a16="http://schemas.microsoft.com/office/drawing/2014/main" id="{8A1EEDA1-489B-95F8-0BB7-828A805FA965}"/>
              </a:ext>
            </a:extLst>
          </p:cNvPr>
          <p:cNvGrpSpPr/>
          <p:nvPr/>
        </p:nvGrpSpPr>
        <p:grpSpPr>
          <a:xfrm>
            <a:off x="252603" y="749016"/>
            <a:ext cx="4306732" cy="720965"/>
            <a:chOff x="252603" y="749016"/>
            <a:chExt cx="4306732" cy="720965"/>
          </a:xfrm>
        </p:grpSpPr>
        <p:sp>
          <p:nvSpPr>
            <p:cNvPr id="756" name="Rectangle 755">
              <a:hlinkClick r:id="rId149" tooltip="Unified detection and response platform designed to simplify security operations with integrated detection, automated investigation and response across platforms and clouds. "/>
              <a:extLst>
                <a:ext uri="{FF2B5EF4-FFF2-40B4-BE49-F238E27FC236}">
                  <a16:creationId xmlns:a16="http://schemas.microsoft.com/office/drawing/2014/main" id="{6F703788-D727-628F-F859-839C4CFC3795}"/>
                </a:ext>
              </a:extLst>
            </p:cNvPr>
            <p:cNvSpPr/>
            <p:nvPr/>
          </p:nvSpPr>
          <p:spPr>
            <a:xfrm>
              <a:off x="252603" y="749016"/>
              <a:ext cx="4258788" cy="720465"/>
            </a:xfrm>
            <a:prstGeom prst="rect">
              <a:avLst/>
            </a:prstGeom>
            <a:solidFill>
              <a:schemeClr val="accent1">
                <a:lumMod val="20000"/>
                <a:lumOff val="80000"/>
              </a:schemeClr>
            </a:solidFill>
            <a:ln w="9525">
              <a:solidFill>
                <a:schemeClr val="bg1"/>
              </a:solidFill>
              <a:headEnd type="none" w="med" len="med"/>
              <a:tailEnd type="none" w="med" len="med"/>
            </a:ln>
            <a:effectLst>
              <a:outerShdw blurRad="25400" dist="12700" dir="54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1000">
                  <a:solidFill>
                    <a:schemeClr val="tx1"/>
                  </a:solidFill>
                  <a:latin typeface="Segoe UI Semibold" panose="020B0702040204020203" pitchFamily="34" charset="0"/>
                  <a:cs typeface="Segoe UI Semibold" panose="020B0702040204020203" pitchFamily="34" charset="0"/>
                </a:rPr>
                <a:t>Microsoft Defender XDR</a:t>
              </a:r>
            </a:p>
            <a:p>
              <a:pPr defTabSz="932472" fontAlgn="base">
                <a:spcBef>
                  <a:spcPct val="0"/>
                </a:spcBef>
                <a:spcAft>
                  <a:spcPct val="0"/>
                </a:spcAft>
              </a:pPr>
              <a:r>
                <a:rPr lang="en-US" sz="800" i="1">
                  <a:solidFill>
                    <a:schemeClr val="tx1"/>
                  </a:solidFill>
                  <a:latin typeface="Segoe UI Semibold" panose="020B0702040204020203" pitchFamily="34" charset="0"/>
                  <a:cs typeface="Segoe UI Semibold" panose="020B0702040204020203" pitchFamily="34" charset="0"/>
                </a:rPr>
                <a:t>Unified Threat Detection and Response across IT, OT, and IoT Assets </a:t>
              </a:r>
            </a:p>
            <a:p>
              <a:pPr defTabSz="932472" fontAlgn="base">
                <a:spcBef>
                  <a:spcPct val="0"/>
                </a:spcBef>
                <a:spcAft>
                  <a:spcPct val="0"/>
                </a:spcAft>
              </a:pPr>
              <a:r>
                <a:rPr lang="en-US" sz="800">
                  <a:solidFill>
                    <a:schemeClr val="tx1"/>
                  </a:solidFill>
                  <a:latin typeface="Segoe UI" panose="020B0502040204020203" pitchFamily="34" charset="0"/>
                  <a:cs typeface="Segoe UI" panose="020B0502040204020203" pitchFamily="34" charset="0"/>
                </a:rPr>
                <a:t>Incident Response | Automation </a:t>
              </a:r>
              <a:r>
                <a:rPr lang="en-US" sz="800">
                  <a:solidFill>
                    <a:schemeClr val="tx1"/>
                  </a:solidFill>
                  <a:latin typeface="Segoe UI" panose="020B0502040204020203" pitchFamily="34" charset="0"/>
                  <a:cs typeface="Segoe UI" panose="020B0502040204020203" pitchFamily="34" charset="0"/>
                  <a:sym typeface="Wingdings" panose="05000000000000000000" pitchFamily="2" charset="2"/>
                </a:rPr>
                <a:t>| </a:t>
              </a:r>
              <a:r>
                <a:rPr lang="en-US" sz="800">
                  <a:solidFill>
                    <a:schemeClr val="tx1"/>
                  </a:solidFill>
                  <a:latin typeface="Segoe UI" panose="020B0502040204020203" pitchFamily="34" charset="0"/>
                  <a:cs typeface="Segoe UI" panose="020B0502040204020203" pitchFamily="34" charset="0"/>
                </a:rPr>
                <a:t>Threat Hunting | Threat Intelligence</a:t>
              </a:r>
              <a:endParaRPr lang="en-US" sz="700">
                <a:solidFill>
                  <a:schemeClr val="tx1"/>
                </a:solidFill>
                <a:latin typeface="Segoe UI" panose="020B0502040204020203" pitchFamily="34" charset="0"/>
                <a:cs typeface="Segoe UI" panose="020B0502040204020203" pitchFamily="34" charset="0"/>
              </a:endParaRPr>
            </a:p>
            <a:p>
              <a:pPr defTabSz="932472" fontAlgn="base">
                <a:spcBef>
                  <a:spcPct val="0"/>
                </a:spcBef>
                <a:spcAft>
                  <a:spcPct val="0"/>
                </a:spcAft>
              </a:pPr>
              <a:endParaRPr lang="en-US" sz="700">
                <a:solidFill>
                  <a:schemeClr val="tx1"/>
                </a:solidFill>
                <a:latin typeface="Segoe Sans Display"/>
                <a:cs typeface="Segoe UI" pitchFamily="34" charset="0"/>
              </a:endParaRPr>
            </a:p>
            <a:p>
              <a:pPr algn="ctr" defTabSz="932472" fontAlgn="base">
                <a:spcBef>
                  <a:spcPct val="0"/>
                </a:spcBef>
                <a:spcAft>
                  <a:spcPct val="0"/>
                </a:spcAft>
              </a:pPr>
              <a:endParaRPr lang="en-US" sz="700">
                <a:solidFill>
                  <a:schemeClr val="tx1"/>
                </a:solidFill>
                <a:latin typeface="Segoe Sans Display"/>
                <a:cs typeface="Segoe UI" pitchFamily="34" charset="0"/>
              </a:endParaRPr>
            </a:p>
          </p:txBody>
        </p:sp>
        <p:sp>
          <p:nvSpPr>
            <p:cNvPr id="23" name="L-Shape 22">
              <a:extLst>
                <a:ext uri="{FF2B5EF4-FFF2-40B4-BE49-F238E27FC236}">
                  <a16:creationId xmlns:a16="http://schemas.microsoft.com/office/drawing/2014/main" id="{E2C8EC7D-0E36-61D2-38D8-80A0BC272F75}"/>
                </a:ext>
              </a:extLst>
            </p:cNvPr>
            <p:cNvSpPr/>
            <p:nvPr/>
          </p:nvSpPr>
          <p:spPr bwMode="auto">
            <a:xfrm flipH="1">
              <a:off x="252819" y="836267"/>
              <a:ext cx="4262285" cy="633714"/>
            </a:xfrm>
            <a:prstGeom prst="corner">
              <a:avLst>
                <a:gd name="adj1" fmla="val 30794"/>
                <a:gd name="adj2" fmla="val 115779"/>
              </a:avLst>
            </a:prstGeom>
            <a:solidFill>
              <a:srgbClr val="E5F3FF"/>
            </a:solidFill>
            <a:ln w="9525">
              <a:gradFill>
                <a:gsLst>
                  <a:gs pos="0">
                    <a:srgbClr val="003C6C"/>
                  </a:gs>
                  <a:gs pos="74000">
                    <a:srgbClr val="003C6C"/>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27432" bIns="45720" rtlCol="0" anchor="ctr"/>
            <a:lstStyle/>
            <a:p>
              <a:pPr algn="ctr"/>
              <a:endParaRPr lang="en-US" sz="900" b="1">
                <a:solidFill>
                  <a:schemeClr val="tx1"/>
                </a:solidFill>
                <a:latin typeface="Segoe UI" panose="020B0502040204020203" pitchFamily="34" charset="0"/>
                <a:cs typeface="Segoe UI" panose="020B0502040204020203" pitchFamily="34" charset="0"/>
              </a:endParaRPr>
            </a:p>
          </p:txBody>
        </p:sp>
        <p:sp>
          <p:nvSpPr>
            <p:cNvPr id="53" name="Rectangle 52">
              <a:hlinkClick r:id="rId150" tooltip="Microsoft Azure Sentinel is a cloud native SIEM+SOAR solution that uses UEBA and ML to rapidly detect, hunt for, and remediate threats across your enterprise (including IT, IoT, and OT environments)"/>
              <a:extLst>
                <a:ext uri="{FF2B5EF4-FFF2-40B4-BE49-F238E27FC236}">
                  <a16:creationId xmlns:a16="http://schemas.microsoft.com/office/drawing/2014/main" id="{201F34CA-C7D9-EA49-F872-8838401310D6}"/>
                </a:ext>
              </a:extLst>
            </p:cNvPr>
            <p:cNvSpPr/>
            <p:nvPr/>
          </p:nvSpPr>
          <p:spPr>
            <a:xfrm>
              <a:off x="3747981" y="1079171"/>
              <a:ext cx="811354" cy="29198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rPr>
                <a:t>Microsoft Sentinel </a:t>
              </a:r>
            </a:p>
          </p:txBody>
        </p:sp>
        <p:grpSp>
          <p:nvGrpSpPr>
            <p:cNvPr id="55" name="Group 54">
              <a:extLst>
                <a:ext uri="{FF2B5EF4-FFF2-40B4-BE49-F238E27FC236}">
                  <a16:creationId xmlns:a16="http://schemas.microsoft.com/office/drawing/2014/main" id="{20B76ADB-3276-E8DE-CCC0-609A706DFB86}"/>
                </a:ext>
              </a:extLst>
            </p:cNvPr>
            <p:cNvGrpSpPr/>
            <p:nvPr/>
          </p:nvGrpSpPr>
          <p:grpSpPr>
            <a:xfrm>
              <a:off x="4035503" y="871194"/>
              <a:ext cx="217872" cy="225240"/>
              <a:chOff x="1489569" y="-398422"/>
              <a:chExt cx="123825" cy="128013"/>
            </a:xfrm>
          </p:grpSpPr>
          <p:pic>
            <p:nvPicPr>
              <p:cNvPr id="54" name="Graphic 53">
                <a:extLst>
                  <a:ext uri="{FF2B5EF4-FFF2-40B4-BE49-F238E27FC236}">
                    <a16:creationId xmlns:a16="http://schemas.microsoft.com/office/drawing/2014/main" id="{035BC541-E2A0-683D-80D5-AFF4D1485665}"/>
                  </a:ext>
                </a:extLst>
              </p:cNvPr>
              <p:cNvPicPr>
                <a:picLocks noChangeAspect="1"/>
              </p:cNvPicPr>
              <p:nvPr/>
            </p:nvPicPr>
            <p:blipFill>
              <a:blip>
                <a:extLst>
                  <a:ext uri="{96DAC541-7B7A-43D3-8B79-37D633B846F1}">
                    <asvg:svgBlip xmlns:asvg="http://schemas.microsoft.com/office/drawing/2016/SVG/main" r:embed="rId151"/>
                  </a:ext>
                </a:extLst>
              </a:blip>
              <a:srcRect/>
              <a:stretch/>
            </p:blipFill>
            <p:spPr>
              <a:xfrm>
                <a:off x="1490061" y="-398422"/>
                <a:ext cx="122842" cy="122842"/>
              </a:xfrm>
              <a:prstGeom prst="rect">
                <a:avLst/>
              </a:prstGeom>
            </p:spPr>
          </p:pic>
          <p:pic>
            <p:nvPicPr>
              <p:cNvPr id="52" name="Graphic 51">
                <a:extLst>
                  <a:ext uri="{FF2B5EF4-FFF2-40B4-BE49-F238E27FC236}">
                    <a16:creationId xmlns:a16="http://schemas.microsoft.com/office/drawing/2014/main" id="{C177E237-3381-AB2F-91DE-6C5192843D09}"/>
                  </a:ext>
                </a:extLst>
              </p:cNvPr>
              <p:cNvPicPr>
                <a:picLocks noChangeAspect="1"/>
              </p:cNvPicPr>
              <p:nvPr/>
            </p:nvPicPr>
            <p:blipFill>
              <a:blip>
                <a:extLst>
                  <a:ext uri="{96DAC541-7B7A-43D3-8B79-37D633B846F1}">
                    <asvg:svgBlip xmlns:asvg="http://schemas.microsoft.com/office/drawing/2016/SVG/main" r:embed="rId152"/>
                  </a:ext>
                </a:extLst>
              </a:blip>
              <a:srcRect/>
              <a:stretch/>
            </p:blipFill>
            <p:spPr>
              <a:xfrm>
                <a:off x="1489569" y="-393251"/>
                <a:ext cx="123825" cy="122842"/>
              </a:xfrm>
              <a:prstGeom prst="rect">
                <a:avLst/>
              </a:prstGeom>
            </p:spPr>
          </p:pic>
        </p:grpSp>
        <p:sp>
          <p:nvSpPr>
            <p:cNvPr id="61" name="TextBox 60">
              <a:extLst>
                <a:ext uri="{FF2B5EF4-FFF2-40B4-BE49-F238E27FC236}">
                  <a16:creationId xmlns:a16="http://schemas.microsoft.com/office/drawing/2014/main" id="{493261C3-9637-78C6-D002-A7F5026CB5A6}"/>
                </a:ext>
              </a:extLst>
            </p:cNvPr>
            <p:cNvSpPr txBox="1"/>
            <p:nvPr/>
          </p:nvSpPr>
          <p:spPr>
            <a:xfrm>
              <a:off x="1398893" y="1324519"/>
              <a:ext cx="1451881" cy="107722"/>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Segoe UI" panose="020B0502040204020203" pitchFamily="34" charset="0"/>
                  <a:ea typeface="+mn-ea"/>
                  <a:cs typeface="Segoe UI" panose="020B0502040204020203" pitchFamily="34" charset="0"/>
                </a:rPr>
                <a:t>Cloud Native SIEM, SOAR, and UEBA</a:t>
              </a:r>
              <a:endParaRPr kumimoji="0" lang="en-US" sz="700" b="1" i="1" u="none" strike="noStrike" kern="1200" cap="none" spc="0" normalizeH="0" baseline="0" noProof="0">
                <a:ln>
                  <a:noFill/>
                </a:ln>
                <a:effectLst/>
                <a:uLnTx/>
                <a:uFillTx/>
                <a:latin typeface="Segoe UI" panose="020B0502040204020203" pitchFamily="34" charset="0"/>
                <a:ea typeface="+mn-ea"/>
                <a:cs typeface="Segoe UI" panose="020B0502040204020203" pitchFamily="34" charset="0"/>
              </a:endParaRPr>
            </a:p>
          </p:txBody>
        </p:sp>
      </p:grpSp>
      <p:sp>
        <p:nvSpPr>
          <p:cNvPr id="79" name="Rectangle 78">
            <a:extLst>
              <a:ext uri="{FF2B5EF4-FFF2-40B4-BE49-F238E27FC236}">
                <a16:creationId xmlns:a16="http://schemas.microsoft.com/office/drawing/2014/main" id="{1C2BC3A5-D93A-F7C4-7846-C364556D7587}"/>
              </a:ext>
            </a:extLst>
          </p:cNvPr>
          <p:cNvSpPr/>
          <p:nvPr/>
        </p:nvSpPr>
        <p:spPr>
          <a:xfrm>
            <a:off x="6443081" y="1054375"/>
            <a:ext cx="1748456" cy="761106"/>
          </a:xfrm>
          <a:prstGeom prst="rect">
            <a:avLst/>
          </a:prstGeom>
          <a:noFill/>
          <a:ln w="14224">
            <a:noFill/>
          </a:ln>
        </p:spPr>
        <p:txBody>
          <a:bodyPr wrap="square" tIns="45720">
            <a:spAutoFit/>
          </a:bodyPr>
          <a:lstStyle/>
          <a:p>
            <a:pPr lvl="0">
              <a:lnSpc>
                <a:spcPct val="97000"/>
              </a:lnSpc>
              <a:spcAft>
                <a:spcPts val="600"/>
              </a:spcAft>
              <a:defRPr/>
            </a:pPr>
            <a:r>
              <a:rPr lang="en-US" sz="1050">
                <a:latin typeface="Segoe UI Semibold" panose="020B0702040204020203" pitchFamily="34" charset="0"/>
                <a:cs typeface="Segoe UI Semibold" panose="020B0702040204020203" pitchFamily="34" charset="0"/>
              </a:rPr>
              <a:t>Security Guidance</a:t>
            </a:r>
          </a:p>
          <a:p>
            <a:pPr marL="228600" lvl="0" indent="-228600">
              <a:lnSpc>
                <a:spcPct val="97000"/>
              </a:lnSpc>
              <a:spcAft>
                <a:spcPts val="300"/>
              </a:spcAft>
              <a:buClr>
                <a:srgbClr val="070707"/>
              </a:buClr>
              <a:buFont typeface="+mj-lt"/>
              <a:buAutoNum type="arabicPeriod"/>
              <a:defRPr/>
            </a:pPr>
            <a:r>
              <a:rPr lang="en-US" sz="800" u="sng">
                <a:solidFill>
                  <a:schemeClr val="accent1"/>
                </a:solidFill>
                <a:latin typeface="Segoe UI" panose="020B0502040204020203" pitchFamily="34" charset="0"/>
                <a:cs typeface="Segoe UI" panose="020B0502040204020203" pitchFamily="34" charset="0"/>
              </a:rPr>
              <a:t>Security Adoption Framework</a:t>
            </a:r>
          </a:p>
          <a:p>
            <a:pPr marL="228600" lvl="0" indent="-228600">
              <a:lnSpc>
                <a:spcPct val="97000"/>
              </a:lnSpc>
              <a:spcAft>
                <a:spcPts val="300"/>
              </a:spcAft>
              <a:buClr>
                <a:srgbClr val="070707"/>
              </a:buClr>
              <a:buFont typeface="+mj-lt"/>
              <a:buAutoNum type="arabicPeriod"/>
              <a:defRPr/>
            </a:pPr>
            <a:r>
              <a:rPr lang="en-US" sz="800" u="sng">
                <a:solidFill>
                  <a:schemeClr val="accent1"/>
                </a:solidFill>
                <a:latin typeface="Segoe UI" panose="020B0502040204020203" pitchFamily="34" charset="0"/>
                <a:cs typeface="Segoe UI" panose="020B0502040204020203" pitchFamily="34" charset="0"/>
              </a:rPr>
              <a:t>Security Documentation</a:t>
            </a:r>
          </a:p>
          <a:p>
            <a:pPr marL="228600" lvl="0" indent="-228600">
              <a:lnSpc>
                <a:spcPct val="97000"/>
              </a:lnSpc>
              <a:spcAft>
                <a:spcPts val="300"/>
              </a:spcAft>
              <a:buClr>
                <a:srgbClr val="070707"/>
              </a:buClr>
              <a:buFont typeface="+mj-lt"/>
              <a:buAutoNum type="arabicPeriod"/>
              <a:defRPr/>
            </a:pPr>
            <a:r>
              <a:rPr lang="en-US" sz="800">
                <a:latin typeface="Segoe UI" panose="020B0502040204020203" pitchFamily="34" charset="0"/>
                <a:cs typeface="Segoe UI" panose="020B0502040204020203" pitchFamily="34" charset="0"/>
              </a:rPr>
              <a:t>Cloud Security </a:t>
            </a:r>
            <a:r>
              <a:rPr lang="en-US" sz="800" u="sng">
                <a:solidFill>
                  <a:schemeClr val="accent1"/>
                </a:solidFill>
                <a:latin typeface="Segoe UI" panose="020B0502040204020203" pitchFamily="34" charset="0"/>
                <a:cs typeface="Segoe UI" panose="020B0502040204020203" pitchFamily="34" charset="0"/>
              </a:rPr>
              <a:t>Benchmarks</a:t>
            </a:r>
            <a:endParaRPr kumimoji="0" lang="en-US" sz="800" b="0" i="0" u="sng" strike="noStrike" kern="1200" cap="none" spc="0" normalizeH="0" baseline="0" noProof="0">
              <a:ln>
                <a:noFill/>
              </a:ln>
              <a:solidFill>
                <a:schemeClr val="accent1"/>
              </a:solidFill>
              <a:effectLst/>
              <a:uLnTx/>
              <a:uFillTx/>
              <a:latin typeface="Segoe UI" panose="020B0502040204020203" pitchFamily="34" charset="0"/>
              <a:cs typeface="Segoe UI" panose="020B0502040204020203" pitchFamily="34" charset="0"/>
            </a:endParaRPr>
          </a:p>
        </p:txBody>
      </p:sp>
      <p:pic>
        <p:nvPicPr>
          <p:cNvPr id="213" name="Picture 212">
            <a:extLst>
              <a:ext uri="{FF2B5EF4-FFF2-40B4-BE49-F238E27FC236}">
                <a16:creationId xmlns:a16="http://schemas.microsoft.com/office/drawing/2014/main" id="{BCEAF275-EFB5-8700-9383-DB2237AD74A1}"/>
              </a:ext>
            </a:extLst>
          </p:cNvPr>
          <p:cNvPicPr>
            <a:picLocks noChangeAspect="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43351" y="4385654"/>
            <a:ext cx="150932" cy="112545"/>
          </a:xfrm>
          <a:prstGeom prst="rect">
            <a:avLst/>
          </a:prstGeom>
        </p:spPr>
      </p:pic>
      <p:sp>
        <p:nvSpPr>
          <p:cNvPr id="225" name="Rectangle 224">
            <a:extLst>
              <a:ext uri="{FF2B5EF4-FFF2-40B4-BE49-F238E27FC236}">
                <a16:creationId xmlns:a16="http://schemas.microsoft.com/office/drawing/2014/main" id="{FA6A6DD1-4316-1235-8531-E1A07A039FD7}"/>
              </a:ext>
            </a:extLst>
          </p:cNvPr>
          <p:cNvSpPr/>
          <p:nvPr/>
        </p:nvSpPr>
        <p:spPr>
          <a:xfrm>
            <a:off x="4671020" y="1054375"/>
            <a:ext cx="1748456" cy="761106"/>
          </a:xfrm>
          <a:prstGeom prst="rect">
            <a:avLst/>
          </a:prstGeom>
          <a:noFill/>
          <a:ln w="14224">
            <a:noFill/>
          </a:ln>
        </p:spPr>
        <p:txBody>
          <a:bodyPr wrap="square" tIns="45720">
            <a:spAutoFit/>
          </a:bodyPr>
          <a:lstStyle/>
          <a:p>
            <a:pPr marL="0" marR="0" lvl="0" indent="0" algn="l" defTabSz="914400" rtl="0" eaLnBrk="1" fontAlgn="auto" latinLnBrk="0" hangingPunct="1">
              <a:lnSpc>
                <a:spcPct val="97000"/>
              </a:lnSpc>
              <a:spcBef>
                <a:spcPts val="0"/>
              </a:spcBef>
              <a:spcAft>
                <a:spcPts val="600"/>
              </a:spcAft>
              <a:buClrTx/>
              <a:buSzTx/>
              <a:buFontTx/>
              <a:buNone/>
              <a:tabLst/>
              <a:defRPr/>
            </a:pPr>
            <a:r>
              <a:rPr kumimoji="0" lang="en-US" sz="1050" b="1" i="0" u="none" strike="noStrike" kern="1200" cap="none" spc="0" normalizeH="0" baseline="0" noProof="0">
                <a:ln>
                  <a:noFill/>
                </a:ln>
                <a:effectLst/>
                <a:uLnTx/>
                <a:uFillTx/>
                <a:latin typeface="Segoe UI Semibold" panose="020B0702040204020203" pitchFamily="34" charset="0"/>
                <a:cs typeface="Segoe UI Semibold" panose="020B0702040204020203" pitchFamily="34" charset="0"/>
              </a:rPr>
              <a:t>This is interactive!</a:t>
            </a:r>
          </a:p>
          <a:p>
            <a:pPr marL="228600" marR="0" lvl="0" indent="-228600" algn="l" defTabSz="914400" rtl="0" eaLnBrk="1" fontAlgn="auto" latinLnBrk="0" hangingPunct="1">
              <a:lnSpc>
                <a:spcPct val="97000"/>
              </a:lnSpc>
              <a:spcBef>
                <a:spcPts val="0"/>
              </a:spcBef>
              <a:spcAft>
                <a:spcPts val="300"/>
              </a:spcAft>
              <a:buClrTx/>
              <a:buSzTx/>
              <a:buFont typeface="+mj-lt"/>
              <a:buAutoNum type="arabicPeriod"/>
              <a:tabLst/>
              <a:defRPr/>
            </a:pPr>
            <a:r>
              <a:rPr kumimoji="0" lang="en-US" sz="800" b="0" i="0" u="none" strike="noStrike" kern="1200" cap="none" spc="0" normalizeH="0" baseline="0" noProof="0">
                <a:ln>
                  <a:noFill/>
                </a:ln>
                <a:effectLst/>
                <a:uLnTx/>
                <a:uFillTx/>
                <a:latin typeface="Segoe UI" panose="020B0502040204020203" pitchFamily="34" charset="0"/>
                <a:cs typeface="Segoe UI" panose="020B0502040204020203" pitchFamily="34" charset="0"/>
              </a:rPr>
              <a:t>Present Slide</a:t>
            </a:r>
          </a:p>
          <a:p>
            <a:pPr marL="228600" marR="0" lvl="0" indent="-228600" algn="l" defTabSz="914400" rtl="0" eaLnBrk="1" fontAlgn="auto" latinLnBrk="0" hangingPunct="1">
              <a:lnSpc>
                <a:spcPct val="97000"/>
              </a:lnSpc>
              <a:spcBef>
                <a:spcPts val="0"/>
              </a:spcBef>
              <a:spcAft>
                <a:spcPts val="300"/>
              </a:spcAft>
              <a:buClrTx/>
              <a:buSzTx/>
              <a:buFont typeface="+mj-lt"/>
              <a:buAutoNum type="arabicPeriod"/>
              <a:tabLst/>
              <a:defRPr/>
            </a:pPr>
            <a:r>
              <a:rPr kumimoji="0" lang="en-US" sz="800" b="0" i="0" u="none" strike="noStrike" kern="1200" cap="none" spc="0" normalizeH="0" baseline="0" noProof="0">
                <a:ln>
                  <a:noFill/>
                </a:ln>
                <a:effectLst/>
                <a:uLnTx/>
                <a:uFillTx/>
                <a:latin typeface="Segoe UI" panose="020B0502040204020203" pitchFamily="34" charset="0"/>
                <a:cs typeface="Segoe UI" panose="020B0502040204020203" pitchFamily="34" charset="0"/>
              </a:rPr>
              <a:t>Hover for Description</a:t>
            </a:r>
          </a:p>
          <a:p>
            <a:pPr marL="228600" marR="0" lvl="0" indent="-228600" algn="l" defTabSz="914400" rtl="0" eaLnBrk="1" fontAlgn="auto" latinLnBrk="0" hangingPunct="1">
              <a:lnSpc>
                <a:spcPct val="97000"/>
              </a:lnSpc>
              <a:spcBef>
                <a:spcPts val="0"/>
              </a:spcBef>
              <a:spcAft>
                <a:spcPts val="300"/>
              </a:spcAft>
              <a:buClrTx/>
              <a:buSzTx/>
              <a:buFont typeface="+mj-lt"/>
              <a:buAutoNum type="arabicPeriod"/>
              <a:tabLst/>
              <a:defRPr/>
            </a:pPr>
            <a:r>
              <a:rPr kumimoji="0" lang="en-US" sz="800" b="0" i="0" u="none" strike="noStrike" kern="1200" cap="none" spc="0" normalizeH="0" baseline="0" noProof="0">
                <a:ln>
                  <a:noFill/>
                </a:ln>
                <a:effectLst/>
                <a:uLnTx/>
                <a:uFillTx/>
                <a:latin typeface="Segoe UI" panose="020B0502040204020203" pitchFamily="34" charset="0"/>
                <a:cs typeface="Segoe UI" panose="020B0502040204020203" pitchFamily="34" charset="0"/>
              </a:rPr>
              <a:t>Click for more information</a:t>
            </a:r>
          </a:p>
        </p:txBody>
      </p:sp>
    </p:spTree>
    <p:extLst>
      <p:ext uri="{BB962C8B-B14F-4D97-AF65-F5344CB8AC3E}">
        <p14:creationId xmlns:p14="http://schemas.microsoft.com/office/powerpoint/2010/main" val="36513184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
                                        </p:tgtEl>
                                        <p:attrNameLst>
                                          <p:attrName>style.visibility</p:attrName>
                                        </p:attrNameLst>
                                      </p:cBhvr>
                                      <p:to>
                                        <p:strVal val="visible"/>
                                      </p:to>
                                    </p:set>
                                    <p:animEffect transition="in" filter="fade">
                                      <p:cBhvr>
                                        <p:cTn id="7" dur="500"/>
                                        <p:tgtEl>
                                          <p:spTgt spid="717"/>
                                        </p:tgtEl>
                                      </p:cBhvr>
                                    </p:animEffect>
                                  </p:childTnLst>
                                </p:cTn>
                              </p:par>
                              <p:par>
                                <p:cTn id="8" presetID="10" presetClass="entr" presetSubtype="0"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Effect transition="in" filter="fade">
                                      <p:cBhvr>
                                        <p:cTn id="10" dur="500"/>
                                        <p:tgtEl>
                                          <p:spTgt spid="566"/>
                                        </p:tgtEl>
                                      </p:cBhvr>
                                    </p:animEffect>
                                  </p:childTnLst>
                                </p:cTn>
                              </p:par>
                              <p:par>
                                <p:cTn id="11" presetID="10" presetClass="entr" presetSubtype="0" fill="hold" nodeType="withEffect">
                                  <p:stCondLst>
                                    <p:cond delay="0"/>
                                  </p:stCondLst>
                                  <p:childTnLst>
                                    <p:set>
                                      <p:cBhvr>
                                        <p:cTn id="12" dur="1" fill="hold">
                                          <p:stCondLst>
                                            <p:cond delay="0"/>
                                          </p:stCondLst>
                                        </p:cTn>
                                        <p:tgtEl>
                                          <p:spTgt spid="1097"/>
                                        </p:tgtEl>
                                        <p:attrNameLst>
                                          <p:attrName>style.visibility</p:attrName>
                                        </p:attrNameLst>
                                      </p:cBhvr>
                                      <p:to>
                                        <p:strVal val="visible"/>
                                      </p:to>
                                    </p:set>
                                    <p:animEffect transition="in" filter="fade">
                                      <p:cBhvr>
                                        <p:cTn id="13" dur="500"/>
                                        <p:tgtEl>
                                          <p:spTgt spid="1097"/>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631"/>
                                        </p:tgtEl>
                                        <p:attrNameLst>
                                          <p:attrName>style.visibility</p:attrName>
                                        </p:attrNameLst>
                                      </p:cBhvr>
                                      <p:to>
                                        <p:strVal val="visible"/>
                                      </p:to>
                                    </p:set>
                                    <p:animEffect transition="in" filter="fade">
                                      <p:cBhvr>
                                        <p:cTn id="19" dur="500"/>
                                        <p:tgtEl>
                                          <p:spTgt spid="631"/>
                                        </p:tgtEl>
                                      </p:cBhvr>
                                    </p:animEffect>
                                  </p:childTnLst>
                                </p:cTn>
                              </p:par>
                              <p:par>
                                <p:cTn id="20" presetID="10" presetClass="entr" presetSubtype="0" fill="hold" nodeType="withEffect">
                                  <p:stCondLst>
                                    <p:cond delay="0"/>
                                  </p:stCondLst>
                                  <p:childTnLst>
                                    <p:set>
                                      <p:cBhvr>
                                        <p:cTn id="21" dur="1" fill="hold">
                                          <p:stCondLst>
                                            <p:cond delay="0"/>
                                          </p:stCondLst>
                                        </p:cTn>
                                        <p:tgtEl>
                                          <p:spTgt spid="536"/>
                                        </p:tgtEl>
                                        <p:attrNameLst>
                                          <p:attrName>style.visibility</p:attrName>
                                        </p:attrNameLst>
                                      </p:cBhvr>
                                      <p:to>
                                        <p:strVal val="visible"/>
                                      </p:to>
                                    </p:set>
                                    <p:animEffect transition="in" filter="fade">
                                      <p:cBhvr>
                                        <p:cTn id="22" dur="500"/>
                                        <p:tgtEl>
                                          <p:spTgt spid="536"/>
                                        </p:tgtEl>
                                      </p:cBhvr>
                                    </p:animEffect>
                                  </p:childTnLst>
                                </p:cTn>
                              </p:par>
                              <p:par>
                                <p:cTn id="23" presetID="10" presetClass="entr" presetSubtype="0" fill="hold" nodeType="withEffect">
                                  <p:stCondLst>
                                    <p:cond delay="0"/>
                                  </p:stCondLst>
                                  <p:childTnLst>
                                    <p:set>
                                      <p:cBhvr>
                                        <p:cTn id="24" dur="1" fill="hold">
                                          <p:stCondLst>
                                            <p:cond delay="0"/>
                                          </p:stCondLst>
                                        </p:cTn>
                                        <p:tgtEl>
                                          <p:spTgt spid="650"/>
                                        </p:tgtEl>
                                        <p:attrNameLst>
                                          <p:attrName>style.visibility</p:attrName>
                                        </p:attrNameLst>
                                      </p:cBhvr>
                                      <p:to>
                                        <p:strVal val="visible"/>
                                      </p:to>
                                    </p:set>
                                    <p:animEffect transition="in" filter="fade">
                                      <p:cBhvr>
                                        <p:cTn id="25" dur="500"/>
                                        <p:tgtEl>
                                          <p:spTgt spid="650"/>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510"/>
                                        </p:tgtEl>
                                        <p:attrNameLst>
                                          <p:attrName>style.visibility</p:attrName>
                                        </p:attrNameLst>
                                      </p:cBhvr>
                                      <p:to>
                                        <p:strVal val="visible"/>
                                      </p:to>
                                    </p:set>
                                    <p:anim calcmode="lin" valueType="num">
                                      <p:cBhvr>
                                        <p:cTn id="28" dur="500" fill="hold"/>
                                        <p:tgtEl>
                                          <p:spTgt spid="510"/>
                                        </p:tgtEl>
                                        <p:attrNameLst>
                                          <p:attrName>ppt_w</p:attrName>
                                        </p:attrNameLst>
                                      </p:cBhvr>
                                      <p:tavLst>
                                        <p:tav tm="0">
                                          <p:val>
                                            <p:fltVal val="0"/>
                                          </p:val>
                                        </p:tav>
                                        <p:tav tm="100000">
                                          <p:val>
                                            <p:strVal val="#ppt_w"/>
                                          </p:val>
                                        </p:tav>
                                      </p:tavLst>
                                    </p:anim>
                                    <p:anim calcmode="lin" valueType="num">
                                      <p:cBhvr>
                                        <p:cTn id="29" dur="500" fill="hold"/>
                                        <p:tgtEl>
                                          <p:spTgt spid="510"/>
                                        </p:tgtEl>
                                        <p:attrNameLst>
                                          <p:attrName>ppt_h</p:attrName>
                                        </p:attrNameLst>
                                      </p:cBhvr>
                                      <p:tavLst>
                                        <p:tav tm="0">
                                          <p:val>
                                            <p:fltVal val="0"/>
                                          </p:val>
                                        </p:tav>
                                        <p:tav tm="100000">
                                          <p:val>
                                            <p:strVal val="#ppt_h"/>
                                          </p:val>
                                        </p:tav>
                                      </p:tavLst>
                                    </p:anim>
                                    <p:animEffect transition="in" filter="fade">
                                      <p:cBhvr>
                                        <p:cTn id="30" dur="500"/>
                                        <p:tgtEl>
                                          <p:spTgt spid="51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562"/>
                                        </p:tgtEl>
                                        <p:attrNameLst>
                                          <p:attrName>style.visibility</p:attrName>
                                        </p:attrNameLst>
                                      </p:cBhvr>
                                      <p:to>
                                        <p:strVal val="visible"/>
                                      </p:to>
                                    </p:set>
                                    <p:anim calcmode="lin" valueType="num">
                                      <p:cBhvr>
                                        <p:cTn id="33" dur="500" fill="hold"/>
                                        <p:tgtEl>
                                          <p:spTgt spid="562"/>
                                        </p:tgtEl>
                                        <p:attrNameLst>
                                          <p:attrName>ppt_w</p:attrName>
                                        </p:attrNameLst>
                                      </p:cBhvr>
                                      <p:tavLst>
                                        <p:tav tm="0">
                                          <p:val>
                                            <p:fltVal val="0"/>
                                          </p:val>
                                        </p:tav>
                                        <p:tav tm="100000">
                                          <p:val>
                                            <p:strVal val="#ppt_w"/>
                                          </p:val>
                                        </p:tav>
                                      </p:tavLst>
                                    </p:anim>
                                    <p:anim calcmode="lin" valueType="num">
                                      <p:cBhvr>
                                        <p:cTn id="34" dur="500" fill="hold"/>
                                        <p:tgtEl>
                                          <p:spTgt spid="562"/>
                                        </p:tgtEl>
                                        <p:attrNameLst>
                                          <p:attrName>ppt_h</p:attrName>
                                        </p:attrNameLst>
                                      </p:cBhvr>
                                      <p:tavLst>
                                        <p:tav tm="0">
                                          <p:val>
                                            <p:fltVal val="0"/>
                                          </p:val>
                                        </p:tav>
                                        <p:tav tm="100000">
                                          <p:val>
                                            <p:strVal val="#ppt_h"/>
                                          </p:val>
                                        </p:tav>
                                      </p:tavLst>
                                    </p:anim>
                                    <p:animEffect transition="in" filter="fade">
                                      <p:cBhvr>
                                        <p:cTn id="35" dur="500"/>
                                        <p:tgtEl>
                                          <p:spTgt spid="562"/>
                                        </p:tgtEl>
                                      </p:cBhvr>
                                    </p:animEffect>
                                  </p:childTnLst>
                                </p:cTn>
                              </p:par>
                              <p:par>
                                <p:cTn id="36" presetID="53" presetClass="entr" presetSubtype="16" fill="hold" nodeType="withEffect">
                                  <p:stCondLst>
                                    <p:cond delay="0"/>
                                  </p:stCondLst>
                                  <p:childTnLst>
                                    <p:set>
                                      <p:cBhvr>
                                        <p:cTn id="37" dur="1" fill="hold">
                                          <p:stCondLst>
                                            <p:cond delay="0"/>
                                          </p:stCondLst>
                                        </p:cTn>
                                        <p:tgtEl>
                                          <p:spTgt spid="195"/>
                                        </p:tgtEl>
                                        <p:attrNameLst>
                                          <p:attrName>style.visibility</p:attrName>
                                        </p:attrNameLst>
                                      </p:cBhvr>
                                      <p:to>
                                        <p:strVal val="visible"/>
                                      </p:to>
                                    </p:set>
                                    <p:anim calcmode="lin" valueType="num">
                                      <p:cBhvr>
                                        <p:cTn id="38" dur="500" fill="hold"/>
                                        <p:tgtEl>
                                          <p:spTgt spid="195"/>
                                        </p:tgtEl>
                                        <p:attrNameLst>
                                          <p:attrName>ppt_w</p:attrName>
                                        </p:attrNameLst>
                                      </p:cBhvr>
                                      <p:tavLst>
                                        <p:tav tm="0">
                                          <p:val>
                                            <p:fltVal val="0"/>
                                          </p:val>
                                        </p:tav>
                                        <p:tav tm="100000">
                                          <p:val>
                                            <p:strVal val="#ppt_w"/>
                                          </p:val>
                                        </p:tav>
                                      </p:tavLst>
                                    </p:anim>
                                    <p:anim calcmode="lin" valueType="num">
                                      <p:cBhvr>
                                        <p:cTn id="39" dur="500" fill="hold"/>
                                        <p:tgtEl>
                                          <p:spTgt spid="195"/>
                                        </p:tgtEl>
                                        <p:attrNameLst>
                                          <p:attrName>ppt_h</p:attrName>
                                        </p:attrNameLst>
                                      </p:cBhvr>
                                      <p:tavLst>
                                        <p:tav tm="0">
                                          <p:val>
                                            <p:fltVal val="0"/>
                                          </p:val>
                                        </p:tav>
                                        <p:tav tm="100000">
                                          <p:val>
                                            <p:strVal val="#ppt_h"/>
                                          </p:val>
                                        </p:tav>
                                      </p:tavLst>
                                    </p:anim>
                                    <p:animEffect transition="in" filter="fade">
                                      <p:cBhvr>
                                        <p:cTn id="40" dur="500"/>
                                        <p:tgtEl>
                                          <p:spTgt spid="195"/>
                                        </p:tgtEl>
                                      </p:cBhvr>
                                    </p:animEffect>
                                  </p:childTnLst>
                                </p:cTn>
                              </p:par>
                              <p:par>
                                <p:cTn id="41" presetID="10" presetClass="entr" presetSubtype="0" fill="hold" nodeType="with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99"/>
                                        </p:tgtEl>
                                        <p:attrNameLst>
                                          <p:attrName>style.visibility</p:attrName>
                                        </p:attrNameLst>
                                      </p:cBhvr>
                                      <p:to>
                                        <p:strVal val="visible"/>
                                      </p:to>
                                    </p:set>
                                    <p:animEffect transition="in" filter="fade">
                                      <p:cBhvr>
                                        <p:cTn id="46" dur="500"/>
                                        <p:tgtEl>
                                          <p:spTgt spid="599"/>
                                        </p:tgtEl>
                                      </p:cBhvr>
                                    </p:animEffect>
                                  </p:childTnLst>
                                </p:cTn>
                              </p:par>
                            </p:childTnLst>
                          </p:cTn>
                        </p:par>
                        <p:par>
                          <p:cTn id="47" fill="hold">
                            <p:stCondLst>
                              <p:cond delay="500"/>
                            </p:stCondLst>
                            <p:childTnLst>
                              <p:par>
                                <p:cTn id="48" presetID="53" presetClass="entr" presetSubtype="16" fill="hold" nodeType="afterEffect">
                                  <p:stCondLst>
                                    <p:cond delay="0"/>
                                  </p:stCondLst>
                                  <p:childTnLst>
                                    <p:set>
                                      <p:cBhvr>
                                        <p:cTn id="49" dur="1" fill="hold">
                                          <p:stCondLst>
                                            <p:cond delay="0"/>
                                          </p:stCondLst>
                                        </p:cTn>
                                        <p:tgtEl>
                                          <p:spTgt spid="153"/>
                                        </p:tgtEl>
                                        <p:attrNameLst>
                                          <p:attrName>style.visibility</p:attrName>
                                        </p:attrNameLst>
                                      </p:cBhvr>
                                      <p:to>
                                        <p:strVal val="visible"/>
                                      </p:to>
                                    </p:set>
                                    <p:anim calcmode="lin" valueType="num">
                                      <p:cBhvr>
                                        <p:cTn id="50" dur="500" fill="hold"/>
                                        <p:tgtEl>
                                          <p:spTgt spid="153"/>
                                        </p:tgtEl>
                                        <p:attrNameLst>
                                          <p:attrName>ppt_w</p:attrName>
                                        </p:attrNameLst>
                                      </p:cBhvr>
                                      <p:tavLst>
                                        <p:tav tm="0">
                                          <p:val>
                                            <p:fltVal val="0"/>
                                          </p:val>
                                        </p:tav>
                                        <p:tav tm="100000">
                                          <p:val>
                                            <p:strVal val="#ppt_w"/>
                                          </p:val>
                                        </p:tav>
                                      </p:tavLst>
                                    </p:anim>
                                    <p:anim calcmode="lin" valueType="num">
                                      <p:cBhvr>
                                        <p:cTn id="51" dur="500" fill="hold"/>
                                        <p:tgtEl>
                                          <p:spTgt spid="153"/>
                                        </p:tgtEl>
                                        <p:attrNameLst>
                                          <p:attrName>ppt_h</p:attrName>
                                        </p:attrNameLst>
                                      </p:cBhvr>
                                      <p:tavLst>
                                        <p:tav tm="0">
                                          <p:val>
                                            <p:fltVal val="0"/>
                                          </p:val>
                                        </p:tav>
                                        <p:tav tm="100000">
                                          <p:val>
                                            <p:strVal val="#ppt_h"/>
                                          </p:val>
                                        </p:tav>
                                      </p:tavLst>
                                    </p:anim>
                                    <p:animEffect transition="in" filter="fade">
                                      <p:cBhvr>
                                        <p:cTn id="52" dur="500"/>
                                        <p:tgtEl>
                                          <p:spTgt spid="153"/>
                                        </p:tgtEl>
                                      </p:cBhvr>
                                    </p:animEffect>
                                  </p:childTnLst>
                                </p:cTn>
                              </p:par>
                              <p:par>
                                <p:cTn id="53" presetID="53" presetClass="entr" presetSubtype="16"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p:cTn id="55" dur="500" fill="hold"/>
                                        <p:tgtEl>
                                          <p:spTgt spid="24"/>
                                        </p:tgtEl>
                                        <p:attrNameLst>
                                          <p:attrName>ppt_w</p:attrName>
                                        </p:attrNameLst>
                                      </p:cBhvr>
                                      <p:tavLst>
                                        <p:tav tm="0">
                                          <p:val>
                                            <p:fltVal val="0"/>
                                          </p:val>
                                        </p:tav>
                                        <p:tav tm="100000">
                                          <p:val>
                                            <p:strVal val="#ppt_w"/>
                                          </p:val>
                                        </p:tav>
                                      </p:tavLst>
                                    </p:anim>
                                    <p:anim calcmode="lin" valueType="num">
                                      <p:cBhvr>
                                        <p:cTn id="56" dur="500" fill="hold"/>
                                        <p:tgtEl>
                                          <p:spTgt spid="24"/>
                                        </p:tgtEl>
                                        <p:attrNameLst>
                                          <p:attrName>ppt_h</p:attrName>
                                        </p:attrNameLst>
                                      </p:cBhvr>
                                      <p:tavLst>
                                        <p:tav tm="0">
                                          <p:val>
                                            <p:fltVal val="0"/>
                                          </p:val>
                                        </p:tav>
                                        <p:tav tm="100000">
                                          <p:val>
                                            <p:strVal val="#ppt_h"/>
                                          </p:val>
                                        </p:tav>
                                      </p:tavLst>
                                    </p:anim>
                                    <p:animEffect transition="in" filter="fade">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75"/>
                                        </p:tgtEl>
                                        <p:attrNameLst>
                                          <p:attrName>style.visibility</p:attrName>
                                        </p:attrNameLst>
                                      </p:cBhvr>
                                      <p:to>
                                        <p:strVal val="visible"/>
                                      </p:to>
                                    </p:set>
                                    <p:animEffect transition="in" filter="fade">
                                      <p:cBhvr>
                                        <p:cTn id="62" dur="500"/>
                                        <p:tgtEl>
                                          <p:spTgt spid="475"/>
                                        </p:tgtEl>
                                      </p:cBhvr>
                                    </p:animEffect>
                                  </p:childTnLst>
                                </p:cTn>
                              </p:par>
                              <p:par>
                                <p:cTn id="63" presetID="10" presetClass="entr" presetSubtype="0" fill="hold" nodeType="withEffect">
                                  <p:stCondLst>
                                    <p:cond delay="0"/>
                                  </p:stCondLst>
                                  <p:childTnLst>
                                    <p:set>
                                      <p:cBhvr>
                                        <p:cTn id="64" dur="1" fill="hold">
                                          <p:stCondLst>
                                            <p:cond delay="0"/>
                                          </p:stCondLst>
                                        </p:cTn>
                                        <p:tgtEl>
                                          <p:spTgt spid="171"/>
                                        </p:tgtEl>
                                        <p:attrNameLst>
                                          <p:attrName>style.visibility</p:attrName>
                                        </p:attrNameLst>
                                      </p:cBhvr>
                                      <p:to>
                                        <p:strVal val="visible"/>
                                      </p:to>
                                    </p:set>
                                    <p:animEffect transition="in" filter="fade">
                                      <p:cBhvr>
                                        <p:cTn id="65" dur="250"/>
                                        <p:tgtEl>
                                          <p:spTgt spid="17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34"/>
                                        </p:tgtEl>
                                        <p:attrNameLst>
                                          <p:attrName>style.visibility</p:attrName>
                                        </p:attrNameLst>
                                      </p:cBhvr>
                                      <p:to>
                                        <p:strVal val="visible"/>
                                      </p:to>
                                    </p:set>
                                    <p:animEffect transition="in" filter="fade">
                                      <p:cBhvr>
                                        <p:cTn id="68" dur="500"/>
                                        <p:tgtEl>
                                          <p:spTgt spid="734"/>
                                        </p:tgtEl>
                                      </p:cBhvr>
                                    </p:animEffect>
                                  </p:childTnLst>
                                </p:cTn>
                              </p:par>
                            </p:childTnLst>
                          </p:cTn>
                        </p:par>
                        <p:par>
                          <p:cTn id="69" fill="hold">
                            <p:stCondLst>
                              <p:cond delay="500"/>
                            </p:stCondLst>
                            <p:childTnLst>
                              <p:par>
                                <p:cTn id="70" presetID="16" presetClass="entr" presetSubtype="42" fill="hold" grpId="0" nodeType="after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barn(outHorizontal)">
                                      <p:cBhvr>
                                        <p:cTn id="72" dur="300"/>
                                        <p:tgtEl>
                                          <p:spTgt spid="44"/>
                                        </p:tgtEl>
                                      </p:cBhvr>
                                    </p:animEffect>
                                  </p:childTnLst>
                                </p:cTn>
                              </p:par>
                            </p:childTnLst>
                          </p:cTn>
                        </p:par>
                        <p:par>
                          <p:cTn id="73" fill="hold">
                            <p:stCondLst>
                              <p:cond delay="800"/>
                            </p:stCondLst>
                            <p:childTnLst>
                              <p:par>
                                <p:cTn id="74" presetID="22" presetClass="entr" presetSubtype="4" fill="hold" nodeType="afterEffect">
                                  <p:stCondLst>
                                    <p:cond delay="0"/>
                                  </p:stCondLst>
                                  <p:childTnLst>
                                    <p:set>
                                      <p:cBhvr>
                                        <p:cTn id="75" dur="1" fill="hold">
                                          <p:stCondLst>
                                            <p:cond delay="0"/>
                                          </p:stCondLst>
                                        </p:cTn>
                                        <p:tgtEl>
                                          <p:spTgt spid="92"/>
                                        </p:tgtEl>
                                        <p:attrNameLst>
                                          <p:attrName>style.visibility</p:attrName>
                                        </p:attrNameLst>
                                      </p:cBhvr>
                                      <p:to>
                                        <p:strVal val="visible"/>
                                      </p:to>
                                    </p:set>
                                    <p:animEffect transition="in" filter="wipe(down)">
                                      <p:cBhvr>
                                        <p:cTn id="76" dur="250"/>
                                        <p:tgtEl>
                                          <p:spTgt spid="92"/>
                                        </p:tgtEl>
                                      </p:cBhvr>
                                    </p:animEffect>
                                  </p:childTnLst>
                                </p:cTn>
                              </p:par>
                            </p:childTnLst>
                          </p:cTn>
                        </p:par>
                        <p:par>
                          <p:cTn id="77" fill="hold">
                            <p:stCondLst>
                              <p:cond delay="1050"/>
                            </p:stCondLst>
                            <p:childTnLst>
                              <p:par>
                                <p:cTn id="78" presetID="10" presetClass="entr" presetSubtype="0" fill="hold" nodeType="afterEffect">
                                  <p:stCondLst>
                                    <p:cond delay="0"/>
                                  </p:stCondLst>
                                  <p:childTnLst>
                                    <p:set>
                                      <p:cBhvr>
                                        <p:cTn id="79" dur="1" fill="hold">
                                          <p:stCondLst>
                                            <p:cond delay="0"/>
                                          </p:stCondLst>
                                        </p:cTn>
                                        <p:tgtEl>
                                          <p:spTgt spid="226"/>
                                        </p:tgtEl>
                                        <p:attrNameLst>
                                          <p:attrName>style.visibility</p:attrName>
                                        </p:attrNameLst>
                                      </p:cBhvr>
                                      <p:to>
                                        <p:strVal val="visible"/>
                                      </p:to>
                                    </p:set>
                                    <p:animEffect transition="in" filter="fade">
                                      <p:cBhvr>
                                        <p:cTn id="80" dur="500"/>
                                        <p:tgtEl>
                                          <p:spTgt spid="226"/>
                                        </p:tgtEl>
                                      </p:cBhvr>
                                    </p:animEffect>
                                  </p:childTnLst>
                                </p:cTn>
                              </p:par>
                            </p:childTnLst>
                          </p:cTn>
                        </p:par>
                        <p:par>
                          <p:cTn id="81" fill="hold">
                            <p:stCondLst>
                              <p:cond delay="1550"/>
                            </p:stCondLst>
                            <p:childTnLst>
                              <p:par>
                                <p:cTn id="82" presetID="22" presetClass="entr" presetSubtype="1" fill="hold" nodeType="afterEffect">
                                  <p:stCondLst>
                                    <p:cond delay="0"/>
                                  </p:stCondLst>
                                  <p:childTnLst>
                                    <p:set>
                                      <p:cBhvr>
                                        <p:cTn id="83" dur="1" fill="hold">
                                          <p:stCondLst>
                                            <p:cond delay="0"/>
                                          </p:stCondLst>
                                        </p:cTn>
                                        <p:tgtEl>
                                          <p:spTgt spid="630"/>
                                        </p:tgtEl>
                                        <p:attrNameLst>
                                          <p:attrName>style.visibility</p:attrName>
                                        </p:attrNameLst>
                                      </p:cBhvr>
                                      <p:to>
                                        <p:strVal val="visible"/>
                                      </p:to>
                                    </p:set>
                                    <p:animEffect transition="in" filter="wipe(up)">
                                      <p:cBhvr>
                                        <p:cTn id="84" dur="250"/>
                                        <p:tgtEl>
                                          <p:spTgt spid="630"/>
                                        </p:tgtEl>
                                      </p:cBhvr>
                                    </p:animEffect>
                                  </p:childTnLst>
                                </p:cTn>
                              </p:par>
                            </p:childTnLst>
                          </p:cTn>
                        </p:par>
                        <p:par>
                          <p:cTn id="85" fill="hold">
                            <p:stCondLst>
                              <p:cond delay="1800"/>
                            </p:stCondLst>
                            <p:childTnLst>
                              <p:par>
                                <p:cTn id="86" presetID="10" presetClass="entr" presetSubtype="0" fill="hold" grpId="0" nodeType="afterEffect">
                                  <p:stCondLst>
                                    <p:cond delay="0"/>
                                  </p:stCondLst>
                                  <p:childTnLst>
                                    <p:set>
                                      <p:cBhvr>
                                        <p:cTn id="87" dur="1" fill="hold">
                                          <p:stCondLst>
                                            <p:cond delay="0"/>
                                          </p:stCondLst>
                                        </p:cTn>
                                        <p:tgtEl>
                                          <p:spTgt spid="622"/>
                                        </p:tgtEl>
                                        <p:attrNameLst>
                                          <p:attrName>style.visibility</p:attrName>
                                        </p:attrNameLst>
                                      </p:cBhvr>
                                      <p:to>
                                        <p:strVal val="visible"/>
                                      </p:to>
                                    </p:set>
                                    <p:animEffect transition="in" filter="fade">
                                      <p:cBhvr>
                                        <p:cTn id="88" dur="500"/>
                                        <p:tgtEl>
                                          <p:spTgt spid="622"/>
                                        </p:tgtEl>
                                      </p:cBhvr>
                                    </p:animEffect>
                                  </p:childTnLst>
                                </p:cTn>
                              </p:par>
                            </p:childTnLst>
                          </p:cTn>
                        </p:par>
                        <p:par>
                          <p:cTn id="89" fill="hold">
                            <p:stCondLst>
                              <p:cond delay="2300"/>
                            </p:stCondLst>
                            <p:childTnLst>
                              <p:par>
                                <p:cTn id="90" presetID="10" presetClass="entr" presetSubtype="0" fill="hold" grpId="0" nodeType="after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250"/>
                                        <p:tgtEl>
                                          <p:spTgt spid="32"/>
                                        </p:tgtEl>
                                      </p:cBhvr>
                                    </p:animEffect>
                                  </p:childTnLst>
                                </p:cTn>
                              </p:par>
                            </p:childTnLst>
                          </p:cTn>
                        </p:par>
                        <p:par>
                          <p:cTn id="93" fill="hold">
                            <p:stCondLst>
                              <p:cond delay="2550"/>
                            </p:stCondLst>
                            <p:childTnLst>
                              <p:par>
                                <p:cTn id="94" presetID="10" presetClass="entr" presetSubtype="0" fill="hold" grpId="0" nodeType="afterEffect">
                                  <p:stCondLst>
                                    <p:cond delay="0"/>
                                  </p:stCondLst>
                                  <p:childTnLst>
                                    <p:set>
                                      <p:cBhvr>
                                        <p:cTn id="95" dur="1" fill="hold">
                                          <p:stCondLst>
                                            <p:cond delay="0"/>
                                          </p:stCondLst>
                                        </p:cTn>
                                        <p:tgtEl>
                                          <p:spTgt spid="6"/>
                                        </p:tgtEl>
                                        <p:attrNameLst>
                                          <p:attrName>style.visibility</p:attrName>
                                        </p:attrNameLst>
                                      </p:cBhvr>
                                      <p:to>
                                        <p:strVal val="visible"/>
                                      </p:to>
                                    </p:set>
                                    <p:animEffect transition="in" filter="fade">
                                      <p:cBhvr>
                                        <p:cTn id="96" dur="250"/>
                                        <p:tgtEl>
                                          <p:spTgt spid="6"/>
                                        </p:tgtEl>
                                      </p:cBhvr>
                                    </p:animEffect>
                                  </p:childTnLst>
                                </p:cTn>
                              </p:par>
                            </p:childTnLst>
                          </p:cTn>
                        </p:par>
                        <p:par>
                          <p:cTn id="97" fill="hold">
                            <p:stCondLst>
                              <p:cond delay="2800"/>
                            </p:stCondLst>
                            <p:childTnLst>
                              <p:par>
                                <p:cTn id="98" presetID="10" presetClass="entr" presetSubtype="0" fill="hold" grpId="0" nodeType="after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250"/>
                                        <p:tgtEl>
                                          <p:spTgt spid="33"/>
                                        </p:tgtEl>
                                      </p:cBhvr>
                                    </p:animEffect>
                                  </p:childTnLst>
                                </p:cTn>
                              </p:par>
                            </p:childTnLst>
                          </p:cTn>
                        </p:par>
                        <p:par>
                          <p:cTn id="101" fill="hold">
                            <p:stCondLst>
                              <p:cond delay="3050"/>
                            </p:stCondLst>
                            <p:childTnLst>
                              <p:par>
                                <p:cTn id="102" presetID="10" presetClass="entr" presetSubtype="0" fill="hold" grpId="0" nodeType="afterEffect">
                                  <p:stCondLst>
                                    <p:cond delay="0"/>
                                  </p:stCondLst>
                                  <p:childTnLst>
                                    <p:set>
                                      <p:cBhvr>
                                        <p:cTn id="103" dur="1" fill="hold">
                                          <p:stCondLst>
                                            <p:cond delay="0"/>
                                          </p:stCondLst>
                                        </p:cTn>
                                        <p:tgtEl>
                                          <p:spTgt spid="4"/>
                                        </p:tgtEl>
                                        <p:attrNameLst>
                                          <p:attrName>style.visibility</p:attrName>
                                        </p:attrNameLst>
                                      </p:cBhvr>
                                      <p:to>
                                        <p:strVal val="visible"/>
                                      </p:to>
                                    </p:set>
                                    <p:animEffect transition="in" filter="fade">
                                      <p:cBhvr>
                                        <p:cTn id="104" dur="250"/>
                                        <p:tgtEl>
                                          <p:spTgt spid="4"/>
                                        </p:tgtEl>
                                      </p:cBhvr>
                                    </p:animEffect>
                                  </p:childTnLst>
                                </p:cTn>
                              </p:par>
                            </p:childTnLst>
                          </p:cTn>
                        </p:par>
                        <p:par>
                          <p:cTn id="105" fill="hold">
                            <p:stCondLst>
                              <p:cond delay="3300"/>
                            </p:stCondLst>
                            <p:childTnLst>
                              <p:par>
                                <p:cTn id="106" presetID="10" presetClass="entr" presetSubtype="0" fill="hold" nodeType="afterEffect">
                                  <p:stCondLst>
                                    <p:cond delay="0"/>
                                  </p:stCondLst>
                                  <p:childTnLst>
                                    <p:set>
                                      <p:cBhvr>
                                        <p:cTn id="107" dur="1" fill="hold">
                                          <p:stCondLst>
                                            <p:cond delay="0"/>
                                          </p:stCondLst>
                                        </p:cTn>
                                        <p:tgtEl>
                                          <p:spTgt spid="28"/>
                                        </p:tgtEl>
                                        <p:attrNameLst>
                                          <p:attrName>style.visibility</p:attrName>
                                        </p:attrNameLst>
                                      </p:cBhvr>
                                      <p:to>
                                        <p:strVal val="visible"/>
                                      </p:to>
                                    </p:set>
                                    <p:animEffect transition="in" filter="fade">
                                      <p:cBhvr>
                                        <p:cTn id="108" dur="250"/>
                                        <p:tgtEl>
                                          <p:spTgt spid="28"/>
                                        </p:tgtEl>
                                      </p:cBhvr>
                                    </p:animEffect>
                                  </p:childTnLst>
                                </p:cTn>
                              </p:par>
                            </p:childTnLst>
                          </p:cTn>
                        </p:par>
                        <p:par>
                          <p:cTn id="109" fill="hold">
                            <p:stCondLst>
                              <p:cond delay="3550"/>
                            </p:stCondLst>
                            <p:childTnLst>
                              <p:par>
                                <p:cTn id="110" presetID="2" presetClass="entr" presetSubtype="2" fill="hold" grpId="0" nodeType="afterEffect">
                                  <p:stCondLst>
                                    <p:cond delay="500"/>
                                  </p:stCondLst>
                                  <p:childTnLst>
                                    <p:set>
                                      <p:cBhvr>
                                        <p:cTn id="111" dur="1" fill="hold">
                                          <p:stCondLst>
                                            <p:cond delay="0"/>
                                          </p:stCondLst>
                                        </p:cTn>
                                        <p:tgtEl>
                                          <p:spTgt spid="16"/>
                                        </p:tgtEl>
                                        <p:attrNameLst>
                                          <p:attrName>style.visibility</p:attrName>
                                        </p:attrNameLst>
                                      </p:cBhvr>
                                      <p:to>
                                        <p:strVal val="visible"/>
                                      </p:to>
                                    </p:set>
                                    <p:anim calcmode="lin" valueType="num">
                                      <p:cBhvr additive="base">
                                        <p:cTn id="112" dur="500" fill="hold"/>
                                        <p:tgtEl>
                                          <p:spTgt spid="16"/>
                                        </p:tgtEl>
                                        <p:attrNameLst>
                                          <p:attrName>ppt_x</p:attrName>
                                        </p:attrNameLst>
                                      </p:cBhvr>
                                      <p:tavLst>
                                        <p:tav tm="0">
                                          <p:val>
                                            <p:strVal val="1+#ppt_w/2"/>
                                          </p:val>
                                        </p:tav>
                                        <p:tav tm="100000">
                                          <p:val>
                                            <p:strVal val="#ppt_x"/>
                                          </p:val>
                                        </p:tav>
                                      </p:tavLst>
                                    </p:anim>
                                    <p:anim calcmode="lin" valueType="num">
                                      <p:cBhvr additive="base">
                                        <p:cTn id="113" dur="500" fill="hold"/>
                                        <p:tgtEl>
                                          <p:spTgt spid="16"/>
                                        </p:tgtEl>
                                        <p:attrNameLst>
                                          <p:attrName>ppt_y</p:attrName>
                                        </p:attrNameLst>
                                      </p:cBhvr>
                                      <p:tavLst>
                                        <p:tav tm="0">
                                          <p:val>
                                            <p:strVal val="#ppt_y"/>
                                          </p:val>
                                        </p:tav>
                                        <p:tav tm="100000">
                                          <p:val>
                                            <p:strVal val="#ppt_y"/>
                                          </p:val>
                                        </p:tav>
                                      </p:tavLst>
                                    </p:anim>
                                  </p:childTnLst>
                                </p:cTn>
                              </p:par>
                              <p:par>
                                <p:cTn id="114" presetID="2" presetClass="entr" presetSubtype="2" fill="hold" nodeType="withEffect">
                                  <p:stCondLst>
                                    <p:cond delay="500"/>
                                  </p:stCondLst>
                                  <p:childTnLst>
                                    <p:set>
                                      <p:cBhvr>
                                        <p:cTn id="115" dur="1" fill="hold">
                                          <p:stCondLst>
                                            <p:cond delay="0"/>
                                          </p:stCondLst>
                                        </p:cTn>
                                        <p:tgtEl>
                                          <p:spTgt spid="34"/>
                                        </p:tgtEl>
                                        <p:attrNameLst>
                                          <p:attrName>style.visibility</p:attrName>
                                        </p:attrNameLst>
                                      </p:cBhvr>
                                      <p:to>
                                        <p:strVal val="visible"/>
                                      </p:to>
                                    </p:set>
                                    <p:anim calcmode="lin" valueType="num">
                                      <p:cBhvr additive="base">
                                        <p:cTn id="116" dur="500" fill="hold"/>
                                        <p:tgtEl>
                                          <p:spTgt spid="34"/>
                                        </p:tgtEl>
                                        <p:attrNameLst>
                                          <p:attrName>ppt_x</p:attrName>
                                        </p:attrNameLst>
                                      </p:cBhvr>
                                      <p:tavLst>
                                        <p:tav tm="0">
                                          <p:val>
                                            <p:strVal val="1+#ppt_w/2"/>
                                          </p:val>
                                        </p:tav>
                                        <p:tav tm="100000">
                                          <p:val>
                                            <p:strVal val="#ppt_x"/>
                                          </p:val>
                                        </p:tav>
                                      </p:tavLst>
                                    </p:anim>
                                    <p:anim calcmode="lin" valueType="num">
                                      <p:cBhvr additive="base">
                                        <p:cTn id="117" dur="500" fill="hold"/>
                                        <p:tgtEl>
                                          <p:spTgt spid="34"/>
                                        </p:tgtEl>
                                        <p:attrNameLst>
                                          <p:attrName>ppt_y</p:attrName>
                                        </p:attrNameLst>
                                      </p:cBhvr>
                                      <p:tavLst>
                                        <p:tav tm="0">
                                          <p:val>
                                            <p:strVal val="#ppt_y"/>
                                          </p:val>
                                        </p:tav>
                                        <p:tav tm="100000">
                                          <p:val>
                                            <p:strVal val="#ppt_y"/>
                                          </p:val>
                                        </p:tav>
                                      </p:tavLst>
                                    </p:anim>
                                  </p:childTnLst>
                                </p:cTn>
                              </p:par>
                              <p:par>
                                <p:cTn id="118" presetID="10" presetClass="entr" presetSubtype="0" fill="hold" nodeType="withEffect">
                                  <p:stCondLst>
                                    <p:cond delay="500"/>
                                  </p:stCondLst>
                                  <p:childTnLst>
                                    <p:set>
                                      <p:cBhvr>
                                        <p:cTn id="119" dur="1" fill="hold">
                                          <p:stCondLst>
                                            <p:cond delay="0"/>
                                          </p:stCondLst>
                                        </p:cTn>
                                        <p:tgtEl>
                                          <p:spTgt spid="208"/>
                                        </p:tgtEl>
                                        <p:attrNameLst>
                                          <p:attrName>style.visibility</p:attrName>
                                        </p:attrNameLst>
                                      </p:cBhvr>
                                      <p:to>
                                        <p:strVal val="visible"/>
                                      </p:to>
                                    </p:set>
                                    <p:animEffect transition="in" filter="fade">
                                      <p:cBhvr>
                                        <p:cTn id="120" dur="500"/>
                                        <p:tgtEl>
                                          <p:spTgt spid="208"/>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57"/>
                                        </p:tgtEl>
                                        <p:attrNameLst>
                                          <p:attrName>style.visibility</p:attrName>
                                        </p:attrNameLst>
                                      </p:cBhvr>
                                      <p:to>
                                        <p:strVal val="visible"/>
                                      </p:to>
                                    </p:set>
                                    <p:animEffect transition="in" filter="fade">
                                      <p:cBhvr>
                                        <p:cTn id="125" dur="500"/>
                                        <p:tgtEl>
                                          <p:spTgt spid="57"/>
                                        </p:tgtEl>
                                      </p:cBhvr>
                                    </p:animEffect>
                                  </p:childTnLst>
                                </p:cTn>
                              </p:par>
                            </p:childTnLst>
                          </p:cTn>
                        </p:par>
                        <p:par>
                          <p:cTn id="126" fill="hold">
                            <p:stCondLst>
                              <p:cond delay="500"/>
                            </p:stCondLst>
                            <p:childTnLst>
                              <p:par>
                                <p:cTn id="127" presetID="22" presetClass="entr" presetSubtype="4" fill="hold" nodeType="afterEffect">
                                  <p:stCondLst>
                                    <p:cond delay="500"/>
                                  </p:stCondLst>
                                  <p:childTnLst>
                                    <p:set>
                                      <p:cBhvr>
                                        <p:cTn id="128" dur="1" fill="hold">
                                          <p:stCondLst>
                                            <p:cond delay="0"/>
                                          </p:stCondLst>
                                        </p:cTn>
                                        <p:tgtEl>
                                          <p:spTgt spid="197"/>
                                        </p:tgtEl>
                                        <p:attrNameLst>
                                          <p:attrName>style.visibility</p:attrName>
                                        </p:attrNameLst>
                                      </p:cBhvr>
                                      <p:to>
                                        <p:strVal val="visible"/>
                                      </p:to>
                                    </p:set>
                                    <p:animEffect transition="in" filter="wipe(down)">
                                      <p:cBhvr>
                                        <p:cTn id="129" dur="500"/>
                                        <p:tgtEl>
                                          <p:spTgt spid="197"/>
                                        </p:tgtEl>
                                      </p:cBhvr>
                                    </p:animEffect>
                                  </p:childTnLst>
                                </p:cTn>
                              </p:par>
                            </p:childTnLst>
                          </p:cTn>
                        </p:par>
                        <p:par>
                          <p:cTn id="130" fill="hold">
                            <p:stCondLst>
                              <p:cond delay="1500"/>
                            </p:stCondLst>
                            <p:childTnLst>
                              <p:par>
                                <p:cTn id="131" presetID="22" presetClass="entr" presetSubtype="1" fill="hold" nodeType="afterEffect">
                                  <p:stCondLst>
                                    <p:cond delay="0"/>
                                  </p:stCondLst>
                                  <p:childTnLst>
                                    <p:set>
                                      <p:cBhvr>
                                        <p:cTn id="132" dur="1" fill="hold">
                                          <p:stCondLst>
                                            <p:cond delay="0"/>
                                          </p:stCondLst>
                                        </p:cTn>
                                        <p:tgtEl>
                                          <p:spTgt spid="200"/>
                                        </p:tgtEl>
                                        <p:attrNameLst>
                                          <p:attrName>style.visibility</p:attrName>
                                        </p:attrNameLst>
                                      </p:cBhvr>
                                      <p:to>
                                        <p:strVal val="visible"/>
                                      </p:to>
                                    </p:set>
                                    <p:animEffect transition="in" filter="wipe(up)">
                                      <p:cBhvr>
                                        <p:cTn id="133" dur="500"/>
                                        <p:tgtEl>
                                          <p:spTgt spid="200"/>
                                        </p:tgtEl>
                                      </p:cBhvr>
                                    </p:animEffect>
                                  </p:childTnLst>
                                </p:cTn>
                              </p:par>
                            </p:childTnLst>
                          </p:cTn>
                        </p:par>
                        <p:par>
                          <p:cTn id="134" fill="hold">
                            <p:stCondLst>
                              <p:cond delay="2000"/>
                            </p:stCondLst>
                            <p:childTnLst>
                              <p:par>
                                <p:cTn id="135" presetID="22" presetClass="entr" presetSubtype="4" fill="hold" nodeType="afterEffect">
                                  <p:stCondLst>
                                    <p:cond delay="0"/>
                                  </p:stCondLst>
                                  <p:childTnLst>
                                    <p:set>
                                      <p:cBhvr>
                                        <p:cTn id="136" dur="1" fill="hold">
                                          <p:stCondLst>
                                            <p:cond delay="0"/>
                                          </p:stCondLst>
                                        </p:cTn>
                                        <p:tgtEl>
                                          <p:spTgt spid="729"/>
                                        </p:tgtEl>
                                        <p:attrNameLst>
                                          <p:attrName>style.visibility</p:attrName>
                                        </p:attrNameLst>
                                      </p:cBhvr>
                                      <p:to>
                                        <p:strVal val="visible"/>
                                      </p:to>
                                    </p:set>
                                    <p:animEffect transition="in" filter="wipe(down)">
                                      <p:cBhvr>
                                        <p:cTn id="137" dur="500"/>
                                        <p:tgtEl>
                                          <p:spTgt spid="729"/>
                                        </p:tgtEl>
                                      </p:cBhvr>
                                    </p:animEffect>
                                  </p:childTnLst>
                                </p:cTn>
                              </p:par>
                            </p:childTnLst>
                          </p:cTn>
                        </p:par>
                        <p:par>
                          <p:cTn id="138" fill="hold">
                            <p:stCondLst>
                              <p:cond delay="2500"/>
                            </p:stCondLst>
                            <p:childTnLst>
                              <p:par>
                                <p:cTn id="139" presetID="10" presetClass="entr" presetSubtype="0" fill="hold" nodeType="afterEffect">
                                  <p:stCondLst>
                                    <p:cond delay="0"/>
                                  </p:stCondLst>
                                  <p:childTnLst>
                                    <p:set>
                                      <p:cBhvr>
                                        <p:cTn id="140" dur="1" fill="hold">
                                          <p:stCondLst>
                                            <p:cond delay="0"/>
                                          </p:stCondLst>
                                        </p:cTn>
                                        <p:tgtEl>
                                          <p:spTgt spid="135"/>
                                        </p:tgtEl>
                                        <p:attrNameLst>
                                          <p:attrName>style.visibility</p:attrName>
                                        </p:attrNameLst>
                                      </p:cBhvr>
                                      <p:to>
                                        <p:strVal val="visible"/>
                                      </p:to>
                                    </p:set>
                                    <p:animEffect transition="in" filter="fade">
                                      <p:cBhvr>
                                        <p:cTn id="141" dur="500"/>
                                        <p:tgtEl>
                                          <p:spTgt spid="135"/>
                                        </p:tgtEl>
                                      </p:cBhvr>
                                    </p:animEffect>
                                  </p:childTnLst>
                                </p:cTn>
                              </p:par>
                            </p:childTnLst>
                          </p:cTn>
                        </p:par>
                        <p:par>
                          <p:cTn id="142" fill="hold">
                            <p:stCondLst>
                              <p:cond delay="3000"/>
                            </p:stCondLst>
                            <p:childTnLst>
                              <p:par>
                                <p:cTn id="143" presetID="22" presetClass="entr" presetSubtype="2" fill="hold" nodeType="afterEffect">
                                  <p:stCondLst>
                                    <p:cond delay="0"/>
                                  </p:stCondLst>
                                  <p:childTnLst>
                                    <p:set>
                                      <p:cBhvr>
                                        <p:cTn id="144" dur="1" fill="hold">
                                          <p:stCondLst>
                                            <p:cond delay="0"/>
                                          </p:stCondLst>
                                        </p:cTn>
                                        <p:tgtEl>
                                          <p:spTgt spid="58"/>
                                        </p:tgtEl>
                                        <p:attrNameLst>
                                          <p:attrName>style.visibility</p:attrName>
                                        </p:attrNameLst>
                                      </p:cBhvr>
                                      <p:to>
                                        <p:strVal val="visible"/>
                                      </p:to>
                                    </p:set>
                                    <p:animEffect transition="in" filter="wipe(right)">
                                      <p:cBhvr>
                                        <p:cTn id="145" dur="1000"/>
                                        <p:tgtEl>
                                          <p:spTgt spid="58"/>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847"/>
                                        </p:tgtEl>
                                        <p:attrNameLst>
                                          <p:attrName>style.visibility</p:attrName>
                                        </p:attrNameLst>
                                      </p:cBhvr>
                                      <p:to>
                                        <p:strVal val="visible"/>
                                      </p:to>
                                    </p:set>
                                    <p:animEffect transition="in" filter="fade">
                                      <p:cBhvr>
                                        <p:cTn id="148" dur="500"/>
                                        <p:tgtEl>
                                          <p:spTgt spid="847"/>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1" fill="hold" nodeType="clickEffect">
                                  <p:stCondLst>
                                    <p:cond delay="0"/>
                                  </p:stCondLst>
                                  <p:childTnLst>
                                    <p:set>
                                      <p:cBhvr>
                                        <p:cTn id="152" dur="1" fill="hold">
                                          <p:stCondLst>
                                            <p:cond delay="0"/>
                                          </p:stCondLst>
                                        </p:cTn>
                                        <p:tgtEl>
                                          <p:spTgt spid="1106"/>
                                        </p:tgtEl>
                                        <p:attrNameLst>
                                          <p:attrName>style.visibility</p:attrName>
                                        </p:attrNameLst>
                                      </p:cBhvr>
                                      <p:to>
                                        <p:strVal val="visible"/>
                                      </p:to>
                                    </p:set>
                                    <p:animEffect transition="in" filter="wipe(up)">
                                      <p:cBhvr>
                                        <p:cTn id="153" dur="500"/>
                                        <p:tgtEl>
                                          <p:spTgt spid="1106"/>
                                        </p:tgtEl>
                                      </p:cBhvr>
                                    </p:animEffect>
                                  </p:childTnLst>
                                </p:cTn>
                              </p:par>
                            </p:childTnLst>
                          </p:cTn>
                        </p:par>
                        <p:par>
                          <p:cTn id="154" fill="hold">
                            <p:stCondLst>
                              <p:cond delay="500"/>
                            </p:stCondLst>
                            <p:childTnLst>
                              <p:par>
                                <p:cTn id="155" presetID="10" presetClass="entr" presetSubtype="0" fill="hold" nodeType="afterEffect">
                                  <p:stCondLst>
                                    <p:cond delay="0"/>
                                  </p:stCondLst>
                                  <p:childTnLst>
                                    <p:set>
                                      <p:cBhvr>
                                        <p:cTn id="156" dur="1" fill="hold">
                                          <p:stCondLst>
                                            <p:cond delay="0"/>
                                          </p:stCondLst>
                                        </p:cTn>
                                        <p:tgtEl>
                                          <p:spTgt spid="101"/>
                                        </p:tgtEl>
                                        <p:attrNameLst>
                                          <p:attrName>style.visibility</p:attrName>
                                        </p:attrNameLst>
                                      </p:cBhvr>
                                      <p:to>
                                        <p:strVal val="visible"/>
                                      </p:to>
                                    </p:set>
                                    <p:animEffect transition="in" filter="fade">
                                      <p:cBhvr>
                                        <p:cTn id="157" dur="500"/>
                                        <p:tgtEl>
                                          <p:spTgt spid="101"/>
                                        </p:tgtEl>
                                      </p:cBhvr>
                                    </p:animEffect>
                                  </p:childTnLst>
                                </p:cTn>
                              </p:par>
                            </p:childTnLst>
                          </p:cTn>
                        </p:par>
                        <p:par>
                          <p:cTn id="158" fill="hold">
                            <p:stCondLst>
                              <p:cond delay="1000"/>
                            </p:stCondLst>
                            <p:childTnLst>
                              <p:par>
                                <p:cTn id="159" presetID="22" presetClass="entr" presetSubtype="8" fill="hold" nodeType="afterEffect">
                                  <p:stCondLst>
                                    <p:cond delay="0"/>
                                  </p:stCondLst>
                                  <p:childTnLst>
                                    <p:set>
                                      <p:cBhvr>
                                        <p:cTn id="160" dur="1" fill="hold">
                                          <p:stCondLst>
                                            <p:cond delay="0"/>
                                          </p:stCondLst>
                                        </p:cTn>
                                        <p:tgtEl>
                                          <p:spTgt spid="169"/>
                                        </p:tgtEl>
                                        <p:attrNameLst>
                                          <p:attrName>style.visibility</p:attrName>
                                        </p:attrNameLst>
                                      </p:cBhvr>
                                      <p:to>
                                        <p:strVal val="visible"/>
                                      </p:to>
                                    </p:set>
                                    <p:animEffect transition="in" filter="wipe(left)">
                                      <p:cBhvr>
                                        <p:cTn id="161" dur="500"/>
                                        <p:tgtEl>
                                          <p:spTgt spid="169"/>
                                        </p:tgtEl>
                                      </p:cBhvr>
                                    </p:animEffect>
                                  </p:childTnLst>
                                </p:cTn>
                              </p:par>
                              <p:par>
                                <p:cTn id="162" presetID="22" presetClass="entr" presetSubtype="4" fill="hold" nodeType="withEffect">
                                  <p:stCondLst>
                                    <p:cond delay="250"/>
                                  </p:stCondLst>
                                  <p:childTnLst>
                                    <p:set>
                                      <p:cBhvr>
                                        <p:cTn id="163" dur="1" fill="hold">
                                          <p:stCondLst>
                                            <p:cond delay="0"/>
                                          </p:stCondLst>
                                        </p:cTn>
                                        <p:tgtEl>
                                          <p:spTgt spid="501"/>
                                        </p:tgtEl>
                                        <p:attrNameLst>
                                          <p:attrName>style.visibility</p:attrName>
                                        </p:attrNameLst>
                                      </p:cBhvr>
                                      <p:to>
                                        <p:strVal val="visible"/>
                                      </p:to>
                                    </p:set>
                                    <p:animEffect transition="in" filter="wipe(down)">
                                      <p:cBhvr>
                                        <p:cTn id="164" dur="250"/>
                                        <p:tgtEl>
                                          <p:spTgt spid="501"/>
                                        </p:tgtEl>
                                      </p:cBhvr>
                                    </p:animEffect>
                                  </p:childTnLst>
                                </p:cTn>
                              </p:par>
                            </p:childTnLst>
                          </p:cTn>
                        </p:par>
                        <p:par>
                          <p:cTn id="165" fill="hold">
                            <p:stCondLst>
                              <p:cond delay="1500"/>
                            </p:stCondLst>
                            <p:childTnLst>
                              <p:par>
                                <p:cTn id="166" presetID="22" presetClass="entr" presetSubtype="1" fill="hold" grpId="0" nodeType="afterEffect">
                                  <p:stCondLst>
                                    <p:cond delay="0"/>
                                  </p:stCondLst>
                                  <p:childTnLst>
                                    <p:set>
                                      <p:cBhvr>
                                        <p:cTn id="167" dur="1" fill="hold">
                                          <p:stCondLst>
                                            <p:cond delay="0"/>
                                          </p:stCondLst>
                                        </p:cTn>
                                        <p:tgtEl>
                                          <p:spTgt spid="187"/>
                                        </p:tgtEl>
                                        <p:attrNameLst>
                                          <p:attrName>style.visibility</p:attrName>
                                        </p:attrNameLst>
                                      </p:cBhvr>
                                      <p:to>
                                        <p:strVal val="visible"/>
                                      </p:to>
                                    </p:set>
                                    <p:animEffect transition="in" filter="wipe(up)">
                                      <p:cBhvr>
                                        <p:cTn id="168" dur="500"/>
                                        <p:tgtEl>
                                          <p:spTgt spid="187"/>
                                        </p:tgtEl>
                                      </p:cBhvr>
                                    </p:animEffect>
                                  </p:childTnLst>
                                </p:cTn>
                              </p:par>
                              <p:par>
                                <p:cTn id="169" presetID="22" presetClass="entr" presetSubtype="1" fill="hold" grpId="0" nodeType="withEffect">
                                  <p:stCondLst>
                                    <p:cond delay="0"/>
                                  </p:stCondLst>
                                  <p:childTnLst>
                                    <p:set>
                                      <p:cBhvr>
                                        <p:cTn id="170" dur="1" fill="hold">
                                          <p:stCondLst>
                                            <p:cond delay="0"/>
                                          </p:stCondLst>
                                        </p:cTn>
                                        <p:tgtEl>
                                          <p:spTgt spid="175"/>
                                        </p:tgtEl>
                                        <p:attrNameLst>
                                          <p:attrName>style.visibility</p:attrName>
                                        </p:attrNameLst>
                                      </p:cBhvr>
                                      <p:to>
                                        <p:strVal val="visible"/>
                                      </p:to>
                                    </p:set>
                                    <p:animEffect transition="in" filter="wipe(up)">
                                      <p:cBhvr>
                                        <p:cTn id="171" dur="500"/>
                                        <p:tgtEl>
                                          <p:spTgt spid="175"/>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715"/>
                                        </p:tgtEl>
                                        <p:attrNameLst>
                                          <p:attrName>style.visibility</p:attrName>
                                        </p:attrNameLst>
                                      </p:cBhvr>
                                      <p:to>
                                        <p:strVal val="visible"/>
                                      </p:to>
                                    </p:set>
                                    <p:animEffect transition="in" filter="wipe(left)">
                                      <p:cBhvr>
                                        <p:cTn id="176" dur="500"/>
                                        <p:tgtEl>
                                          <p:spTgt spid="715"/>
                                        </p:tgtEl>
                                      </p:cBhvr>
                                    </p:animEffect>
                                  </p:childTnLst>
                                </p:cTn>
                              </p:par>
                            </p:childTnLst>
                          </p:cTn>
                        </p:par>
                        <p:par>
                          <p:cTn id="177" fill="hold">
                            <p:stCondLst>
                              <p:cond delay="500"/>
                            </p:stCondLst>
                            <p:childTnLst>
                              <p:par>
                                <p:cTn id="178" presetID="22" presetClass="entr" presetSubtype="8" fill="hold" nodeType="afterEffect">
                                  <p:stCondLst>
                                    <p:cond delay="0"/>
                                  </p:stCondLst>
                                  <p:childTnLst>
                                    <p:set>
                                      <p:cBhvr>
                                        <p:cTn id="179" dur="1" fill="hold">
                                          <p:stCondLst>
                                            <p:cond delay="0"/>
                                          </p:stCondLst>
                                        </p:cTn>
                                        <p:tgtEl>
                                          <p:spTgt spid="196"/>
                                        </p:tgtEl>
                                        <p:attrNameLst>
                                          <p:attrName>style.visibility</p:attrName>
                                        </p:attrNameLst>
                                      </p:cBhvr>
                                      <p:to>
                                        <p:strVal val="visible"/>
                                      </p:to>
                                    </p:set>
                                    <p:animEffect transition="in" filter="wipe(left)">
                                      <p:cBhvr>
                                        <p:cTn id="180" dur="500"/>
                                        <p:tgtEl>
                                          <p:spTgt spid="196"/>
                                        </p:tgtEl>
                                      </p:cBhvr>
                                    </p:animEffect>
                                  </p:childTnLst>
                                </p:cTn>
                              </p:par>
                            </p:childTnLst>
                          </p:cTn>
                        </p:par>
                        <p:par>
                          <p:cTn id="181" fill="hold">
                            <p:stCondLst>
                              <p:cond delay="1000"/>
                            </p:stCondLst>
                            <p:childTnLst>
                              <p:par>
                                <p:cTn id="182" presetID="22" presetClass="entr" presetSubtype="8" fill="hold" grpId="0" nodeType="afterEffect">
                                  <p:stCondLst>
                                    <p:cond delay="0"/>
                                  </p:stCondLst>
                                  <p:childTnLst>
                                    <p:set>
                                      <p:cBhvr>
                                        <p:cTn id="183" dur="1" fill="hold">
                                          <p:stCondLst>
                                            <p:cond delay="0"/>
                                          </p:stCondLst>
                                        </p:cTn>
                                        <p:tgtEl>
                                          <p:spTgt spid="739"/>
                                        </p:tgtEl>
                                        <p:attrNameLst>
                                          <p:attrName>style.visibility</p:attrName>
                                        </p:attrNameLst>
                                      </p:cBhvr>
                                      <p:to>
                                        <p:strVal val="visible"/>
                                      </p:to>
                                    </p:set>
                                    <p:animEffect transition="in" filter="wipe(left)">
                                      <p:cBhvr>
                                        <p:cTn id="184" dur="500"/>
                                        <p:tgtEl>
                                          <p:spTgt spid="739"/>
                                        </p:tgtEl>
                                      </p:cBhvr>
                                    </p:animEffect>
                                  </p:childTnLst>
                                </p:cTn>
                              </p:par>
                            </p:childTnLst>
                          </p:cTn>
                        </p:par>
                        <p:par>
                          <p:cTn id="185" fill="hold">
                            <p:stCondLst>
                              <p:cond delay="1500"/>
                            </p:stCondLst>
                            <p:childTnLst>
                              <p:par>
                                <p:cTn id="186" presetID="22" presetClass="entr" presetSubtype="2" fill="hold" grpId="0" nodeType="afterEffect">
                                  <p:stCondLst>
                                    <p:cond delay="0"/>
                                  </p:stCondLst>
                                  <p:childTnLst>
                                    <p:set>
                                      <p:cBhvr>
                                        <p:cTn id="187" dur="1" fill="hold">
                                          <p:stCondLst>
                                            <p:cond delay="0"/>
                                          </p:stCondLst>
                                        </p:cTn>
                                        <p:tgtEl>
                                          <p:spTgt spid="38"/>
                                        </p:tgtEl>
                                        <p:attrNameLst>
                                          <p:attrName>style.visibility</p:attrName>
                                        </p:attrNameLst>
                                      </p:cBhvr>
                                      <p:to>
                                        <p:strVal val="visible"/>
                                      </p:to>
                                    </p:set>
                                    <p:animEffect transition="in" filter="wipe(right)">
                                      <p:cBhvr>
                                        <p:cTn id="188" dur="500"/>
                                        <p:tgtEl>
                                          <p:spTgt spid="38"/>
                                        </p:tgtEl>
                                      </p:cBhvr>
                                    </p:animEffect>
                                  </p:childTnLst>
                                </p:cTn>
                              </p:par>
                              <p:par>
                                <p:cTn id="189" presetID="10" presetClass="entr" presetSubtype="0" fill="hold" nodeType="withEffect">
                                  <p:stCondLst>
                                    <p:cond delay="250"/>
                                  </p:stCondLst>
                                  <p:childTnLst>
                                    <p:set>
                                      <p:cBhvr>
                                        <p:cTn id="190" dur="1" fill="hold">
                                          <p:stCondLst>
                                            <p:cond delay="0"/>
                                          </p:stCondLst>
                                        </p:cTn>
                                        <p:tgtEl>
                                          <p:spTgt spid="199"/>
                                        </p:tgtEl>
                                        <p:attrNameLst>
                                          <p:attrName>style.visibility</p:attrName>
                                        </p:attrNameLst>
                                      </p:cBhvr>
                                      <p:to>
                                        <p:strVal val="visible"/>
                                      </p:to>
                                    </p:set>
                                    <p:animEffect transition="in" filter="fade">
                                      <p:cBhvr>
                                        <p:cTn id="191" dur="500"/>
                                        <p:tgtEl>
                                          <p:spTgt spid="199"/>
                                        </p:tgtEl>
                                      </p:cBhvr>
                                    </p:animEffect>
                                  </p:childTnLst>
                                </p:cTn>
                              </p:par>
                              <p:par>
                                <p:cTn id="192" presetID="10" presetClass="entr" presetSubtype="0" fill="hold" nodeType="withEffect">
                                  <p:stCondLst>
                                    <p:cond delay="500"/>
                                  </p:stCondLst>
                                  <p:childTnLst>
                                    <p:set>
                                      <p:cBhvr>
                                        <p:cTn id="193" dur="1" fill="hold">
                                          <p:stCondLst>
                                            <p:cond delay="0"/>
                                          </p:stCondLst>
                                        </p:cTn>
                                        <p:tgtEl>
                                          <p:spTgt spid="15"/>
                                        </p:tgtEl>
                                        <p:attrNameLst>
                                          <p:attrName>style.visibility</p:attrName>
                                        </p:attrNameLst>
                                      </p:cBhvr>
                                      <p:to>
                                        <p:strVal val="visible"/>
                                      </p:to>
                                    </p:set>
                                    <p:animEffect transition="in" filter="fade">
                                      <p:cBhvr>
                                        <p:cTn id="194" dur="500"/>
                                        <p:tgtEl>
                                          <p:spTgt spid="15"/>
                                        </p:tgtEl>
                                      </p:cBhvr>
                                    </p:animEffect>
                                  </p:childTnLst>
                                </p:cTn>
                              </p:par>
                            </p:childTnLst>
                          </p:cTn>
                        </p:par>
                        <p:par>
                          <p:cTn id="195" fill="hold">
                            <p:stCondLst>
                              <p:cond delay="2500"/>
                            </p:stCondLst>
                            <p:childTnLst>
                              <p:par>
                                <p:cTn id="196" presetID="22" presetClass="entr" presetSubtype="8" fill="hold" nodeType="afterEffect">
                                  <p:stCondLst>
                                    <p:cond delay="0"/>
                                  </p:stCondLst>
                                  <p:childTnLst>
                                    <p:set>
                                      <p:cBhvr>
                                        <p:cTn id="197" dur="1" fill="hold">
                                          <p:stCondLst>
                                            <p:cond delay="0"/>
                                          </p:stCondLst>
                                        </p:cTn>
                                        <p:tgtEl>
                                          <p:spTgt spid="2"/>
                                        </p:tgtEl>
                                        <p:attrNameLst>
                                          <p:attrName>style.visibility</p:attrName>
                                        </p:attrNameLst>
                                      </p:cBhvr>
                                      <p:to>
                                        <p:strVal val="visible"/>
                                      </p:to>
                                    </p:set>
                                    <p:animEffect transition="in" filter="wipe(left)">
                                      <p:cBhvr>
                                        <p:cTn id="198" dur="500"/>
                                        <p:tgtEl>
                                          <p:spTgt spid="2"/>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nodeType="clickEffect">
                                  <p:stCondLst>
                                    <p:cond delay="0"/>
                                  </p:stCondLst>
                                  <p:childTnLst>
                                    <p:set>
                                      <p:cBhvr>
                                        <p:cTn id="202" dur="1" fill="hold">
                                          <p:stCondLst>
                                            <p:cond delay="0"/>
                                          </p:stCondLst>
                                        </p:cTn>
                                        <p:tgtEl>
                                          <p:spTgt spid="201"/>
                                        </p:tgtEl>
                                        <p:attrNameLst>
                                          <p:attrName>style.visibility</p:attrName>
                                        </p:attrNameLst>
                                      </p:cBhvr>
                                      <p:to>
                                        <p:strVal val="visible"/>
                                      </p:to>
                                    </p:set>
                                    <p:animEffect transition="in" filter="wipe(left)">
                                      <p:cBhvr>
                                        <p:cTn id="203" dur="300"/>
                                        <p:tgtEl>
                                          <p:spTgt spid="201"/>
                                        </p:tgtEl>
                                      </p:cBhvr>
                                    </p:animEffect>
                                  </p:childTnLst>
                                </p:cTn>
                              </p:par>
                              <p:par>
                                <p:cTn id="204" presetID="22" presetClass="entr" presetSubtype="1" fill="hold" nodeType="withEffect">
                                  <p:stCondLst>
                                    <p:cond delay="300"/>
                                  </p:stCondLst>
                                  <p:childTnLst>
                                    <p:set>
                                      <p:cBhvr>
                                        <p:cTn id="205" dur="1" fill="hold">
                                          <p:stCondLst>
                                            <p:cond delay="0"/>
                                          </p:stCondLst>
                                        </p:cTn>
                                        <p:tgtEl>
                                          <p:spTgt spid="617"/>
                                        </p:tgtEl>
                                        <p:attrNameLst>
                                          <p:attrName>style.visibility</p:attrName>
                                        </p:attrNameLst>
                                      </p:cBhvr>
                                      <p:to>
                                        <p:strVal val="visible"/>
                                      </p:to>
                                    </p:set>
                                    <p:animEffect transition="in" filter="wipe(up)">
                                      <p:cBhvr>
                                        <p:cTn id="206" dur="500"/>
                                        <p:tgtEl>
                                          <p:spTgt spid="617"/>
                                        </p:tgtEl>
                                      </p:cBhvr>
                                    </p:animEffect>
                                  </p:childTnLst>
                                </p:cTn>
                              </p:par>
                              <p:par>
                                <p:cTn id="207" presetID="10" presetClass="entr" presetSubtype="0" fill="hold" grpId="0" nodeType="withEffect">
                                  <p:stCondLst>
                                    <p:cond delay="750"/>
                                  </p:stCondLst>
                                  <p:childTnLst>
                                    <p:set>
                                      <p:cBhvr>
                                        <p:cTn id="208" dur="1" fill="hold">
                                          <p:stCondLst>
                                            <p:cond delay="0"/>
                                          </p:stCondLst>
                                        </p:cTn>
                                        <p:tgtEl>
                                          <p:spTgt spid="629"/>
                                        </p:tgtEl>
                                        <p:attrNameLst>
                                          <p:attrName>style.visibility</p:attrName>
                                        </p:attrNameLst>
                                      </p:cBhvr>
                                      <p:to>
                                        <p:strVal val="visible"/>
                                      </p:to>
                                    </p:set>
                                    <p:animEffect transition="in" filter="fade">
                                      <p:cBhvr>
                                        <p:cTn id="209" dur="300"/>
                                        <p:tgtEl>
                                          <p:spTgt spid="629"/>
                                        </p:tgtEl>
                                      </p:cBhvr>
                                    </p:animEffect>
                                  </p:childTnLst>
                                </p:cTn>
                              </p:par>
                              <p:par>
                                <p:cTn id="210" presetID="10" presetClass="entr" presetSubtype="0" fill="hold" nodeType="withEffect">
                                  <p:stCondLst>
                                    <p:cond delay="2000"/>
                                  </p:stCondLst>
                                  <p:childTnLst>
                                    <p:set>
                                      <p:cBhvr>
                                        <p:cTn id="211" dur="1" fill="hold">
                                          <p:stCondLst>
                                            <p:cond delay="0"/>
                                          </p:stCondLst>
                                        </p:cTn>
                                        <p:tgtEl>
                                          <p:spTgt spid="708"/>
                                        </p:tgtEl>
                                        <p:attrNameLst>
                                          <p:attrName>style.visibility</p:attrName>
                                        </p:attrNameLst>
                                      </p:cBhvr>
                                      <p:to>
                                        <p:strVal val="visible"/>
                                      </p:to>
                                    </p:set>
                                    <p:animEffect transition="in" filter="fade">
                                      <p:cBhvr>
                                        <p:cTn id="212" dur="300"/>
                                        <p:tgtEl>
                                          <p:spTgt spid="708"/>
                                        </p:tgtEl>
                                      </p:cBhvr>
                                    </p:animEffect>
                                  </p:childTnLst>
                                </p:cTn>
                              </p:par>
                              <p:par>
                                <p:cTn id="213" presetID="10" presetClass="entr" presetSubtype="0" fill="hold" grpId="0" nodeType="withEffect">
                                  <p:stCondLst>
                                    <p:cond delay="2000"/>
                                  </p:stCondLst>
                                  <p:childTnLst>
                                    <p:set>
                                      <p:cBhvr>
                                        <p:cTn id="214" dur="1" fill="hold">
                                          <p:stCondLst>
                                            <p:cond delay="0"/>
                                          </p:stCondLst>
                                        </p:cTn>
                                        <p:tgtEl>
                                          <p:spTgt spid="769"/>
                                        </p:tgtEl>
                                        <p:attrNameLst>
                                          <p:attrName>style.visibility</p:attrName>
                                        </p:attrNameLst>
                                      </p:cBhvr>
                                      <p:to>
                                        <p:strVal val="visible"/>
                                      </p:to>
                                    </p:set>
                                    <p:animEffect transition="in" filter="fade">
                                      <p:cBhvr>
                                        <p:cTn id="215" dur="300"/>
                                        <p:tgtEl>
                                          <p:spTgt spid="769"/>
                                        </p:tgtEl>
                                      </p:cBhvr>
                                    </p:animEffect>
                                  </p:childTnLst>
                                </p:cTn>
                              </p:par>
                            </p:childTnLst>
                          </p:cTn>
                        </p:par>
                        <p:par>
                          <p:cTn id="216" fill="hold">
                            <p:stCondLst>
                              <p:cond delay="2300"/>
                            </p:stCondLst>
                            <p:childTnLst>
                              <p:par>
                                <p:cTn id="217" presetID="10" presetClass="entr" presetSubtype="0" fill="hold" nodeType="afterEffect">
                                  <p:stCondLst>
                                    <p:cond delay="0"/>
                                  </p:stCondLst>
                                  <p:childTnLst>
                                    <p:set>
                                      <p:cBhvr>
                                        <p:cTn id="218" dur="1" fill="hold">
                                          <p:stCondLst>
                                            <p:cond delay="0"/>
                                          </p:stCondLst>
                                        </p:cTn>
                                        <p:tgtEl>
                                          <p:spTgt spid="104"/>
                                        </p:tgtEl>
                                        <p:attrNameLst>
                                          <p:attrName>style.visibility</p:attrName>
                                        </p:attrNameLst>
                                      </p:cBhvr>
                                      <p:to>
                                        <p:strVal val="visible"/>
                                      </p:to>
                                    </p:set>
                                    <p:animEffect transition="in" filter="fade">
                                      <p:cBhvr>
                                        <p:cTn id="219" dur="300"/>
                                        <p:tgtEl>
                                          <p:spTgt spid="104"/>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103"/>
                                        </p:tgtEl>
                                        <p:attrNameLst>
                                          <p:attrName>style.visibility</p:attrName>
                                        </p:attrNameLst>
                                      </p:cBhvr>
                                      <p:to>
                                        <p:strVal val="visible"/>
                                      </p:to>
                                    </p:set>
                                    <p:animEffect transition="in" filter="fade">
                                      <p:cBhvr>
                                        <p:cTn id="222" dur="300"/>
                                        <p:tgtEl>
                                          <p:spTgt spid="103"/>
                                        </p:tgtEl>
                                      </p:cBhvr>
                                    </p:animEffect>
                                  </p:childTnLst>
                                </p:cTn>
                              </p:par>
                            </p:childTnLst>
                          </p:cTn>
                        </p:par>
                        <p:par>
                          <p:cTn id="223" fill="hold">
                            <p:stCondLst>
                              <p:cond delay="2600"/>
                            </p:stCondLst>
                            <p:childTnLst>
                              <p:par>
                                <p:cTn id="224" presetID="10" presetClass="entr" presetSubtype="0" fill="hold" nodeType="afterEffect">
                                  <p:stCondLst>
                                    <p:cond delay="0"/>
                                  </p:stCondLst>
                                  <p:childTnLst>
                                    <p:set>
                                      <p:cBhvr>
                                        <p:cTn id="225" dur="1" fill="hold">
                                          <p:stCondLst>
                                            <p:cond delay="0"/>
                                          </p:stCondLst>
                                        </p:cTn>
                                        <p:tgtEl>
                                          <p:spTgt spid="625"/>
                                        </p:tgtEl>
                                        <p:attrNameLst>
                                          <p:attrName>style.visibility</p:attrName>
                                        </p:attrNameLst>
                                      </p:cBhvr>
                                      <p:to>
                                        <p:strVal val="visible"/>
                                      </p:to>
                                    </p:set>
                                    <p:animEffect transition="in" filter="fade">
                                      <p:cBhvr>
                                        <p:cTn id="226" dur="300"/>
                                        <p:tgtEl>
                                          <p:spTgt spid="625"/>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132"/>
                                        </p:tgtEl>
                                        <p:attrNameLst>
                                          <p:attrName>style.visibility</p:attrName>
                                        </p:attrNameLst>
                                      </p:cBhvr>
                                      <p:to>
                                        <p:strVal val="visible"/>
                                      </p:to>
                                    </p:set>
                                    <p:animEffect transition="in" filter="fade">
                                      <p:cBhvr>
                                        <p:cTn id="229" dur="300"/>
                                        <p:tgtEl>
                                          <p:spTgt spid="132"/>
                                        </p:tgtEl>
                                      </p:cBhvr>
                                    </p:animEffect>
                                  </p:childTnLst>
                                </p:cTn>
                              </p:par>
                            </p:childTnLst>
                          </p:cTn>
                        </p:par>
                        <p:par>
                          <p:cTn id="230" fill="hold">
                            <p:stCondLst>
                              <p:cond delay="2900"/>
                            </p:stCondLst>
                            <p:childTnLst>
                              <p:par>
                                <p:cTn id="231" presetID="10" presetClass="entr" presetSubtype="0" fill="hold" nodeType="afterEffect">
                                  <p:stCondLst>
                                    <p:cond delay="0"/>
                                  </p:stCondLst>
                                  <p:childTnLst>
                                    <p:set>
                                      <p:cBhvr>
                                        <p:cTn id="232" dur="1" fill="hold">
                                          <p:stCondLst>
                                            <p:cond delay="0"/>
                                          </p:stCondLst>
                                        </p:cTn>
                                        <p:tgtEl>
                                          <p:spTgt spid="99"/>
                                        </p:tgtEl>
                                        <p:attrNameLst>
                                          <p:attrName>style.visibility</p:attrName>
                                        </p:attrNameLst>
                                      </p:cBhvr>
                                      <p:to>
                                        <p:strVal val="visible"/>
                                      </p:to>
                                    </p:set>
                                    <p:animEffect transition="in" filter="fade">
                                      <p:cBhvr>
                                        <p:cTn id="233" dur="300"/>
                                        <p:tgtEl>
                                          <p:spTgt spid="99"/>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98"/>
                                        </p:tgtEl>
                                        <p:attrNameLst>
                                          <p:attrName>style.visibility</p:attrName>
                                        </p:attrNameLst>
                                      </p:cBhvr>
                                      <p:to>
                                        <p:strVal val="visible"/>
                                      </p:to>
                                    </p:set>
                                    <p:animEffect transition="in" filter="fade">
                                      <p:cBhvr>
                                        <p:cTn id="236" dur="300"/>
                                        <p:tgtEl>
                                          <p:spTgt spid="98"/>
                                        </p:tgtEl>
                                      </p:cBhvr>
                                    </p:animEffect>
                                  </p:childTnLst>
                                </p:cTn>
                              </p:par>
                            </p:childTnLst>
                          </p:cTn>
                        </p:par>
                        <p:par>
                          <p:cTn id="237" fill="hold">
                            <p:stCondLst>
                              <p:cond delay="3200"/>
                            </p:stCondLst>
                            <p:childTnLst>
                              <p:par>
                                <p:cTn id="238" presetID="10" presetClass="entr" presetSubtype="0" fill="hold" nodeType="afterEffect">
                                  <p:stCondLst>
                                    <p:cond delay="0"/>
                                  </p:stCondLst>
                                  <p:childTnLst>
                                    <p:set>
                                      <p:cBhvr>
                                        <p:cTn id="239" dur="1" fill="hold">
                                          <p:stCondLst>
                                            <p:cond delay="0"/>
                                          </p:stCondLst>
                                        </p:cTn>
                                        <p:tgtEl>
                                          <p:spTgt spid="141"/>
                                        </p:tgtEl>
                                        <p:attrNameLst>
                                          <p:attrName>style.visibility</p:attrName>
                                        </p:attrNameLst>
                                      </p:cBhvr>
                                      <p:to>
                                        <p:strVal val="visible"/>
                                      </p:to>
                                    </p:set>
                                    <p:animEffect transition="in" filter="fade">
                                      <p:cBhvr>
                                        <p:cTn id="240" dur="300"/>
                                        <p:tgtEl>
                                          <p:spTgt spid="141"/>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139"/>
                                        </p:tgtEl>
                                        <p:attrNameLst>
                                          <p:attrName>style.visibility</p:attrName>
                                        </p:attrNameLst>
                                      </p:cBhvr>
                                      <p:to>
                                        <p:strVal val="visible"/>
                                      </p:to>
                                    </p:set>
                                    <p:animEffect transition="in" filter="fade">
                                      <p:cBhvr>
                                        <p:cTn id="243" dur="300"/>
                                        <p:tgtEl>
                                          <p:spTgt spid="139"/>
                                        </p:tgtEl>
                                      </p:cBhvr>
                                    </p:animEffect>
                                  </p:childTnLst>
                                </p:cTn>
                              </p:par>
                            </p:childTnLst>
                          </p:cTn>
                        </p:par>
                        <p:par>
                          <p:cTn id="244" fill="hold">
                            <p:stCondLst>
                              <p:cond delay="3500"/>
                            </p:stCondLst>
                            <p:childTnLst>
                              <p:par>
                                <p:cTn id="245" presetID="10" presetClass="entr" presetSubtype="0" fill="hold" nodeType="afterEffect">
                                  <p:stCondLst>
                                    <p:cond delay="0"/>
                                  </p:stCondLst>
                                  <p:childTnLst>
                                    <p:set>
                                      <p:cBhvr>
                                        <p:cTn id="246" dur="1" fill="hold">
                                          <p:stCondLst>
                                            <p:cond delay="0"/>
                                          </p:stCondLst>
                                        </p:cTn>
                                        <p:tgtEl>
                                          <p:spTgt spid="213"/>
                                        </p:tgtEl>
                                        <p:attrNameLst>
                                          <p:attrName>style.visibility</p:attrName>
                                        </p:attrNameLst>
                                      </p:cBhvr>
                                      <p:to>
                                        <p:strVal val="visible"/>
                                      </p:to>
                                    </p:set>
                                    <p:animEffect transition="in" filter="fade">
                                      <p:cBhvr>
                                        <p:cTn id="247" dur="300"/>
                                        <p:tgtEl>
                                          <p:spTgt spid="213"/>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45"/>
                                        </p:tgtEl>
                                        <p:attrNameLst>
                                          <p:attrName>style.visibility</p:attrName>
                                        </p:attrNameLst>
                                      </p:cBhvr>
                                      <p:to>
                                        <p:strVal val="visible"/>
                                      </p:to>
                                    </p:set>
                                    <p:animEffect transition="in" filter="fade">
                                      <p:cBhvr>
                                        <p:cTn id="250" dur="300"/>
                                        <p:tgtEl>
                                          <p:spTgt spid="45"/>
                                        </p:tgtEl>
                                      </p:cBhvr>
                                    </p:animEffect>
                                  </p:childTnLst>
                                </p:cTn>
                              </p:par>
                            </p:childTnLst>
                          </p:cTn>
                        </p:par>
                        <p:par>
                          <p:cTn id="251" fill="hold">
                            <p:stCondLst>
                              <p:cond delay="3800"/>
                            </p:stCondLst>
                            <p:childTnLst>
                              <p:par>
                                <p:cTn id="252" presetID="22" presetClass="entr" presetSubtype="2" fill="hold" nodeType="afterEffect">
                                  <p:stCondLst>
                                    <p:cond delay="0"/>
                                  </p:stCondLst>
                                  <p:childTnLst>
                                    <p:set>
                                      <p:cBhvr>
                                        <p:cTn id="253" dur="1" fill="hold">
                                          <p:stCondLst>
                                            <p:cond delay="0"/>
                                          </p:stCondLst>
                                        </p:cTn>
                                        <p:tgtEl>
                                          <p:spTgt spid="173"/>
                                        </p:tgtEl>
                                        <p:attrNameLst>
                                          <p:attrName>style.visibility</p:attrName>
                                        </p:attrNameLst>
                                      </p:cBhvr>
                                      <p:to>
                                        <p:strVal val="visible"/>
                                      </p:to>
                                    </p:set>
                                    <p:animEffect transition="in" filter="wipe(right)">
                                      <p:cBhvr>
                                        <p:cTn id="254" dur="300"/>
                                        <p:tgtEl>
                                          <p:spTgt spid="173"/>
                                        </p:tgtEl>
                                      </p:cBhvr>
                                    </p:animEffect>
                                  </p:childTnLst>
                                </p:cTn>
                              </p:par>
                            </p:childTnLst>
                          </p:cTn>
                        </p:par>
                        <p:par>
                          <p:cTn id="255" fill="hold">
                            <p:stCondLst>
                              <p:cond delay="4100"/>
                            </p:stCondLst>
                            <p:childTnLst>
                              <p:par>
                                <p:cTn id="256" presetID="22" presetClass="entr" presetSubtype="2" fill="hold" nodeType="afterEffect">
                                  <p:stCondLst>
                                    <p:cond delay="0"/>
                                  </p:stCondLst>
                                  <p:childTnLst>
                                    <p:set>
                                      <p:cBhvr>
                                        <p:cTn id="257" dur="1" fill="hold">
                                          <p:stCondLst>
                                            <p:cond delay="0"/>
                                          </p:stCondLst>
                                        </p:cTn>
                                        <p:tgtEl>
                                          <p:spTgt spid="193"/>
                                        </p:tgtEl>
                                        <p:attrNameLst>
                                          <p:attrName>style.visibility</p:attrName>
                                        </p:attrNameLst>
                                      </p:cBhvr>
                                      <p:to>
                                        <p:strVal val="visible"/>
                                      </p:to>
                                    </p:set>
                                    <p:animEffect transition="in" filter="wipe(right)">
                                      <p:cBhvr>
                                        <p:cTn id="258" dur="250"/>
                                        <p:tgtEl>
                                          <p:spTgt spid="193"/>
                                        </p:tgtEl>
                                      </p:cBhvr>
                                    </p:animEffect>
                                  </p:childTnLst>
                                </p:cTn>
                              </p:par>
                              <p:par>
                                <p:cTn id="259" presetID="10" presetClass="entr" presetSubtype="0" fill="hold" nodeType="withEffect">
                                  <p:stCondLst>
                                    <p:cond delay="0"/>
                                  </p:stCondLst>
                                  <p:childTnLst>
                                    <p:set>
                                      <p:cBhvr>
                                        <p:cTn id="260" dur="1" fill="hold">
                                          <p:stCondLst>
                                            <p:cond delay="0"/>
                                          </p:stCondLst>
                                        </p:cTn>
                                        <p:tgtEl>
                                          <p:spTgt spid="120"/>
                                        </p:tgtEl>
                                        <p:attrNameLst>
                                          <p:attrName>style.visibility</p:attrName>
                                        </p:attrNameLst>
                                      </p:cBhvr>
                                      <p:to>
                                        <p:strVal val="visible"/>
                                      </p:to>
                                    </p:set>
                                    <p:animEffect transition="in" filter="fade">
                                      <p:cBhvr>
                                        <p:cTn id="261" dur="500"/>
                                        <p:tgtEl>
                                          <p:spTgt spid="120"/>
                                        </p:tgtEl>
                                      </p:cBhvr>
                                    </p:animEffect>
                                  </p:childTnLst>
                                </p:cTn>
                              </p:par>
                            </p:childTnLst>
                          </p:cTn>
                        </p:par>
                        <p:par>
                          <p:cTn id="262" fill="hold">
                            <p:stCondLst>
                              <p:cond delay="4600"/>
                            </p:stCondLst>
                            <p:childTnLst>
                              <p:par>
                                <p:cTn id="263" presetID="10" presetClass="entr" presetSubtype="0" fill="hold" nodeType="afterEffect">
                                  <p:stCondLst>
                                    <p:cond delay="0"/>
                                  </p:stCondLst>
                                  <p:childTnLst>
                                    <p:set>
                                      <p:cBhvr>
                                        <p:cTn id="264" dur="1" fill="hold">
                                          <p:stCondLst>
                                            <p:cond delay="0"/>
                                          </p:stCondLst>
                                        </p:cTn>
                                        <p:tgtEl>
                                          <p:spTgt spid="620"/>
                                        </p:tgtEl>
                                        <p:attrNameLst>
                                          <p:attrName>style.visibility</p:attrName>
                                        </p:attrNameLst>
                                      </p:cBhvr>
                                      <p:to>
                                        <p:strVal val="visible"/>
                                      </p:to>
                                    </p:set>
                                    <p:animEffect transition="in" filter="fade">
                                      <p:cBhvr>
                                        <p:cTn id="265" dur="300"/>
                                        <p:tgtEl>
                                          <p:spTgt spid="620"/>
                                        </p:tgtEl>
                                      </p:cBhvr>
                                    </p:animEffect>
                                  </p:childTnLst>
                                </p:cTn>
                              </p:par>
                              <p:par>
                                <p:cTn id="266" presetID="10" presetClass="entr" presetSubtype="0" fill="hold" grpId="0" nodeType="withEffect">
                                  <p:stCondLst>
                                    <p:cond delay="0"/>
                                  </p:stCondLst>
                                  <p:childTnLst>
                                    <p:set>
                                      <p:cBhvr>
                                        <p:cTn id="267" dur="1" fill="hold">
                                          <p:stCondLst>
                                            <p:cond delay="0"/>
                                          </p:stCondLst>
                                        </p:cTn>
                                        <p:tgtEl>
                                          <p:spTgt spid="134"/>
                                        </p:tgtEl>
                                        <p:attrNameLst>
                                          <p:attrName>style.visibility</p:attrName>
                                        </p:attrNameLst>
                                      </p:cBhvr>
                                      <p:to>
                                        <p:strVal val="visible"/>
                                      </p:to>
                                    </p:set>
                                    <p:animEffect transition="in" filter="fade">
                                      <p:cBhvr>
                                        <p:cTn id="268" dur="300"/>
                                        <p:tgtEl>
                                          <p:spTgt spid="134"/>
                                        </p:tgtEl>
                                      </p:cBhvr>
                                    </p:animEffect>
                                  </p:childTnLst>
                                </p:cTn>
                              </p:par>
                            </p:childTnLst>
                          </p:cTn>
                        </p:par>
                        <p:par>
                          <p:cTn id="269" fill="hold">
                            <p:stCondLst>
                              <p:cond delay="4900"/>
                            </p:stCondLst>
                            <p:childTnLst>
                              <p:par>
                                <p:cTn id="270" presetID="10" presetClass="entr" presetSubtype="0" fill="hold" nodeType="afterEffect">
                                  <p:stCondLst>
                                    <p:cond delay="0"/>
                                  </p:stCondLst>
                                  <p:childTnLst>
                                    <p:set>
                                      <p:cBhvr>
                                        <p:cTn id="271" dur="1" fill="hold">
                                          <p:stCondLst>
                                            <p:cond delay="0"/>
                                          </p:stCondLst>
                                        </p:cTn>
                                        <p:tgtEl>
                                          <p:spTgt spid="136"/>
                                        </p:tgtEl>
                                        <p:attrNameLst>
                                          <p:attrName>style.visibility</p:attrName>
                                        </p:attrNameLst>
                                      </p:cBhvr>
                                      <p:to>
                                        <p:strVal val="visible"/>
                                      </p:to>
                                    </p:set>
                                    <p:animEffect transition="in" filter="fade">
                                      <p:cBhvr>
                                        <p:cTn id="272" dur="500"/>
                                        <p:tgtEl>
                                          <p:spTgt spid="136"/>
                                        </p:tgtEl>
                                      </p:cBhvr>
                                    </p:animEffect>
                                  </p:childTnLst>
                                </p:cTn>
                              </p:par>
                            </p:childTnLst>
                          </p:cTn>
                        </p:par>
                      </p:childTnLst>
                    </p:cTn>
                  </p:par>
                  <p:par>
                    <p:cTn id="273" fill="hold">
                      <p:stCondLst>
                        <p:cond delay="indefinite"/>
                      </p:stCondLst>
                      <p:childTnLst>
                        <p:par>
                          <p:cTn id="274" fill="hold">
                            <p:stCondLst>
                              <p:cond delay="0"/>
                            </p:stCondLst>
                            <p:childTnLst>
                              <p:par>
                                <p:cTn id="275" presetID="22" presetClass="entr" presetSubtype="2" fill="hold" nodeType="clickEffect">
                                  <p:stCondLst>
                                    <p:cond delay="0"/>
                                  </p:stCondLst>
                                  <p:childTnLst>
                                    <p:set>
                                      <p:cBhvr>
                                        <p:cTn id="276" dur="1" fill="hold">
                                          <p:stCondLst>
                                            <p:cond delay="0"/>
                                          </p:stCondLst>
                                        </p:cTn>
                                        <p:tgtEl>
                                          <p:spTgt spid="127"/>
                                        </p:tgtEl>
                                        <p:attrNameLst>
                                          <p:attrName>style.visibility</p:attrName>
                                        </p:attrNameLst>
                                      </p:cBhvr>
                                      <p:to>
                                        <p:strVal val="visible"/>
                                      </p:to>
                                    </p:set>
                                    <p:animEffect transition="in" filter="wipe(right)">
                                      <p:cBhvr>
                                        <p:cTn id="277" dur="500"/>
                                        <p:tgtEl>
                                          <p:spTgt spid="127"/>
                                        </p:tgtEl>
                                      </p:cBhvr>
                                    </p:animEffect>
                                  </p:childTnLst>
                                </p:cTn>
                              </p:par>
                            </p:childTnLst>
                          </p:cTn>
                        </p:par>
                        <p:par>
                          <p:cTn id="278" fill="hold">
                            <p:stCondLst>
                              <p:cond delay="500"/>
                            </p:stCondLst>
                            <p:childTnLst>
                              <p:par>
                                <p:cTn id="279" presetID="10" presetClass="entr" presetSubtype="0" fill="hold" nodeType="afterEffect">
                                  <p:stCondLst>
                                    <p:cond delay="500"/>
                                  </p:stCondLst>
                                  <p:childTnLst>
                                    <p:set>
                                      <p:cBhvr>
                                        <p:cTn id="280" dur="1" fill="hold">
                                          <p:stCondLst>
                                            <p:cond delay="0"/>
                                          </p:stCondLst>
                                        </p:cTn>
                                        <p:tgtEl>
                                          <p:spTgt spid="210"/>
                                        </p:tgtEl>
                                        <p:attrNameLst>
                                          <p:attrName>style.visibility</p:attrName>
                                        </p:attrNameLst>
                                      </p:cBhvr>
                                      <p:to>
                                        <p:strVal val="visible"/>
                                      </p:to>
                                    </p:set>
                                    <p:animEffect transition="in" filter="fade">
                                      <p:cBhvr>
                                        <p:cTn id="281" dur="500"/>
                                        <p:tgtEl>
                                          <p:spTgt spid="210"/>
                                        </p:tgtEl>
                                      </p:cBhvr>
                                    </p:animEffect>
                                  </p:childTnLst>
                                </p:cTn>
                              </p:par>
                              <p:par>
                                <p:cTn id="282" presetID="10" presetClass="entr" presetSubtype="0" fill="hold" nodeType="withEffect">
                                  <p:stCondLst>
                                    <p:cond delay="500"/>
                                  </p:stCondLst>
                                  <p:childTnLst>
                                    <p:set>
                                      <p:cBhvr>
                                        <p:cTn id="283" dur="1" fill="hold">
                                          <p:stCondLst>
                                            <p:cond delay="0"/>
                                          </p:stCondLst>
                                        </p:cTn>
                                        <p:tgtEl>
                                          <p:spTgt spid="31"/>
                                        </p:tgtEl>
                                        <p:attrNameLst>
                                          <p:attrName>style.visibility</p:attrName>
                                        </p:attrNameLst>
                                      </p:cBhvr>
                                      <p:to>
                                        <p:strVal val="visible"/>
                                      </p:to>
                                    </p:set>
                                    <p:animEffect transition="in" filter="fade">
                                      <p:cBhvr>
                                        <p:cTn id="284" dur="500"/>
                                        <p:tgtEl>
                                          <p:spTgt spid="31"/>
                                        </p:tgtEl>
                                      </p:cBhvr>
                                    </p:animEffect>
                                  </p:childTnLst>
                                </p:cTn>
                              </p:par>
                            </p:childTnLst>
                          </p:cTn>
                        </p:par>
                        <p:par>
                          <p:cTn id="285" fill="hold">
                            <p:stCondLst>
                              <p:cond delay="1500"/>
                            </p:stCondLst>
                            <p:childTnLst>
                              <p:par>
                                <p:cTn id="286" presetID="10" presetClass="entr" presetSubtype="0" fill="hold" nodeType="afterEffect">
                                  <p:stCondLst>
                                    <p:cond delay="0"/>
                                  </p:stCondLst>
                                  <p:childTnLst>
                                    <p:set>
                                      <p:cBhvr>
                                        <p:cTn id="287" dur="1" fill="hold">
                                          <p:stCondLst>
                                            <p:cond delay="0"/>
                                          </p:stCondLst>
                                        </p:cTn>
                                        <p:tgtEl>
                                          <p:spTgt spid="180"/>
                                        </p:tgtEl>
                                        <p:attrNameLst>
                                          <p:attrName>style.visibility</p:attrName>
                                        </p:attrNameLst>
                                      </p:cBhvr>
                                      <p:to>
                                        <p:strVal val="visible"/>
                                      </p:to>
                                    </p:set>
                                    <p:animEffect transition="in" filter="fade">
                                      <p:cBhvr>
                                        <p:cTn id="288" dur="500"/>
                                        <p:tgtEl>
                                          <p:spTgt spid="180"/>
                                        </p:tgtEl>
                                      </p:cBhvr>
                                    </p:animEffect>
                                  </p:childTnLst>
                                </p:cTn>
                              </p:par>
                              <p:par>
                                <p:cTn id="289" presetID="10" presetClass="entr" presetSubtype="0" fill="hold" nodeType="withEffect">
                                  <p:stCondLst>
                                    <p:cond delay="250"/>
                                  </p:stCondLst>
                                  <p:childTnLst>
                                    <p:set>
                                      <p:cBhvr>
                                        <p:cTn id="290" dur="1" fill="hold">
                                          <p:stCondLst>
                                            <p:cond delay="0"/>
                                          </p:stCondLst>
                                        </p:cTn>
                                        <p:tgtEl>
                                          <p:spTgt spid="119"/>
                                        </p:tgtEl>
                                        <p:attrNameLst>
                                          <p:attrName>style.visibility</p:attrName>
                                        </p:attrNameLst>
                                      </p:cBhvr>
                                      <p:to>
                                        <p:strVal val="visible"/>
                                      </p:to>
                                    </p:set>
                                    <p:animEffect transition="in" filter="fade">
                                      <p:cBhvr>
                                        <p:cTn id="291" dur="400"/>
                                        <p:tgtEl>
                                          <p:spTgt spid="119"/>
                                        </p:tgtEl>
                                      </p:cBhvr>
                                    </p:animEffect>
                                  </p:childTnLst>
                                </p:cTn>
                              </p:par>
                            </p:childTnLst>
                          </p:cTn>
                        </p:par>
                      </p:childTnLst>
                    </p:cTn>
                  </p:par>
                  <p:par>
                    <p:cTn id="292" fill="hold">
                      <p:stCondLst>
                        <p:cond delay="indefinite"/>
                      </p:stCondLst>
                      <p:childTnLst>
                        <p:par>
                          <p:cTn id="293" fill="hold">
                            <p:stCondLst>
                              <p:cond delay="0"/>
                            </p:stCondLst>
                            <p:childTnLst>
                              <p:par>
                                <p:cTn id="294" presetID="10" presetClass="entr" presetSubtype="0" fill="hold" nodeType="clickEffect">
                                  <p:stCondLst>
                                    <p:cond delay="0"/>
                                  </p:stCondLst>
                                  <p:childTnLst>
                                    <p:set>
                                      <p:cBhvr>
                                        <p:cTn id="295" dur="1" fill="hold">
                                          <p:stCondLst>
                                            <p:cond delay="0"/>
                                          </p:stCondLst>
                                        </p:cTn>
                                        <p:tgtEl>
                                          <p:spTgt spid="486"/>
                                        </p:tgtEl>
                                        <p:attrNameLst>
                                          <p:attrName>style.visibility</p:attrName>
                                        </p:attrNameLst>
                                      </p:cBhvr>
                                      <p:to>
                                        <p:strVal val="visible"/>
                                      </p:to>
                                    </p:set>
                                    <p:animEffect transition="in" filter="fade">
                                      <p:cBhvr>
                                        <p:cTn id="296" dur="500"/>
                                        <p:tgtEl>
                                          <p:spTgt spid="486"/>
                                        </p:tgtEl>
                                      </p:cBhvr>
                                    </p:animEffect>
                                  </p:childTnLst>
                                </p:cTn>
                              </p:par>
                              <p:par>
                                <p:cTn id="297" presetID="10" presetClass="entr" presetSubtype="0" fill="hold" nodeType="withEffect">
                                  <p:stCondLst>
                                    <p:cond delay="0"/>
                                  </p:stCondLst>
                                  <p:childTnLst>
                                    <p:set>
                                      <p:cBhvr>
                                        <p:cTn id="298" dur="1" fill="hold">
                                          <p:stCondLst>
                                            <p:cond delay="0"/>
                                          </p:stCondLst>
                                        </p:cTn>
                                        <p:tgtEl>
                                          <p:spTgt spid="221"/>
                                        </p:tgtEl>
                                        <p:attrNameLst>
                                          <p:attrName>style.visibility</p:attrName>
                                        </p:attrNameLst>
                                      </p:cBhvr>
                                      <p:to>
                                        <p:strVal val="visible"/>
                                      </p:to>
                                    </p:set>
                                    <p:animEffect transition="in" filter="fade">
                                      <p:cBhvr>
                                        <p:cTn id="299" dur="500"/>
                                        <p:tgtEl>
                                          <p:spTgt spid="221"/>
                                        </p:tgtEl>
                                      </p:cBhvr>
                                    </p:animEffect>
                                  </p:childTnLst>
                                </p:cTn>
                              </p:par>
                              <p:par>
                                <p:cTn id="300" presetID="10" presetClass="entr" presetSubtype="0" fill="hold" nodeType="withEffect">
                                  <p:stCondLst>
                                    <p:cond delay="0"/>
                                  </p:stCondLst>
                                  <p:childTnLst>
                                    <p:set>
                                      <p:cBhvr>
                                        <p:cTn id="301" dur="1" fill="hold">
                                          <p:stCondLst>
                                            <p:cond delay="0"/>
                                          </p:stCondLst>
                                        </p:cTn>
                                        <p:tgtEl>
                                          <p:spTgt spid="223"/>
                                        </p:tgtEl>
                                        <p:attrNameLst>
                                          <p:attrName>style.visibility</p:attrName>
                                        </p:attrNameLst>
                                      </p:cBhvr>
                                      <p:to>
                                        <p:strVal val="visible"/>
                                      </p:to>
                                    </p:set>
                                    <p:animEffect transition="in" filter="fade">
                                      <p:cBhvr>
                                        <p:cTn id="302" dur="500"/>
                                        <p:tgtEl>
                                          <p:spTgt spid="223"/>
                                        </p:tgtEl>
                                      </p:cBhvr>
                                    </p:animEffect>
                                  </p:childTnLst>
                                </p:cTn>
                              </p:par>
                            </p:childTnLst>
                          </p:cTn>
                        </p:par>
                        <p:par>
                          <p:cTn id="303" fill="hold">
                            <p:stCondLst>
                              <p:cond delay="500"/>
                            </p:stCondLst>
                            <p:childTnLst>
                              <p:par>
                                <p:cTn id="304" presetID="42" presetClass="entr" presetSubtype="0" fill="hold" nodeType="afterEffect">
                                  <p:stCondLst>
                                    <p:cond delay="0"/>
                                  </p:stCondLst>
                                  <p:childTnLst>
                                    <p:set>
                                      <p:cBhvr>
                                        <p:cTn id="305" dur="1" fill="hold">
                                          <p:stCondLst>
                                            <p:cond delay="0"/>
                                          </p:stCondLst>
                                        </p:cTn>
                                        <p:tgtEl>
                                          <p:spTgt spid="60"/>
                                        </p:tgtEl>
                                        <p:attrNameLst>
                                          <p:attrName>style.visibility</p:attrName>
                                        </p:attrNameLst>
                                      </p:cBhvr>
                                      <p:to>
                                        <p:strVal val="visible"/>
                                      </p:to>
                                    </p:set>
                                    <p:animEffect transition="in" filter="fade">
                                      <p:cBhvr>
                                        <p:cTn id="306" dur="1000"/>
                                        <p:tgtEl>
                                          <p:spTgt spid="60"/>
                                        </p:tgtEl>
                                      </p:cBhvr>
                                    </p:animEffect>
                                    <p:anim calcmode="lin" valueType="num">
                                      <p:cBhvr>
                                        <p:cTn id="307" dur="1000" fill="hold"/>
                                        <p:tgtEl>
                                          <p:spTgt spid="60"/>
                                        </p:tgtEl>
                                        <p:attrNameLst>
                                          <p:attrName>ppt_x</p:attrName>
                                        </p:attrNameLst>
                                      </p:cBhvr>
                                      <p:tavLst>
                                        <p:tav tm="0">
                                          <p:val>
                                            <p:strVal val="#ppt_x"/>
                                          </p:val>
                                        </p:tav>
                                        <p:tav tm="100000">
                                          <p:val>
                                            <p:strVal val="#ppt_x"/>
                                          </p:val>
                                        </p:tav>
                                      </p:tavLst>
                                    </p:anim>
                                    <p:anim calcmode="lin" valueType="num">
                                      <p:cBhvr>
                                        <p:cTn id="308" dur="1000" fill="hold"/>
                                        <p:tgtEl>
                                          <p:spTgt spid="60"/>
                                        </p:tgtEl>
                                        <p:attrNameLst>
                                          <p:attrName>ppt_y</p:attrName>
                                        </p:attrNameLst>
                                      </p:cBhvr>
                                      <p:tavLst>
                                        <p:tav tm="0">
                                          <p:val>
                                            <p:strVal val="#ppt_y+.1"/>
                                          </p:val>
                                        </p:tav>
                                        <p:tav tm="100000">
                                          <p:val>
                                            <p:strVal val="#ppt_y"/>
                                          </p:val>
                                        </p:tav>
                                      </p:tavLst>
                                    </p:anim>
                                  </p:childTnLst>
                                </p:cTn>
                              </p:par>
                            </p:childTnLst>
                          </p:cTn>
                        </p:par>
                        <p:par>
                          <p:cTn id="309" fill="hold">
                            <p:stCondLst>
                              <p:cond delay="1500"/>
                            </p:stCondLst>
                            <p:childTnLst>
                              <p:par>
                                <p:cTn id="310" presetID="22" presetClass="entr" presetSubtype="1" fill="hold" grpId="0" nodeType="afterEffect">
                                  <p:stCondLst>
                                    <p:cond delay="0"/>
                                  </p:stCondLst>
                                  <p:childTnLst>
                                    <p:set>
                                      <p:cBhvr>
                                        <p:cTn id="311" dur="1" fill="hold">
                                          <p:stCondLst>
                                            <p:cond delay="0"/>
                                          </p:stCondLst>
                                        </p:cTn>
                                        <p:tgtEl>
                                          <p:spTgt spid="696"/>
                                        </p:tgtEl>
                                        <p:attrNameLst>
                                          <p:attrName>style.visibility</p:attrName>
                                        </p:attrNameLst>
                                      </p:cBhvr>
                                      <p:to>
                                        <p:strVal val="visible"/>
                                      </p:to>
                                    </p:set>
                                    <p:animEffect transition="in" filter="wipe(up)">
                                      <p:cBhvr>
                                        <p:cTn id="312" dur="350"/>
                                        <p:tgtEl>
                                          <p:spTgt spid="696"/>
                                        </p:tgtEl>
                                      </p:cBhvr>
                                    </p:animEffect>
                                  </p:childTnLst>
                                </p:cTn>
                              </p:par>
                            </p:childTnLst>
                          </p:cTn>
                        </p:par>
                        <p:par>
                          <p:cTn id="313" fill="hold">
                            <p:stCondLst>
                              <p:cond delay="1850"/>
                            </p:stCondLst>
                            <p:childTnLst>
                              <p:par>
                                <p:cTn id="314" presetID="22" presetClass="entr" presetSubtype="1" fill="hold" grpId="0" nodeType="afterEffect">
                                  <p:stCondLst>
                                    <p:cond delay="0"/>
                                  </p:stCondLst>
                                  <p:childTnLst>
                                    <p:set>
                                      <p:cBhvr>
                                        <p:cTn id="315" dur="1" fill="hold">
                                          <p:stCondLst>
                                            <p:cond delay="0"/>
                                          </p:stCondLst>
                                        </p:cTn>
                                        <p:tgtEl>
                                          <p:spTgt spid="596"/>
                                        </p:tgtEl>
                                        <p:attrNameLst>
                                          <p:attrName>style.visibility</p:attrName>
                                        </p:attrNameLst>
                                      </p:cBhvr>
                                      <p:to>
                                        <p:strVal val="visible"/>
                                      </p:to>
                                    </p:set>
                                    <p:animEffect transition="in" filter="wipe(up)">
                                      <p:cBhvr>
                                        <p:cTn id="316" dur="350"/>
                                        <p:tgtEl>
                                          <p:spTgt spid="596"/>
                                        </p:tgtEl>
                                      </p:cBhvr>
                                    </p:animEffect>
                                  </p:childTnLst>
                                </p:cTn>
                              </p:par>
                            </p:childTnLst>
                          </p:cTn>
                        </p:par>
                        <p:par>
                          <p:cTn id="317" fill="hold">
                            <p:stCondLst>
                              <p:cond delay="2200"/>
                            </p:stCondLst>
                            <p:childTnLst>
                              <p:par>
                                <p:cTn id="318" presetID="22" presetClass="entr" presetSubtype="1" fill="hold" grpId="0" nodeType="afterEffect">
                                  <p:stCondLst>
                                    <p:cond delay="0"/>
                                  </p:stCondLst>
                                  <p:childTnLst>
                                    <p:set>
                                      <p:cBhvr>
                                        <p:cTn id="319" dur="1" fill="hold">
                                          <p:stCondLst>
                                            <p:cond delay="0"/>
                                          </p:stCondLst>
                                        </p:cTn>
                                        <p:tgtEl>
                                          <p:spTgt spid="693"/>
                                        </p:tgtEl>
                                        <p:attrNameLst>
                                          <p:attrName>style.visibility</p:attrName>
                                        </p:attrNameLst>
                                      </p:cBhvr>
                                      <p:to>
                                        <p:strVal val="visible"/>
                                      </p:to>
                                    </p:set>
                                    <p:animEffect transition="in" filter="wipe(up)">
                                      <p:cBhvr>
                                        <p:cTn id="320" dur="350"/>
                                        <p:tgtEl>
                                          <p:spTgt spid="693"/>
                                        </p:tgtEl>
                                      </p:cBhvr>
                                    </p:animEffect>
                                  </p:childTnLst>
                                </p:cTn>
                              </p:par>
                            </p:childTnLst>
                          </p:cTn>
                        </p:par>
                        <p:par>
                          <p:cTn id="321" fill="hold">
                            <p:stCondLst>
                              <p:cond delay="2550"/>
                            </p:stCondLst>
                            <p:childTnLst>
                              <p:par>
                                <p:cTn id="322" presetID="22" presetClass="entr" presetSubtype="1" fill="hold" grpId="0" nodeType="afterEffect">
                                  <p:stCondLst>
                                    <p:cond delay="0"/>
                                  </p:stCondLst>
                                  <p:childTnLst>
                                    <p:set>
                                      <p:cBhvr>
                                        <p:cTn id="323" dur="1" fill="hold">
                                          <p:stCondLst>
                                            <p:cond delay="0"/>
                                          </p:stCondLst>
                                        </p:cTn>
                                        <p:tgtEl>
                                          <p:spTgt spid="737"/>
                                        </p:tgtEl>
                                        <p:attrNameLst>
                                          <p:attrName>style.visibility</p:attrName>
                                        </p:attrNameLst>
                                      </p:cBhvr>
                                      <p:to>
                                        <p:strVal val="visible"/>
                                      </p:to>
                                    </p:set>
                                    <p:animEffect transition="in" filter="wipe(up)">
                                      <p:cBhvr>
                                        <p:cTn id="324" dur="350"/>
                                        <p:tgtEl>
                                          <p:spTgt spid="737"/>
                                        </p:tgtEl>
                                      </p:cBhvr>
                                    </p:animEffect>
                                  </p:childTnLst>
                                </p:cTn>
                              </p:par>
                            </p:childTnLst>
                          </p:cTn>
                        </p:par>
                        <p:par>
                          <p:cTn id="325" fill="hold">
                            <p:stCondLst>
                              <p:cond delay="2900"/>
                            </p:stCondLst>
                            <p:childTnLst>
                              <p:par>
                                <p:cTn id="326" presetID="22" presetClass="entr" presetSubtype="1" fill="hold" grpId="0" nodeType="afterEffect">
                                  <p:stCondLst>
                                    <p:cond delay="0"/>
                                  </p:stCondLst>
                                  <p:childTnLst>
                                    <p:set>
                                      <p:cBhvr>
                                        <p:cTn id="327" dur="1" fill="hold">
                                          <p:stCondLst>
                                            <p:cond delay="0"/>
                                          </p:stCondLst>
                                        </p:cTn>
                                        <p:tgtEl>
                                          <p:spTgt spid="743"/>
                                        </p:tgtEl>
                                        <p:attrNameLst>
                                          <p:attrName>style.visibility</p:attrName>
                                        </p:attrNameLst>
                                      </p:cBhvr>
                                      <p:to>
                                        <p:strVal val="visible"/>
                                      </p:to>
                                    </p:set>
                                    <p:animEffect transition="in" filter="wipe(up)">
                                      <p:cBhvr>
                                        <p:cTn id="328" dur="350"/>
                                        <p:tgtEl>
                                          <p:spTgt spid="743"/>
                                        </p:tgtEl>
                                      </p:cBhvr>
                                    </p:animEffect>
                                  </p:childTnLst>
                                </p:cTn>
                              </p:par>
                            </p:childTnLst>
                          </p:cTn>
                        </p:par>
                        <p:par>
                          <p:cTn id="329" fill="hold">
                            <p:stCondLst>
                              <p:cond delay="3250"/>
                            </p:stCondLst>
                            <p:childTnLst>
                              <p:par>
                                <p:cTn id="330" presetID="22" presetClass="entr" presetSubtype="1" fill="hold" grpId="0" nodeType="afterEffect">
                                  <p:stCondLst>
                                    <p:cond delay="0"/>
                                  </p:stCondLst>
                                  <p:childTnLst>
                                    <p:set>
                                      <p:cBhvr>
                                        <p:cTn id="331" dur="1" fill="hold">
                                          <p:stCondLst>
                                            <p:cond delay="0"/>
                                          </p:stCondLst>
                                        </p:cTn>
                                        <p:tgtEl>
                                          <p:spTgt spid="48"/>
                                        </p:tgtEl>
                                        <p:attrNameLst>
                                          <p:attrName>style.visibility</p:attrName>
                                        </p:attrNameLst>
                                      </p:cBhvr>
                                      <p:to>
                                        <p:strVal val="visible"/>
                                      </p:to>
                                    </p:set>
                                    <p:animEffect transition="in" filter="wipe(up)">
                                      <p:cBhvr>
                                        <p:cTn id="332" dur="350"/>
                                        <p:tgtEl>
                                          <p:spTgt spid="48"/>
                                        </p:tgtEl>
                                      </p:cBhvr>
                                    </p:animEffect>
                                  </p:childTnLst>
                                </p:cTn>
                              </p:par>
                            </p:childTnLst>
                          </p:cTn>
                        </p:par>
                        <p:par>
                          <p:cTn id="333" fill="hold">
                            <p:stCondLst>
                              <p:cond delay="3600"/>
                            </p:stCondLst>
                            <p:childTnLst>
                              <p:par>
                                <p:cTn id="334" presetID="22" presetClass="entr" presetSubtype="1" fill="hold" grpId="0" nodeType="afterEffect">
                                  <p:stCondLst>
                                    <p:cond delay="0"/>
                                  </p:stCondLst>
                                  <p:childTnLst>
                                    <p:set>
                                      <p:cBhvr>
                                        <p:cTn id="335" dur="1" fill="hold">
                                          <p:stCondLst>
                                            <p:cond delay="0"/>
                                          </p:stCondLst>
                                        </p:cTn>
                                        <p:tgtEl>
                                          <p:spTgt spid="753"/>
                                        </p:tgtEl>
                                        <p:attrNameLst>
                                          <p:attrName>style.visibility</p:attrName>
                                        </p:attrNameLst>
                                      </p:cBhvr>
                                      <p:to>
                                        <p:strVal val="visible"/>
                                      </p:to>
                                    </p:set>
                                    <p:animEffect transition="in" filter="wipe(up)">
                                      <p:cBhvr>
                                        <p:cTn id="336" dur="350"/>
                                        <p:tgtEl>
                                          <p:spTgt spid="753"/>
                                        </p:tgtEl>
                                      </p:cBhvr>
                                    </p:animEffect>
                                  </p:childTnLst>
                                </p:cTn>
                              </p:par>
                            </p:childTnLst>
                          </p:cTn>
                        </p:par>
                        <p:par>
                          <p:cTn id="337" fill="hold">
                            <p:stCondLst>
                              <p:cond delay="3950"/>
                            </p:stCondLst>
                            <p:childTnLst>
                              <p:par>
                                <p:cTn id="338" presetID="22" presetClass="entr" presetSubtype="1" fill="hold" grpId="0" nodeType="afterEffect">
                                  <p:stCondLst>
                                    <p:cond delay="0"/>
                                  </p:stCondLst>
                                  <p:childTnLst>
                                    <p:set>
                                      <p:cBhvr>
                                        <p:cTn id="339" dur="1" fill="hold">
                                          <p:stCondLst>
                                            <p:cond delay="0"/>
                                          </p:stCondLst>
                                        </p:cTn>
                                        <p:tgtEl>
                                          <p:spTgt spid="745"/>
                                        </p:tgtEl>
                                        <p:attrNameLst>
                                          <p:attrName>style.visibility</p:attrName>
                                        </p:attrNameLst>
                                      </p:cBhvr>
                                      <p:to>
                                        <p:strVal val="visible"/>
                                      </p:to>
                                    </p:set>
                                    <p:animEffect transition="in" filter="wipe(up)">
                                      <p:cBhvr>
                                        <p:cTn id="340" dur="350"/>
                                        <p:tgtEl>
                                          <p:spTgt spid="745"/>
                                        </p:tgtEl>
                                      </p:cBhvr>
                                    </p:animEffect>
                                  </p:childTnLst>
                                </p:cTn>
                              </p:par>
                            </p:childTnLst>
                          </p:cTn>
                        </p:par>
                        <p:par>
                          <p:cTn id="341" fill="hold">
                            <p:stCondLst>
                              <p:cond delay="4300"/>
                            </p:stCondLst>
                            <p:childTnLst>
                              <p:par>
                                <p:cTn id="342" presetID="4" presetClass="entr" presetSubtype="32" fill="hold" nodeType="afterEffect">
                                  <p:stCondLst>
                                    <p:cond delay="0"/>
                                  </p:stCondLst>
                                  <p:childTnLst>
                                    <p:set>
                                      <p:cBhvr>
                                        <p:cTn id="343" dur="1" fill="hold">
                                          <p:stCondLst>
                                            <p:cond delay="0"/>
                                          </p:stCondLst>
                                        </p:cTn>
                                        <p:tgtEl>
                                          <p:spTgt spid="138"/>
                                        </p:tgtEl>
                                        <p:attrNameLst>
                                          <p:attrName>style.visibility</p:attrName>
                                        </p:attrNameLst>
                                      </p:cBhvr>
                                      <p:to>
                                        <p:strVal val="visible"/>
                                      </p:to>
                                    </p:set>
                                    <p:animEffect transition="in" filter="box(out)">
                                      <p:cBhvr>
                                        <p:cTn id="344" dur="750"/>
                                        <p:tgtEl>
                                          <p:spTgt spid="138"/>
                                        </p:tgtEl>
                                      </p:cBhvr>
                                    </p:animEffect>
                                  </p:childTnLst>
                                </p:cTn>
                              </p:par>
                            </p:childTnLst>
                          </p:cTn>
                        </p:par>
                        <p:par>
                          <p:cTn id="345" fill="hold">
                            <p:stCondLst>
                              <p:cond delay="5050"/>
                            </p:stCondLst>
                            <p:childTnLst>
                              <p:par>
                                <p:cTn id="346" presetID="22" presetClass="entr" presetSubtype="4" fill="hold" nodeType="afterEffect">
                                  <p:stCondLst>
                                    <p:cond delay="0"/>
                                  </p:stCondLst>
                                  <p:childTnLst>
                                    <p:set>
                                      <p:cBhvr>
                                        <p:cTn id="347" dur="1" fill="hold">
                                          <p:stCondLst>
                                            <p:cond delay="0"/>
                                          </p:stCondLst>
                                        </p:cTn>
                                        <p:tgtEl>
                                          <p:spTgt spid="42"/>
                                        </p:tgtEl>
                                        <p:attrNameLst>
                                          <p:attrName>style.visibility</p:attrName>
                                        </p:attrNameLst>
                                      </p:cBhvr>
                                      <p:to>
                                        <p:strVal val="visible"/>
                                      </p:to>
                                    </p:set>
                                    <p:animEffect transition="in" filter="wipe(down)">
                                      <p:cBhvr>
                                        <p:cTn id="348" dur="500"/>
                                        <p:tgtEl>
                                          <p:spTgt spid="42"/>
                                        </p:tgtEl>
                                      </p:cBhvr>
                                    </p:animEffect>
                                  </p:childTnLst>
                                </p:cTn>
                              </p:par>
                              <p:par>
                                <p:cTn id="349" presetID="22" presetClass="entr" presetSubtype="8" fill="hold" nodeType="withEffect">
                                  <p:stCondLst>
                                    <p:cond delay="250"/>
                                  </p:stCondLst>
                                  <p:childTnLst>
                                    <p:set>
                                      <p:cBhvr>
                                        <p:cTn id="350" dur="1" fill="hold">
                                          <p:stCondLst>
                                            <p:cond delay="0"/>
                                          </p:stCondLst>
                                        </p:cTn>
                                        <p:tgtEl>
                                          <p:spTgt spid="95"/>
                                        </p:tgtEl>
                                        <p:attrNameLst>
                                          <p:attrName>style.visibility</p:attrName>
                                        </p:attrNameLst>
                                      </p:cBhvr>
                                      <p:to>
                                        <p:strVal val="visible"/>
                                      </p:to>
                                    </p:set>
                                    <p:animEffect transition="in" filter="wipe(left)">
                                      <p:cBhvr>
                                        <p:cTn id="351" dur="500"/>
                                        <p:tgtEl>
                                          <p:spTgt spid="95"/>
                                        </p:tgtEl>
                                      </p:cBhvr>
                                    </p:animEffect>
                                  </p:childTnLst>
                                </p:cTn>
                              </p:par>
                            </p:childTnLst>
                          </p:cTn>
                        </p:par>
                      </p:childTnLst>
                    </p:cTn>
                  </p:par>
                  <p:par>
                    <p:cTn id="352" fill="hold">
                      <p:stCondLst>
                        <p:cond delay="indefinite"/>
                      </p:stCondLst>
                      <p:childTnLst>
                        <p:par>
                          <p:cTn id="353" fill="hold">
                            <p:stCondLst>
                              <p:cond delay="0"/>
                            </p:stCondLst>
                            <p:childTnLst>
                              <p:par>
                                <p:cTn id="354" presetID="10" presetClass="entr" presetSubtype="0" fill="hold" grpId="0" nodeType="clickEffect">
                                  <p:stCondLst>
                                    <p:cond delay="0"/>
                                  </p:stCondLst>
                                  <p:childTnLst>
                                    <p:set>
                                      <p:cBhvr>
                                        <p:cTn id="355" dur="1" fill="hold">
                                          <p:stCondLst>
                                            <p:cond delay="0"/>
                                          </p:stCondLst>
                                        </p:cTn>
                                        <p:tgtEl>
                                          <p:spTgt spid="40"/>
                                        </p:tgtEl>
                                        <p:attrNameLst>
                                          <p:attrName>style.visibility</p:attrName>
                                        </p:attrNameLst>
                                      </p:cBhvr>
                                      <p:to>
                                        <p:strVal val="visible"/>
                                      </p:to>
                                    </p:set>
                                    <p:animEffect transition="in" filter="fade">
                                      <p:cBhvr>
                                        <p:cTn id="356" dur="400"/>
                                        <p:tgtEl>
                                          <p:spTgt spid="40"/>
                                        </p:tgtEl>
                                      </p:cBhvr>
                                    </p:animEffect>
                                  </p:childTnLst>
                                </p:cTn>
                              </p:par>
                            </p:childTnLst>
                          </p:cTn>
                        </p:par>
                        <p:par>
                          <p:cTn id="357" fill="hold">
                            <p:stCondLst>
                              <p:cond delay="400"/>
                            </p:stCondLst>
                            <p:childTnLst>
                              <p:par>
                                <p:cTn id="358" presetID="42" presetClass="entr" presetSubtype="0" fill="hold" nodeType="afterEffect">
                                  <p:stCondLst>
                                    <p:cond delay="0"/>
                                  </p:stCondLst>
                                  <p:childTnLst>
                                    <p:set>
                                      <p:cBhvr>
                                        <p:cTn id="359" dur="1" fill="hold">
                                          <p:stCondLst>
                                            <p:cond delay="0"/>
                                          </p:stCondLst>
                                        </p:cTn>
                                        <p:tgtEl>
                                          <p:spTgt spid="220"/>
                                        </p:tgtEl>
                                        <p:attrNameLst>
                                          <p:attrName>style.visibility</p:attrName>
                                        </p:attrNameLst>
                                      </p:cBhvr>
                                      <p:to>
                                        <p:strVal val="visible"/>
                                      </p:to>
                                    </p:set>
                                    <p:animEffect transition="in" filter="fade">
                                      <p:cBhvr>
                                        <p:cTn id="360" dur="500"/>
                                        <p:tgtEl>
                                          <p:spTgt spid="220"/>
                                        </p:tgtEl>
                                      </p:cBhvr>
                                    </p:animEffect>
                                    <p:anim calcmode="lin" valueType="num">
                                      <p:cBhvr>
                                        <p:cTn id="361" dur="500" fill="hold"/>
                                        <p:tgtEl>
                                          <p:spTgt spid="220"/>
                                        </p:tgtEl>
                                        <p:attrNameLst>
                                          <p:attrName>ppt_x</p:attrName>
                                        </p:attrNameLst>
                                      </p:cBhvr>
                                      <p:tavLst>
                                        <p:tav tm="0">
                                          <p:val>
                                            <p:strVal val="#ppt_x"/>
                                          </p:val>
                                        </p:tav>
                                        <p:tav tm="100000">
                                          <p:val>
                                            <p:strVal val="#ppt_x"/>
                                          </p:val>
                                        </p:tav>
                                      </p:tavLst>
                                    </p:anim>
                                    <p:anim calcmode="lin" valueType="num">
                                      <p:cBhvr>
                                        <p:cTn id="362" dur="500" fill="hold"/>
                                        <p:tgtEl>
                                          <p:spTgt spid="220"/>
                                        </p:tgtEl>
                                        <p:attrNameLst>
                                          <p:attrName>ppt_y</p:attrName>
                                        </p:attrNameLst>
                                      </p:cBhvr>
                                      <p:tavLst>
                                        <p:tav tm="0">
                                          <p:val>
                                            <p:strVal val="#ppt_y+.1"/>
                                          </p:val>
                                        </p:tav>
                                        <p:tav tm="100000">
                                          <p:val>
                                            <p:strVal val="#ppt_y"/>
                                          </p:val>
                                        </p:tav>
                                      </p:tavLst>
                                    </p:anim>
                                  </p:childTnLst>
                                </p:cTn>
                              </p:par>
                              <p:par>
                                <p:cTn id="363" presetID="10" presetClass="entr" presetSubtype="0" fill="hold" nodeType="withEffect">
                                  <p:stCondLst>
                                    <p:cond delay="450"/>
                                  </p:stCondLst>
                                  <p:childTnLst>
                                    <p:set>
                                      <p:cBhvr>
                                        <p:cTn id="364" dur="1" fill="hold">
                                          <p:stCondLst>
                                            <p:cond delay="0"/>
                                          </p:stCondLst>
                                        </p:cTn>
                                        <p:tgtEl>
                                          <p:spTgt spid="162"/>
                                        </p:tgtEl>
                                        <p:attrNameLst>
                                          <p:attrName>style.visibility</p:attrName>
                                        </p:attrNameLst>
                                      </p:cBhvr>
                                      <p:to>
                                        <p:strVal val="visible"/>
                                      </p:to>
                                    </p:set>
                                    <p:animEffect transition="in" filter="fade">
                                      <p:cBhvr>
                                        <p:cTn id="365" dur="350"/>
                                        <p:tgtEl>
                                          <p:spTgt spid="162"/>
                                        </p:tgtEl>
                                      </p:cBhvr>
                                    </p:animEffect>
                                  </p:childTnLst>
                                </p:cTn>
                              </p:par>
                            </p:childTnLst>
                          </p:cTn>
                        </p:par>
                      </p:childTnLst>
                    </p:cTn>
                  </p:par>
                  <p:par>
                    <p:cTn id="366" fill="hold">
                      <p:stCondLst>
                        <p:cond delay="indefinite"/>
                      </p:stCondLst>
                      <p:childTnLst>
                        <p:par>
                          <p:cTn id="367" fill="hold">
                            <p:stCondLst>
                              <p:cond delay="0"/>
                            </p:stCondLst>
                            <p:childTnLst>
                              <p:par>
                                <p:cTn id="368" presetID="22" presetClass="entr" presetSubtype="8" fill="hold" grpId="0" nodeType="clickEffect">
                                  <p:stCondLst>
                                    <p:cond delay="0"/>
                                  </p:stCondLst>
                                  <p:childTnLst>
                                    <p:set>
                                      <p:cBhvr>
                                        <p:cTn id="369" dur="1" fill="hold">
                                          <p:stCondLst>
                                            <p:cond delay="0"/>
                                          </p:stCondLst>
                                        </p:cTn>
                                        <p:tgtEl>
                                          <p:spTgt spid="415"/>
                                        </p:tgtEl>
                                        <p:attrNameLst>
                                          <p:attrName>style.visibility</p:attrName>
                                        </p:attrNameLst>
                                      </p:cBhvr>
                                      <p:to>
                                        <p:strVal val="visible"/>
                                      </p:to>
                                    </p:set>
                                    <p:animEffect transition="in" filter="wipe(left)">
                                      <p:cBhvr>
                                        <p:cTn id="370" dur="750"/>
                                        <p:tgtEl>
                                          <p:spTgt spid="415"/>
                                        </p:tgtEl>
                                      </p:cBhvr>
                                    </p:animEffect>
                                  </p:childTnLst>
                                </p:cTn>
                              </p:par>
                              <p:par>
                                <p:cTn id="371" presetID="22" presetClass="entr" presetSubtype="1" fill="hold" nodeType="withEffect">
                                  <p:stCondLst>
                                    <p:cond delay="250"/>
                                  </p:stCondLst>
                                  <p:childTnLst>
                                    <p:set>
                                      <p:cBhvr>
                                        <p:cTn id="372" dur="1" fill="hold">
                                          <p:stCondLst>
                                            <p:cond delay="0"/>
                                          </p:stCondLst>
                                        </p:cTn>
                                        <p:tgtEl>
                                          <p:spTgt spid="561"/>
                                        </p:tgtEl>
                                        <p:attrNameLst>
                                          <p:attrName>style.visibility</p:attrName>
                                        </p:attrNameLst>
                                      </p:cBhvr>
                                      <p:to>
                                        <p:strVal val="visible"/>
                                      </p:to>
                                    </p:set>
                                    <p:animEffect transition="in" filter="wipe(up)">
                                      <p:cBhvr>
                                        <p:cTn id="373" dur="500"/>
                                        <p:tgtEl>
                                          <p:spTgt spid="561"/>
                                        </p:tgtEl>
                                      </p:cBhvr>
                                    </p:animEffect>
                                  </p:childTnLst>
                                </p:cTn>
                              </p:par>
                              <p:par>
                                <p:cTn id="374" presetID="10" presetClass="entr" presetSubtype="0" fill="hold" nodeType="withEffect">
                                  <p:stCondLst>
                                    <p:cond delay="0"/>
                                  </p:stCondLst>
                                  <p:childTnLst>
                                    <p:set>
                                      <p:cBhvr>
                                        <p:cTn id="375" dur="1" fill="hold">
                                          <p:stCondLst>
                                            <p:cond delay="0"/>
                                          </p:stCondLst>
                                        </p:cTn>
                                        <p:tgtEl>
                                          <p:spTgt spid="581"/>
                                        </p:tgtEl>
                                        <p:attrNameLst>
                                          <p:attrName>style.visibility</p:attrName>
                                        </p:attrNameLst>
                                      </p:cBhvr>
                                      <p:to>
                                        <p:strVal val="visible"/>
                                      </p:to>
                                    </p:set>
                                    <p:animEffect transition="in" filter="fade">
                                      <p:cBhvr>
                                        <p:cTn id="376" dur="500"/>
                                        <p:tgtEl>
                                          <p:spTgt spid="581"/>
                                        </p:tgtEl>
                                      </p:cBhvr>
                                    </p:animEffect>
                                  </p:childTnLst>
                                </p:cTn>
                              </p:par>
                              <p:par>
                                <p:cTn id="377" presetID="53" presetClass="entr" presetSubtype="16" fill="hold" nodeType="withEffect">
                                  <p:stCondLst>
                                    <p:cond delay="0"/>
                                  </p:stCondLst>
                                  <p:childTnLst>
                                    <p:set>
                                      <p:cBhvr>
                                        <p:cTn id="378" dur="1" fill="hold">
                                          <p:stCondLst>
                                            <p:cond delay="0"/>
                                          </p:stCondLst>
                                        </p:cTn>
                                        <p:tgtEl>
                                          <p:spTgt spid="94"/>
                                        </p:tgtEl>
                                        <p:attrNameLst>
                                          <p:attrName>style.visibility</p:attrName>
                                        </p:attrNameLst>
                                      </p:cBhvr>
                                      <p:to>
                                        <p:strVal val="visible"/>
                                      </p:to>
                                    </p:set>
                                    <p:anim calcmode="lin" valueType="num">
                                      <p:cBhvr>
                                        <p:cTn id="379" dur="500" fill="hold"/>
                                        <p:tgtEl>
                                          <p:spTgt spid="94"/>
                                        </p:tgtEl>
                                        <p:attrNameLst>
                                          <p:attrName>ppt_w</p:attrName>
                                        </p:attrNameLst>
                                      </p:cBhvr>
                                      <p:tavLst>
                                        <p:tav tm="0">
                                          <p:val>
                                            <p:fltVal val="0"/>
                                          </p:val>
                                        </p:tav>
                                        <p:tav tm="100000">
                                          <p:val>
                                            <p:strVal val="#ppt_w"/>
                                          </p:val>
                                        </p:tav>
                                      </p:tavLst>
                                    </p:anim>
                                    <p:anim calcmode="lin" valueType="num">
                                      <p:cBhvr>
                                        <p:cTn id="380" dur="500" fill="hold"/>
                                        <p:tgtEl>
                                          <p:spTgt spid="94"/>
                                        </p:tgtEl>
                                        <p:attrNameLst>
                                          <p:attrName>ppt_h</p:attrName>
                                        </p:attrNameLst>
                                      </p:cBhvr>
                                      <p:tavLst>
                                        <p:tav tm="0">
                                          <p:val>
                                            <p:fltVal val="0"/>
                                          </p:val>
                                        </p:tav>
                                        <p:tav tm="100000">
                                          <p:val>
                                            <p:strVal val="#ppt_h"/>
                                          </p:val>
                                        </p:tav>
                                      </p:tavLst>
                                    </p:anim>
                                    <p:animEffect transition="in" filter="fade">
                                      <p:cBhvr>
                                        <p:cTn id="381" dur="500"/>
                                        <p:tgtEl>
                                          <p:spTgt spid="94"/>
                                        </p:tgtEl>
                                      </p:cBhvr>
                                    </p:animEffect>
                                  </p:childTnLst>
                                </p:cTn>
                              </p:par>
                              <p:par>
                                <p:cTn id="382" presetID="53" presetClass="entr" presetSubtype="16" fill="hold" nodeType="withEffect">
                                  <p:stCondLst>
                                    <p:cond delay="0"/>
                                  </p:stCondLst>
                                  <p:childTnLst>
                                    <p:set>
                                      <p:cBhvr>
                                        <p:cTn id="383" dur="1" fill="hold">
                                          <p:stCondLst>
                                            <p:cond delay="0"/>
                                          </p:stCondLst>
                                        </p:cTn>
                                        <p:tgtEl>
                                          <p:spTgt spid="216"/>
                                        </p:tgtEl>
                                        <p:attrNameLst>
                                          <p:attrName>style.visibility</p:attrName>
                                        </p:attrNameLst>
                                      </p:cBhvr>
                                      <p:to>
                                        <p:strVal val="visible"/>
                                      </p:to>
                                    </p:set>
                                    <p:anim calcmode="lin" valueType="num">
                                      <p:cBhvr>
                                        <p:cTn id="384" dur="500" fill="hold"/>
                                        <p:tgtEl>
                                          <p:spTgt spid="216"/>
                                        </p:tgtEl>
                                        <p:attrNameLst>
                                          <p:attrName>ppt_w</p:attrName>
                                        </p:attrNameLst>
                                      </p:cBhvr>
                                      <p:tavLst>
                                        <p:tav tm="0">
                                          <p:val>
                                            <p:fltVal val="0"/>
                                          </p:val>
                                        </p:tav>
                                        <p:tav tm="100000">
                                          <p:val>
                                            <p:strVal val="#ppt_w"/>
                                          </p:val>
                                        </p:tav>
                                      </p:tavLst>
                                    </p:anim>
                                    <p:anim calcmode="lin" valueType="num">
                                      <p:cBhvr>
                                        <p:cTn id="385" dur="500" fill="hold"/>
                                        <p:tgtEl>
                                          <p:spTgt spid="216"/>
                                        </p:tgtEl>
                                        <p:attrNameLst>
                                          <p:attrName>ppt_h</p:attrName>
                                        </p:attrNameLst>
                                      </p:cBhvr>
                                      <p:tavLst>
                                        <p:tav tm="0">
                                          <p:val>
                                            <p:fltVal val="0"/>
                                          </p:val>
                                        </p:tav>
                                        <p:tav tm="100000">
                                          <p:val>
                                            <p:strVal val="#ppt_h"/>
                                          </p:val>
                                        </p:tav>
                                      </p:tavLst>
                                    </p:anim>
                                    <p:animEffect transition="in" filter="fade">
                                      <p:cBhvr>
                                        <p:cTn id="386" dur="500"/>
                                        <p:tgtEl>
                                          <p:spTgt spid="216"/>
                                        </p:tgtEl>
                                      </p:cBhvr>
                                    </p:animEffect>
                                  </p:childTnLst>
                                </p:cTn>
                              </p:par>
                            </p:childTnLst>
                          </p:cTn>
                        </p:par>
                        <p:par>
                          <p:cTn id="387" fill="hold">
                            <p:stCondLst>
                              <p:cond delay="750"/>
                            </p:stCondLst>
                            <p:childTnLst>
                              <p:par>
                                <p:cTn id="388" presetID="10" presetClass="entr" presetSubtype="0" fill="hold" grpId="0" nodeType="afterEffect">
                                  <p:stCondLst>
                                    <p:cond delay="0"/>
                                  </p:stCondLst>
                                  <p:childTnLst>
                                    <p:set>
                                      <p:cBhvr>
                                        <p:cTn id="389" dur="1" fill="hold">
                                          <p:stCondLst>
                                            <p:cond delay="0"/>
                                          </p:stCondLst>
                                        </p:cTn>
                                        <p:tgtEl>
                                          <p:spTgt spid="64"/>
                                        </p:tgtEl>
                                        <p:attrNameLst>
                                          <p:attrName>style.visibility</p:attrName>
                                        </p:attrNameLst>
                                      </p:cBhvr>
                                      <p:to>
                                        <p:strVal val="visible"/>
                                      </p:to>
                                    </p:set>
                                    <p:animEffect transition="in" filter="fade">
                                      <p:cBhvr>
                                        <p:cTn id="390" dur="500"/>
                                        <p:tgtEl>
                                          <p:spTgt spid="64"/>
                                        </p:tgtEl>
                                      </p:cBhvr>
                                    </p:animEffect>
                                  </p:childTnLst>
                                </p:cTn>
                              </p:par>
                            </p:childTnLst>
                          </p:cTn>
                        </p:par>
                        <p:par>
                          <p:cTn id="391" fill="hold">
                            <p:stCondLst>
                              <p:cond delay="1250"/>
                            </p:stCondLst>
                            <p:childTnLst>
                              <p:par>
                                <p:cTn id="392" presetID="22" presetClass="entr" presetSubtype="4" fill="hold" nodeType="afterEffect">
                                  <p:stCondLst>
                                    <p:cond delay="0"/>
                                  </p:stCondLst>
                                  <p:childTnLst>
                                    <p:set>
                                      <p:cBhvr>
                                        <p:cTn id="393" dur="1" fill="hold">
                                          <p:stCondLst>
                                            <p:cond delay="0"/>
                                          </p:stCondLst>
                                        </p:cTn>
                                        <p:tgtEl>
                                          <p:spTgt spid="65"/>
                                        </p:tgtEl>
                                        <p:attrNameLst>
                                          <p:attrName>style.visibility</p:attrName>
                                        </p:attrNameLst>
                                      </p:cBhvr>
                                      <p:to>
                                        <p:strVal val="visible"/>
                                      </p:to>
                                    </p:set>
                                    <p:animEffect transition="in" filter="wipe(down)">
                                      <p:cBhvr>
                                        <p:cTn id="394" dur="500"/>
                                        <p:tgtEl>
                                          <p:spTgt spid="65"/>
                                        </p:tgtEl>
                                      </p:cBhvr>
                                    </p:animEffect>
                                  </p:childTnLst>
                                </p:cTn>
                              </p:par>
                            </p:childTnLst>
                          </p:cTn>
                        </p:par>
                      </p:childTnLst>
                    </p:cTn>
                  </p:par>
                  <p:par>
                    <p:cTn id="395" fill="hold">
                      <p:stCondLst>
                        <p:cond delay="indefinite"/>
                      </p:stCondLst>
                      <p:childTnLst>
                        <p:par>
                          <p:cTn id="396" fill="hold">
                            <p:stCondLst>
                              <p:cond delay="0"/>
                            </p:stCondLst>
                            <p:childTnLst>
                              <p:par>
                                <p:cTn id="397" presetID="10" presetClass="entr" presetSubtype="0" fill="hold" grpId="0" nodeType="clickEffect">
                                  <p:stCondLst>
                                    <p:cond delay="0"/>
                                  </p:stCondLst>
                                  <p:childTnLst>
                                    <p:set>
                                      <p:cBhvr>
                                        <p:cTn id="398" dur="1" fill="hold">
                                          <p:stCondLst>
                                            <p:cond delay="0"/>
                                          </p:stCondLst>
                                        </p:cTn>
                                        <p:tgtEl>
                                          <p:spTgt spid="420"/>
                                        </p:tgtEl>
                                        <p:attrNameLst>
                                          <p:attrName>style.visibility</p:attrName>
                                        </p:attrNameLst>
                                      </p:cBhvr>
                                      <p:to>
                                        <p:strVal val="visible"/>
                                      </p:to>
                                    </p:set>
                                    <p:animEffect transition="in" filter="fade">
                                      <p:cBhvr>
                                        <p:cTn id="399" dur="500"/>
                                        <p:tgtEl>
                                          <p:spTgt spid="420"/>
                                        </p:tgtEl>
                                      </p:cBhvr>
                                    </p:animEffect>
                                  </p:childTnLst>
                                </p:cTn>
                              </p:par>
                              <p:par>
                                <p:cTn id="400" presetID="10" presetClass="entr" presetSubtype="0" fill="hold" grpId="0" nodeType="withEffect">
                                  <p:stCondLst>
                                    <p:cond delay="0"/>
                                  </p:stCondLst>
                                  <p:childTnLst>
                                    <p:set>
                                      <p:cBhvr>
                                        <p:cTn id="401" dur="1" fill="hold">
                                          <p:stCondLst>
                                            <p:cond delay="0"/>
                                          </p:stCondLst>
                                        </p:cTn>
                                        <p:tgtEl>
                                          <p:spTgt spid="419"/>
                                        </p:tgtEl>
                                        <p:attrNameLst>
                                          <p:attrName>style.visibility</p:attrName>
                                        </p:attrNameLst>
                                      </p:cBhvr>
                                      <p:to>
                                        <p:strVal val="visible"/>
                                      </p:to>
                                    </p:set>
                                    <p:animEffect transition="in" filter="fade">
                                      <p:cBhvr>
                                        <p:cTn id="402" dur="500"/>
                                        <p:tgtEl>
                                          <p:spTgt spid="419"/>
                                        </p:tgtEl>
                                      </p:cBhvr>
                                    </p:animEffect>
                                  </p:childTnLst>
                                </p:cTn>
                              </p:par>
                            </p:childTnLst>
                          </p:cTn>
                        </p:par>
                        <p:par>
                          <p:cTn id="403" fill="hold">
                            <p:stCondLst>
                              <p:cond delay="500"/>
                            </p:stCondLst>
                            <p:childTnLst>
                              <p:par>
                                <p:cTn id="404" presetID="22" presetClass="entr" presetSubtype="1" fill="hold" nodeType="afterEffect">
                                  <p:stCondLst>
                                    <p:cond delay="0"/>
                                  </p:stCondLst>
                                  <p:childTnLst>
                                    <p:set>
                                      <p:cBhvr>
                                        <p:cTn id="405" dur="1" fill="hold">
                                          <p:stCondLst>
                                            <p:cond delay="0"/>
                                          </p:stCondLst>
                                        </p:cTn>
                                        <p:tgtEl>
                                          <p:spTgt spid="156"/>
                                        </p:tgtEl>
                                        <p:attrNameLst>
                                          <p:attrName>style.visibility</p:attrName>
                                        </p:attrNameLst>
                                      </p:cBhvr>
                                      <p:to>
                                        <p:strVal val="visible"/>
                                      </p:to>
                                    </p:set>
                                    <p:animEffect transition="in" filter="wipe(up)">
                                      <p:cBhvr>
                                        <p:cTn id="406" dur="500"/>
                                        <p:tgtEl>
                                          <p:spTgt spid="156"/>
                                        </p:tgtEl>
                                      </p:cBhvr>
                                    </p:animEffect>
                                  </p:childTnLst>
                                </p:cTn>
                              </p:par>
                            </p:childTnLst>
                          </p:cTn>
                        </p:par>
                        <p:par>
                          <p:cTn id="407" fill="hold">
                            <p:stCondLst>
                              <p:cond delay="1000"/>
                            </p:stCondLst>
                            <p:childTnLst>
                              <p:par>
                                <p:cTn id="408" presetID="21" presetClass="entr" presetSubtype="1" fill="hold" nodeType="afterEffect">
                                  <p:stCondLst>
                                    <p:cond delay="0"/>
                                  </p:stCondLst>
                                  <p:childTnLst>
                                    <p:set>
                                      <p:cBhvr>
                                        <p:cTn id="409" dur="1" fill="hold">
                                          <p:stCondLst>
                                            <p:cond delay="0"/>
                                          </p:stCondLst>
                                        </p:cTn>
                                        <p:tgtEl>
                                          <p:spTgt spid="697"/>
                                        </p:tgtEl>
                                        <p:attrNameLst>
                                          <p:attrName>style.visibility</p:attrName>
                                        </p:attrNameLst>
                                      </p:cBhvr>
                                      <p:to>
                                        <p:strVal val="visible"/>
                                      </p:to>
                                    </p:set>
                                    <p:animEffect transition="in" filter="wheel(1)">
                                      <p:cBhvr>
                                        <p:cTn id="410" dur="500"/>
                                        <p:tgtEl>
                                          <p:spTgt spid="697"/>
                                        </p:tgtEl>
                                      </p:cBhvr>
                                    </p:animEffect>
                                  </p:childTnLst>
                                </p:cTn>
                              </p:par>
                              <p:par>
                                <p:cTn id="411" presetID="10" presetClass="entr" presetSubtype="0" fill="hold" nodeType="withEffect">
                                  <p:stCondLst>
                                    <p:cond delay="0"/>
                                  </p:stCondLst>
                                  <p:childTnLst>
                                    <p:set>
                                      <p:cBhvr>
                                        <p:cTn id="412" dur="1" fill="hold">
                                          <p:stCondLst>
                                            <p:cond delay="0"/>
                                          </p:stCondLst>
                                        </p:cTn>
                                        <p:tgtEl>
                                          <p:spTgt spid="733"/>
                                        </p:tgtEl>
                                        <p:attrNameLst>
                                          <p:attrName>style.visibility</p:attrName>
                                        </p:attrNameLst>
                                      </p:cBhvr>
                                      <p:to>
                                        <p:strVal val="visible"/>
                                      </p:to>
                                    </p:set>
                                    <p:animEffect transition="in" filter="fade">
                                      <p:cBhvr>
                                        <p:cTn id="413" dur="300"/>
                                        <p:tgtEl>
                                          <p:spTgt spid="733"/>
                                        </p:tgtEl>
                                      </p:cBhvr>
                                    </p:animEffect>
                                  </p:childTnLst>
                                </p:cTn>
                              </p:par>
                              <p:par>
                                <p:cTn id="414" presetID="10" presetClass="entr" presetSubtype="0" fill="hold" nodeType="withEffect">
                                  <p:stCondLst>
                                    <p:cond delay="0"/>
                                  </p:stCondLst>
                                  <p:childTnLst>
                                    <p:set>
                                      <p:cBhvr>
                                        <p:cTn id="415" dur="1" fill="hold">
                                          <p:stCondLst>
                                            <p:cond delay="0"/>
                                          </p:stCondLst>
                                        </p:cTn>
                                        <p:tgtEl>
                                          <p:spTgt spid="505"/>
                                        </p:tgtEl>
                                        <p:attrNameLst>
                                          <p:attrName>style.visibility</p:attrName>
                                        </p:attrNameLst>
                                      </p:cBhvr>
                                      <p:to>
                                        <p:strVal val="visible"/>
                                      </p:to>
                                    </p:set>
                                    <p:animEffect transition="in" filter="fade">
                                      <p:cBhvr>
                                        <p:cTn id="416" dur="500"/>
                                        <p:tgtEl>
                                          <p:spTgt spid="505"/>
                                        </p:tgtEl>
                                      </p:cBhvr>
                                    </p:animEffect>
                                  </p:childTnLst>
                                </p:cTn>
                              </p:par>
                            </p:childTnLst>
                          </p:cTn>
                        </p:par>
                        <p:par>
                          <p:cTn id="417" fill="hold">
                            <p:stCondLst>
                              <p:cond delay="1500"/>
                            </p:stCondLst>
                            <p:childTnLst>
                              <p:par>
                                <p:cTn id="418" presetID="10" presetClass="entr" presetSubtype="0" fill="hold" grpId="0" nodeType="afterEffect">
                                  <p:stCondLst>
                                    <p:cond delay="0"/>
                                  </p:stCondLst>
                                  <p:childTnLst>
                                    <p:set>
                                      <p:cBhvr>
                                        <p:cTn id="419" dur="1" fill="hold">
                                          <p:stCondLst>
                                            <p:cond delay="0"/>
                                          </p:stCondLst>
                                        </p:cTn>
                                        <p:tgtEl>
                                          <p:spTgt spid="590"/>
                                        </p:tgtEl>
                                        <p:attrNameLst>
                                          <p:attrName>style.visibility</p:attrName>
                                        </p:attrNameLst>
                                      </p:cBhvr>
                                      <p:to>
                                        <p:strVal val="visible"/>
                                      </p:to>
                                    </p:set>
                                    <p:animEffect transition="in" filter="fade">
                                      <p:cBhvr>
                                        <p:cTn id="420" dur="500"/>
                                        <p:tgtEl>
                                          <p:spTgt spid="590"/>
                                        </p:tgtEl>
                                      </p:cBhvr>
                                    </p:animEffect>
                                  </p:childTnLst>
                                </p:cTn>
                              </p:par>
                            </p:childTnLst>
                          </p:cTn>
                        </p:par>
                        <p:par>
                          <p:cTn id="421" fill="hold">
                            <p:stCondLst>
                              <p:cond delay="2000"/>
                            </p:stCondLst>
                            <p:childTnLst>
                              <p:par>
                                <p:cTn id="422" presetID="10" presetClass="entr" presetSubtype="0" fill="hold" grpId="0" nodeType="afterEffect">
                                  <p:stCondLst>
                                    <p:cond delay="0"/>
                                  </p:stCondLst>
                                  <p:childTnLst>
                                    <p:set>
                                      <p:cBhvr>
                                        <p:cTn id="423" dur="1" fill="hold">
                                          <p:stCondLst>
                                            <p:cond delay="0"/>
                                          </p:stCondLst>
                                        </p:cTn>
                                        <p:tgtEl>
                                          <p:spTgt spid="26"/>
                                        </p:tgtEl>
                                        <p:attrNameLst>
                                          <p:attrName>style.visibility</p:attrName>
                                        </p:attrNameLst>
                                      </p:cBhvr>
                                      <p:to>
                                        <p:strVal val="visible"/>
                                      </p:to>
                                    </p:set>
                                    <p:animEffect transition="in" filter="fade">
                                      <p:cBhvr>
                                        <p:cTn id="424" dur="500"/>
                                        <p:tgtEl>
                                          <p:spTgt spid="26"/>
                                        </p:tgtEl>
                                      </p:cBhvr>
                                    </p:animEffect>
                                  </p:childTnLst>
                                </p:cTn>
                              </p:par>
                            </p:childTnLst>
                          </p:cTn>
                        </p:par>
                        <p:par>
                          <p:cTn id="425" fill="hold">
                            <p:stCondLst>
                              <p:cond delay="2500"/>
                            </p:stCondLst>
                            <p:childTnLst>
                              <p:par>
                                <p:cTn id="426" presetID="10" presetClass="entr" presetSubtype="0" fill="hold" grpId="0" nodeType="afterEffect">
                                  <p:stCondLst>
                                    <p:cond delay="0"/>
                                  </p:stCondLst>
                                  <p:childTnLst>
                                    <p:set>
                                      <p:cBhvr>
                                        <p:cTn id="427" dur="1" fill="hold">
                                          <p:stCondLst>
                                            <p:cond delay="0"/>
                                          </p:stCondLst>
                                        </p:cTn>
                                        <p:tgtEl>
                                          <p:spTgt spid="165"/>
                                        </p:tgtEl>
                                        <p:attrNameLst>
                                          <p:attrName>style.visibility</p:attrName>
                                        </p:attrNameLst>
                                      </p:cBhvr>
                                      <p:to>
                                        <p:strVal val="visible"/>
                                      </p:to>
                                    </p:set>
                                    <p:animEffect transition="in" filter="fade">
                                      <p:cBhvr>
                                        <p:cTn id="428" dur="500"/>
                                        <p:tgtEl>
                                          <p:spTgt spid="165"/>
                                        </p:tgtEl>
                                      </p:cBhvr>
                                    </p:animEffect>
                                  </p:childTnLst>
                                </p:cTn>
                              </p:par>
                            </p:childTnLst>
                          </p:cTn>
                        </p:par>
                      </p:childTnLst>
                    </p:cTn>
                  </p:par>
                  <p:par>
                    <p:cTn id="429" fill="hold">
                      <p:stCondLst>
                        <p:cond delay="indefinite"/>
                      </p:stCondLst>
                      <p:childTnLst>
                        <p:par>
                          <p:cTn id="430" fill="hold">
                            <p:stCondLst>
                              <p:cond delay="0"/>
                            </p:stCondLst>
                            <p:childTnLst>
                              <p:par>
                                <p:cTn id="431" presetID="22" presetClass="entr" presetSubtype="8" fill="hold" grpId="0" nodeType="clickEffect">
                                  <p:stCondLst>
                                    <p:cond delay="0"/>
                                  </p:stCondLst>
                                  <p:childTnLst>
                                    <p:set>
                                      <p:cBhvr>
                                        <p:cTn id="432" dur="1" fill="hold">
                                          <p:stCondLst>
                                            <p:cond delay="0"/>
                                          </p:stCondLst>
                                        </p:cTn>
                                        <p:tgtEl>
                                          <p:spTgt spid="738"/>
                                        </p:tgtEl>
                                        <p:attrNameLst>
                                          <p:attrName>style.visibility</p:attrName>
                                        </p:attrNameLst>
                                      </p:cBhvr>
                                      <p:to>
                                        <p:strVal val="visible"/>
                                      </p:to>
                                    </p:set>
                                    <p:animEffect transition="in" filter="wipe(left)">
                                      <p:cBhvr>
                                        <p:cTn id="433" dur="500"/>
                                        <p:tgtEl>
                                          <p:spTgt spid="738"/>
                                        </p:tgtEl>
                                      </p:cBhvr>
                                    </p:animEffect>
                                  </p:childTnLst>
                                </p:cTn>
                              </p:par>
                            </p:childTnLst>
                          </p:cTn>
                        </p:par>
                      </p:childTnLst>
                    </p:cTn>
                  </p:par>
                  <p:par>
                    <p:cTn id="434" fill="hold">
                      <p:stCondLst>
                        <p:cond delay="indefinite"/>
                      </p:stCondLst>
                      <p:childTnLst>
                        <p:par>
                          <p:cTn id="435" fill="hold">
                            <p:stCondLst>
                              <p:cond delay="0"/>
                            </p:stCondLst>
                            <p:childTnLst>
                              <p:par>
                                <p:cTn id="436" presetID="10" presetClass="entr" presetSubtype="0" fill="hold" nodeType="clickEffect">
                                  <p:stCondLst>
                                    <p:cond delay="0"/>
                                  </p:stCondLst>
                                  <p:childTnLst>
                                    <p:set>
                                      <p:cBhvr>
                                        <p:cTn id="437" dur="1" fill="hold">
                                          <p:stCondLst>
                                            <p:cond delay="0"/>
                                          </p:stCondLst>
                                        </p:cTn>
                                        <p:tgtEl>
                                          <p:spTgt spid="224"/>
                                        </p:tgtEl>
                                        <p:attrNameLst>
                                          <p:attrName>style.visibility</p:attrName>
                                        </p:attrNameLst>
                                      </p:cBhvr>
                                      <p:to>
                                        <p:strVal val="visible"/>
                                      </p:to>
                                    </p:set>
                                    <p:animEffect transition="in" filter="fade">
                                      <p:cBhvr>
                                        <p:cTn id="438" dur="500"/>
                                        <p:tgtEl>
                                          <p:spTgt spid="224"/>
                                        </p:tgtEl>
                                      </p:cBhvr>
                                    </p:animEffect>
                                  </p:childTnLst>
                                </p:cTn>
                              </p:par>
                            </p:childTnLst>
                          </p:cTn>
                        </p:par>
                        <p:par>
                          <p:cTn id="439" fill="hold">
                            <p:stCondLst>
                              <p:cond delay="500"/>
                            </p:stCondLst>
                            <p:childTnLst>
                              <p:par>
                                <p:cTn id="440" presetID="10" presetClass="entr" presetSubtype="0" fill="hold" grpId="0" nodeType="afterEffect">
                                  <p:stCondLst>
                                    <p:cond delay="0"/>
                                  </p:stCondLst>
                                  <p:childTnLst>
                                    <p:set>
                                      <p:cBhvr>
                                        <p:cTn id="441" dur="1" fill="hold">
                                          <p:stCondLst>
                                            <p:cond delay="0"/>
                                          </p:stCondLst>
                                        </p:cTn>
                                        <p:tgtEl>
                                          <p:spTgt spid="125"/>
                                        </p:tgtEl>
                                        <p:attrNameLst>
                                          <p:attrName>style.visibility</p:attrName>
                                        </p:attrNameLst>
                                      </p:cBhvr>
                                      <p:to>
                                        <p:strVal val="visible"/>
                                      </p:to>
                                    </p:set>
                                    <p:animEffect transition="in" filter="fade">
                                      <p:cBhvr>
                                        <p:cTn id="442" dur="400"/>
                                        <p:tgtEl>
                                          <p:spTgt spid="125"/>
                                        </p:tgtEl>
                                      </p:cBhvr>
                                    </p:animEffect>
                                  </p:childTnLst>
                                </p:cTn>
                              </p:par>
                            </p:childTnLst>
                          </p:cTn>
                        </p:par>
                        <p:par>
                          <p:cTn id="443" fill="hold">
                            <p:stCondLst>
                              <p:cond delay="900"/>
                            </p:stCondLst>
                            <p:childTnLst>
                              <p:par>
                                <p:cTn id="444" presetID="10" presetClass="entr" presetSubtype="0" fill="hold" grpId="0" nodeType="afterEffect">
                                  <p:stCondLst>
                                    <p:cond delay="0"/>
                                  </p:stCondLst>
                                  <p:childTnLst>
                                    <p:set>
                                      <p:cBhvr>
                                        <p:cTn id="445" dur="1" fill="hold">
                                          <p:stCondLst>
                                            <p:cond delay="0"/>
                                          </p:stCondLst>
                                        </p:cTn>
                                        <p:tgtEl>
                                          <p:spTgt spid="126"/>
                                        </p:tgtEl>
                                        <p:attrNameLst>
                                          <p:attrName>style.visibility</p:attrName>
                                        </p:attrNameLst>
                                      </p:cBhvr>
                                      <p:to>
                                        <p:strVal val="visible"/>
                                      </p:to>
                                    </p:set>
                                    <p:animEffect transition="in" filter="fade">
                                      <p:cBhvr>
                                        <p:cTn id="446" dur="400"/>
                                        <p:tgtEl>
                                          <p:spTgt spid="126"/>
                                        </p:tgtEl>
                                      </p:cBhvr>
                                    </p:animEffect>
                                  </p:childTnLst>
                                </p:cTn>
                              </p:par>
                            </p:childTnLst>
                          </p:cTn>
                        </p:par>
                        <p:par>
                          <p:cTn id="447" fill="hold">
                            <p:stCondLst>
                              <p:cond delay="1300"/>
                            </p:stCondLst>
                            <p:childTnLst>
                              <p:par>
                                <p:cTn id="448" presetID="10" presetClass="entr" presetSubtype="0" fill="hold" grpId="0" nodeType="afterEffect">
                                  <p:stCondLst>
                                    <p:cond delay="0"/>
                                  </p:stCondLst>
                                  <p:childTnLst>
                                    <p:set>
                                      <p:cBhvr>
                                        <p:cTn id="449" dur="1" fill="hold">
                                          <p:stCondLst>
                                            <p:cond delay="0"/>
                                          </p:stCondLst>
                                        </p:cTn>
                                        <p:tgtEl>
                                          <p:spTgt spid="18"/>
                                        </p:tgtEl>
                                        <p:attrNameLst>
                                          <p:attrName>style.visibility</p:attrName>
                                        </p:attrNameLst>
                                      </p:cBhvr>
                                      <p:to>
                                        <p:strVal val="visible"/>
                                      </p:to>
                                    </p:set>
                                    <p:animEffect transition="in" filter="fade">
                                      <p:cBhvr>
                                        <p:cTn id="450" dur="400"/>
                                        <p:tgtEl>
                                          <p:spTgt spid="18"/>
                                        </p:tgtEl>
                                      </p:cBhvr>
                                    </p:animEffect>
                                  </p:childTnLst>
                                </p:cTn>
                              </p:par>
                            </p:childTnLst>
                          </p:cTn>
                        </p:par>
                      </p:childTnLst>
                    </p:cTn>
                  </p:par>
                  <p:par>
                    <p:cTn id="451" fill="hold">
                      <p:stCondLst>
                        <p:cond delay="indefinite"/>
                      </p:stCondLst>
                      <p:childTnLst>
                        <p:par>
                          <p:cTn id="452" fill="hold">
                            <p:stCondLst>
                              <p:cond delay="0"/>
                            </p:stCondLst>
                            <p:childTnLst>
                              <p:par>
                                <p:cTn id="453" presetID="42" presetClass="entr" presetSubtype="0" fill="hold" nodeType="clickEffect">
                                  <p:stCondLst>
                                    <p:cond delay="0"/>
                                  </p:stCondLst>
                                  <p:childTnLst>
                                    <p:set>
                                      <p:cBhvr>
                                        <p:cTn id="454" dur="1" fill="hold">
                                          <p:stCondLst>
                                            <p:cond delay="0"/>
                                          </p:stCondLst>
                                        </p:cTn>
                                        <p:tgtEl>
                                          <p:spTgt spid="82"/>
                                        </p:tgtEl>
                                        <p:attrNameLst>
                                          <p:attrName>style.visibility</p:attrName>
                                        </p:attrNameLst>
                                      </p:cBhvr>
                                      <p:to>
                                        <p:strVal val="visible"/>
                                      </p:to>
                                    </p:set>
                                    <p:animEffect transition="in" filter="fade">
                                      <p:cBhvr>
                                        <p:cTn id="455" dur="750"/>
                                        <p:tgtEl>
                                          <p:spTgt spid="82"/>
                                        </p:tgtEl>
                                      </p:cBhvr>
                                    </p:animEffect>
                                    <p:anim calcmode="lin" valueType="num">
                                      <p:cBhvr>
                                        <p:cTn id="456" dur="750" fill="hold"/>
                                        <p:tgtEl>
                                          <p:spTgt spid="82"/>
                                        </p:tgtEl>
                                        <p:attrNameLst>
                                          <p:attrName>ppt_x</p:attrName>
                                        </p:attrNameLst>
                                      </p:cBhvr>
                                      <p:tavLst>
                                        <p:tav tm="0">
                                          <p:val>
                                            <p:strVal val="#ppt_x"/>
                                          </p:val>
                                        </p:tav>
                                        <p:tav tm="100000">
                                          <p:val>
                                            <p:strVal val="#ppt_x"/>
                                          </p:val>
                                        </p:tav>
                                      </p:tavLst>
                                    </p:anim>
                                    <p:anim calcmode="lin" valueType="num">
                                      <p:cBhvr>
                                        <p:cTn id="457" dur="750" fill="hold"/>
                                        <p:tgtEl>
                                          <p:spTgt spid="82"/>
                                        </p:tgtEl>
                                        <p:attrNameLst>
                                          <p:attrName>ppt_y</p:attrName>
                                        </p:attrNameLst>
                                      </p:cBhvr>
                                      <p:tavLst>
                                        <p:tav tm="0">
                                          <p:val>
                                            <p:strVal val="#ppt_y+.1"/>
                                          </p:val>
                                        </p:tav>
                                        <p:tav tm="100000">
                                          <p:val>
                                            <p:strVal val="#ppt_y"/>
                                          </p:val>
                                        </p:tav>
                                      </p:tavLst>
                                    </p:anim>
                                  </p:childTnLst>
                                </p:cTn>
                              </p:par>
                              <p:par>
                                <p:cTn id="458" presetID="22" presetClass="entr" presetSubtype="8" fill="hold" grpId="0" nodeType="withEffect">
                                  <p:stCondLst>
                                    <p:cond delay="500"/>
                                  </p:stCondLst>
                                  <p:childTnLst>
                                    <p:set>
                                      <p:cBhvr>
                                        <p:cTn id="459" dur="1" fill="hold">
                                          <p:stCondLst>
                                            <p:cond delay="0"/>
                                          </p:stCondLst>
                                        </p:cTn>
                                        <p:tgtEl>
                                          <p:spTgt spid="117"/>
                                        </p:tgtEl>
                                        <p:attrNameLst>
                                          <p:attrName>style.visibility</p:attrName>
                                        </p:attrNameLst>
                                      </p:cBhvr>
                                      <p:to>
                                        <p:strVal val="visible"/>
                                      </p:to>
                                    </p:set>
                                    <p:animEffect transition="in" filter="wipe(left)">
                                      <p:cBhvr>
                                        <p:cTn id="460" dur="1000"/>
                                        <p:tgtEl>
                                          <p:spTgt spid="117"/>
                                        </p:tgtEl>
                                      </p:cBhvr>
                                    </p:animEffect>
                                  </p:childTnLst>
                                </p:cTn>
                              </p:par>
                            </p:childTnLst>
                          </p:cTn>
                        </p:par>
                      </p:childTnLst>
                    </p:cTn>
                  </p:par>
                  <p:par>
                    <p:cTn id="461" fill="hold">
                      <p:stCondLst>
                        <p:cond delay="indefinite"/>
                      </p:stCondLst>
                      <p:childTnLst>
                        <p:par>
                          <p:cTn id="462" fill="hold">
                            <p:stCondLst>
                              <p:cond delay="0"/>
                            </p:stCondLst>
                            <p:childTnLst>
                              <p:par>
                                <p:cTn id="463" presetID="26" presetClass="emph" presetSubtype="0" fill="hold" grpId="0" nodeType="clickEffect">
                                  <p:stCondLst>
                                    <p:cond delay="0"/>
                                  </p:stCondLst>
                                  <p:childTnLst>
                                    <p:animEffect transition="out" filter="fade">
                                      <p:cBhvr>
                                        <p:cTn id="464" dur="500" tmFilter="0, 0; .2, .5; .8, .5; 1, 0"/>
                                        <p:tgtEl>
                                          <p:spTgt spid="225"/>
                                        </p:tgtEl>
                                      </p:cBhvr>
                                    </p:animEffect>
                                    <p:animScale>
                                      <p:cBhvr>
                                        <p:cTn id="465" dur="250" autoRev="1" fill="hold"/>
                                        <p:tgtEl>
                                          <p:spTgt spid="225"/>
                                        </p:tgtEl>
                                      </p:cBhvr>
                                      <p:by x="105000" y="105000"/>
                                    </p:animScale>
                                  </p:childTnLst>
                                </p:cTn>
                              </p:par>
                            </p:childTnLst>
                          </p:cTn>
                        </p:par>
                        <p:par>
                          <p:cTn id="466" fill="hold">
                            <p:stCondLst>
                              <p:cond delay="500"/>
                            </p:stCondLst>
                            <p:childTnLst>
                              <p:par>
                                <p:cTn id="467" presetID="26" presetClass="emph" presetSubtype="0" fill="hold" grpId="0" nodeType="afterEffect">
                                  <p:stCondLst>
                                    <p:cond delay="0"/>
                                  </p:stCondLst>
                                  <p:childTnLst>
                                    <p:animEffect transition="out" filter="fade">
                                      <p:cBhvr>
                                        <p:cTn id="468" dur="500" tmFilter="0, 0; .2, .5; .8, .5; 1, 0"/>
                                        <p:tgtEl>
                                          <p:spTgt spid="79"/>
                                        </p:tgtEl>
                                      </p:cBhvr>
                                    </p:animEffect>
                                    <p:animScale>
                                      <p:cBhvr>
                                        <p:cTn id="469" dur="250" autoRev="1" fill="hold"/>
                                        <p:tgtEl>
                                          <p:spTgt spid="7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 grpId="0" animBg="1"/>
      <p:bldP spid="38" grpId="0" animBg="1"/>
      <p:bldP spid="629" grpId="0" animBg="1"/>
      <p:bldP spid="562" grpId="0" animBg="1"/>
      <p:bldP spid="510" grpId="0" animBg="1"/>
      <p:bldP spid="175" grpId="0" animBg="1"/>
      <p:bldP spid="187" grpId="0" animBg="1"/>
      <p:bldP spid="734" grpId="0" animBg="1"/>
      <p:bldP spid="715" grpId="0" animBg="1"/>
      <p:bldP spid="98" grpId="0" animBg="1"/>
      <p:bldP spid="103" grpId="0" animBg="1"/>
      <p:bldP spid="132" grpId="0" animBg="1"/>
      <p:bldP spid="134" grpId="0" animBg="1"/>
      <p:bldP spid="599" grpId="0"/>
      <p:bldP spid="769" grpId="0" animBg="1"/>
      <p:bldP spid="125" grpId="0" animBg="1"/>
      <p:bldP spid="126" grpId="0" animBg="1"/>
      <p:bldP spid="165" grpId="0" animBg="1"/>
      <p:bldP spid="44" grpId="0" animBg="1"/>
      <p:bldP spid="622" grpId="0" animBg="1"/>
      <p:bldP spid="4" grpId="0" animBg="1"/>
      <p:bldP spid="6" grpId="0" animBg="1"/>
      <p:bldP spid="32" grpId="0" animBg="1"/>
      <p:bldP spid="33" grpId="0" animBg="1"/>
      <p:bldP spid="18" grpId="0" animBg="1"/>
      <p:bldP spid="139" grpId="0" animBg="1"/>
      <p:bldP spid="45" grpId="0" animBg="1"/>
      <p:bldP spid="420" grpId="0" animBg="1"/>
      <p:bldP spid="26" grpId="0" animBg="1"/>
      <p:bldP spid="590" grpId="0" animBg="1"/>
      <p:bldP spid="117" grpId="0" animBg="1"/>
      <p:bldP spid="40" grpId="0" animBg="1"/>
      <p:bldP spid="847" grpId="0" animBg="1"/>
      <p:bldP spid="739" grpId="0"/>
      <p:bldP spid="738" grpId="0" animBg="1"/>
      <p:bldP spid="415" grpId="0" animBg="1"/>
      <p:bldP spid="16" grpId="0"/>
      <p:bldP spid="596" grpId="0" animBg="1"/>
      <p:bldP spid="693" grpId="0" animBg="1"/>
      <p:bldP spid="696" grpId="0" animBg="1"/>
      <p:bldP spid="737" grpId="0" animBg="1"/>
      <p:bldP spid="743" grpId="0" animBg="1"/>
      <p:bldP spid="745" grpId="0" animBg="1"/>
      <p:bldP spid="753" grpId="0" animBg="1"/>
      <p:bldP spid="48" grpId="0" animBg="1"/>
      <p:bldP spid="64" grpId="0" animBg="1"/>
      <p:bldP spid="79" grpId="0"/>
      <p:bldP spid="225" grpId="0"/>
    </p:bldLst>
  </p:timing>
</p:sld>
</file>

<file path=ppt/tags/tag1.xml><?xml version="1.0" encoding="utf-8"?>
<p:tagLst xmlns:a="http://schemas.openxmlformats.org/drawingml/2006/main" xmlns:r="http://schemas.openxmlformats.org/officeDocument/2006/relationships" xmlns:p="http://schemas.openxmlformats.org/presentationml/2006/main">
  <p:tag name="SMARTNOTES-DATA-SMARTSLIDE" val="{&quot;Animations&quot;:[{&quot;Id&quot;:1,&quot;Index&quot;:1,&quot;Label&quot;:&quot;Copilot logo&quot;,&quot;TriggerType&quot;:2,&quot;EffectType&quot;:1,&quot;IsVideo&quot;:false},{&quot;Id&quot;:2,&quot;Index&quot;:2,&quot;Label&quot;:&quot;Copilot logo&quot;,&quot;TriggerType&quot;:2,&quot;EffectType&quot;:3,&quot;IsVideo&quot;:false},{&quot;Id&quot;:3,&quot;Index&quot;:3,&quot;Label&quot;:&quot;Graphic 20&quot;,&quot;TriggerType&quot;:2,&quot;EffectType&quot;:1,&quot;IsVideo&quot;:false},{&quot;Id&quot;:4,&quot;Index&quot;:4,&quot;Label&quot;:&quot;Graphic 20&quot;,&quot;TriggerType&quot;:2,&quot;EffectType&quot;:3,&quot;IsVideo&quot;:false},{&quot;Id&quot;:5,&quot;Index&quot;:5,&quot;Label&quot;:&quot; Human Ambition&quot;,&quot;TriggerType&quot;:2,&quot;EffectType&quot;:1,&quot;IsVideo&quot;:false},{&quot;Id&quot;:6,&quot;Index&quot;:6,&quot;Label&quot;:&quot; Human Ambition&quot;,&quot;TriggerType&quot;:2,&quot;EffectType&quot;:3,&quot;IsVideo&quot;:false},{&quot;Id&quot;:7,&quot;Index&quot;:7,&quot;Label&quot;:&quot; Agentic AI&quot;,&quot;TriggerType&quot;:2,&quot;EffectType&quot;:1,&quot;IsVideo&quot;:false},{&quot;Id&quot;:8,&quot;Index&quot;:8,&quot;Label&quot;:&quot; Agentic AI&quot;,&quot;TriggerType&quot;:2,&quot;EffectType&quot;:3,&quot;IsVideo&quot;:false},{&quot;Id&quot;:9,&quot;Index&quot;:9,&quot;Label&quot;:&quot;+&quot;,&quot;TriggerType&quot;:2,&quot;EffectType&quot;:1,&quot;IsVideo&quot;:false},{&quot;Id&quot;:10,&quot;Index&quot;:10,&quot;Label&quot;:&quot;+&quot;,&quot;TriggerType&quot;:2,&quot;EffectType&quot;:2,&quot;IsVideo&quot;:false},{&quot;Id&quot;:11,&quot;Index&quot;:11,&quot;Label&quot;:&quot;+&quot;,&quot;TriggerType&quot;:2,&quot;EffectType&quot;:2,&quot;IsVideo&quot;:false},{&quot;Id&quot;:12,&quot;Index&quot;:12,&quot;Label&quot;:&quot;Becoming Frontier&quot;,&quot;TriggerType&quot;:2,&quot;EffectType&quot;:1,&quot;IsVideo&quot;:false},{&quot;Id&quot;:13,&quot;Index&quot;:13,&quot;Label&quot;:&quot;Becoming Frontier&quot;,&quot;TriggerType&quot;:2,&quot;EffectType&quot;:3,&quot;IsVideo&quot;:false}],&quot;HasNotesSynced&quot;:true,&quot;Id&quot;:2147483441,&quot;Index&quot;:3,&quot;IsHidden&quot;:false,&quot;Name&quot;:&quot;Slide2147483186&quot;,&quot;SmartNote&quot;:{&quot;NoteText&quot;:&quot;&lt;Section xmlns=\&quot;http://schemas.microsoft.com/winfx/2006/xaml/presentation\&quot; xml:space=\&quot;preserve\&quot; TextAlignment=\&quot;Justify\&quot; LineHeight=\&quot;Auto\&quot; IsHyphenationEnabled=\&quot;False\&quot; xml:lang=\&quot;en-us\&quot; FlowDirection=\&quot;LeftToRight\&quot; NumberSubstitution.CultureSource=\&quot;Text\&quot; NumberSubstitution.Substitution=\&quot;AsCulture\&quot; FontFamily=\&quot;Georgia\&quot; FontStyle=\&quot;Normal\&quot; FontWeight=\&quot;Normal\&quot; FontStretch=\&quot;Normal\&quot; FontSize=\&quot;16\&quot; Foreground=\&quot;#FF000000\&quot; Typography.StandardLigatures=\&quot;True\&quot; Typography.ContextualLigatures=\&quot;True\&quot; Typography.DiscretionaryLigatures=\&quot;False\&quot; Typography.HistoricalLigatures=\&quot;False\&quot; Typography.AnnotationAlternates=\&quot;0\&quot; Typography.ContextualAlternates=\&quot;True\&quot; Typography.HistoricalForms=\&quot;False\&quot; Typography.Kerning=\&quot;True\&quot; Typography.CapitalSpacing=\&quot;False\&quot; Typography.CaseSensitiveForms=\&quot;False\&quot; Typography.StylisticSet1=\&quot;False\&quot; Typography.StylisticSet2=\&quot;False\&quot; Typography.StylisticSet3=\&quot;False\&quot; Typography.StylisticSet4=\&quot;False\&quot; Typography.StylisticSet5=\&quot;False\&quot; Typography.StylisticSet6=\&quot;False\&quot; Typography.StylisticSet7=\&quot;False\&quot; Typography.StylisticSet8=\&quot;False\&quot; Typography.StylisticSet9=\&quot;False\&quot; Typography.StylisticSet10=\&quot;False\&quot; Typography.StylisticSet11=\&quot;False\&quot; Typography.StylisticSet12=\&quot;False\&quot; Typography.StylisticSet13=\&quot;False\&quot; Typography.StylisticSet14=\&quot;False\&quot; Typography.StylisticSet15=\&quot;False\&quot; Typography.StylisticSet16=\&quot;False\&quot; Typography.StylisticSet17=\&quot;False\&quot; Typography.StylisticSet18=\&quot;False\&quot; Typography.StylisticSet19=\&quot;False\&quot; Typography.StylisticSet20=\&quot;False\&quot; Typography.Fraction=\&quot;Normal\&quot; Typography.SlashedZero=\&quot;False\&quot; Typography.MathematicalGreek=\&quot;False\&quot; Typography.EastAsianExpertForms=\&quot;False\&quot; Typography.Variants=\&quot;Normal\&quot; Typography.Capitals=\&quot;Normal\&quot; Typography.NumeralStyle=\&quot;Normal\&quot; Typography.NumeralAlignment=\&quot;Normal\&quot; Typography.EastAsianWidths=\&quot;Normal\&quot; Typography.EastAsianLanguage=\&quot;Normal\&quot; Typography.StandardSwashes=\&quot;0\&quot; Typography.ContextualSwashes=\&quot;0\&quot; Typography.StylisticAlternates=\&quot;0\&quot;&gt;&lt;Paragraph TextAlignment=\&quot;Left\&quot;&gt;&lt;Run FontFamily=\&quot;Calibri\&quot; FontSize=\&quot;21.333333333333332\&quot; Foreground=\&quot;#FFFFFFFF\&quot;&gt;One of the things we talk a lot about in this notion of becoming frontier is this formula for AI first differentiation: Agents + Copilot + human ambition making the difference. \r\rImagine a scenario where you want to research a topic as well as analyze a set of documents and then be able to synthesize all of that into a presentation for your leadership team. \r\rNow, what if you were able to have agents working on your behalf for the first portion of that task, and then have Copilot serving as your personal assistant take the output of those agents and pull it all together? \r\rThat’s just an example of putting AI first – and when you combine these two things in agents and Copilot with human ambition, your organization can really flourish.&lt;/Run&gt;&lt;/Paragraph&gt;&lt;/Section&gt;&quot;,&quot;ParentSlideId&quot;:2147483441,&quot;PagesHistory&quot;:[{&quot;Id&quot;:1,&quot;Index&quot;:0,&quot;TriggerType&quot;:2,&quot;HasChildren&quot;:false},{&quot;Id&quot;:2,&quot;Index&quot;:-1,&quot;TriggerType&quot;:1,&quot;HasChildren&quot;:false}],&quot;Pages&quot;:[{&quot;Id&quot;:1,&quot;Index&quot;:0,&quot;TriggerType&quot;:2,&quot;HasChildren&quot;:false},{&quot;Id&quot;:2,&quot;Index&quot;:-1,&quot;TriggerType&quot;:1,&quot;HasChildren&quot;:false}]}}"/>
</p:tagLst>
</file>

<file path=ppt/tags/tag2.xml><?xml version="1.0" encoding="utf-8"?>
<p:tagLst xmlns:a="http://schemas.openxmlformats.org/drawingml/2006/main" xmlns:r="http://schemas.openxmlformats.org/officeDocument/2006/relationships" xmlns:p="http://schemas.openxmlformats.org/presentationml/2006/main">
  <p:tag name="SMARTNOTES-DATA-SMARTSLIDE" val="{&quot;Animations&quot;:[{&quot;Id&quot;:1,&quot;Index&quot;:1,&quot;Label&quot;:&quot;Copilot logo&quot;,&quot;TriggerType&quot;:2,&quot;EffectType&quot;:1,&quot;IsVideo&quot;:false},{&quot;Id&quot;:2,&quot;Index&quot;:2,&quot;Label&quot;:&quot;Copilot logo&quot;,&quot;TriggerType&quot;:2,&quot;EffectType&quot;:3,&quot;IsVideo&quot;:false},{&quot;Id&quot;:3,&quot;Index&quot;:3,&quot;Label&quot;:&quot;Graphic 20&quot;,&quot;TriggerType&quot;:2,&quot;EffectType&quot;:1,&quot;IsVideo&quot;:false},{&quot;Id&quot;:4,&quot;Index&quot;:4,&quot;Label&quot;:&quot;Graphic 20&quot;,&quot;TriggerType&quot;:2,&quot;EffectType&quot;:3,&quot;IsVideo&quot;:false},{&quot;Id&quot;:5,&quot;Index&quot;:5,&quot;Label&quot;:&quot; Human Ambition&quot;,&quot;TriggerType&quot;:2,&quot;EffectType&quot;:1,&quot;IsVideo&quot;:false},{&quot;Id&quot;:6,&quot;Index&quot;:6,&quot;Label&quot;:&quot; Human Ambition&quot;,&quot;TriggerType&quot;:2,&quot;EffectType&quot;:3,&quot;IsVideo&quot;:false},{&quot;Id&quot;:7,&quot;Index&quot;:7,&quot;Label&quot;:&quot; Agentic AI&quot;,&quot;TriggerType&quot;:2,&quot;EffectType&quot;:1,&quot;IsVideo&quot;:false},{&quot;Id&quot;:8,&quot;Index&quot;:8,&quot;Label&quot;:&quot; Agentic AI&quot;,&quot;TriggerType&quot;:2,&quot;EffectType&quot;:3,&quot;IsVideo&quot;:false},{&quot;Id&quot;:9,&quot;Index&quot;:9,&quot;Label&quot;:&quot;+&quot;,&quot;TriggerType&quot;:2,&quot;EffectType&quot;:1,&quot;IsVideo&quot;:false},{&quot;Id&quot;:10,&quot;Index&quot;:10,&quot;Label&quot;:&quot;+&quot;,&quot;TriggerType&quot;:2,&quot;EffectType&quot;:2,&quot;IsVideo&quot;:false},{&quot;Id&quot;:11,&quot;Index&quot;:11,&quot;Label&quot;:&quot;+&quot;,&quot;TriggerType&quot;:2,&quot;EffectType&quot;:2,&quot;IsVideo&quot;:false},{&quot;Id&quot;:12,&quot;Index&quot;:12,&quot;Label&quot;:&quot;Becoming Frontier&quot;,&quot;TriggerType&quot;:2,&quot;EffectType&quot;:1,&quot;IsVideo&quot;:false},{&quot;Id&quot;:13,&quot;Index&quot;:13,&quot;Label&quot;:&quot;Becoming Frontier&quot;,&quot;TriggerType&quot;:2,&quot;EffectType&quot;:3,&quot;IsVideo&quot;:false}],&quot;HasNotesSynced&quot;:true,&quot;Id&quot;:2147483441,&quot;Index&quot;:3,&quot;IsHidden&quot;:false,&quot;Name&quot;:&quot;Slide2147483186&quot;,&quot;SmartNote&quot;:{&quot;NoteText&quot;:&quot;&lt;Section xmlns=\&quot;http://schemas.microsoft.com/winfx/2006/xaml/presentation\&quot; xml:space=\&quot;preserve\&quot; TextAlignment=\&quot;Justify\&quot; LineHeight=\&quot;Auto\&quot; IsHyphenationEnabled=\&quot;False\&quot; xml:lang=\&quot;en-us\&quot; FlowDirection=\&quot;LeftToRight\&quot; NumberSubstitution.CultureSource=\&quot;Text\&quot; NumberSubstitution.Substitution=\&quot;AsCulture\&quot; FontFamily=\&quot;Georgia\&quot; FontStyle=\&quot;Normal\&quot; FontWeight=\&quot;Normal\&quot; FontStretch=\&quot;Normal\&quot; FontSize=\&quot;16\&quot; Foreground=\&quot;#FF000000\&quot; Typography.StandardLigatures=\&quot;True\&quot; Typography.ContextualLigatures=\&quot;True\&quot; Typography.DiscretionaryLigatures=\&quot;False\&quot; Typography.HistoricalLigatures=\&quot;False\&quot; Typography.AnnotationAlternates=\&quot;0\&quot; Typography.ContextualAlternates=\&quot;True\&quot; Typography.HistoricalForms=\&quot;False\&quot; Typography.Kerning=\&quot;True\&quot; Typography.CapitalSpacing=\&quot;False\&quot; Typography.CaseSensitiveForms=\&quot;False\&quot; Typography.StylisticSet1=\&quot;False\&quot; Typography.StylisticSet2=\&quot;False\&quot; Typography.StylisticSet3=\&quot;False\&quot; Typography.StylisticSet4=\&quot;False\&quot; Typography.StylisticSet5=\&quot;False\&quot; Typography.StylisticSet6=\&quot;False\&quot; Typography.StylisticSet7=\&quot;False\&quot; Typography.StylisticSet8=\&quot;False\&quot; Typography.StylisticSet9=\&quot;False\&quot; Typography.StylisticSet10=\&quot;False\&quot; Typography.StylisticSet11=\&quot;False\&quot; Typography.StylisticSet12=\&quot;False\&quot; Typography.StylisticSet13=\&quot;False\&quot; Typography.StylisticSet14=\&quot;False\&quot; Typography.StylisticSet15=\&quot;False\&quot; Typography.StylisticSet16=\&quot;False\&quot; Typography.StylisticSet17=\&quot;False\&quot; Typography.StylisticSet18=\&quot;False\&quot; Typography.StylisticSet19=\&quot;False\&quot; Typography.StylisticSet20=\&quot;False\&quot; Typography.Fraction=\&quot;Normal\&quot; Typography.SlashedZero=\&quot;False\&quot; Typography.MathematicalGreek=\&quot;False\&quot; Typography.EastAsianExpertForms=\&quot;False\&quot; Typography.Variants=\&quot;Normal\&quot; Typography.Capitals=\&quot;Normal\&quot; Typography.NumeralStyle=\&quot;Normal\&quot; Typography.NumeralAlignment=\&quot;Normal\&quot; Typography.EastAsianWidths=\&quot;Normal\&quot; Typography.EastAsianLanguage=\&quot;Normal\&quot; Typography.StandardSwashes=\&quot;0\&quot; Typography.ContextualSwashes=\&quot;0\&quot; Typography.StylisticAlternates=\&quot;0\&quot;&gt;&lt;Paragraph TextAlignment=\&quot;Left\&quot;&gt;&lt;Run FontFamily=\&quot;Calibri\&quot; FontSize=\&quot;21.333333333333332\&quot; Foreground=\&quot;#FFFFFFFF\&quot;&gt;One of the things we talk a lot about in this notion of becoming frontier is this formula for AI first differentiation: Agents + Copilot + human ambition making the difference. \r\rImagine a scenario where you want to research a topic as well as analyze a set of documents and then be able to synthesize all of that into a presentation for your leadership team. \r\rNow, what if you were able to have agents working on your behalf for the first portion of that task, and then have Copilot serving as your personal assistant take the output of those agents and pull it all together? \r\rThat’s just an example of putting AI first – and when you combine these two things in agents and Copilot with human ambition, your organization can really flourish.&lt;/Run&gt;&lt;/Paragraph&gt;&lt;/Section&gt;&quot;,&quot;ParentSlideId&quot;:2147483441,&quot;PagesHistory&quot;:[{&quot;Id&quot;:1,&quot;Index&quot;:0,&quot;TriggerType&quot;:2,&quot;HasChildren&quot;:false},{&quot;Id&quot;:2,&quot;Index&quot;:-1,&quot;TriggerType&quot;:1,&quot;HasChildren&quot;:false}],&quot;Pages&quot;:[{&quot;Id&quot;:1,&quot;Index&quot;:0,&quot;TriggerType&quot;:2,&quot;HasChildren&quot;:false},{&quot;Id&quot;:2,&quot;Index&quot;:-1,&quot;TriggerType&quot;:1,&quot;HasChildren&quot;:false}]}}"/>
</p:tagLst>
</file>

<file path=ppt/theme/theme1.xml><?xml version="1.0" encoding="utf-8"?>
<a:theme xmlns:a="http://schemas.openxmlformats.org/drawingml/2006/main" name="Microsoft Security Light">
  <a:themeElements>
    <a:clrScheme name="Microsoft Security Light">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Custom 2">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Security-PowerPoint-Template-Light-ZUMFinal.potx" id="{FF8D482B-CE5A-47E5-AB94-DE302AB9E0F0}" vid="{819E6DBF-6959-410D-BF54-D69678397792}"/>
    </a:ext>
  </a:extLst>
</a:theme>
</file>

<file path=ppt/theme/theme2.xml><?xml version="1.0" encoding="utf-8"?>
<a:theme xmlns:a="http://schemas.openxmlformats.org/drawingml/2006/main" name="1_White Template">
  <a:themeElements>
    <a:clrScheme name="2019 Brand BLUE Light Bak">
      <a:dk1>
        <a:srgbClr val="000000"/>
      </a:dk1>
      <a:lt1>
        <a:srgbClr val="FFFFFF"/>
      </a:lt1>
      <a:dk2>
        <a:srgbClr val="243A5E"/>
      </a:dk2>
      <a:lt2>
        <a:srgbClr val="E6E6E6"/>
      </a:lt2>
      <a:accent1>
        <a:srgbClr val="0078D4"/>
      </a:accent1>
      <a:accent2>
        <a:srgbClr val="243A5E"/>
      </a:accent2>
      <a:accent3>
        <a:srgbClr val="D83B01"/>
      </a:accent3>
      <a:accent4>
        <a:srgbClr val="107C10"/>
      </a:accent4>
      <a:accent5>
        <a:srgbClr val="8661C5"/>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lue_Business_2019_01.potx" id="{B8F53374-45FC-4FE2-A734-987B38B4F728}" vid="{CAE137C9-023A-427D-A19A-47A05D066660}"/>
    </a:ext>
  </a:extLst>
</a:theme>
</file>

<file path=ppt/theme/theme3.xml><?xml version="1.0" encoding="utf-8"?>
<a:theme xmlns:a="http://schemas.openxmlformats.org/drawingml/2006/main" name="1_New - revised Microsoft Security Template ">
  <a:themeElements>
    <a:clrScheme name="Microsoft Security Dark">
      <a:dk1>
        <a:srgbClr val="091F2C"/>
      </a:dk1>
      <a:lt1>
        <a:srgbClr val="FFFFFF"/>
      </a:lt1>
      <a:dk2>
        <a:srgbClr val="091F2C"/>
      </a:dk2>
      <a:lt2>
        <a:srgbClr val="E6E8E9"/>
      </a:lt2>
      <a:accent1>
        <a:srgbClr val="C5B4E3"/>
      </a:accent1>
      <a:accent2>
        <a:srgbClr val="FFA38B"/>
      </a:accent2>
      <a:accent3>
        <a:srgbClr val="B9DCD2"/>
      </a:accent3>
      <a:accent4>
        <a:srgbClr val="8DC8E8"/>
      </a:accent4>
      <a:accent5>
        <a:srgbClr val="D4EC8E"/>
      </a:accent5>
      <a:accent6>
        <a:srgbClr val="0078D4"/>
      </a:accent6>
      <a:hlink>
        <a:srgbClr val="8DC8E8"/>
      </a:hlink>
      <a:folHlink>
        <a:srgbClr val="8DC8E8"/>
      </a:folHlink>
    </a:clrScheme>
    <a:fontScheme name="Microsoft Security">
      <a:majorFont>
        <a:latin typeface="Segoe Sans Display Semilight"/>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Security-PowerPoint-Template-Dark-ZUMFinal.potx" id="{F38FC898-B5FB-4E93-8F10-5935341B5E7D}" vid="{3FB78618-6100-4E22-854B-A70A7BF6A75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0efc0b9-b162-4f55-b736-1f15cacfa542" xsi:nil="true"/>
    <lcf76f155ced4ddcb4097134ff3c332f xmlns="b3ae517c-f818-4b3c-803d-b2456fb9902b">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3F057C49C66FB42A2BB9291AC8F16B3" ma:contentTypeVersion="15" ma:contentTypeDescription="Create a new document." ma:contentTypeScope="" ma:versionID="56a72e792e9ba855db71025d40724654">
  <xsd:schema xmlns:xsd="http://www.w3.org/2001/XMLSchema" xmlns:xs="http://www.w3.org/2001/XMLSchema" xmlns:p="http://schemas.microsoft.com/office/2006/metadata/properties" xmlns:ns1="http://schemas.microsoft.com/sharepoint/v3" xmlns:ns2="b3ae517c-f818-4b3c-803d-b2456fb9902b" xmlns:ns3="90efc0b9-b162-4f55-b736-1f15cacfa542" targetNamespace="http://schemas.microsoft.com/office/2006/metadata/properties" ma:root="true" ma:fieldsID="75d7a2f996763c1536478cf43ce8a864" ns1:_="" ns2:_="" ns3:_="">
    <xsd:import namespace="http://schemas.microsoft.com/sharepoint/v3"/>
    <xsd:import namespace="b3ae517c-f818-4b3c-803d-b2456fb9902b"/>
    <xsd:import namespace="90efc0b9-b162-4f55-b736-1f15cacfa542"/>
    <xsd:element name="properties">
      <xsd:complexType>
        <xsd:sequence>
          <xsd:element name="documentManagement">
            <xsd:complexType>
              <xsd:all>
                <xsd:element ref="ns1:_ip_UnifiedCompliancePolicyProperties" minOccurs="0"/>
                <xsd:element ref="ns1:_ip_UnifiedCompliancePolicyUIAction" minOccurs="0"/>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ae517c-f818-4b3c-803d-b2456fb9902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BillingMetadata" ma:index="14" nillable="true" ma:displayName="MediaServiceBillingMetadata" ma:hidden="true" ma:internalName="MediaServiceBillingMetadata"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0efc0b9-b162-4f55-b736-1f15cacfa542"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75135be4-18cc-4ccd-82e1-ed51f1dd8652}" ma:internalName="TaxCatchAll" ma:showField="CatchAllData" ma:web="90efc0b9-b162-4f55-b736-1f15cacfa5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90efc0b9-b162-4f55-b736-1f15cacfa542"/>
    <ds:schemaRef ds:uri="b3ae517c-f818-4b3c-803d-b2456fb9902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8586204-D3D3-4589-B313-988DC16A5CCB}">
  <ds:schemaRefs>
    <ds:schemaRef ds:uri="90efc0b9-b162-4f55-b736-1f15cacfa542"/>
    <ds:schemaRef ds:uri="b3ae517c-f818-4b3c-803d-b2456fb9902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 Security brand template</Template>
  <TotalTime>148</TotalTime>
  <Words>6723</Words>
  <Application>Microsoft Office PowerPoint</Application>
  <PresentationFormat>Widescreen</PresentationFormat>
  <Paragraphs>722</Paragraphs>
  <Slides>26</Slides>
  <Notes>19</Notes>
  <HiddenSlides>0</HiddenSlides>
  <MMClips>0</MMClips>
  <ScaleCrop>false</ScaleCrop>
  <HeadingPairs>
    <vt:vector size="6" baseType="variant">
      <vt:variant>
        <vt:lpstr>Fonts Used</vt:lpstr>
      </vt:variant>
      <vt:variant>
        <vt:i4>20</vt:i4>
      </vt:variant>
      <vt:variant>
        <vt:lpstr>Theme</vt:lpstr>
      </vt:variant>
      <vt:variant>
        <vt:i4>3</vt:i4>
      </vt:variant>
      <vt:variant>
        <vt:lpstr>Slide Titles</vt:lpstr>
      </vt:variant>
      <vt:variant>
        <vt:i4>26</vt:i4>
      </vt:variant>
    </vt:vector>
  </HeadingPairs>
  <TitlesOfParts>
    <vt:vector size="49" baseType="lpstr">
      <vt:lpstr>ＭＳ Ｐゴシック</vt:lpstr>
      <vt:lpstr>Aptos</vt:lpstr>
      <vt:lpstr>Arial</vt:lpstr>
      <vt:lpstr>Calibri</vt:lpstr>
      <vt:lpstr>Consolas</vt:lpstr>
      <vt:lpstr>Segoe Pro Semibold</vt:lpstr>
      <vt:lpstr>Segoe Sans Display</vt:lpstr>
      <vt:lpstr>Segoe Sans Display Semibold</vt:lpstr>
      <vt:lpstr>Segoe Sans Display Semilight</vt:lpstr>
      <vt:lpstr>Segoe UI</vt:lpstr>
      <vt:lpstr>Segoe UI Light</vt:lpstr>
      <vt:lpstr>Segoe UI Semibold</vt:lpstr>
      <vt:lpstr>Segoe UI Semilight</vt:lpstr>
      <vt:lpstr>Segoe UI Variable Display</vt:lpstr>
      <vt:lpstr>Segoe UI Variable Display Semib</vt:lpstr>
      <vt:lpstr>Segoe UI Variable Display Semibold</vt:lpstr>
      <vt:lpstr>Times New Roman</vt:lpstr>
      <vt:lpstr>Verdana Pro Cond</vt:lpstr>
      <vt:lpstr>Verdana Pro Cond Light</vt:lpstr>
      <vt:lpstr>Wingdings</vt:lpstr>
      <vt:lpstr>Microsoft Security Light</vt:lpstr>
      <vt:lpstr>1_White Template</vt:lpstr>
      <vt:lpstr>1_New - revised Microsoft Security Template </vt:lpstr>
      <vt:lpstr>Microsoft Zero Trust Workshop </vt:lpstr>
      <vt:lpstr>Why Zero Trust?</vt:lpstr>
      <vt:lpstr>Democratizing intelligence​ </vt:lpstr>
      <vt:lpstr>Frontier transformation</vt:lpstr>
      <vt:lpstr>AI introduces new security challenges</vt:lpstr>
      <vt:lpstr>AI creates new attack surfaces</vt:lpstr>
      <vt:lpstr>Microsoft’s approach to Zero Trust</vt:lpstr>
      <vt:lpstr>Securing our customers with a Zero Trust approach</vt:lpstr>
      <vt:lpstr>Zero Trust for AI</vt:lpstr>
      <vt:lpstr>Building a  Zero Trust Approach</vt:lpstr>
      <vt:lpstr>Secure and govern AI with Microsoft </vt:lpstr>
      <vt:lpstr>Introducing Zero Trust Assessment and Workshops</vt:lpstr>
      <vt:lpstr>Microsoft Zero Trust Deployment Workshop</vt:lpstr>
      <vt:lpstr>PowerPoint Presentation</vt:lpstr>
      <vt:lpstr>PowerPoint Presentation</vt:lpstr>
      <vt:lpstr>Zero Trust Workshop Flow</vt:lpstr>
      <vt:lpstr>Microsoft Zero Trust Assessment Tool</vt:lpstr>
      <vt:lpstr>Step 1: Planning</vt:lpstr>
      <vt:lpstr>Step 2: Zero Trust Assessment</vt:lpstr>
      <vt:lpstr>Step 3: Zero Trust Workshop</vt:lpstr>
      <vt:lpstr>Step 4: Implementation</vt:lpstr>
      <vt:lpstr>PowerPoint Presentation</vt:lpstr>
      <vt:lpstr>Get started with a Zero Trust workshop</vt:lpstr>
      <vt:lpstr>Appendix</vt:lpstr>
      <vt:lpstr>Zero Trust solutions from Microsoft</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Lindsey Griffin (Waggener Edstrom Worldwide Inc)</dc:creator>
  <cp:keywords/>
  <dc:description/>
  <cp:lastModifiedBy>Tyler Chan</cp:lastModifiedBy>
  <cp:revision>6</cp:revision>
  <dcterms:created xsi:type="dcterms:W3CDTF">2024-12-04T15:17:37Z</dcterms:created>
  <dcterms:modified xsi:type="dcterms:W3CDTF">2026-09-15T18:51:20Z</dcterms:modified>
  <cp:category>Microsoft Security</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oduct">
    <vt:lpwstr/>
  </property>
  <property fmtid="{D5CDD505-2E9C-101B-9397-08002B2CF9AE}" pid="3" name="Event1">
    <vt:lpwstr>622;#Unassigned|2c8af875-f38a-40b8-a0a9-056aed3fc8c0</vt:lpwstr>
  </property>
  <property fmtid="{D5CDD505-2E9C-101B-9397-08002B2CF9AE}" pid="4" name="Audience">
    <vt:lpwstr/>
  </property>
  <property fmtid="{D5CDD505-2E9C-101B-9397-08002B2CF9AE}" pid="5" name="Event Venue">
    <vt:lpwstr/>
  </property>
  <property fmtid="{D5CDD505-2E9C-101B-9397-08002B2CF9AE}" pid="6" name="Track">
    <vt:lpwstr/>
  </property>
  <property fmtid="{D5CDD505-2E9C-101B-9397-08002B2CF9AE}" pid="7" name="Event Location">
    <vt:lpwstr/>
  </property>
  <property fmtid="{D5CDD505-2E9C-101B-9397-08002B2CF9AE}" pid="8" name="Campaign">
    <vt:lpwstr/>
  </property>
  <property fmtid="{D5CDD505-2E9C-101B-9397-08002B2CF9AE}" pid="9" name="IsMyDocuments">
    <vt:bool>true</vt:bool>
  </property>
  <property fmtid="{D5CDD505-2E9C-101B-9397-08002B2CF9AE}" pid="10" name="MSIP_Label_f42aa342-8706-4288-bd11-ebb85995028c_Enabled">
    <vt:lpwstr>True</vt:lpwstr>
  </property>
  <property fmtid="{D5CDD505-2E9C-101B-9397-08002B2CF9AE}" pid="11" name="MSIP_Label_f42aa342-8706-4288-bd11-ebb85995028c_SiteId">
    <vt:lpwstr>72f988bf-86f1-41af-91ab-2d7cd011db47</vt:lpwstr>
  </property>
  <property fmtid="{D5CDD505-2E9C-101B-9397-08002B2CF9AE}" pid="12" name="MSIP_Label_f42aa342-8706-4288-bd11-ebb85995028c_Ref">
    <vt:lpwstr>https://api.informationprotection.azure.com/api/72f988bf-86f1-41af-91ab-2d7cd011db47</vt:lpwstr>
  </property>
  <property fmtid="{D5CDD505-2E9C-101B-9397-08002B2CF9AE}" pid="13" name="MSIP_Label_f42aa342-8706-4288-bd11-ebb85995028c_SetDate">
    <vt:lpwstr>2017-08-29T14:27:20.8568347-07:00</vt:lpwstr>
  </property>
  <property fmtid="{D5CDD505-2E9C-101B-9397-08002B2CF9AE}" pid="14" name="MSIP_Label_f42aa342-8706-4288-bd11-ebb85995028c_Name">
    <vt:lpwstr>General</vt:lpwstr>
  </property>
  <property fmtid="{D5CDD505-2E9C-101B-9397-08002B2CF9AE}" pid="15" name="MSIP_Label_f42aa342-8706-4288-bd11-ebb85995028c_Extended_MSFT_Method">
    <vt:lpwstr>Automatic</vt:lpwstr>
  </property>
  <property fmtid="{D5CDD505-2E9C-101B-9397-08002B2CF9AE}" pid="16" name="Sensitivity">
    <vt:lpwstr>General</vt:lpwstr>
  </property>
  <property fmtid="{D5CDD505-2E9C-101B-9397-08002B2CF9AE}" pid="17" name="MediaServiceImageTags">
    <vt:lpwstr/>
  </property>
  <property fmtid="{D5CDD505-2E9C-101B-9397-08002B2CF9AE}" pid="18" name="Tag">
    <vt:lpwstr/>
  </property>
  <property fmtid="{D5CDD505-2E9C-101B-9397-08002B2CF9AE}" pid="19" name="ContentTypeId">
    <vt:lpwstr>0x010100E3F057C49C66FB42A2BB9291AC8F16B3</vt:lpwstr>
  </property>
</Properties>
</file>